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Fully meets</c:v>
                </c:pt>
              </c:strCache>
            </c:strRef>
          </c:tx>
          <c:spPr>
            <a:solidFill>
              <a:srgbClr val="0B190D"/>
            </a:solidFill>
            <a:effectLst/>
          </c:spPr>
          <c:invertIfNegative val="0"/>
          <c:dLbls>
            <c:numFmt formatCode="#,##0" sourceLinked="0"/>
            <c:spPr>
              <a:noFill/>
              <a:ln>
                <a:noFill/>
              </a:ln>
              <a:effectLst/>
            </c:spPr>
            <c:txPr>
              <a:bodyPr/>
              <a:lstStyle/>
              <a:p>
                <a:pPr>
                  <a:defRPr sz="800" b="0" i="0" u="none" strike="noStrike">
                    <a:solidFill>
                      <a:srgbClr val="535A6E"/>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Core scheduling (study lifecycle)</c:v>
                </c:pt>
                <c:pt idx="1">
                  <c:v>Global planning</c:v>
                </c:pt>
                <c:pt idx="2">
                  <c:v>Integration</c:v>
                </c:pt>
                <c:pt idx="3">
                  <c:v>Functional scheduling</c:v>
                </c:pt>
                <c:pt idx="4">
                  <c:v>User experience</c:v>
                </c:pt>
                <c:pt idx="5">
                  <c:v>Governance</c:v>
                </c:pt>
                <c:pt idx="6">
                  <c:v>Execute &amp; adjust</c:v>
                </c:pt>
                <c:pt idx="7">
                  <c:v>Tasking (daily execution)</c:v>
                </c:pt>
              </c:strCache>
            </c:strRef>
          </c:cat>
          <c:val>
            <c:numRef>
              <c:f>Sheet1!$B$2:$B$9</c:f>
              <c:numCache>
                <c:formatCode>General</c:formatCode>
                <c:ptCount val="8"/>
                <c:pt idx="0">
                  <c:v>1</c:v>
                </c:pt>
                <c:pt idx="1">
                  <c:v>0</c:v>
                </c:pt>
                <c:pt idx="2">
                  <c:v>2</c:v>
                </c:pt>
                <c:pt idx="3">
                  <c:v>2</c:v>
                </c:pt>
                <c:pt idx="4">
                  <c:v>3</c:v>
                </c:pt>
                <c:pt idx="5">
                  <c:v>3</c:v>
                </c:pt>
                <c:pt idx="6">
                  <c:v>3</c:v>
                </c:pt>
                <c:pt idx="7">
                  <c:v>5</c:v>
                </c:pt>
              </c:numCache>
            </c:numRef>
          </c:val>
          <c:extLst>
            <c:ext xmlns:c16="http://schemas.microsoft.com/office/drawing/2014/chart" uri="{C3380CC4-5D6E-409C-BE32-E72D297353CC}">
              <c16:uniqueId val="{00000000-91FD-4296-AB89-A78889AA8ED7}"/>
            </c:ext>
          </c:extLst>
        </c:ser>
        <c:ser>
          <c:idx val="1"/>
          <c:order val="1"/>
          <c:tx>
            <c:strRef>
              <c:f>Sheet1!$C$1</c:f>
              <c:strCache>
                <c:ptCount val="1"/>
                <c:pt idx="0">
                  <c:v>Partially meets</c:v>
                </c:pt>
              </c:strCache>
            </c:strRef>
          </c:tx>
          <c:spPr>
            <a:solidFill>
              <a:srgbClr val="E4F038"/>
            </a:solidFill>
            <a:effectLst/>
          </c:spPr>
          <c:invertIfNegative val="0"/>
          <c:dLbls>
            <c:numFmt formatCode="#,##0" sourceLinked="0"/>
            <c:spPr>
              <a:noFill/>
              <a:ln>
                <a:noFill/>
              </a:ln>
              <a:effectLst/>
            </c:spPr>
            <c:txPr>
              <a:bodyPr/>
              <a:lstStyle/>
              <a:p>
                <a:pPr>
                  <a:defRPr sz="800" b="0" i="0" u="none" strike="noStrike">
                    <a:solidFill>
                      <a:srgbClr val="535A6E"/>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Core scheduling (study lifecycle)</c:v>
                </c:pt>
                <c:pt idx="1">
                  <c:v>Global planning</c:v>
                </c:pt>
                <c:pt idx="2">
                  <c:v>Integration</c:v>
                </c:pt>
                <c:pt idx="3">
                  <c:v>Functional scheduling</c:v>
                </c:pt>
                <c:pt idx="4">
                  <c:v>User experience</c:v>
                </c:pt>
                <c:pt idx="5">
                  <c:v>Governance</c:v>
                </c:pt>
                <c:pt idx="6">
                  <c:v>Execute &amp; adjust</c:v>
                </c:pt>
                <c:pt idx="7">
                  <c:v>Tasking (daily execution)</c:v>
                </c:pt>
              </c:strCache>
            </c:strRef>
          </c:cat>
          <c:val>
            <c:numRef>
              <c:f>Sheet1!$C$2:$C$9</c:f>
              <c:numCache>
                <c:formatCode>General</c:formatCode>
                <c:ptCount val="8"/>
                <c:pt idx="0">
                  <c:v>7</c:v>
                </c:pt>
                <c:pt idx="1">
                  <c:v>5</c:v>
                </c:pt>
                <c:pt idx="2">
                  <c:v>3</c:v>
                </c:pt>
                <c:pt idx="3">
                  <c:v>8</c:v>
                </c:pt>
                <c:pt idx="4">
                  <c:v>5</c:v>
                </c:pt>
                <c:pt idx="5">
                  <c:v>1</c:v>
                </c:pt>
                <c:pt idx="6">
                  <c:v>1</c:v>
                </c:pt>
                <c:pt idx="7">
                  <c:v>2</c:v>
                </c:pt>
              </c:numCache>
            </c:numRef>
          </c:val>
          <c:extLst>
            <c:ext xmlns:c16="http://schemas.microsoft.com/office/drawing/2014/chart" uri="{C3380CC4-5D6E-409C-BE32-E72D297353CC}">
              <c16:uniqueId val="{00000001-91FD-4296-AB89-A78889AA8ED7}"/>
            </c:ext>
          </c:extLst>
        </c:ser>
        <c:ser>
          <c:idx val="2"/>
          <c:order val="2"/>
          <c:tx>
            <c:strRef>
              <c:f>Sheet1!$D$1</c:f>
              <c:strCache>
                <c:ptCount val="1"/>
                <c:pt idx="0">
                  <c:v>Does not meet</c:v>
                </c:pt>
              </c:strCache>
            </c:strRef>
          </c:tx>
          <c:spPr>
            <a:solidFill>
              <a:srgbClr val="DDD4CD"/>
            </a:solidFill>
            <a:effectLst/>
          </c:spPr>
          <c:invertIfNegative val="0"/>
          <c:dLbls>
            <c:numFmt formatCode="#,##0" sourceLinked="0"/>
            <c:spPr>
              <a:noFill/>
              <a:ln>
                <a:noFill/>
              </a:ln>
              <a:effectLst/>
            </c:spPr>
            <c:txPr>
              <a:bodyPr/>
              <a:lstStyle/>
              <a:p>
                <a:pPr>
                  <a:defRPr sz="800" b="0" i="0" u="none" strike="noStrike">
                    <a:solidFill>
                      <a:srgbClr val="535A6E"/>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Core scheduling (study lifecycle)</c:v>
                </c:pt>
                <c:pt idx="1">
                  <c:v>Global planning</c:v>
                </c:pt>
                <c:pt idx="2">
                  <c:v>Integration</c:v>
                </c:pt>
                <c:pt idx="3">
                  <c:v>Functional scheduling</c:v>
                </c:pt>
                <c:pt idx="4">
                  <c:v>User experience</c:v>
                </c:pt>
                <c:pt idx="5">
                  <c:v>Governance</c:v>
                </c:pt>
                <c:pt idx="6">
                  <c:v>Execute &amp; adjust</c:v>
                </c:pt>
                <c:pt idx="7">
                  <c:v>Tasking (daily execution)</c:v>
                </c:pt>
              </c:strCache>
            </c:strRef>
          </c:cat>
          <c:val>
            <c:numRef>
              <c:f>Sheet1!$D$2:$D$9</c:f>
              <c:numCache>
                <c:formatCode>General</c:formatCode>
                <c:ptCount val="8"/>
                <c:pt idx="0">
                  <c:v>7</c:v>
                </c:pt>
                <c:pt idx="1">
                  <c:v>6</c:v>
                </c:pt>
                <c:pt idx="2">
                  <c:v>2</c:v>
                </c:pt>
                <c:pt idx="3">
                  <c:v>3</c:v>
                </c:pt>
                <c:pt idx="4">
                  <c:v>1</c:v>
                </c:pt>
                <c:pt idx="5">
                  <c:v>1</c:v>
                </c:pt>
                <c:pt idx="6">
                  <c:v>1</c:v>
                </c:pt>
                <c:pt idx="7">
                  <c:v>1</c:v>
                </c:pt>
              </c:numCache>
            </c:numRef>
          </c:val>
          <c:extLst>
            <c:ext xmlns:c16="http://schemas.microsoft.com/office/drawing/2014/chart" uri="{C3380CC4-5D6E-409C-BE32-E72D297353CC}">
              <c16:uniqueId val="{00000002-91FD-4296-AB89-A78889AA8ED7}"/>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0B190D"/>
                </a:solidFill>
                <a:latin typeface="Arial"/>
              </a:defRPr>
            </a:pPr>
            <a:endParaRPr lang="en-US"/>
          </a:p>
        </c:txPr>
        <c:crossAx val="2094734552"/>
        <c:crosses val="autoZero"/>
        <c:auto val="1"/>
        <c:lblAlgn val="ctr"/>
        <c:lblOffset val="100"/>
        <c:noMultiLvlLbl val="1"/>
      </c:catAx>
      <c:valAx>
        <c:axId val="2094734552"/>
        <c:scaling>
          <c:orientation val="minMax"/>
          <c:max val="16"/>
        </c:scaling>
        <c:delete val="0"/>
        <c:axPos val="t"/>
        <c:majorGridlines>
          <c:spPr>
            <a:ln w="635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00" b="0" i="0" u="none" strike="noStrike">
                <a:solidFill>
                  <a:srgbClr val="535A6E"/>
                </a:solidFill>
                <a:latin typeface="Arial"/>
              </a:defRPr>
            </a:pPr>
            <a:endParaRPr lang="en-US"/>
          </a:p>
        </c:txPr>
        <c:crossAx val="2094734554"/>
        <c:crosses val="autoZero"/>
        <c:crossBetween val="between"/>
        <c:majorUnit val="4"/>
      </c:valAx>
      <c:spPr>
        <a:noFill/>
        <a:ln>
          <a:noFill/>
        </a:ln>
        <a:effectLst/>
      </c:spPr>
    </c:plotArea>
    <c:legend>
      <c:legendPos val="b"/>
      <c:overlay val="0"/>
      <c:txPr>
        <a:bodyPr/>
        <a:lstStyle/>
        <a:p>
          <a:pPr>
            <a:defRPr sz="900">
              <a:solidFill>
                <a:srgbClr val="0B190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7967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0:00–0:30. Thank the panel; confirm attendees have read the written proposal; we will not walk through it line by line. Purpose today: the things that matter most and where Calira is different. Introduce anyone else on the call (Chris Mills, Head of Product / project manager; Morsal Amini, implementation lead).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0:30–1:00. Six sections mirror the panel's brief. ~24 minutes of content leaves time for questions; invite interruptions.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1:00–4:00. Lead with scale (11M bookings, 84k users) then land the key point: we are not a new vendor to CRL – Edinburgh Chemistry runs on Calira today and that reference is available. Mention the team: Customer Success in London, engineering in Sofia, sales in Boston; Digital Craftsmen hold ISO 27001 and CE+ and give 24/7 infrastructure cover. Growth figures show a healthy, growing company without disclosing revenue.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4:00–6:00. Play back CRL's objective in their words (from the RFP and our SOW background). The four challenges are the costs the SOW is designed to remove. Then set up the next slide: your requirement set is broad – from study-level scheduling to daily tasking – and we want to be precise about where Calira fits.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6:00–8:00. This is the most important slide. Be direct: Calira is not a study-management or workforce-scheduling system and we did not pretend otherwise in the questionnaire. Calira is the resource layer – equipment, rooms, workflows, actual usage, utilisation truth – and it connects to the study layer through a REST API. The value of the split: no duplication of Provantis, faster adoption, lower TCO. Mention the audit-trail roadmap briefly if asked; do not over-promise dates.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8:00–9:30. Overall 19 fully / 32 partially / 22 not met. Read the chart top to bottom: the 'does not meet' weight sits almost entirely in the study-lifecycle and global-planning areas, which is exactly the layer we propose stays in Provantis. Where the requirement is about booking, using, governing and reporting on shared resources, fit is strong. Offer a walk-through of any specific requirement in Q&amp;A.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9:30–11:00. Do not read the tiles. Pick two stories: (1) a scientist books a confocal from Outlook or a QR code on the instrument, LabTrack records the real session, the Custom Form captures the result – all with no extra system to log into; (2) a lab manager sees utilisation across every site and exports it or queries it via API. Everything shown is standard product; the deployment is configuration, which is why implementation is fast and unpriced.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11:00–12:00. Keep this brief; the architecture questionnaire covers it in depth. Three messages: it scales without licence penalties; it is resilient with an SLA and public status page; it is secured at the edge, in transit and at rest, with ISO 27001 hosting and CE+ – and the AI components are optional and switchable.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12:00–13:30. Two integrations are standard and delivered in Phase 2 by configuration. For Provantis, Maximo and Sapio we said openly that we have no production integration yet; the SOW funds a technical discovery for all three, in parallel with the rollout, and CRL accepts each report before any build is priced. Emphasise the Instem experience for Provantis and the transferable EAM work for Maximo.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13:30–15:30. The first tile is the one competitors cannot claim. Speed and adoption are backed by numbers in the SOW (KPIs). Actuals: LabTrack usage-logging and blocking modes. AI is a differentiator but reassure on control. Close on the partnership model – the people on this call are the people who deliver.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15:30–17:00. Anchor on the McKinsey 35% figure, then the observed utilisation improvement across four labs after deployment (chart from our standard deck). Translate into CRL's three costs from the SOW: coordination time, invisible capacity, capital decisions. Mention that the executive value report in Phase 4 quantifies this for CRL's own estate.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17:00–19:00. Walk the bars left to right. Lead site in 8 weeks is our standard, and the 8 weeks mostly reflects customer availability. Discovery runs in parallel so nothing waits on integrations. Effort from Calira per site is roughly 2–3 days (Phase 1), 9–10 (Phase 2), 12 (Phase 3), 4 (Phase 4). Rollout waves are how CRL's multi-site estate is covered without repeating full effort each time. Reference the Novo Nordisk three-site rollout: each site live within 8 weeks, scope unchanged across sites.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19:00–20:30. Introduce the named team – the same people named in the SOW and RACI. The KPI table is contractual in the SOW; each miss has a stated remedy at no fee, which is unusual and worth pointing out. Close with what we need from CRL: a project owner with authority, IT for SSO, lab managers for workflows, and users released for training.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20:30–22:00. Keep it simple: one licence line, no implementation fee, one fixed discovery fee, builds only after CRL sees the discovery reports. Tier discounts apply within bands (we said no to retroactive tier benefit for all users – be ready for the question). Multi-year and volume discounts stack. Site/enterprise licence is available but needs user and site numbers, which the RFP left open.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22:00–23:00. Panels respect suppliers who flag exceptions before contracting. GxP is the one to handle carefully: Calira holds booking and asset data, not study data, so validation risk is low; the SOW excludes validation deliverables but CRL can validate the platform if its QA function requires it. The other three are commercial mechanics and we are open to discussing them in negotiation.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23:00–24:00, then Q&amp;A. Ask for the decision timeline and who the CRL project owner would be. Offer the CRL Edinburgh reference first – it is the fastest way for the panel to de-risk.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contact details on screen during Q&amp;A.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4F038"/>
        </a:solidFill>
        <a:effectLst/>
      </p:bgPr>
    </p:bg>
    <p:spTree>
      <p:nvGrpSpPr>
        <p:cNvPr id="1" name=""/>
        <p:cNvGrpSpPr/>
        <p:nvPr/>
      </p:nvGrpSpPr>
      <p:grpSpPr>
        <a:xfrm>
          <a:off x="0" y="0"/>
          <a:ext cx="0" cy="0"/>
          <a:chOff x="0" y="0"/>
          <a:chExt cx="0" cy="0"/>
        </a:xfrm>
      </p:grpSpPr>
      <p:pic>
        <p:nvPicPr>
          <p:cNvPr id="2" name="Image 0" descr="C:\Users\mills\AppData\Local\Temp\claude\C--Users-mills-Documents-Code-CaliraPM\5bfe5553-dcee-4283-8c8f-3ac10305de01\scratchpad\crl\build\assets\logo.png"/>
          <p:cNvPicPr>
            <a:picLocks noChangeAspect="1"/>
          </p:cNvPicPr>
          <p:nvPr/>
        </p:nvPicPr>
        <p:blipFill>
          <a:blip r:embed="rId3"/>
          <a:stretch>
            <a:fillRect/>
          </a:stretch>
        </p:blipFill>
        <p:spPr>
          <a:xfrm>
            <a:off x="292608" y="274320"/>
            <a:ext cx="2240280" cy="795528"/>
          </a:xfrm>
          <a:prstGeom prst="rect">
            <a:avLst/>
          </a:prstGeom>
        </p:spPr>
      </p:pic>
      <p:pic>
        <p:nvPicPr>
          <p:cNvPr id="3" name="Image 1" descr="C:\Users\mills\AppData\Local\Temp\claude\C--Users-mills-Documents-Code-CaliraPM\5bfe5553-dcee-4283-8c8f-3ac10305de01\scratchpad\crl\build\assets\photo_person.png"/>
          <p:cNvPicPr>
            <a:picLocks noChangeAspect="1"/>
          </p:cNvPicPr>
          <p:nvPr/>
        </p:nvPicPr>
        <p:blipFill>
          <a:blip r:embed="rId4"/>
          <a:srcRect/>
          <a:stretch/>
        </p:blipFill>
        <p:spPr>
          <a:xfrm>
            <a:off x="4572000" y="292608"/>
            <a:ext cx="4279392" cy="4553712"/>
          </a:xfrm>
          <a:prstGeom prst="rect">
            <a:avLst/>
          </a:prstGeom>
        </p:spPr>
      </p:pic>
      <p:pic>
        <p:nvPicPr>
          <p:cNvPr id="4" name="Image 2" descr="C:\Users\mills\AppData\Local\Temp\claude\C--Users-mills-Documents-Code-CaliraPM\5bfe5553-dcee-4283-8c8f-3ac10305de01\scratchpad\crl\build\assets\dots_yellow.png"/>
          <p:cNvPicPr>
            <a:picLocks noChangeAspect="1"/>
          </p:cNvPicPr>
          <p:nvPr/>
        </p:nvPicPr>
        <p:blipFill>
          <a:blip r:embed="rId5">
            <a:alphaModFix amt="85000"/>
          </a:blip>
          <a:stretch>
            <a:fillRect/>
          </a:stretch>
        </p:blipFill>
        <p:spPr>
          <a:xfrm>
            <a:off x="4572000" y="292608"/>
            <a:ext cx="4279392" cy="4553712"/>
          </a:xfrm>
          <a:prstGeom prst="rect">
            <a:avLst/>
          </a:prstGeom>
        </p:spPr>
      </p:pic>
      <p:sp>
        <p:nvSpPr>
          <p:cNvPr id="5" name="Text 0"/>
          <p:cNvSpPr txBox="1"/>
          <p:nvPr/>
        </p:nvSpPr>
        <p:spPr>
          <a:xfrm>
            <a:off x="292608" y="1417320"/>
            <a:ext cx="4114800" cy="1463040"/>
          </a:xfrm>
          <a:prstGeom prst="rect">
            <a:avLst/>
          </a:prstGeom>
          <a:noFill/>
          <a:ln/>
        </p:spPr>
        <p:txBody>
          <a:bodyPr wrap="square" lIns="0" tIns="0" rIns="0" bIns="0" rtlCol="0" anchor="t"/>
          <a:lstStyle/>
          <a:p>
            <a:pPr marL="0" indent="0">
              <a:buNone/>
            </a:pPr>
            <a:r>
              <a:rPr lang="en-US" sz="2600" b="1" dirty="0">
                <a:solidFill>
                  <a:srgbClr val="0B190D"/>
                </a:solidFill>
                <a:latin typeface="Arial" pitchFamily="34" charset="0"/>
                <a:ea typeface="Arial" pitchFamily="34" charset="-122"/>
                <a:cs typeface="Arial" pitchFamily="34" charset="-120"/>
              </a:rPr>
              <a:t>Enterprise equipment scheduling for Charles River Laboratories</a:t>
            </a:r>
            <a:endParaRPr lang="en-US" sz="2600" dirty="0"/>
          </a:p>
        </p:txBody>
      </p:sp>
      <p:sp>
        <p:nvSpPr>
          <p:cNvPr id="6" name="Text 1"/>
          <p:cNvSpPr txBox="1"/>
          <p:nvPr/>
        </p:nvSpPr>
        <p:spPr>
          <a:xfrm>
            <a:off x="292608" y="2834640"/>
            <a:ext cx="4114800" cy="457200"/>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Proposal summary  ·  2026</a:t>
            </a:r>
            <a:endParaRPr lang="en-US" sz="1100" dirty="0"/>
          </a:p>
        </p:txBody>
      </p:sp>
      <p:sp>
        <p:nvSpPr>
          <p:cNvPr id="7" name="Text 2"/>
          <p:cNvSpPr txBox="1"/>
          <p:nvPr/>
        </p:nvSpPr>
        <p:spPr>
          <a:xfrm>
            <a:off x="292608" y="3977640"/>
            <a:ext cx="4114800" cy="640080"/>
          </a:xfrm>
          <a:prstGeom prst="rect">
            <a:avLst/>
          </a:prstGeom>
          <a:noFill/>
          <a:ln/>
        </p:spPr>
        <p:txBody>
          <a:bodyPr wrap="square" lIns="0" tIns="0" rIns="0" bIns="0" rtlCol="0" anchor="t"/>
          <a:lstStyle/>
          <a:p>
            <a:pPr marL="0" indent="0">
              <a:buNone/>
            </a:pPr>
            <a:r>
              <a:rPr lang="en-US" sz="1000" b="1" dirty="0">
                <a:solidFill>
                  <a:srgbClr val="0B190D"/>
                </a:solidFill>
                <a:latin typeface="Arial" pitchFamily="34" charset="0"/>
                <a:ea typeface="Arial" pitchFamily="34" charset="-122"/>
                <a:cs typeface="Arial" pitchFamily="34" charset="-120"/>
              </a:rPr>
              <a:t>Craig Davison</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Senior Account Executive, Calira</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craig@calira.co</a:t>
            </a:r>
            <a:endParaRPr lang="en-US" sz="1000" dirty="0"/>
          </a:p>
        </p:txBody>
      </p:sp>
      <p:sp>
        <p:nvSpPr>
          <p:cNvPr id="8" name="Text 3"/>
          <p:cNvSpPr txBox="1"/>
          <p:nvPr/>
        </p:nvSpPr>
        <p:spPr>
          <a:xfrm>
            <a:off x="292608" y="4828032"/>
            <a:ext cx="3657600" cy="182880"/>
          </a:xfrm>
          <a:prstGeom prst="rect">
            <a:avLst/>
          </a:prstGeom>
          <a:noFill/>
          <a:ln/>
        </p:spPr>
        <p:txBody>
          <a:bodyPr wrap="square" lIns="0" tIns="0" rIns="0" bIns="0" rtlCol="0" anchor="ctr"/>
          <a:lstStyle/>
          <a:p>
            <a:pPr marL="0" indent="0">
              <a:buNone/>
            </a:pPr>
            <a:r>
              <a:rPr lang="en-US" sz="600" dirty="0">
                <a:solidFill>
                  <a:srgbClr val="0B190D"/>
                </a:solidFill>
                <a:latin typeface="Arial" pitchFamily="34" charset="0"/>
                <a:ea typeface="Arial" pitchFamily="34" charset="-122"/>
                <a:cs typeface="Arial" pitchFamily="34" charset="-120"/>
              </a:rPr>
              <a:t>© 2026 calira.co All rights reserved</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AGENDA</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What we will cover in the next 25 minutes</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Structured around the six areas you asked us to focus on</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a:t>
            </a:r>
            <a:endParaRPr lang="en-US" sz="700" dirty="0"/>
          </a:p>
        </p:txBody>
      </p:sp>
      <p:sp>
        <p:nvSpPr>
          <p:cNvPr id="9" name="Shape 7"/>
          <p:cNvSpPr/>
          <p:nvPr/>
        </p:nvSpPr>
        <p:spPr>
          <a:xfrm>
            <a:off x="411480" y="1444752"/>
            <a:ext cx="347472" cy="347472"/>
          </a:xfrm>
          <a:prstGeom prst="ellipse">
            <a:avLst/>
          </a:prstGeom>
          <a:solidFill>
            <a:srgbClr val="E4F038"/>
          </a:solidFill>
          <a:ln w="12700">
            <a:solidFill>
              <a:srgbClr val="E4F038"/>
            </a:solidFill>
            <a:prstDash val="solid"/>
          </a:ln>
        </p:spPr>
        <p:txBody>
          <a:bodyPr/>
          <a:lstStyle/>
          <a:p>
            <a:endParaRPr lang="en-GB"/>
          </a:p>
        </p:txBody>
      </p:sp>
      <p:sp>
        <p:nvSpPr>
          <p:cNvPr id="10" name="Text 8"/>
          <p:cNvSpPr txBox="1"/>
          <p:nvPr/>
        </p:nvSpPr>
        <p:spPr>
          <a:xfrm>
            <a:off x="411480" y="144475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1</a:t>
            </a:r>
            <a:endParaRPr lang="en-US" sz="1100" dirty="0"/>
          </a:p>
        </p:txBody>
      </p:sp>
      <p:sp>
        <p:nvSpPr>
          <p:cNvPr id="11" name="Text 9"/>
          <p:cNvSpPr txBox="1"/>
          <p:nvPr/>
        </p:nvSpPr>
        <p:spPr>
          <a:xfrm>
            <a:off x="914400" y="137160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Calira in brief</a:t>
            </a:r>
            <a:endParaRPr lang="en-US" sz="1200" dirty="0"/>
          </a:p>
        </p:txBody>
      </p:sp>
      <p:sp>
        <p:nvSpPr>
          <p:cNvPr id="12" name="Text 10"/>
          <p:cNvSpPr txBox="1"/>
          <p:nvPr/>
        </p:nvSpPr>
        <p:spPr>
          <a:xfrm>
            <a:off x="914400" y="161848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Who we are, scale, and our existing work inside CRL</a:t>
            </a:r>
            <a:endParaRPr lang="en-US" sz="900" dirty="0"/>
          </a:p>
        </p:txBody>
      </p:sp>
      <p:sp>
        <p:nvSpPr>
          <p:cNvPr id="13" name="Text 11"/>
          <p:cNvSpPr txBox="1"/>
          <p:nvPr/>
        </p:nvSpPr>
        <p:spPr>
          <a:xfrm>
            <a:off x="4206240" y="137160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3 min</a:t>
            </a:r>
            <a:endParaRPr lang="en-US" sz="900" dirty="0"/>
          </a:p>
        </p:txBody>
      </p:sp>
      <p:sp>
        <p:nvSpPr>
          <p:cNvPr id="14" name="Shape 12"/>
          <p:cNvSpPr/>
          <p:nvPr/>
        </p:nvSpPr>
        <p:spPr>
          <a:xfrm>
            <a:off x="411480" y="1993392"/>
            <a:ext cx="347472" cy="347472"/>
          </a:xfrm>
          <a:prstGeom prst="ellipse">
            <a:avLst/>
          </a:prstGeom>
          <a:solidFill>
            <a:srgbClr val="E4F038"/>
          </a:solidFill>
          <a:ln w="12700">
            <a:solidFill>
              <a:srgbClr val="E4F038"/>
            </a:solidFill>
            <a:prstDash val="solid"/>
          </a:ln>
        </p:spPr>
        <p:txBody>
          <a:bodyPr/>
          <a:lstStyle/>
          <a:p>
            <a:endParaRPr lang="en-GB"/>
          </a:p>
        </p:txBody>
      </p:sp>
      <p:sp>
        <p:nvSpPr>
          <p:cNvPr id="15" name="Text 13"/>
          <p:cNvSpPr txBox="1"/>
          <p:nvPr/>
        </p:nvSpPr>
        <p:spPr>
          <a:xfrm>
            <a:off x="411480" y="199339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2</a:t>
            </a:r>
            <a:endParaRPr lang="en-US" sz="1100" dirty="0"/>
          </a:p>
        </p:txBody>
      </p:sp>
      <p:sp>
        <p:nvSpPr>
          <p:cNvPr id="16" name="Text 14"/>
          <p:cNvSpPr txBox="1"/>
          <p:nvPr/>
        </p:nvSpPr>
        <p:spPr>
          <a:xfrm>
            <a:off x="914400" y="192024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Your objectives and challenges</a:t>
            </a:r>
            <a:endParaRPr lang="en-US" sz="1200" dirty="0"/>
          </a:p>
        </p:txBody>
      </p:sp>
      <p:sp>
        <p:nvSpPr>
          <p:cNvPr id="17" name="Text 15"/>
          <p:cNvSpPr txBox="1"/>
          <p:nvPr/>
        </p:nvSpPr>
        <p:spPr>
          <a:xfrm>
            <a:off x="914400" y="216712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What we heard, and how we read your requirements</a:t>
            </a:r>
            <a:endParaRPr lang="en-US" sz="900" dirty="0"/>
          </a:p>
        </p:txBody>
      </p:sp>
      <p:sp>
        <p:nvSpPr>
          <p:cNvPr id="18" name="Text 16"/>
          <p:cNvSpPr txBox="1"/>
          <p:nvPr/>
        </p:nvSpPr>
        <p:spPr>
          <a:xfrm>
            <a:off x="4206240" y="192024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4 min</a:t>
            </a:r>
            <a:endParaRPr lang="en-US" sz="900" dirty="0"/>
          </a:p>
        </p:txBody>
      </p:sp>
      <p:sp>
        <p:nvSpPr>
          <p:cNvPr id="19" name="Shape 17"/>
          <p:cNvSpPr/>
          <p:nvPr/>
        </p:nvSpPr>
        <p:spPr>
          <a:xfrm>
            <a:off x="411480" y="2542032"/>
            <a:ext cx="347472" cy="347472"/>
          </a:xfrm>
          <a:prstGeom prst="ellipse">
            <a:avLst/>
          </a:prstGeom>
          <a:solidFill>
            <a:srgbClr val="E4F038"/>
          </a:solidFill>
          <a:ln w="12700">
            <a:solidFill>
              <a:srgbClr val="E4F038"/>
            </a:solidFill>
            <a:prstDash val="solid"/>
          </a:ln>
        </p:spPr>
        <p:txBody>
          <a:bodyPr/>
          <a:lstStyle/>
          <a:p>
            <a:endParaRPr lang="en-GB"/>
          </a:p>
        </p:txBody>
      </p:sp>
      <p:sp>
        <p:nvSpPr>
          <p:cNvPr id="20" name="Text 18"/>
          <p:cNvSpPr txBox="1"/>
          <p:nvPr/>
        </p:nvSpPr>
        <p:spPr>
          <a:xfrm>
            <a:off x="411480" y="254203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3</a:t>
            </a:r>
            <a:endParaRPr lang="en-US" sz="1100" dirty="0"/>
          </a:p>
        </p:txBody>
      </p:sp>
      <p:sp>
        <p:nvSpPr>
          <p:cNvPr id="21" name="Text 19"/>
          <p:cNvSpPr txBox="1"/>
          <p:nvPr/>
        </p:nvSpPr>
        <p:spPr>
          <a:xfrm>
            <a:off x="914400" y="246888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Proposed solution</a:t>
            </a:r>
            <a:endParaRPr lang="en-US" sz="1200" dirty="0"/>
          </a:p>
        </p:txBody>
      </p:sp>
      <p:sp>
        <p:nvSpPr>
          <p:cNvPr id="22" name="Text 20"/>
          <p:cNvSpPr txBox="1"/>
          <p:nvPr/>
        </p:nvSpPr>
        <p:spPr>
          <a:xfrm>
            <a:off x="914400" y="271576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Key capabilities, scalability, and – candidly – the constraints</a:t>
            </a:r>
            <a:endParaRPr lang="en-US" sz="900" dirty="0"/>
          </a:p>
        </p:txBody>
      </p:sp>
      <p:sp>
        <p:nvSpPr>
          <p:cNvPr id="23" name="Text 21"/>
          <p:cNvSpPr txBox="1"/>
          <p:nvPr/>
        </p:nvSpPr>
        <p:spPr>
          <a:xfrm>
            <a:off x="4206240" y="246888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6 min</a:t>
            </a:r>
            <a:endParaRPr lang="en-US" sz="900" dirty="0"/>
          </a:p>
        </p:txBody>
      </p:sp>
      <p:sp>
        <p:nvSpPr>
          <p:cNvPr id="24" name="Shape 22"/>
          <p:cNvSpPr/>
          <p:nvPr/>
        </p:nvSpPr>
        <p:spPr>
          <a:xfrm>
            <a:off x="411480" y="3090672"/>
            <a:ext cx="347472" cy="347472"/>
          </a:xfrm>
          <a:prstGeom prst="ellipse">
            <a:avLst/>
          </a:prstGeom>
          <a:solidFill>
            <a:srgbClr val="E4F038"/>
          </a:solidFill>
          <a:ln w="12700">
            <a:solidFill>
              <a:srgbClr val="E4F038"/>
            </a:solidFill>
            <a:prstDash val="solid"/>
          </a:ln>
        </p:spPr>
        <p:txBody>
          <a:bodyPr/>
          <a:lstStyle/>
          <a:p>
            <a:endParaRPr lang="en-GB"/>
          </a:p>
        </p:txBody>
      </p:sp>
      <p:sp>
        <p:nvSpPr>
          <p:cNvPr id="25" name="Text 23"/>
          <p:cNvSpPr txBox="1"/>
          <p:nvPr/>
        </p:nvSpPr>
        <p:spPr>
          <a:xfrm>
            <a:off x="411480" y="309067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4</a:t>
            </a:r>
            <a:endParaRPr lang="en-US" sz="1100" dirty="0"/>
          </a:p>
        </p:txBody>
      </p:sp>
      <p:sp>
        <p:nvSpPr>
          <p:cNvPr id="26" name="Text 24"/>
          <p:cNvSpPr txBox="1"/>
          <p:nvPr/>
        </p:nvSpPr>
        <p:spPr>
          <a:xfrm>
            <a:off x="914400" y="301752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Differentiators and value drivers</a:t>
            </a:r>
            <a:endParaRPr lang="en-US" sz="1200" dirty="0"/>
          </a:p>
        </p:txBody>
      </p:sp>
      <p:sp>
        <p:nvSpPr>
          <p:cNvPr id="27" name="Text 25"/>
          <p:cNvSpPr txBox="1"/>
          <p:nvPr/>
        </p:nvSpPr>
        <p:spPr>
          <a:xfrm>
            <a:off x="914400" y="326440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Why Calira, and where the value comes from</a:t>
            </a:r>
            <a:endParaRPr lang="en-US" sz="900" dirty="0"/>
          </a:p>
        </p:txBody>
      </p:sp>
      <p:sp>
        <p:nvSpPr>
          <p:cNvPr id="28" name="Text 26"/>
          <p:cNvSpPr txBox="1"/>
          <p:nvPr/>
        </p:nvSpPr>
        <p:spPr>
          <a:xfrm>
            <a:off x="4206240" y="301752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4 min</a:t>
            </a:r>
            <a:endParaRPr lang="en-US" sz="900" dirty="0"/>
          </a:p>
        </p:txBody>
      </p:sp>
      <p:sp>
        <p:nvSpPr>
          <p:cNvPr id="29" name="Shape 27"/>
          <p:cNvSpPr/>
          <p:nvPr/>
        </p:nvSpPr>
        <p:spPr>
          <a:xfrm>
            <a:off x="411480" y="3639312"/>
            <a:ext cx="347472" cy="347472"/>
          </a:xfrm>
          <a:prstGeom prst="ellipse">
            <a:avLst/>
          </a:prstGeom>
          <a:solidFill>
            <a:srgbClr val="E4F038"/>
          </a:solidFill>
          <a:ln w="12700">
            <a:solidFill>
              <a:srgbClr val="E4F038"/>
            </a:solidFill>
            <a:prstDash val="solid"/>
          </a:ln>
        </p:spPr>
        <p:txBody>
          <a:bodyPr/>
          <a:lstStyle/>
          <a:p>
            <a:endParaRPr lang="en-GB"/>
          </a:p>
        </p:txBody>
      </p:sp>
      <p:sp>
        <p:nvSpPr>
          <p:cNvPr id="30" name="Text 28"/>
          <p:cNvSpPr txBox="1"/>
          <p:nvPr/>
        </p:nvSpPr>
        <p:spPr>
          <a:xfrm>
            <a:off x="411480" y="363931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5</a:t>
            </a:r>
            <a:endParaRPr lang="en-US" sz="1100" dirty="0"/>
          </a:p>
        </p:txBody>
      </p:sp>
      <p:sp>
        <p:nvSpPr>
          <p:cNvPr id="31" name="Text 29"/>
          <p:cNvSpPr txBox="1"/>
          <p:nvPr/>
        </p:nvSpPr>
        <p:spPr>
          <a:xfrm>
            <a:off x="914400" y="356616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Implementation approach</a:t>
            </a:r>
            <a:endParaRPr lang="en-US" sz="1200" dirty="0"/>
          </a:p>
        </p:txBody>
      </p:sp>
      <p:sp>
        <p:nvSpPr>
          <p:cNvPr id="32" name="Text 30"/>
          <p:cNvSpPr txBox="1"/>
          <p:nvPr/>
        </p:nvSpPr>
        <p:spPr>
          <a:xfrm>
            <a:off x="914400" y="381304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Lead site in 8 weeks, then rollout waves; team and KPIs</a:t>
            </a:r>
            <a:endParaRPr lang="en-US" sz="900" dirty="0"/>
          </a:p>
        </p:txBody>
      </p:sp>
      <p:sp>
        <p:nvSpPr>
          <p:cNvPr id="33" name="Text 31"/>
          <p:cNvSpPr txBox="1"/>
          <p:nvPr/>
        </p:nvSpPr>
        <p:spPr>
          <a:xfrm>
            <a:off x="4206240" y="356616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4 min</a:t>
            </a:r>
            <a:endParaRPr lang="en-US" sz="900" dirty="0"/>
          </a:p>
        </p:txBody>
      </p:sp>
      <p:sp>
        <p:nvSpPr>
          <p:cNvPr id="34" name="Shape 32"/>
          <p:cNvSpPr/>
          <p:nvPr/>
        </p:nvSpPr>
        <p:spPr>
          <a:xfrm>
            <a:off x="411480" y="4187952"/>
            <a:ext cx="347472" cy="347472"/>
          </a:xfrm>
          <a:prstGeom prst="ellipse">
            <a:avLst/>
          </a:prstGeom>
          <a:solidFill>
            <a:srgbClr val="E4F038"/>
          </a:solidFill>
          <a:ln w="12700">
            <a:solidFill>
              <a:srgbClr val="E4F038"/>
            </a:solidFill>
            <a:prstDash val="solid"/>
          </a:ln>
        </p:spPr>
        <p:txBody>
          <a:bodyPr/>
          <a:lstStyle/>
          <a:p>
            <a:endParaRPr lang="en-GB"/>
          </a:p>
        </p:txBody>
      </p:sp>
      <p:sp>
        <p:nvSpPr>
          <p:cNvPr id="35" name="Text 33"/>
          <p:cNvSpPr txBox="1"/>
          <p:nvPr/>
        </p:nvSpPr>
        <p:spPr>
          <a:xfrm>
            <a:off x="411480" y="4187952"/>
            <a:ext cx="347472" cy="347472"/>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6</a:t>
            </a:r>
            <a:endParaRPr lang="en-US" sz="1100" dirty="0"/>
          </a:p>
        </p:txBody>
      </p:sp>
      <p:sp>
        <p:nvSpPr>
          <p:cNvPr id="36" name="Text 34"/>
          <p:cNvSpPr txBox="1"/>
          <p:nvPr/>
        </p:nvSpPr>
        <p:spPr>
          <a:xfrm>
            <a:off x="914400" y="4114800"/>
            <a:ext cx="3108960" cy="256032"/>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Commercial, licensing and cost structure</a:t>
            </a:r>
            <a:endParaRPr lang="en-US" sz="1200" dirty="0"/>
          </a:p>
        </p:txBody>
      </p:sp>
      <p:sp>
        <p:nvSpPr>
          <p:cNvPr id="37" name="Text 35"/>
          <p:cNvSpPr txBox="1"/>
          <p:nvPr/>
        </p:nvSpPr>
        <p:spPr>
          <a:xfrm>
            <a:off x="914400" y="4361688"/>
            <a:ext cx="4206240" cy="22860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Licence model, services, terms and exceptions</a:t>
            </a:r>
            <a:endParaRPr lang="en-US" sz="900" dirty="0"/>
          </a:p>
        </p:txBody>
      </p:sp>
      <p:sp>
        <p:nvSpPr>
          <p:cNvPr id="38" name="Text 36"/>
          <p:cNvSpPr txBox="1"/>
          <p:nvPr/>
        </p:nvSpPr>
        <p:spPr>
          <a:xfrm>
            <a:off x="4206240" y="4114800"/>
            <a:ext cx="822960" cy="256032"/>
          </a:xfrm>
          <a:prstGeom prst="rect">
            <a:avLst/>
          </a:prstGeom>
          <a:noFill/>
          <a:ln/>
        </p:spPr>
        <p:txBody>
          <a:bodyPr wrap="square" lIns="0" tIns="0" rIns="0" bIns="0" rtlCol="0" anchor="ctr"/>
          <a:lstStyle/>
          <a:p>
            <a:pPr marL="0" indent="0" algn="r">
              <a:buNone/>
            </a:pPr>
            <a:r>
              <a:rPr lang="en-US" sz="900" dirty="0">
                <a:solidFill>
                  <a:srgbClr val="535A6E"/>
                </a:solidFill>
                <a:latin typeface="Arial" pitchFamily="34" charset="0"/>
                <a:ea typeface="Arial" pitchFamily="34" charset="-122"/>
                <a:cs typeface="Arial" pitchFamily="34" charset="-120"/>
              </a:rPr>
              <a:t>3 min</a:t>
            </a:r>
            <a:endParaRPr lang="en-US" sz="900" dirty="0"/>
          </a:p>
        </p:txBody>
      </p:sp>
      <p:pic>
        <p:nvPicPr>
          <p:cNvPr id="39" name="Image 0" descr="C:\Users\mills\AppData\Local\Temp\claude\C--Users-mills-Documents-Code-CaliraPM\5bfe5553-dcee-4283-8c8f-3ac10305de01\scratchpad\crl\build\assets\photo_lab.jpg"/>
          <p:cNvPicPr>
            <a:picLocks noChangeAspect="1"/>
          </p:cNvPicPr>
          <p:nvPr/>
        </p:nvPicPr>
        <p:blipFill>
          <a:blip r:embed="rId3"/>
          <a:srcRect/>
          <a:stretch/>
        </p:blipFill>
        <p:spPr>
          <a:xfrm>
            <a:off x="5577840" y="1325880"/>
            <a:ext cx="3200400" cy="3291840"/>
          </a:xfrm>
          <a:prstGeom prst="rect">
            <a:avLst/>
          </a:prstGeom>
        </p:spPr>
      </p:pic>
      <p:pic>
        <p:nvPicPr>
          <p:cNvPr id="40" name="Image 1" descr="C:\Users\mills\AppData\Local\Temp\claude\C--Users-mills-Documents-Code-CaliraPM\5bfe5553-dcee-4283-8c8f-3ac10305de01\scratchpad\crl\build\assets\dots_black.png"/>
          <p:cNvPicPr>
            <a:picLocks noChangeAspect="1"/>
          </p:cNvPicPr>
          <p:nvPr/>
        </p:nvPicPr>
        <p:blipFill>
          <a:blip r:embed="rId4">
            <a:alphaModFix amt="60000"/>
          </a:blip>
          <a:stretch>
            <a:fillRect/>
          </a:stretch>
        </p:blipFill>
        <p:spPr>
          <a:xfrm>
            <a:off x="5577840" y="1325880"/>
            <a:ext cx="3200400" cy="32918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ABOUT CALIRA</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Built for R&amp;D at scale – and already live inside CRL</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The world's leading R&amp;D equipment scheduling platform · founded 2019 · rebranded from Clustermarket in 2025 · London, Sofia, Boston</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2</a:t>
            </a:r>
            <a:endParaRPr lang="en-US" sz="700" dirty="0"/>
          </a:p>
        </p:txBody>
      </p:sp>
      <p:sp>
        <p:nvSpPr>
          <p:cNvPr id="9" name="Shape 7"/>
          <p:cNvSpPr/>
          <p:nvPr/>
        </p:nvSpPr>
        <p:spPr>
          <a:xfrm>
            <a:off x="365760" y="1417320"/>
            <a:ext cx="932688"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10" name="Text 8"/>
          <p:cNvSpPr txBox="1"/>
          <p:nvPr/>
        </p:nvSpPr>
        <p:spPr>
          <a:xfrm>
            <a:off x="365760" y="1527048"/>
            <a:ext cx="932688" cy="457200"/>
          </a:xfrm>
          <a:prstGeom prst="rect">
            <a:avLst/>
          </a:prstGeom>
          <a:noFill/>
          <a:ln/>
        </p:spPr>
        <p:txBody>
          <a:bodyPr wrap="square" lIns="0" tIns="0" rIns="0" bIns="0" rtlCol="0" anchor="ctr"/>
          <a:lstStyle/>
          <a:p>
            <a:pPr marL="0" indent="0" algn="ctr">
              <a:buNone/>
            </a:pPr>
            <a:r>
              <a:rPr lang="en-US" sz="1600" b="1" dirty="0">
                <a:solidFill>
                  <a:srgbClr val="0B190D"/>
                </a:solidFill>
                <a:latin typeface="Arial" pitchFamily="34" charset="0"/>
                <a:ea typeface="Arial" pitchFamily="34" charset="-122"/>
                <a:cs typeface="Arial" pitchFamily="34" charset="-120"/>
              </a:rPr>
              <a:t>11M+</a:t>
            </a:r>
            <a:endParaRPr lang="en-US" sz="1600" dirty="0"/>
          </a:p>
        </p:txBody>
      </p:sp>
      <p:sp>
        <p:nvSpPr>
          <p:cNvPr id="11" name="Text 9"/>
          <p:cNvSpPr txBox="1"/>
          <p:nvPr/>
        </p:nvSpPr>
        <p:spPr>
          <a:xfrm>
            <a:off x="365760" y="1965960"/>
            <a:ext cx="932688" cy="274320"/>
          </a:xfrm>
          <a:prstGeom prst="rect">
            <a:avLst/>
          </a:prstGeom>
          <a:noFill/>
          <a:ln/>
        </p:spPr>
        <p:txBody>
          <a:bodyPr wrap="square" lIns="0" tIns="0" rIns="0" bIns="0" rtlCol="0" anchor="ctr"/>
          <a:lstStyle/>
          <a:p>
            <a:pPr marL="0" indent="0" algn="ctr">
              <a:buNone/>
            </a:pPr>
            <a:r>
              <a:rPr lang="en-US" sz="900" dirty="0">
                <a:solidFill>
                  <a:srgbClr val="535A6E"/>
                </a:solidFill>
                <a:latin typeface="Arial" pitchFamily="34" charset="0"/>
                <a:ea typeface="Arial" pitchFamily="34" charset="-122"/>
                <a:cs typeface="Arial" pitchFamily="34" charset="-120"/>
              </a:rPr>
              <a:t>bookings</a:t>
            </a:r>
            <a:endParaRPr lang="en-US" sz="900" dirty="0"/>
          </a:p>
        </p:txBody>
      </p:sp>
      <p:sp>
        <p:nvSpPr>
          <p:cNvPr id="12" name="Shape 10"/>
          <p:cNvSpPr/>
          <p:nvPr/>
        </p:nvSpPr>
        <p:spPr>
          <a:xfrm>
            <a:off x="1389888" y="1417320"/>
            <a:ext cx="932688"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13" name="Text 11"/>
          <p:cNvSpPr txBox="1"/>
          <p:nvPr/>
        </p:nvSpPr>
        <p:spPr>
          <a:xfrm>
            <a:off x="1389888" y="1527048"/>
            <a:ext cx="932688" cy="457200"/>
          </a:xfrm>
          <a:prstGeom prst="rect">
            <a:avLst/>
          </a:prstGeom>
          <a:noFill/>
          <a:ln/>
        </p:spPr>
        <p:txBody>
          <a:bodyPr wrap="square" lIns="0" tIns="0" rIns="0" bIns="0" rtlCol="0" anchor="ctr"/>
          <a:lstStyle/>
          <a:p>
            <a:pPr marL="0" indent="0" algn="ctr">
              <a:buNone/>
            </a:pPr>
            <a:r>
              <a:rPr lang="en-US" sz="1600" b="1" dirty="0">
                <a:solidFill>
                  <a:srgbClr val="0B190D"/>
                </a:solidFill>
                <a:latin typeface="Arial" pitchFamily="34" charset="0"/>
                <a:ea typeface="Arial" pitchFamily="34" charset="-122"/>
                <a:cs typeface="Arial" pitchFamily="34" charset="-120"/>
              </a:rPr>
              <a:t>84,000+</a:t>
            </a:r>
            <a:endParaRPr lang="en-US" sz="1600" dirty="0"/>
          </a:p>
        </p:txBody>
      </p:sp>
      <p:sp>
        <p:nvSpPr>
          <p:cNvPr id="14" name="Text 12"/>
          <p:cNvSpPr txBox="1"/>
          <p:nvPr/>
        </p:nvSpPr>
        <p:spPr>
          <a:xfrm>
            <a:off x="1389888" y="1965960"/>
            <a:ext cx="932688" cy="274320"/>
          </a:xfrm>
          <a:prstGeom prst="rect">
            <a:avLst/>
          </a:prstGeom>
          <a:noFill/>
          <a:ln/>
        </p:spPr>
        <p:txBody>
          <a:bodyPr wrap="square" lIns="0" tIns="0" rIns="0" bIns="0" rtlCol="0" anchor="ctr"/>
          <a:lstStyle/>
          <a:p>
            <a:pPr marL="0" indent="0" algn="ctr">
              <a:buNone/>
            </a:pPr>
            <a:r>
              <a:rPr lang="en-US" sz="900" dirty="0">
                <a:solidFill>
                  <a:srgbClr val="535A6E"/>
                </a:solidFill>
                <a:latin typeface="Arial" pitchFamily="34" charset="0"/>
                <a:ea typeface="Arial" pitchFamily="34" charset="-122"/>
                <a:cs typeface="Arial" pitchFamily="34" charset="-120"/>
              </a:rPr>
              <a:t>active users</a:t>
            </a:r>
            <a:endParaRPr lang="en-US" sz="900" dirty="0"/>
          </a:p>
        </p:txBody>
      </p:sp>
      <p:sp>
        <p:nvSpPr>
          <p:cNvPr id="15" name="Shape 13"/>
          <p:cNvSpPr/>
          <p:nvPr/>
        </p:nvSpPr>
        <p:spPr>
          <a:xfrm>
            <a:off x="2414016" y="1417320"/>
            <a:ext cx="932688"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16" name="Text 14"/>
          <p:cNvSpPr txBox="1"/>
          <p:nvPr/>
        </p:nvSpPr>
        <p:spPr>
          <a:xfrm>
            <a:off x="2414016" y="1527048"/>
            <a:ext cx="932688" cy="457200"/>
          </a:xfrm>
          <a:prstGeom prst="rect">
            <a:avLst/>
          </a:prstGeom>
          <a:noFill/>
          <a:ln/>
        </p:spPr>
        <p:txBody>
          <a:bodyPr wrap="square" lIns="0" tIns="0" rIns="0" bIns="0" rtlCol="0" anchor="ctr"/>
          <a:lstStyle/>
          <a:p>
            <a:pPr marL="0" indent="0" algn="ctr">
              <a:buNone/>
            </a:pPr>
            <a:r>
              <a:rPr lang="en-US" sz="1600" b="1" dirty="0">
                <a:solidFill>
                  <a:srgbClr val="0B190D"/>
                </a:solidFill>
                <a:latin typeface="Arial" pitchFamily="34" charset="0"/>
                <a:ea typeface="Arial" pitchFamily="34" charset="-122"/>
                <a:cs typeface="Arial" pitchFamily="34" charset="-120"/>
              </a:rPr>
              <a:t>66,000+</a:t>
            </a:r>
            <a:endParaRPr lang="en-US" sz="1600" dirty="0"/>
          </a:p>
        </p:txBody>
      </p:sp>
      <p:sp>
        <p:nvSpPr>
          <p:cNvPr id="17" name="Text 15"/>
          <p:cNvSpPr txBox="1"/>
          <p:nvPr/>
        </p:nvSpPr>
        <p:spPr>
          <a:xfrm>
            <a:off x="2414016" y="1965960"/>
            <a:ext cx="932688" cy="274320"/>
          </a:xfrm>
          <a:prstGeom prst="rect">
            <a:avLst/>
          </a:prstGeom>
          <a:noFill/>
          <a:ln/>
        </p:spPr>
        <p:txBody>
          <a:bodyPr wrap="square" lIns="0" tIns="0" rIns="0" bIns="0" rtlCol="0" anchor="ctr"/>
          <a:lstStyle/>
          <a:p>
            <a:pPr marL="0" indent="0" algn="ctr">
              <a:buNone/>
            </a:pPr>
            <a:r>
              <a:rPr lang="en-US" sz="900" dirty="0">
                <a:solidFill>
                  <a:srgbClr val="535A6E"/>
                </a:solidFill>
                <a:latin typeface="Arial" pitchFamily="34" charset="0"/>
                <a:ea typeface="Arial" pitchFamily="34" charset="-122"/>
                <a:cs typeface="Arial" pitchFamily="34" charset="-120"/>
              </a:rPr>
              <a:t>instruments</a:t>
            </a:r>
            <a:endParaRPr lang="en-US" sz="900" dirty="0"/>
          </a:p>
        </p:txBody>
      </p:sp>
      <p:sp>
        <p:nvSpPr>
          <p:cNvPr id="18" name="Shape 16"/>
          <p:cNvSpPr/>
          <p:nvPr/>
        </p:nvSpPr>
        <p:spPr>
          <a:xfrm>
            <a:off x="3438144" y="1417320"/>
            <a:ext cx="932688"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19" name="Text 17"/>
          <p:cNvSpPr txBox="1"/>
          <p:nvPr/>
        </p:nvSpPr>
        <p:spPr>
          <a:xfrm>
            <a:off x="3438144" y="1527048"/>
            <a:ext cx="932688" cy="457200"/>
          </a:xfrm>
          <a:prstGeom prst="rect">
            <a:avLst/>
          </a:prstGeom>
          <a:noFill/>
          <a:ln/>
        </p:spPr>
        <p:txBody>
          <a:bodyPr wrap="square" lIns="0" tIns="0" rIns="0" bIns="0" rtlCol="0" anchor="ctr"/>
          <a:lstStyle/>
          <a:p>
            <a:pPr marL="0" indent="0" algn="ctr">
              <a:buNone/>
            </a:pPr>
            <a:r>
              <a:rPr lang="en-US" sz="1600" b="1" dirty="0">
                <a:solidFill>
                  <a:srgbClr val="0B190D"/>
                </a:solidFill>
                <a:latin typeface="Arial" pitchFamily="34" charset="0"/>
                <a:ea typeface="Arial" pitchFamily="34" charset="-122"/>
                <a:cs typeface="Arial" pitchFamily="34" charset="-120"/>
              </a:rPr>
              <a:t>1,800+</a:t>
            </a:r>
            <a:endParaRPr lang="en-US" sz="1600" dirty="0"/>
          </a:p>
        </p:txBody>
      </p:sp>
      <p:sp>
        <p:nvSpPr>
          <p:cNvPr id="20" name="Text 18"/>
          <p:cNvSpPr txBox="1"/>
          <p:nvPr/>
        </p:nvSpPr>
        <p:spPr>
          <a:xfrm>
            <a:off x="3438144" y="1965960"/>
            <a:ext cx="932688" cy="274320"/>
          </a:xfrm>
          <a:prstGeom prst="rect">
            <a:avLst/>
          </a:prstGeom>
          <a:noFill/>
          <a:ln/>
        </p:spPr>
        <p:txBody>
          <a:bodyPr wrap="square" lIns="0" tIns="0" rIns="0" bIns="0" rtlCol="0" anchor="ctr"/>
          <a:lstStyle/>
          <a:p>
            <a:pPr marL="0" indent="0" algn="ctr">
              <a:buNone/>
            </a:pPr>
            <a:r>
              <a:rPr lang="en-US" sz="900" dirty="0">
                <a:solidFill>
                  <a:srgbClr val="535A6E"/>
                </a:solidFill>
                <a:latin typeface="Arial" pitchFamily="34" charset="0"/>
                <a:ea typeface="Arial" pitchFamily="34" charset="-122"/>
                <a:cs typeface="Arial" pitchFamily="34" charset="-120"/>
              </a:rPr>
              <a:t>laboratories</a:t>
            </a:r>
            <a:endParaRPr lang="en-US" sz="900" dirty="0"/>
          </a:p>
        </p:txBody>
      </p:sp>
      <p:sp>
        <p:nvSpPr>
          <p:cNvPr id="21" name="Shape 19"/>
          <p:cNvSpPr/>
          <p:nvPr/>
        </p:nvSpPr>
        <p:spPr>
          <a:xfrm>
            <a:off x="4462272" y="1417320"/>
            <a:ext cx="932688"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22" name="Text 20"/>
          <p:cNvSpPr txBox="1"/>
          <p:nvPr/>
        </p:nvSpPr>
        <p:spPr>
          <a:xfrm>
            <a:off x="4462272" y="1527048"/>
            <a:ext cx="932688" cy="457200"/>
          </a:xfrm>
          <a:prstGeom prst="rect">
            <a:avLst/>
          </a:prstGeom>
          <a:noFill/>
          <a:ln/>
        </p:spPr>
        <p:txBody>
          <a:bodyPr wrap="square" lIns="0" tIns="0" rIns="0" bIns="0" rtlCol="0" anchor="ctr"/>
          <a:lstStyle/>
          <a:p>
            <a:pPr marL="0" indent="0" algn="ctr">
              <a:buNone/>
            </a:pPr>
            <a:r>
              <a:rPr lang="en-US" sz="1600" b="1" dirty="0">
                <a:solidFill>
                  <a:srgbClr val="0B190D"/>
                </a:solidFill>
                <a:latin typeface="Arial" pitchFamily="34" charset="0"/>
                <a:ea typeface="Arial" pitchFamily="34" charset="-122"/>
                <a:cs typeface="Arial" pitchFamily="34" charset="-120"/>
              </a:rPr>
              <a:t>50+</a:t>
            </a:r>
            <a:endParaRPr lang="en-US" sz="1600" dirty="0"/>
          </a:p>
        </p:txBody>
      </p:sp>
      <p:sp>
        <p:nvSpPr>
          <p:cNvPr id="23" name="Text 21"/>
          <p:cNvSpPr txBox="1"/>
          <p:nvPr/>
        </p:nvSpPr>
        <p:spPr>
          <a:xfrm>
            <a:off x="4462272" y="1965960"/>
            <a:ext cx="932688" cy="274320"/>
          </a:xfrm>
          <a:prstGeom prst="rect">
            <a:avLst/>
          </a:prstGeom>
          <a:noFill/>
          <a:ln/>
        </p:spPr>
        <p:txBody>
          <a:bodyPr wrap="square" lIns="0" tIns="0" rIns="0" bIns="0" rtlCol="0" anchor="ctr"/>
          <a:lstStyle/>
          <a:p>
            <a:pPr marL="0" indent="0" algn="ctr">
              <a:buNone/>
            </a:pPr>
            <a:r>
              <a:rPr lang="en-US" sz="900" dirty="0">
                <a:solidFill>
                  <a:srgbClr val="535A6E"/>
                </a:solidFill>
                <a:latin typeface="Arial" pitchFamily="34" charset="0"/>
                <a:ea typeface="Arial" pitchFamily="34" charset="-122"/>
                <a:cs typeface="Arial" pitchFamily="34" charset="-120"/>
              </a:rPr>
              <a:t>countries</a:t>
            </a:r>
            <a:endParaRPr lang="en-US" sz="900" dirty="0"/>
          </a:p>
        </p:txBody>
      </p:sp>
      <p:sp>
        <p:nvSpPr>
          <p:cNvPr id="24" name="Text 22"/>
          <p:cNvSpPr txBox="1"/>
          <p:nvPr/>
        </p:nvSpPr>
        <p:spPr>
          <a:xfrm>
            <a:off x="365760" y="2514600"/>
            <a:ext cx="4754880" cy="228600"/>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Trusted by leading life-science organisations</a:t>
            </a:r>
            <a:endParaRPr lang="en-US" sz="1000" dirty="0"/>
          </a:p>
        </p:txBody>
      </p:sp>
      <p:sp>
        <p:nvSpPr>
          <p:cNvPr id="25" name="Shape 23"/>
          <p:cNvSpPr/>
          <p:nvPr/>
        </p:nvSpPr>
        <p:spPr>
          <a:xfrm>
            <a:off x="365760" y="281635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26" name="Image 0" descr="C:\Users\mills\AppData\Local\Temp\claude\C--Users-mills-Documents-Code-CaliraPM\5bfe5553-dcee-4283-8c8f-3ac10305de01\scratchpad\crl\build\assets\logo_moderna.png"/>
          <p:cNvPicPr>
            <a:picLocks noChangeAspect="1"/>
          </p:cNvPicPr>
          <p:nvPr/>
        </p:nvPicPr>
        <p:blipFill>
          <a:blip r:embed="rId3"/>
          <a:srcRect/>
          <a:stretch/>
        </p:blipFill>
        <p:spPr>
          <a:xfrm>
            <a:off x="475488" y="2926080"/>
            <a:ext cx="923544" cy="557784"/>
          </a:xfrm>
          <a:prstGeom prst="rect">
            <a:avLst/>
          </a:prstGeom>
        </p:spPr>
      </p:pic>
      <p:sp>
        <p:nvSpPr>
          <p:cNvPr id="27" name="Shape 24"/>
          <p:cNvSpPr/>
          <p:nvPr/>
        </p:nvSpPr>
        <p:spPr>
          <a:xfrm>
            <a:off x="1600200" y="281635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28" name="Image 1" descr="C:\Users\mills\AppData\Local\Temp\claude\C--Users-mills-Documents-Code-CaliraPM\5bfe5553-dcee-4283-8c8f-3ac10305de01\scratchpad\crl\build\assets\logo_lilly.png"/>
          <p:cNvPicPr>
            <a:picLocks noChangeAspect="1"/>
          </p:cNvPicPr>
          <p:nvPr/>
        </p:nvPicPr>
        <p:blipFill>
          <a:blip r:embed="rId4"/>
          <a:srcRect/>
          <a:stretch/>
        </p:blipFill>
        <p:spPr>
          <a:xfrm>
            <a:off x="1709928" y="2926080"/>
            <a:ext cx="923544" cy="557784"/>
          </a:xfrm>
          <a:prstGeom prst="rect">
            <a:avLst/>
          </a:prstGeom>
        </p:spPr>
      </p:pic>
      <p:sp>
        <p:nvSpPr>
          <p:cNvPr id="29" name="Shape 25"/>
          <p:cNvSpPr/>
          <p:nvPr/>
        </p:nvSpPr>
        <p:spPr>
          <a:xfrm>
            <a:off x="2834640" y="281635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30" name="Image 2" descr="C:\Users\mills\AppData\Local\Temp\claude\C--Users-mills-Documents-Code-CaliraPM\5bfe5553-dcee-4283-8c8f-3ac10305de01\scratchpad\crl\build\assets\logo_novo.png"/>
          <p:cNvPicPr>
            <a:picLocks noChangeAspect="1"/>
          </p:cNvPicPr>
          <p:nvPr/>
        </p:nvPicPr>
        <p:blipFill>
          <a:blip r:embed="rId5"/>
          <a:srcRect/>
          <a:stretch/>
        </p:blipFill>
        <p:spPr>
          <a:xfrm>
            <a:off x="2944368" y="2926080"/>
            <a:ext cx="923544" cy="557784"/>
          </a:xfrm>
          <a:prstGeom prst="rect">
            <a:avLst/>
          </a:prstGeom>
        </p:spPr>
      </p:pic>
      <p:sp>
        <p:nvSpPr>
          <p:cNvPr id="31" name="Shape 26"/>
          <p:cNvSpPr/>
          <p:nvPr/>
        </p:nvSpPr>
        <p:spPr>
          <a:xfrm>
            <a:off x="4069080" y="281635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32" name="Image 3" descr="C:\Users\mills\AppData\Local\Temp\claude\C--Users-mills-Documents-Code-CaliraPM\5bfe5553-dcee-4283-8c8f-3ac10305de01\scratchpad\crl\build\assets\logo_takeda.png"/>
          <p:cNvPicPr>
            <a:picLocks noChangeAspect="1"/>
          </p:cNvPicPr>
          <p:nvPr/>
        </p:nvPicPr>
        <p:blipFill>
          <a:blip r:embed="rId6"/>
          <a:srcRect/>
          <a:stretch/>
        </p:blipFill>
        <p:spPr>
          <a:xfrm>
            <a:off x="4178808" y="2926080"/>
            <a:ext cx="923544" cy="557784"/>
          </a:xfrm>
          <a:prstGeom prst="rect">
            <a:avLst/>
          </a:prstGeom>
        </p:spPr>
      </p:pic>
      <p:sp>
        <p:nvSpPr>
          <p:cNvPr id="33" name="Shape 27"/>
          <p:cNvSpPr/>
          <p:nvPr/>
        </p:nvSpPr>
        <p:spPr>
          <a:xfrm>
            <a:off x="365760" y="368503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34" name="Image 4" descr="C:\Users\mills\AppData\Local\Temp\claude\C--Users-mills-Documents-Code-CaliraPM\5bfe5553-dcee-4283-8c8f-3ac10305de01\scratchpad\crl\build\assets\logo_bayer.png"/>
          <p:cNvPicPr>
            <a:picLocks noChangeAspect="1"/>
          </p:cNvPicPr>
          <p:nvPr/>
        </p:nvPicPr>
        <p:blipFill>
          <a:blip r:embed="rId7"/>
          <a:srcRect/>
          <a:stretch/>
        </p:blipFill>
        <p:spPr>
          <a:xfrm>
            <a:off x="475488" y="3794760"/>
            <a:ext cx="923544" cy="557784"/>
          </a:xfrm>
          <a:prstGeom prst="rect">
            <a:avLst/>
          </a:prstGeom>
        </p:spPr>
      </p:pic>
      <p:sp>
        <p:nvSpPr>
          <p:cNvPr id="35" name="Shape 28"/>
          <p:cNvSpPr/>
          <p:nvPr/>
        </p:nvSpPr>
        <p:spPr>
          <a:xfrm>
            <a:off x="1600200" y="368503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36" name="Image 5" descr="C:\Users\mills\AppData\Local\Temp\claude\C--Users-mills-Documents-Code-CaliraPM\5bfe5553-dcee-4283-8c8f-3ac10305de01\scratchpad\crl\build\assets\logo_lonza.png"/>
          <p:cNvPicPr>
            <a:picLocks noChangeAspect="1"/>
          </p:cNvPicPr>
          <p:nvPr/>
        </p:nvPicPr>
        <p:blipFill>
          <a:blip r:embed="rId8"/>
          <a:srcRect/>
          <a:stretch/>
        </p:blipFill>
        <p:spPr>
          <a:xfrm>
            <a:off x="1709928" y="3794760"/>
            <a:ext cx="923544" cy="557784"/>
          </a:xfrm>
          <a:prstGeom prst="rect">
            <a:avLst/>
          </a:prstGeom>
        </p:spPr>
      </p:pic>
      <p:sp>
        <p:nvSpPr>
          <p:cNvPr id="37" name="Shape 29"/>
          <p:cNvSpPr/>
          <p:nvPr/>
        </p:nvSpPr>
        <p:spPr>
          <a:xfrm>
            <a:off x="2834640" y="368503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38" name="Image 6" descr="C:\Users\mills\AppData\Local\Temp\claude\C--Users-mills-Documents-Code-CaliraPM\5bfe5553-dcee-4283-8c8f-3ac10305de01\scratchpad\crl\build\assets\logo_cytiva.png"/>
          <p:cNvPicPr>
            <a:picLocks noChangeAspect="1"/>
          </p:cNvPicPr>
          <p:nvPr/>
        </p:nvPicPr>
        <p:blipFill>
          <a:blip r:embed="rId9"/>
          <a:srcRect/>
          <a:stretch/>
        </p:blipFill>
        <p:spPr>
          <a:xfrm>
            <a:off x="2944368" y="3794760"/>
            <a:ext cx="923544" cy="557784"/>
          </a:xfrm>
          <a:prstGeom prst="rect">
            <a:avLst/>
          </a:prstGeom>
        </p:spPr>
      </p:pic>
      <p:sp>
        <p:nvSpPr>
          <p:cNvPr id="39" name="Shape 30"/>
          <p:cNvSpPr/>
          <p:nvPr/>
        </p:nvSpPr>
        <p:spPr>
          <a:xfrm>
            <a:off x="4069080" y="3685032"/>
            <a:ext cx="1143000" cy="777240"/>
          </a:xfrm>
          <a:prstGeom prst="roundRect">
            <a:avLst>
              <a:gd name="adj" fmla="val 7059"/>
            </a:avLst>
          </a:prstGeom>
          <a:solidFill>
            <a:srgbClr val="FFFFFF"/>
          </a:solidFill>
          <a:ln w="9525">
            <a:solidFill>
              <a:srgbClr val="DDD4CD"/>
            </a:solidFill>
            <a:prstDash val="solid"/>
          </a:ln>
        </p:spPr>
        <p:txBody>
          <a:bodyPr/>
          <a:lstStyle/>
          <a:p>
            <a:endParaRPr lang="en-GB"/>
          </a:p>
        </p:txBody>
      </p:sp>
      <p:pic>
        <p:nvPicPr>
          <p:cNvPr id="40" name="Image 7" descr="C:\Users\mills\AppData\Local\Temp\claude\C--Users-mills-Documents-Code-CaliraPM\5bfe5553-dcee-4283-8c8f-3ac10305de01\scratchpad\crl\build\assets\logo_novonesis.png"/>
          <p:cNvPicPr>
            <a:picLocks noChangeAspect="1"/>
          </p:cNvPicPr>
          <p:nvPr/>
        </p:nvPicPr>
        <p:blipFill>
          <a:blip r:embed="rId10"/>
          <a:srcRect/>
          <a:stretch/>
        </p:blipFill>
        <p:spPr>
          <a:xfrm>
            <a:off x="4178808" y="3794760"/>
            <a:ext cx="923544" cy="557784"/>
          </a:xfrm>
          <a:prstGeom prst="rect">
            <a:avLst/>
          </a:prstGeom>
        </p:spPr>
      </p:pic>
      <p:sp>
        <p:nvSpPr>
          <p:cNvPr id="41" name="Shape 31"/>
          <p:cNvSpPr/>
          <p:nvPr/>
        </p:nvSpPr>
        <p:spPr>
          <a:xfrm>
            <a:off x="5486400" y="1417320"/>
            <a:ext cx="3291840" cy="3200400"/>
          </a:xfrm>
          <a:prstGeom prst="roundRect">
            <a:avLst>
              <a:gd name="adj" fmla="val 2286"/>
            </a:avLst>
          </a:prstGeom>
          <a:solidFill>
            <a:srgbClr val="E4F038"/>
          </a:solidFill>
          <a:ln w="12700">
            <a:solidFill>
              <a:srgbClr val="E4F038"/>
            </a:solidFill>
            <a:prstDash val="solid"/>
          </a:ln>
        </p:spPr>
        <p:txBody>
          <a:bodyPr/>
          <a:lstStyle/>
          <a:p>
            <a:endParaRPr lang="en-GB"/>
          </a:p>
        </p:txBody>
      </p:sp>
      <p:sp>
        <p:nvSpPr>
          <p:cNvPr id="42" name="Text 32"/>
          <p:cNvSpPr txBox="1"/>
          <p:nvPr/>
        </p:nvSpPr>
        <p:spPr>
          <a:xfrm>
            <a:off x="5669280" y="1554480"/>
            <a:ext cx="2926080" cy="320040"/>
          </a:xfrm>
          <a:prstGeom prst="rect">
            <a:avLst/>
          </a:prstGeom>
          <a:noFill/>
          <a:ln/>
        </p:spPr>
        <p:txBody>
          <a:bodyPr wrap="square" lIns="0" tIns="0" rIns="0" bIns="0" rtlCol="0" anchor="ctr"/>
          <a:lstStyle/>
          <a:p>
            <a:pPr marL="0" indent="0">
              <a:buNone/>
            </a:pPr>
            <a:r>
              <a:rPr lang="en-US" sz="1400" b="1" dirty="0">
                <a:solidFill>
                  <a:srgbClr val="0B190D"/>
                </a:solidFill>
                <a:latin typeface="Arial" pitchFamily="34" charset="0"/>
                <a:ea typeface="Arial" pitchFamily="34" charset="-122"/>
                <a:cs typeface="Arial" pitchFamily="34" charset="-120"/>
              </a:rPr>
              <a:t>Already a CRL partner</a:t>
            </a:r>
            <a:endParaRPr lang="en-US" sz="1400" dirty="0"/>
          </a:p>
        </p:txBody>
      </p:sp>
      <p:sp>
        <p:nvSpPr>
          <p:cNvPr id="43" name="Text 33"/>
          <p:cNvSpPr txBox="1"/>
          <p:nvPr/>
        </p:nvSpPr>
        <p:spPr>
          <a:xfrm>
            <a:off x="5669280" y="1920240"/>
            <a:ext cx="2971800" cy="2651760"/>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0B190D"/>
                </a:solidFill>
                <a:latin typeface="Arial" pitchFamily="34" charset="0"/>
                <a:ea typeface="Arial" pitchFamily="34" charset="-122"/>
                <a:cs typeface="Arial" pitchFamily="34" charset="-120"/>
              </a:rPr>
              <a:t>Live today in CRL's Chemistry department, Edinburgh, under an existing contract</a:t>
            </a:r>
            <a:endParaRPr lang="en-US" sz="1000" dirty="0"/>
          </a:p>
          <a:p>
            <a:pPr marL="152400" indent="-152400">
              <a:spcAft>
                <a:spcPts val="600"/>
              </a:spcAft>
              <a:buSzPct val="100000"/>
              <a:buChar char="•"/>
            </a:pPr>
            <a:r>
              <a:rPr lang="en-US" sz="1000" dirty="0">
                <a:solidFill>
                  <a:srgbClr val="0B190D"/>
                </a:solidFill>
                <a:latin typeface="Arial" pitchFamily="34" charset="0"/>
                <a:ea typeface="Arial" pitchFamily="34" charset="-122"/>
                <a:cs typeface="Arial" pitchFamily="34" charset="-120"/>
              </a:rPr>
              <a:t>Day-to-day equipment scheduling plus insight into asset utilisation, revenue per asset and analysis success rates</a:t>
            </a:r>
            <a:endParaRPr lang="en-US" sz="1000" dirty="0"/>
          </a:p>
          <a:p>
            <a:pPr marL="152400" indent="-152400">
              <a:spcAft>
                <a:spcPts val="600"/>
              </a:spcAft>
              <a:buSzPct val="100000"/>
              <a:buChar char="•"/>
            </a:pPr>
            <a:r>
              <a:rPr lang="en-US" sz="1000" dirty="0">
                <a:solidFill>
                  <a:srgbClr val="0B190D"/>
                </a:solidFill>
                <a:latin typeface="Arial" pitchFamily="34" charset="0"/>
                <a:ea typeface="Arial" pitchFamily="34" charset="-122"/>
                <a:cs typeface="Arial" pitchFamily="34" charset="-120"/>
              </a:rPr>
              <a:t>16 enterprise implementations of 500+ users as primary implementer; multi-site rollouts at Novo Nordisk, Moderna and Eli Lilly</a:t>
            </a:r>
            <a:endParaRPr lang="en-US" sz="1000" dirty="0"/>
          </a:p>
          <a:p>
            <a:pPr marL="152400" indent="-152400">
              <a:spcAft>
                <a:spcPts val="600"/>
              </a:spcAft>
              <a:buSzPct val="100000"/>
              <a:buChar char="•"/>
            </a:pPr>
            <a:r>
              <a:rPr lang="en-US" sz="1000" dirty="0">
                <a:solidFill>
                  <a:srgbClr val="0B190D"/>
                </a:solidFill>
                <a:latin typeface="Arial" pitchFamily="34" charset="0"/>
                <a:ea typeface="Arial" pitchFamily="34" charset="-122"/>
                <a:cs typeface="Arial" pitchFamily="34" charset="-120"/>
              </a:rPr>
              <a:t>Year-on-year growth of 81% (2024–25) and 34% (2025–26); 17 staff, 9 in product and engineering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YOUR OBJECTIVES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What we heard: one enterprise scheduling method, with evidence you can act on</a:t>
            </a:r>
            <a:endParaRPr lang="en-US" sz="2200" dirty="0"/>
          </a:p>
        </p:txBody>
      </p:sp>
      <p:sp>
        <p:nvSpPr>
          <p:cNvPr id="5" name="Shape 3"/>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6" name="Text 4"/>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7" name="Text 5"/>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3</a:t>
            </a:r>
            <a:endParaRPr lang="en-US" sz="700" dirty="0"/>
          </a:p>
        </p:txBody>
      </p:sp>
      <p:sp>
        <p:nvSpPr>
          <p:cNvPr id="8" name="Shape 6"/>
          <p:cNvSpPr/>
          <p:nvPr/>
        </p:nvSpPr>
        <p:spPr>
          <a:xfrm>
            <a:off x="365760" y="1234440"/>
            <a:ext cx="3931920" cy="3474720"/>
          </a:xfrm>
          <a:prstGeom prst="roundRect">
            <a:avLst>
              <a:gd name="adj" fmla="val 2105"/>
            </a:avLst>
          </a:prstGeom>
          <a:solidFill>
            <a:srgbClr val="0B190D"/>
          </a:solidFill>
          <a:ln w="12700">
            <a:solidFill>
              <a:srgbClr val="0B190D"/>
            </a:solidFill>
            <a:prstDash val="solid"/>
          </a:ln>
        </p:spPr>
        <p:txBody>
          <a:bodyPr/>
          <a:lstStyle/>
          <a:p>
            <a:endParaRPr lang="en-GB"/>
          </a:p>
        </p:txBody>
      </p:sp>
      <p:sp>
        <p:nvSpPr>
          <p:cNvPr id="9" name="Text 7"/>
          <p:cNvSpPr txBox="1"/>
          <p:nvPr/>
        </p:nvSpPr>
        <p:spPr>
          <a:xfrm>
            <a:off x="548640" y="1371600"/>
            <a:ext cx="3566160" cy="274320"/>
          </a:xfrm>
          <a:prstGeom prst="rect">
            <a:avLst/>
          </a:prstGeom>
          <a:noFill/>
          <a:ln/>
        </p:spPr>
        <p:txBody>
          <a:bodyPr wrap="square" lIns="0" tIns="0" rIns="0" bIns="0" rtlCol="0" anchor="ctr"/>
          <a:lstStyle/>
          <a:p>
            <a:pPr marL="0" indent="0">
              <a:buNone/>
            </a:pPr>
            <a:r>
              <a:rPr lang="en-US" sz="1200" b="1" dirty="0">
                <a:solidFill>
                  <a:srgbClr val="E4F038"/>
                </a:solidFill>
                <a:latin typeface="Arial" pitchFamily="34" charset="0"/>
                <a:ea typeface="Arial" pitchFamily="34" charset="-122"/>
                <a:cs typeface="Arial" pitchFamily="34" charset="-120"/>
              </a:rPr>
              <a:t>Your strategic objective</a:t>
            </a:r>
            <a:endParaRPr lang="en-US" sz="1200" dirty="0"/>
          </a:p>
        </p:txBody>
      </p:sp>
      <p:sp>
        <p:nvSpPr>
          <p:cNvPr id="10" name="Text 8"/>
          <p:cNvSpPr txBox="1"/>
          <p:nvPr/>
        </p:nvSpPr>
        <p:spPr>
          <a:xfrm>
            <a:off x="548640" y="1691640"/>
            <a:ext cx="3566160" cy="1371600"/>
          </a:xfrm>
          <a:prstGeom prst="rect">
            <a:avLst/>
          </a:prstGeom>
          <a:noFill/>
          <a:ln/>
        </p:spPr>
        <p:txBody>
          <a:bodyPr wrap="square" lIns="0" tIns="0" rIns="0" bIns="0" rtlCol="0" anchor="t"/>
          <a:lstStyle/>
          <a:p>
            <a:pPr marL="0" indent="0">
              <a:buNone/>
            </a:pPr>
            <a:r>
              <a:rPr lang="en-US" sz="1050" dirty="0">
                <a:solidFill>
                  <a:srgbClr val="FFFFFF"/>
                </a:solidFill>
                <a:latin typeface="Arial" pitchFamily="34" charset="0"/>
                <a:ea typeface="Arial" pitchFamily="34" charset="-122"/>
                <a:cs typeface="Arial" pitchFamily="34" charset="-120"/>
              </a:rPr>
              <a:t>A unified, enterprise-scale platform that accelerates study delivery, optimises resource allocation and enables data-driven decisions – replacing a patchwork of local applications and shared spreadsheets with a single source of truth for planning, scheduling and execution.</a:t>
            </a:r>
            <a:endParaRPr lang="en-US" sz="1050" dirty="0"/>
          </a:p>
        </p:txBody>
      </p:sp>
      <p:sp>
        <p:nvSpPr>
          <p:cNvPr id="11" name="Text 9"/>
          <p:cNvSpPr txBox="1"/>
          <p:nvPr/>
        </p:nvSpPr>
        <p:spPr>
          <a:xfrm>
            <a:off x="548640" y="3063240"/>
            <a:ext cx="3566160" cy="274320"/>
          </a:xfrm>
          <a:prstGeom prst="rect">
            <a:avLst/>
          </a:prstGeom>
          <a:noFill/>
          <a:ln/>
        </p:spPr>
        <p:txBody>
          <a:bodyPr wrap="square" lIns="0" tIns="0" rIns="0" bIns="0" rtlCol="0" anchor="ctr"/>
          <a:lstStyle/>
          <a:p>
            <a:pPr marL="0" indent="0">
              <a:buNone/>
            </a:pPr>
            <a:r>
              <a:rPr lang="en-US" sz="1100" b="1" dirty="0">
                <a:solidFill>
                  <a:srgbClr val="E4F038"/>
                </a:solidFill>
                <a:latin typeface="Arial" pitchFamily="34" charset="0"/>
                <a:ea typeface="Arial" pitchFamily="34" charset="-122"/>
                <a:cs typeface="Arial" pitchFamily="34" charset="-120"/>
              </a:rPr>
              <a:t>Your requirements span eight areas</a:t>
            </a:r>
            <a:endParaRPr lang="en-US" sz="1100" dirty="0"/>
          </a:p>
        </p:txBody>
      </p:sp>
      <p:sp>
        <p:nvSpPr>
          <p:cNvPr id="12" name="Text 10"/>
          <p:cNvSpPr txBox="1"/>
          <p:nvPr/>
        </p:nvSpPr>
        <p:spPr>
          <a:xfrm>
            <a:off x="548640" y="3337560"/>
            <a:ext cx="3566160" cy="1188720"/>
          </a:xfrm>
          <a:prstGeom prst="rect">
            <a:avLst/>
          </a:prstGeom>
          <a:noFill/>
          <a:ln/>
        </p:spPr>
        <p:txBody>
          <a:bodyPr wrap="square" lIns="0" tIns="0" rIns="0" bIns="0" rtlCol="0" anchor="t"/>
          <a:lstStyle/>
          <a:p>
            <a:pPr marL="0" indent="0">
              <a:buNone/>
            </a:pPr>
            <a:r>
              <a:rPr lang="en-US" sz="1000" dirty="0">
                <a:solidFill>
                  <a:srgbClr val="FFFFFF"/>
                </a:solidFill>
                <a:latin typeface="Arial" pitchFamily="34" charset="0"/>
                <a:ea typeface="Arial" pitchFamily="34" charset="-122"/>
                <a:cs typeface="Arial" pitchFamily="34" charset="-120"/>
              </a:rPr>
              <a:t>Core scheduling · User experience · Governance · Integration · Global planning · Functional scheduling · Tasking · Execute &amp; adjust</a:t>
            </a:r>
            <a:endParaRPr lang="en-US" sz="1000" dirty="0"/>
          </a:p>
        </p:txBody>
      </p:sp>
      <p:sp>
        <p:nvSpPr>
          <p:cNvPr id="13" name="Text 11"/>
          <p:cNvSpPr txBox="1"/>
          <p:nvPr/>
        </p:nvSpPr>
        <p:spPr>
          <a:xfrm>
            <a:off x="4572000" y="1234440"/>
            <a:ext cx="4206240" cy="274320"/>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The scheduling challenges behind it</a:t>
            </a:r>
            <a:endParaRPr lang="en-US" sz="1200" dirty="0"/>
          </a:p>
        </p:txBody>
      </p:sp>
      <p:sp>
        <p:nvSpPr>
          <p:cNvPr id="14" name="Shape 12"/>
          <p:cNvSpPr/>
          <p:nvPr/>
        </p:nvSpPr>
        <p:spPr>
          <a:xfrm>
            <a:off x="4572000" y="1645920"/>
            <a:ext cx="310896" cy="310896"/>
          </a:xfrm>
          <a:prstGeom prst="ellipse">
            <a:avLst/>
          </a:prstGeom>
          <a:solidFill>
            <a:srgbClr val="E4F038"/>
          </a:solidFill>
          <a:ln w="12700">
            <a:solidFill>
              <a:srgbClr val="E4F038"/>
            </a:solidFill>
            <a:prstDash val="solid"/>
          </a:ln>
        </p:spPr>
        <p:txBody>
          <a:bodyPr/>
          <a:lstStyle/>
          <a:p>
            <a:endParaRPr lang="en-GB"/>
          </a:p>
        </p:txBody>
      </p:sp>
      <p:sp>
        <p:nvSpPr>
          <p:cNvPr id="15" name="Text 13"/>
          <p:cNvSpPr txBox="1"/>
          <p:nvPr/>
        </p:nvSpPr>
        <p:spPr>
          <a:xfrm>
            <a:off x="4572000" y="1645920"/>
            <a:ext cx="310896" cy="310896"/>
          </a:xfrm>
          <a:prstGeom prst="rect">
            <a:avLst/>
          </a:prstGeom>
          <a:noFill/>
          <a:ln/>
        </p:spPr>
        <p:txBody>
          <a:bodyPr wrap="square" lIns="0" tIns="0" rIns="0" bIns="0" rtlCol="0" anchor="ctr"/>
          <a:lstStyle/>
          <a:p>
            <a:pPr marL="0" indent="0" algn="ctr">
              <a:buNone/>
            </a:pPr>
            <a:r>
              <a:rPr lang="en-US" sz="1000" b="1" dirty="0">
                <a:solidFill>
                  <a:srgbClr val="0B190D"/>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5029200" y="1600200"/>
            <a:ext cx="374904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Local and inconsistent</a:t>
            </a:r>
            <a:endParaRPr lang="en-US" sz="1100" dirty="0"/>
          </a:p>
        </p:txBody>
      </p:sp>
      <p:sp>
        <p:nvSpPr>
          <p:cNvPr id="17" name="Text 15"/>
          <p:cNvSpPr txBox="1"/>
          <p:nvPr/>
        </p:nvSpPr>
        <p:spPr>
          <a:xfrm>
            <a:off x="5029200" y="1856232"/>
            <a:ext cx="3749040" cy="45720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Scheduling is run site by site, in different tools and spreadsheets, with no common method.</a:t>
            </a:r>
            <a:endParaRPr lang="en-US" sz="950" dirty="0"/>
          </a:p>
        </p:txBody>
      </p:sp>
      <p:sp>
        <p:nvSpPr>
          <p:cNvPr id="18" name="Shape 16"/>
          <p:cNvSpPr/>
          <p:nvPr/>
        </p:nvSpPr>
        <p:spPr>
          <a:xfrm>
            <a:off x="4572000" y="2423160"/>
            <a:ext cx="310896" cy="310896"/>
          </a:xfrm>
          <a:prstGeom prst="ellipse">
            <a:avLst/>
          </a:prstGeom>
          <a:solidFill>
            <a:srgbClr val="E4F038"/>
          </a:solidFill>
          <a:ln w="12700">
            <a:solidFill>
              <a:srgbClr val="E4F038"/>
            </a:solidFill>
            <a:prstDash val="solid"/>
          </a:ln>
        </p:spPr>
        <p:txBody>
          <a:bodyPr/>
          <a:lstStyle/>
          <a:p>
            <a:endParaRPr lang="en-GB"/>
          </a:p>
        </p:txBody>
      </p:sp>
      <p:sp>
        <p:nvSpPr>
          <p:cNvPr id="19" name="Text 17"/>
          <p:cNvSpPr txBox="1"/>
          <p:nvPr/>
        </p:nvSpPr>
        <p:spPr>
          <a:xfrm>
            <a:off x="4572000" y="2423160"/>
            <a:ext cx="310896" cy="310896"/>
          </a:xfrm>
          <a:prstGeom prst="rect">
            <a:avLst/>
          </a:prstGeom>
          <a:noFill/>
          <a:ln/>
        </p:spPr>
        <p:txBody>
          <a:bodyPr wrap="square" lIns="0" tIns="0" rIns="0" bIns="0" rtlCol="0" anchor="ctr"/>
          <a:lstStyle/>
          <a:p>
            <a:pPr marL="0" indent="0" algn="ctr">
              <a:buNone/>
            </a:pPr>
            <a:r>
              <a:rPr lang="en-US" sz="1000" b="1" dirty="0">
                <a:solidFill>
                  <a:srgbClr val="0B190D"/>
                </a:solidFill>
                <a:latin typeface="Arial" pitchFamily="34" charset="0"/>
                <a:ea typeface="Arial" pitchFamily="34" charset="-122"/>
                <a:cs typeface="Arial" pitchFamily="34" charset="-120"/>
              </a:rPr>
              <a:t>2</a:t>
            </a:r>
            <a:endParaRPr lang="en-US" sz="1000" dirty="0"/>
          </a:p>
        </p:txBody>
      </p:sp>
      <p:sp>
        <p:nvSpPr>
          <p:cNvPr id="20" name="Text 18"/>
          <p:cNvSpPr txBox="1"/>
          <p:nvPr/>
        </p:nvSpPr>
        <p:spPr>
          <a:xfrm>
            <a:off x="5029200" y="2377440"/>
            <a:ext cx="374904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Capacity you cannot see</a:t>
            </a:r>
            <a:endParaRPr lang="en-US" sz="1100" dirty="0"/>
          </a:p>
        </p:txBody>
      </p:sp>
      <p:sp>
        <p:nvSpPr>
          <p:cNvPr id="21" name="Text 19"/>
          <p:cNvSpPr txBox="1"/>
          <p:nvPr/>
        </p:nvSpPr>
        <p:spPr>
          <a:xfrm>
            <a:off x="5029200" y="2633472"/>
            <a:ext cx="3749040" cy="45720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Instrument capacity is invisible at enterprise level, so it cannot be planned or shared across sites.</a:t>
            </a:r>
            <a:endParaRPr lang="en-US" sz="950" dirty="0"/>
          </a:p>
        </p:txBody>
      </p:sp>
      <p:sp>
        <p:nvSpPr>
          <p:cNvPr id="22" name="Shape 20"/>
          <p:cNvSpPr/>
          <p:nvPr/>
        </p:nvSpPr>
        <p:spPr>
          <a:xfrm>
            <a:off x="4572000" y="3200400"/>
            <a:ext cx="310896" cy="310896"/>
          </a:xfrm>
          <a:prstGeom prst="ellipse">
            <a:avLst/>
          </a:prstGeom>
          <a:solidFill>
            <a:srgbClr val="E4F038"/>
          </a:solidFill>
          <a:ln w="12700">
            <a:solidFill>
              <a:srgbClr val="E4F038"/>
            </a:solidFill>
            <a:prstDash val="solid"/>
          </a:ln>
        </p:spPr>
        <p:txBody>
          <a:bodyPr/>
          <a:lstStyle/>
          <a:p>
            <a:endParaRPr lang="en-GB"/>
          </a:p>
        </p:txBody>
      </p:sp>
      <p:sp>
        <p:nvSpPr>
          <p:cNvPr id="23" name="Text 21"/>
          <p:cNvSpPr txBox="1"/>
          <p:nvPr/>
        </p:nvSpPr>
        <p:spPr>
          <a:xfrm>
            <a:off x="4572000" y="3200400"/>
            <a:ext cx="310896" cy="310896"/>
          </a:xfrm>
          <a:prstGeom prst="rect">
            <a:avLst/>
          </a:prstGeom>
          <a:noFill/>
          <a:ln/>
        </p:spPr>
        <p:txBody>
          <a:bodyPr wrap="square" lIns="0" tIns="0" rIns="0" bIns="0" rtlCol="0" anchor="ctr"/>
          <a:lstStyle/>
          <a:p>
            <a:pPr marL="0" indent="0" algn="ctr">
              <a:buNone/>
            </a:pPr>
            <a:r>
              <a:rPr lang="en-US" sz="1000" b="1" dirty="0">
                <a:solidFill>
                  <a:srgbClr val="0B190D"/>
                </a:solidFill>
                <a:latin typeface="Arial" pitchFamily="34" charset="0"/>
                <a:ea typeface="Arial" pitchFamily="34" charset="-122"/>
                <a:cs typeface="Arial" pitchFamily="34" charset="-120"/>
              </a:rPr>
              <a:t>3</a:t>
            </a:r>
            <a:endParaRPr lang="en-US" sz="1000" dirty="0"/>
          </a:p>
        </p:txBody>
      </p:sp>
      <p:sp>
        <p:nvSpPr>
          <p:cNvPr id="24" name="Text 22"/>
          <p:cNvSpPr txBox="1"/>
          <p:nvPr/>
        </p:nvSpPr>
        <p:spPr>
          <a:xfrm>
            <a:off x="5029200" y="3154680"/>
            <a:ext cx="374904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Time lost to coordination</a:t>
            </a:r>
            <a:endParaRPr lang="en-US" sz="1100" dirty="0"/>
          </a:p>
        </p:txBody>
      </p:sp>
      <p:sp>
        <p:nvSpPr>
          <p:cNvPr id="25" name="Text 23"/>
          <p:cNvSpPr txBox="1"/>
          <p:nvPr/>
        </p:nvSpPr>
        <p:spPr>
          <a:xfrm>
            <a:off x="5029200" y="3410712"/>
            <a:ext cx="3749040" cy="45720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Scientists and lab managers spend effort negotiating access manually; conflicts delay studies.</a:t>
            </a:r>
            <a:endParaRPr lang="en-US" sz="950" dirty="0"/>
          </a:p>
        </p:txBody>
      </p:sp>
      <p:sp>
        <p:nvSpPr>
          <p:cNvPr id="26" name="Shape 24"/>
          <p:cNvSpPr/>
          <p:nvPr/>
        </p:nvSpPr>
        <p:spPr>
          <a:xfrm>
            <a:off x="4572000" y="3977640"/>
            <a:ext cx="310896" cy="310896"/>
          </a:xfrm>
          <a:prstGeom prst="ellipse">
            <a:avLst/>
          </a:prstGeom>
          <a:solidFill>
            <a:srgbClr val="E4F038"/>
          </a:solidFill>
          <a:ln w="12700">
            <a:solidFill>
              <a:srgbClr val="E4F038"/>
            </a:solidFill>
            <a:prstDash val="solid"/>
          </a:ln>
        </p:spPr>
        <p:txBody>
          <a:bodyPr/>
          <a:lstStyle/>
          <a:p>
            <a:endParaRPr lang="en-GB"/>
          </a:p>
        </p:txBody>
      </p:sp>
      <p:sp>
        <p:nvSpPr>
          <p:cNvPr id="27" name="Text 25"/>
          <p:cNvSpPr txBox="1"/>
          <p:nvPr/>
        </p:nvSpPr>
        <p:spPr>
          <a:xfrm>
            <a:off x="4572000" y="3977640"/>
            <a:ext cx="310896" cy="310896"/>
          </a:xfrm>
          <a:prstGeom prst="rect">
            <a:avLst/>
          </a:prstGeom>
          <a:noFill/>
          <a:ln/>
        </p:spPr>
        <p:txBody>
          <a:bodyPr wrap="square" lIns="0" tIns="0" rIns="0" bIns="0" rtlCol="0" anchor="ctr"/>
          <a:lstStyle/>
          <a:p>
            <a:pPr marL="0" indent="0" algn="ctr">
              <a:buNone/>
            </a:pPr>
            <a:r>
              <a:rPr lang="en-US" sz="1000" b="1" dirty="0">
                <a:solidFill>
                  <a:srgbClr val="0B190D"/>
                </a:solidFill>
                <a:latin typeface="Arial" pitchFamily="34" charset="0"/>
                <a:ea typeface="Arial" pitchFamily="34" charset="-122"/>
                <a:cs typeface="Arial" pitchFamily="34" charset="-120"/>
              </a:rPr>
              <a:t>4</a:t>
            </a:r>
            <a:endParaRPr lang="en-US" sz="1000" dirty="0"/>
          </a:p>
        </p:txBody>
      </p:sp>
      <p:sp>
        <p:nvSpPr>
          <p:cNvPr id="28" name="Text 26"/>
          <p:cNvSpPr txBox="1"/>
          <p:nvPr/>
        </p:nvSpPr>
        <p:spPr>
          <a:xfrm>
            <a:off x="5029200" y="3931920"/>
            <a:ext cx="374904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Capital decisions without evidence</a:t>
            </a:r>
            <a:endParaRPr lang="en-US" sz="1100" dirty="0"/>
          </a:p>
        </p:txBody>
      </p:sp>
      <p:sp>
        <p:nvSpPr>
          <p:cNvPr id="29" name="Text 27"/>
          <p:cNvSpPr txBox="1"/>
          <p:nvPr/>
        </p:nvSpPr>
        <p:spPr>
          <a:xfrm>
            <a:off x="5029200" y="4187952"/>
            <a:ext cx="3749040" cy="45720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Purchase, relocation and retirement decisions are taken without reliable utilisation data.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SOLUTION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Provantis runs the study; Calira runs the resources</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Our honest position on scope – stated openly in the C1 questionnaire and reflected in the SOW</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4</a:t>
            </a:r>
            <a:endParaRPr lang="en-US" sz="700" dirty="0"/>
          </a:p>
        </p:txBody>
      </p:sp>
      <p:sp>
        <p:nvSpPr>
          <p:cNvPr id="9" name="Shape 7"/>
          <p:cNvSpPr/>
          <p:nvPr/>
        </p:nvSpPr>
        <p:spPr>
          <a:xfrm>
            <a:off x="365760" y="1325880"/>
            <a:ext cx="4206240" cy="1005840"/>
          </a:xfrm>
          <a:prstGeom prst="roundRect">
            <a:avLst>
              <a:gd name="adj" fmla="val 7273"/>
            </a:avLst>
          </a:prstGeom>
          <a:solidFill>
            <a:srgbClr val="F4F5F7"/>
          </a:solidFill>
          <a:ln w="9525">
            <a:solidFill>
              <a:srgbClr val="DDD4CD"/>
            </a:solidFill>
            <a:prstDash val="solid"/>
          </a:ln>
        </p:spPr>
        <p:txBody>
          <a:bodyPr/>
          <a:lstStyle/>
          <a:p>
            <a:endParaRPr lang="en-GB"/>
          </a:p>
        </p:txBody>
      </p:sp>
      <p:sp>
        <p:nvSpPr>
          <p:cNvPr id="10" name="Text 8"/>
          <p:cNvSpPr txBox="1"/>
          <p:nvPr/>
        </p:nvSpPr>
        <p:spPr>
          <a:xfrm>
            <a:off x="502920" y="1371600"/>
            <a:ext cx="3931920" cy="274320"/>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Study layer  –  Provantis, RPM, Apollo (CRL systems)</a:t>
            </a:r>
            <a:endParaRPr lang="en-US" sz="1100" dirty="0"/>
          </a:p>
        </p:txBody>
      </p:sp>
      <p:sp>
        <p:nvSpPr>
          <p:cNvPr id="11" name="Text 9"/>
          <p:cNvSpPr txBox="1"/>
          <p:nvPr/>
        </p:nvSpPr>
        <p:spPr>
          <a:xfrm>
            <a:off x="502920" y="1645920"/>
            <a:ext cx="3931920" cy="6400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Study award to finalisation · milestones, endpoints and deliverables · protocols and study types · staffing and animal resources · portfolio and programme planning</a:t>
            </a:r>
            <a:endParaRPr lang="en-US" sz="950" dirty="0"/>
          </a:p>
        </p:txBody>
      </p:sp>
      <p:sp>
        <p:nvSpPr>
          <p:cNvPr id="12" name="Shape 10"/>
          <p:cNvSpPr/>
          <p:nvPr/>
        </p:nvSpPr>
        <p:spPr>
          <a:xfrm>
            <a:off x="1554480" y="2377440"/>
            <a:ext cx="1828800" cy="384048"/>
          </a:xfrm>
          <a:prstGeom prst="roundRect">
            <a:avLst>
              <a:gd name="adj" fmla="val 50000"/>
            </a:avLst>
          </a:prstGeom>
          <a:solidFill>
            <a:srgbClr val="FFFFFF"/>
          </a:solidFill>
          <a:ln w="12700">
            <a:solidFill>
              <a:srgbClr val="0B190D"/>
            </a:solidFill>
            <a:prstDash val="solid"/>
          </a:ln>
        </p:spPr>
        <p:txBody>
          <a:bodyPr/>
          <a:lstStyle/>
          <a:p>
            <a:endParaRPr lang="en-GB"/>
          </a:p>
        </p:txBody>
      </p:sp>
      <p:sp>
        <p:nvSpPr>
          <p:cNvPr id="13" name="Text 11"/>
          <p:cNvSpPr txBox="1"/>
          <p:nvPr/>
        </p:nvSpPr>
        <p:spPr>
          <a:xfrm>
            <a:off x="1554480" y="2377440"/>
            <a:ext cx="1828800" cy="384048"/>
          </a:xfrm>
          <a:prstGeom prst="rect">
            <a:avLst/>
          </a:prstGeom>
          <a:noFill/>
          <a:ln/>
        </p:spPr>
        <p:txBody>
          <a:bodyPr wrap="square" lIns="0" tIns="0" rIns="0" bIns="0" rtlCol="0" anchor="ctr"/>
          <a:lstStyle/>
          <a:p>
            <a:pPr marL="0" indent="0" algn="ctr">
              <a:buNone/>
            </a:pPr>
            <a:r>
              <a:rPr lang="en-US" sz="800" b="1" dirty="0">
                <a:solidFill>
                  <a:srgbClr val="0B190D"/>
                </a:solidFill>
                <a:latin typeface="Arial" pitchFamily="34" charset="0"/>
                <a:ea typeface="Arial" pitchFamily="34" charset="-122"/>
                <a:cs typeface="Arial" pitchFamily="34" charset="-120"/>
              </a:rPr>
              <a:t>REST API  ·  discovery-gated integration</a:t>
            </a:r>
            <a:endParaRPr lang="en-US" sz="800" dirty="0"/>
          </a:p>
        </p:txBody>
      </p:sp>
      <p:sp>
        <p:nvSpPr>
          <p:cNvPr id="14" name="Shape 12"/>
          <p:cNvSpPr/>
          <p:nvPr/>
        </p:nvSpPr>
        <p:spPr>
          <a:xfrm>
            <a:off x="365760" y="2807208"/>
            <a:ext cx="4206240" cy="1828800"/>
          </a:xfrm>
          <a:prstGeom prst="roundRect">
            <a:avLst>
              <a:gd name="adj" fmla="val 4000"/>
            </a:avLst>
          </a:prstGeom>
          <a:solidFill>
            <a:srgbClr val="E4F038"/>
          </a:solidFill>
          <a:ln w="12700">
            <a:solidFill>
              <a:srgbClr val="E4F038"/>
            </a:solidFill>
            <a:prstDash val="solid"/>
          </a:ln>
        </p:spPr>
        <p:txBody>
          <a:bodyPr/>
          <a:lstStyle/>
          <a:p>
            <a:endParaRPr lang="en-GB"/>
          </a:p>
        </p:txBody>
      </p:sp>
      <p:sp>
        <p:nvSpPr>
          <p:cNvPr id="15" name="Text 13"/>
          <p:cNvSpPr txBox="1"/>
          <p:nvPr/>
        </p:nvSpPr>
        <p:spPr>
          <a:xfrm>
            <a:off x="502920" y="2862072"/>
            <a:ext cx="3931920" cy="274320"/>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Resource layer  –  Calira</a:t>
            </a:r>
            <a:endParaRPr lang="en-US" sz="1100" dirty="0"/>
          </a:p>
        </p:txBody>
      </p:sp>
      <p:sp>
        <p:nvSpPr>
          <p:cNvPr id="16" name="Text 14"/>
          <p:cNvSpPr txBox="1"/>
          <p:nvPr/>
        </p:nvSpPr>
        <p:spPr>
          <a:xfrm>
            <a:off x="502920" y="3154680"/>
            <a:ext cx="3931920" cy="14630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Equipment, rooms and specialised resources scheduled to the minute, across sites and time zones (UTC-stored)</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Booking rules, approvals, access groups and training-based access; recurring, group and multi-step workflow bookings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Actual usage captured at the instrument (LabTrack) and at the point of use (Custom Forms)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Utilisation, capacity and adoption data for every lab, department and site – exportable and API-accessible</a:t>
            </a:r>
            <a:endParaRPr lang="en-US" sz="950" dirty="0"/>
          </a:p>
        </p:txBody>
      </p:sp>
      <p:sp>
        <p:nvSpPr>
          <p:cNvPr id="17" name="Text 15"/>
          <p:cNvSpPr txBox="1"/>
          <p:nvPr/>
        </p:nvSpPr>
        <p:spPr>
          <a:xfrm>
            <a:off x="4937760" y="1325880"/>
            <a:ext cx="3840480" cy="274320"/>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What Calira does not do today</a:t>
            </a:r>
            <a:endParaRPr lang="en-US" sz="1200" dirty="0"/>
          </a:p>
        </p:txBody>
      </p:sp>
      <p:sp>
        <p:nvSpPr>
          <p:cNvPr id="18" name="Text 16"/>
          <p:cNvSpPr txBox="1"/>
          <p:nvPr/>
        </p:nvSpPr>
        <p:spPr>
          <a:xfrm>
            <a:off x="4937760" y="1645920"/>
            <a:ext cx="3840480" cy="201168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0B190D"/>
                </a:solidFill>
                <a:latin typeface="Arial" pitchFamily="34" charset="0"/>
                <a:ea typeface="Arial" pitchFamily="34" charset="-122"/>
                <a:cs typeface="Arial" pitchFamily="34" charset="-120"/>
              </a:rPr>
              <a:t>Model studies or milestones, or generate schedules from them</a:t>
            </a:r>
            <a:endParaRPr lang="en-US" sz="1000" dirty="0"/>
          </a:p>
          <a:p>
            <a:pPr marL="152400" indent="-152400">
              <a:spcAft>
                <a:spcPts val="500"/>
              </a:spcAft>
              <a:buSzPct val="100000"/>
              <a:buChar char="•"/>
            </a:pPr>
            <a:r>
              <a:rPr lang="en-US" sz="1000" dirty="0">
                <a:solidFill>
                  <a:srgbClr val="0B190D"/>
                </a:solidFill>
                <a:latin typeface="Arial" pitchFamily="34" charset="0"/>
                <a:ea typeface="Arial" pitchFamily="34" charset="-122"/>
                <a:cs typeface="Arial" pitchFamily="34" charset="-120"/>
              </a:rPr>
              <a:t>Schedule people or animals, or integrate HR, leave and skills data</a:t>
            </a:r>
            <a:endParaRPr lang="en-US" sz="1000" dirty="0"/>
          </a:p>
          <a:p>
            <a:pPr marL="152400" indent="-152400">
              <a:spcAft>
                <a:spcPts val="500"/>
              </a:spcAft>
              <a:buSzPct val="100000"/>
              <a:buChar char="•"/>
            </a:pPr>
            <a:r>
              <a:rPr lang="en-US" sz="1000" dirty="0">
                <a:solidFill>
                  <a:srgbClr val="0B190D"/>
                </a:solidFill>
                <a:latin typeface="Arial" pitchFamily="34" charset="0"/>
                <a:ea typeface="Arial" pitchFamily="34" charset="-122"/>
                <a:cs typeface="Arial" pitchFamily="34" charset="-120"/>
              </a:rPr>
              <a:t>Automatically re-plan, cascade dependencies or optimise by weighting factors</a:t>
            </a:r>
            <a:endParaRPr lang="en-US" sz="1000" dirty="0"/>
          </a:p>
          <a:p>
            <a:pPr marL="152400" indent="-152400">
              <a:spcAft>
                <a:spcPts val="500"/>
              </a:spcAft>
              <a:buSzPct val="100000"/>
              <a:buChar char="•"/>
            </a:pPr>
            <a:r>
              <a:rPr lang="en-US" sz="1000" dirty="0">
                <a:solidFill>
                  <a:srgbClr val="0B190D"/>
                </a:solidFill>
                <a:latin typeface="Arial" pitchFamily="34" charset="0"/>
                <a:ea typeface="Arial" pitchFamily="34" charset="-122"/>
                <a:cs typeface="Arial" pitchFamily="34" charset="-120"/>
              </a:rPr>
              <a:t>Gantt or study-calendar views; scheduled exports (CSV and API exports are supported)</a:t>
            </a:r>
            <a:endParaRPr lang="en-US" sz="1000" dirty="0"/>
          </a:p>
          <a:p>
            <a:pPr marL="152400" indent="-152400">
              <a:spcAft>
                <a:spcPts val="500"/>
              </a:spcAft>
              <a:buSzPct val="100000"/>
              <a:buChar char="•"/>
            </a:pPr>
            <a:r>
              <a:rPr lang="en-US" sz="1000" dirty="0">
                <a:solidFill>
                  <a:srgbClr val="0B190D"/>
                </a:solidFill>
                <a:latin typeface="Arial" pitchFamily="34" charset="0"/>
                <a:ea typeface="Arial" pitchFamily="34" charset="-122"/>
                <a:cs typeface="Arial" pitchFamily="34" charset="-120"/>
              </a:rPr>
              <a:t>A complete 21 CFR Part 11 audit trail across all scheduling actions (on our roadmap) or GxP validation deliverables</a:t>
            </a:r>
            <a:endParaRPr lang="en-US" sz="1000" dirty="0"/>
          </a:p>
        </p:txBody>
      </p:sp>
      <p:sp>
        <p:nvSpPr>
          <p:cNvPr id="19" name="Shape 17"/>
          <p:cNvSpPr/>
          <p:nvPr/>
        </p:nvSpPr>
        <p:spPr>
          <a:xfrm>
            <a:off x="4937760" y="3703320"/>
            <a:ext cx="3840480" cy="914400"/>
          </a:xfrm>
          <a:prstGeom prst="roundRect">
            <a:avLst>
              <a:gd name="adj" fmla="val 8000"/>
            </a:avLst>
          </a:prstGeom>
          <a:solidFill>
            <a:srgbClr val="F4F5F7"/>
          </a:solidFill>
          <a:ln w="12700">
            <a:solidFill>
              <a:srgbClr val="F4F5F7"/>
            </a:solidFill>
            <a:prstDash val="solid"/>
          </a:ln>
        </p:spPr>
        <p:txBody>
          <a:bodyPr/>
          <a:lstStyle/>
          <a:p>
            <a:endParaRPr lang="en-GB"/>
          </a:p>
        </p:txBody>
      </p:sp>
      <p:sp>
        <p:nvSpPr>
          <p:cNvPr id="20" name="Text 18"/>
          <p:cNvSpPr txBox="1"/>
          <p:nvPr/>
        </p:nvSpPr>
        <p:spPr>
          <a:xfrm>
            <a:off x="5074920" y="3767328"/>
            <a:ext cx="3566160" cy="804672"/>
          </a:xfrm>
          <a:prstGeom prst="rect">
            <a:avLst/>
          </a:prstGeom>
          <a:noFill/>
          <a:ln/>
        </p:spPr>
        <p:txBody>
          <a:bodyPr wrap="square" lIns="0" tIns="0" rIns="0" bIns="0" rtlCol="0" anchor="t"/>
          <a:lstStyle/>
          <a:p>
            <a:pPr marL="0" indent="0">
              <a:buNone/>
            </a:pPr>
            <a:r>
              <a:rPr lang="en-US" sz="950" b="1" dirty="0">
                <a:solidFill>
                  <a:srgbClr val="0B190D"/>
                </a:solidFill>
                <a:latin typeface="Arial" pitchFamily="34" charset="0"/>
                <a:ea typeface="Arial" pitchFamily="34" charset="-122"/>
                <a:cs typeface="Arial" pitchFamily="34" charset="-120"/>
              </a:rPr>
              <a:t>Why this is the right split. </a:t>
            </a:r>
            <a:r>
              <a:rPr lang="en-US" sz="950" dirty="0">
                <a:solidFill>
                  <a:srgbClr val="0B190D"/>
                </a:solidFill>
                <a:latin typeface="Arial" pitchFamily="34" charset="0"/>
                <a:ea typeface="Arial" pitchFamily="34" charset="-122"/>
                <a:cs typeface="Arial" pitchFamily="34" charset="-120"/>
              </a:rPr>
              <a:t>It keeps the study system of record where it already is, avoids duplicating Provantis, lowers total cost of ownership and lets CRL adopt the resource layer in weeks rather than years.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SOLUTION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Requirement fit: strongest where scheduling meets the bench</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Tally of our 73 responses in Exhibit C1 (Solution Requirements Questionnaire)</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5</a:t>
            </a:r>
            <a:endParaRPr lang="en-US" sz="700" dirty="0"/>
          </a:p>
        </p:txBody>
      </p:sp>
      <p:graphicFrame>
        <p:nvGraphicFramePr>
          <p:cNvPr id="9" name="Chart 0"/>
          <p:cNvGraphicFramePr/>
          <p:nvPr/>
        </p:nvGraphicFramePr>
        <p:xfrm>
          <a:off x="365760" y="128016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5989320" y="1280160"/>
            <a:ext cx="2788920" cy="1097280"/>
          </a:xfrm>
          <a:prstGeom prst="roundRect">
            <a:avLst>
              <a:gd name="adj" fmla="val 6667"/>
            </a:avLst>
          </a:prstGeom>
          <a:solidFill>
            <a:schemeClr val="tx1"/>
          </a:solidFill>
          <a:ln w="12700">
            <a:solidFill>
              <a:srgbClr val="F4F5F7"/>
            </a:solidFill>
            <a:prstDash val="solid"/>
          </a:ln>
        </p:spPr>
        <p:txBody>
          <a:bodyPr/>
          <a:lstStyle/>
          <a:p>
            <a:endParaRPr lang="en-GB"/>
          </a:p>
        </p:txBody>
      </p:sp>
      <p:sp>
        <p:nvSpPr>
          <p:cNvPr id="11" name="Text 8"/>
          <p:cNvSpPr txBox="1"/>
          <p:nvPr/>
        </p:nvSpPr>
        <p:spPr>
          <a:xfrm>
            <a:off x="6126480" y="1417320"/>
            <a:ext cx="2514600" cy="274320"/>
          </a:xfrm>
          <a:prstGeom prst="rect">
            <a:avLst/>
          </a:prstGeom>
          <a:noFill/>
          <a:ln/>
        </p:spPr>
        <p:txBody>
          <a:bodyPr wrap="square" lIns="0" tIns="0" rIns="0" bIns="0" rtlCol="0" anchor="t"/>
          <a:lstStyle/>
          <a:p>
            <a:pPr marL="0" indent="0">
              <a:buNone/>
            </a:pPr>
            <a:r>
              <a:rPr lang="en-US" sz="1200" b="1" dirty="0">
                <a:solidFill>
                  <a:schemeClr val="bg1"/>
                </a:solidFill>
                <a:latin typeface="Arial" pitchFamily="34" charset="0"/>
                <a:ea typeface="Arial" pitchFamily="34" charset="-122"/>
                <a:cs typeface="Arial" pitchFamily="34" charset="-120"/>
              </a:rPr>
              <a:t>Strong fit</a:t>
            </a:r>
            <a:endParaRPr lang="en-US" sz="1200" dirty="0">
              <a:solidFill>
                <a:schemeClr val="bg1"/>
              </a:solidFill>
            </a:endParaRPr>
          </a:p>
        </p:txBody>
      </p:sp>
      <p:sp>
        <p:nvSpPr>
          <p:cNvPr id="12" name="Text 9"/>
          <p:cNvSpPr txBox="1"/>
          <p:nvPr/>
        </p:nvSpPr>
        <p:spPr>
          <a:xfrm>
            <a:off x="6126480" y="1709928"/>
            <a:ext cx="2514600" cy="594360"/>
          </a:xfrm>
          <a:prstGeom prst="rect">
            <a:avLst/>
          </a:prstGeom>
          <a:noFill/>
          <a:ln/>
        </p:spPr>
        <p:txBody>
          <a:bodyPr wrap="square" lIns="0" tIns="0" rIns="0" bIns="0" rtlCol="0" anchor="t"/>
          <a:lstStyle/>
          <a:p>
            <a:pPr marL="0" indent="0">
              <a:buNone/>
            </a:pPr>
            <a:r>
              <a:rPr lang="en-US" sz="900" dirty="0">
                <a:solidFill>
                  <a:schemeClr val="bg1"/>
                </a:solidFill>
                <a:latin typeface="Arial" pitchFamily="34" charset="0"/>
                <a:ea typeface="Arial" pitchFamily="34" charset="-122"/>
                <a:cs typeface="Arial" pitchFamily="34" charset="-120"/>
              </a:rPr>
              <a:t>Functional scheduling, tasking, execute &amp; adjust, governance and user experience: the day-to-day of booking, using and reporting on shared resources.</a:t>
            </a:r>
            <a:endParaRPr lang="en-US" sz="900" dirty="0">
              <a:solidFill>
                <a:schemeClr val="bg1"/>
              </a:solidFill>
            </a:endParaRPr>
          </a:p>
        </p:txBody>
      </p:sp>
      <p:sp>
        <p:nvSpPr>
          <p:cNvPr id="13" name="Shape 10"/>
          <p:cNvSpPr/>
          <p:nvPr/>
        </p:nvSpPr>
        <p:spPr>
          <a:xfrm>
            <a:off x="5989320" y="2468880"/>
            <a:ext cx="2788920" cy="1097280"/>
          </a:xfrm>
          <a:prstGeom prst="roundRect">
            <a:avLst>
              <a:gd name="adj" fmla="val 6667"/>
            </a:avLst>
          </a:prstGeom>
          <a:solidFill>
            <a:srgbClr val="F4F5F7"/>
          </a:solidFill>
          <a:ln w="12700">
            <a:solidFill>
              <a:srgbClr val="F4F5F7"/>
            </a:solidFill>
            <a:prstDash val="solid"/>
          </a:ln>
        </p:spPr>
        <p:txBody>
          <a:bodyPr/>
          <a:lstStyle/>
          <a:p>
            <a:endParaRPr lang="en-GB"/>
          </a:p>
        </p:txBody>
      </p:sp>
      <p:sp>
        <p:nvSpPr>
          <p:cNvPr id="14" name="Text 11"/>
          <p:cNvSpPr txBox="1"/>
          <p:nvPr/>
        </p:nvSpPr>
        <p:spPr>
          <a:xfrm>
            <a:off x="6126480" y="2606040"/>
            <a:ext cx="251460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Partial fit</a:t>
            </a:r>
            <a:endParaRPr lang="en-US" sz="1200" dirty="0"/>
          </a:p>
        </p:txBody>
      </p:sp>
      <p:sp>
        <p:nvSpPr>
          <p:cNvPr id="15" name="Text 12"/>
          <p:cNvSpPr txBox="1"/>
          <p:nvPr/>
        </p:nvSpPr>
        <p:spPr>
          <a:xfrm>
            <a:off x="6126480" y="2898648"/>
            <a:ext cx="2514600" cy="594360"/>
          </a:xfrm>
          <a:prstGeom prst="rect">
            <a:avLst/>
          </a:prstGeom>
          <a:noFill/>
          <a:ln/>
        </p:spPr>
        <p:txBody>
          <a:bodyPr wrap="square" lIns="0" tIns="0" rIns="0" bIns="0" rtlCol="0" anchor="t"/>
          <a:lstStyle/>
          <a:p>
            <a:pPr marL="0" indent="0">
              <a:buNone/>
            </a:pPr>
            <a:r>
              <a:rPr lang="en-US" sz="900" dirty="0">
                <a:solidFill>
                  <a:srgbClr val="0B190D"/>
                </a:solidFill>
                <a:latin typeface="Arial" pitchFamily="34" charset="0"/>
                <a:ea typeface="Arial" pitchFamily="34" charset="-122"/>
                <a:cs typeface="Arial" pitchFamily="34" charset="-120"/>
              </a:rPr>
              <a:t>Global planning: multi-site utilisation and capacity views are native; study, portfolio and scenario modelling are not.</a:t>
            </a:r>
            <a:endParaRPr lang="en-US" sz="900" dirty="0"/>
          </a:p>
        </p:txBody>
      </p:sp>
      <p:sp>
        <p:nvSpPr>
          <p:cNvPr id="16" name="Shape 13"/>
          <p:cNvSpPr/>
          <p:nvPr/>
        </p:nvSpPr>
        <p:spPr>
          <a:xfrm>
            <a:off x="5989320" y="3657600"/>
            <a:ext cx="2788920" cy="1097280"/>
          </a:xfrm>
          <a:prstGeom prst="roundRect">
            <a:avLst>
              <a:gd name="adj" fmla="val 6667"/>
            </a:avLst>
          </a:prstGeom>
          <a:solidFill>
            <a:srgbClr val="E4F038"/>
          </a:solidFill>
          <a:ln w="12700">
            <a:solidFill>
              <a:srgbClr val="E4F038"/>
            </a:solidFill>
            <a:prstDash val="solid"/>
          </a:ln>
        </p:spPr>
        <p:txBody>
          <a:bodyPr/>
          <a:lstStyle/>
          <a:p>
            <a:endParaRPr lang="en-GB"/>
          </a:p>
        </p:txBody>
      </p:sp>
      <p:sp>
        <p:nvSpPr>
          <p:cNvPr id="17" name="Text 14"/>
          <p:cNvSpPr txBox="1"/>
          <p:nvPr/>
        </p:nvSpPr>
        <p:spPr>
          <a:xfrm>
            <a:off x="6126480" y="3794760"/>
            <a:ext cx="251460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By design, not a gap</a:t>
            </a:r>
            <a:endParaRPr lang="en-US" sz="1200" dirty="0"/>
          </a:p>
        </p:txBody>
      </p:sp>
      <p:sp>
        <p:nvSpPr>
          <p:cNvPr id="18" name="Text 15"/>
          <p:cNvSpPr txBox="1"/>
          <p:nvPr/>
        </p:nvSpPr>
        <p:spPr>
          <a:xfrm>
            <a:off x="6126480" y="4087368"/>
            <a:ext cx="2514600" cy="594360"/>
          </a:xfrm>
          <a:prstGeom prst="rect">
            <a:avLst/>
          </a:prstGeom>
          <a:noFill/>
          <a:ln/>
        </p:spPr>
        <p:txBody>
          <a:bodyPr wrap="square" lIns="0" tIns="0" rIns="0" bIns="0" rtlCol="0" anchor="t"/>
          <a:lstStyle/>
          <a:p>
            <a:pPr marL="0" indent="0">
              <a:buNone/>
            </a:pPr>
            <a:r>
              <a:rPr lang="en-US" sz="900" dirty="0">
                <a:solidFill>
                  <a:srgbClr val="0B190D"/>
                </a:solidFill>
                <a:latin typeface="Arial" pitchFamily="34" charset="0"/>
                <a:ea typeface="Arial" pitchFamily="34" charset="-122"/>
                <a:cs typeface="Arial" pitchFamily="34" charset="-120"/>
              </a:rPr>
              <a:t>Study-lifecycle scheduling stays in Provantis. Calira supplies the resource availability and actuals it needs.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SOLUTION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What CRL gets on day one</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Configured, not custom-built – every capability below is standard product</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6</a:t>
            </a:r>
            <a:endParaRPr lang="en-US" sz="700" dirty="0"/>
          </a:p>
        </p:txBody>
      </p:sp>
      <p:sp>
        <p:nvSpPr>
          <p:cNvPr id="9" name="Shape 7"/>
          <p:cNvSpPr/>
          <p:nvPr/>
        </p:nvSpPr>
        <p:spPr>
          <a:xfrm>
            <a:off x="365760" y="132588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10" name="Image 0" descr="C:\Users\mills\AppData\Local\Temp\claude\C--Users-mills-Documents-Code-CaliraPM\5bfe5553-dcee-4283-8c8f-3ac10305de01\scratchpad\crl\build\assets\icon_tap.png"/>
          <p:cNvPicPr>
            <a:picLocks noChangeAspect="1"/>
          </p:cNvPicPr>
          <p:nvPr/>
        </p:nvPicPr>
        <p:blipFill>
          <a:blip r:embed="rId3"/>
          <a:stretch>
            <a:fillRect/>
          </a:stretch>
        </p:blipFill>
        <p:spPr>
          <a:xfrm>
            <a:off x="502920" y="1463040"/>
            <a:ext cx="329184" cy="329184"/>
          </a:xfrm>
          <a:prstGeom prst="rect">
            <a:avLst/>
          </a:prstGeom>
        </p:spPr>
      </p:pic>
      <p:sp>
        <p:nvSpPr>
          <p:cNvPr id="11" name="Text 8"/>
          <p:cNvSpPr txBox="1"/>
          <p:nvPr/>
        </p:nvSpPr>
        <p:spPr>
          <a:xfrm>
            <a:off x="502920" y="1847088"/>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Book and schedule</a:t>
            </a:r>
            <a:endParaRPr lang="en-US" sz="1150" dirty="0"/>
          </a:p>
        </p:txBody>
      </p:sp>
      <p:sp>
        <p:nvSpPr>
          <p:cNvPr id="12" name="Text 9"/>
          <p:cNvSpPr txBox="1"/>
          <p:nvPr/>
        </p:nvSpPr>
        <p:spPr>
          <a:xfrm>
            <a:off x="502920" y="2139696"/>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Drag-and-drop calendar, 15-minute slots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Rules, quotas, cut-offs and approvals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Recurring, group and workflow bookings</a:t>
            </a:r>
            <a:endParaRPr lang="en-US" sz="900" dirty="0"/>
          </a:p>
        </p:txBody>
      </p:sp>
      <p:sp>
        <p:nvSpPr>
          <p:cNvPr id="13" name="Shape 10"/>
          <p:cNvSpPr/>
          <p:nvPr/>
        </p:nvSpPr>
        <p:spPr>
          <a:xfrm>
            <a:off x="3200400" y="132588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14" name="Image 1" descr="C:\Users\mills\AppData\Local\Temp\claude\C--Users-mills-Documents-Code-CaliraPM\5bfe5553-dcee-4283-8c8f-3ac10305de01\scratchpad\crl\build\assets\shot_equipment.png"/>
          <p:cNvPicPr>
            <a:picLocks noChangeAspect="1"/>
          </p:cNvPicPr>
          <p:nvPr/>
        </p:nvPicPr>
        <p:blipFill>
          <a:blip r:embed="rId4"/>
          <a:stretch>
            <a:fillRect/>
          </a:stretch>
        </p:blipFill>
        <p:spPr>
          <a:xfrm>
            <a:off x="3337560" y="1463040"/>
            <a:ext cx="329184" cy="329184"/>
          </a:xfrm>
          <a:prstGeom prst="rect">
            <a:avLst/>
          </a:prstGeom>
        </p:spPr>
      </p:pic>
      <p:sp>
        <p:nvSpPr>
          <p:cNvPr id="15" name="Text 11"/>
          <p:cNvSpPr txBox="1"/>
          <p:nvPr/>
        </p:nvSpPr>
        <p:spPr>
          <a:xfrm>
            <a:off x="3337560" y="1847088"/>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Equipment estate</a:t>
            </a:r>
            <a:endParaRPr lang="en-US" sz="1150" dirty="0"/>
          </a:p>
        </p:txBody>
      </p:sp>
      <p:sp>
        <p:nvSpPr>
          <p:cNvPr id="16" name="Text 12"/>
          <p:cNvSpPr txBox="1"/>
          <p:nvPr/>
        </p:nvSpPr>
        <p:spPr>
          <a:xfrm>
            <a:off x="3337560" y="2139696"/>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Bulk registration, metadata, documents, SOPs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Rooms, parent/child equipment, locations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Maintenance, service contracts and alerts</a:t>
            </a:r>
            <a:endParaRPr lang="en-US" sz="900" dirty="0"/>
          </a:p>
        </p:txBody>
      </p:sp>
      <p:sp>
        <p:nvSpPr>
          <p:cNvPr id="17" name="Shape 13"/>
          <p:cNvSpPr/>
          <p:nvPr/>
        </p:nvSpPr>
        <p:spPr>
          <a:xfrm>
            <a:off x="6035040" y="132588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18" name="Image 2" descr="C:\Users\mills\AppData\Local\Temp\claude\C--Users-mills-Documents-Code-CaliraPM\5bfe5553-dcee-4283-8c8f-3ac10305de01\scratchpad\crl\build\assets\icon_sso.png"/>
          <p:cNvPicPr>
            <a:picLocks noChangeAspect="1"/>
          </p:cNvPicPr>
          <p:nvPr/>
        </p:nvPicPr>
        <p:blipFill>
          <a:blip r:embed="rId5"/>
          <a:stretch>
            <a:fillRect/>
          </a:stretch>
        </p:blipFill>
        <p:spPr>
          <a:xfrm>
            <a:off x="6172200" y="1463040"/>
            <a:ext cx="329184" cy="329184"/>
          </a:xfrm>
          <a:prstGeom prst="rect">
            <a:avLst/>
          </a:prstGeom>
        </p:spPr>
      </p:pic>
      <p:sp>
        <p:nvSpPr>
          <p:cNvPr id="19" name="Text 14"/>
          <p:cNvSpPr txBox="1"/>
          <p:nvPr/>
        </p:nvSpPr>
        <p:spPr>
          <a:xfrm>
            <a:off x="6172200" y="1847088"/>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Access and governance</a:t>
            </a:r>
            <a:endParaRPr lang="en-US" sz="1150" dirty="0"/>
          </a:p>
        </p:txBody>
      </p:sp>
      <p:sp>
        <p:nvSpPr>
          <p:cNvPr id="20" name="Text 15"/>
          <p:cNvSpPr txBox="1"/>
          <p:nvPr/>
        </p:nvSpPr>
        <p:spPr>
          <a:xfrm>
            <a:off x="6172200" y="2139696"/>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SAML 2.0 SSO, MFA, joiner/mover/leaver</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Seven roles plus access groups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Training-based access; per-lab time zones</a:t>
            </a:r>
            <a:endParaRPr lang="en-US" sz="900" dirty="0"/>
          </a:p>
        </p:txBody>
      </p:sp>
      <p:sp>
        <p:nvSpPr>
          <p:cNvPr id="21" name="Shape 16"/>
          <p:cNvSpPr/>
          <p:nvPr/>
        </p:nvSpPr>
        <p:spPr>
          <a:xfrm>
            <a:off x="365760" y="3081528"/>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22" name="Image 3" descr="C:\Users\mills\AppData\Local\Temp\claude\C--Users-mills-Documents-Code-CaliraPM\5bfe5553-dcee-4283-8c8f-3ac10305de01\scratchpad\crl\build\assets\icon_qr.png"/>
          <p:cNvPicPr>
            <a:picLocks noChangeAspect="1"/>
          </p:cNvPicPr>
          <p:nvPr/>
        </p:nvPicPr>
        <p:blipFill>
          <a:blip r:embed="rId6"/>
          <a:stretch>
            <a:fillRect/>
          </a:stretch>
        </p:blipFill>
        <p:spPr>
          <a:xfrm>
            <a:off x="502920" y="3218688"/>
            <a:ext cx="329184" cy="329184"/>
          </a:xfrm>
          <a:prstGeom prst="rect">
            <a:avLst/>
          </a:prstGeom>
        </p:spPr>
      </p:pic>
      <p:sp>
        <p:nvSpPr>
          <p:cNvPr id="23" name="Text 17"/>
          <p:cNvSpPr txBox="1"/>
          <p:nvPr/>
        </p:nvSpPr>
        <p:spPr>
          <a:xfrm>
            <a:off x="502920" y="3602736"/>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Capture at the point of use</a:t>
            </a:r>
            <a:endParaRPr lang="en-US" sz="1150" dirty="0"/>
          </a:p>
        </p:txBody>
      </p:sp>
      <p:sp>
        <p:nvSpPr>
          <p:cNvPr id="24" name="Text 18"/>
          <p:cNvSpPr txBox="1"/>
          <p:nvPr/>
        </p:nvSpPr>
        <p:spPr>
          <a:xfrm>
            <a:off x="502920" y="3895344"/>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Custom Forms: results, sample IDs, files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LabTrack: actual usage and instrument locking</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Live instrument status via the OEM Gateway</a:t>
            </a:r>
            <a:endParaRPr lang="en-US" sz="900" dirty="0"/>
          </a:p>
        </p:txBody>
      </p:sp>
      <p:sp>
        <p:nvSpPr>
          <p:cNvPr id="25" name="Shape 19"/>
          <p:cNvSpPr/>
          <p:nvPr/>
        </p:nvSpPr>
        <p:spPr>
          <a:xfrm>
            <a:off x="3200400" y="3081528"/>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26" name="Image 4" descr="C:\Users\mills\AppData\Local\Temp\claude\C--Users-mills-Documents-Code-CaliraPM\5bfe5553-dcee-4283-8c8f-3ac10305de01\scratchpad\crl\build\assets\icon_api.png"/>
          <p:cNvPicPr>
            <a:picLocks noChangeAspect="1"/>
          </p:cNvPicPr>
          <p:nvPr/>
        </p:nvPicPr>
        <p:blipFill>
          <a:blip r:embed="rId7"/>
          <a:stretch>
            <a:fillRect/>
          </a:stretch>
        </p:blipFill>
        <p:spPr>
          <a:xfrm>
            <a:off x="3337560" y="3218688"/>
            <a:ext cx="329184" cy="329184"/>
          </a:xfrm>
          <a:prstGeom prst="rect">
            <a:avLst/>
          </a:prstGeom>
        </p:spPr>
      </p:pic>
      <p:sp>
        <p:nvSpPr>
          <p:cNvPr id="27" name="Text 20"/>
          <p:cNvSpPr txBox="1"/>
          <p:nvPr/>
        </p:nvSpPr>
        <p:spPr>
          <a:xfrm>
            <a:off x="3337560" y="3602736"/>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Report and extract</a:t>
            </a:r>
            <a:endParaRPr lang="en-US" sz="1150" dirty="0"/>
          </a:p>
        </p:txBody>
      </p:sp>
      <p:sp>
        <p:nvSpPr>
          <p:cNvPr id="28" name="Text 21"/>
          <p:cNvSpPr txBox="1"/>
          <p:nvPr/>
        </p:nvSpPr>
        <p:spPr>
          <a:xfrm>
            <a:off x="3337560" y="3895344"/>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Reports module, saved filters, CSV export</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Read/write REST API (OAuth2)</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Metabase dashboards at no extra cost; optional AI assistant</a:t>
            </a:r>
            <a:endParaRPr lang="en-US" sz="900" dirty="0"/>
          </a:p>
        </p:txBody>
      </p:sp>
      <p:sp>
        <p:nvSpPr>
          <p:cNvPr id="29" name="Shape 22"/>
          <p:cNvSpPr/>
          <p:nvPr/>
        </p:nvSpPr>
        <p:spPr>
          <a:xfrm>
            <a:off x="6035040" y="3081528"/>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30" name="Image 5" descr="C:\Users\mills\AppData\Local\Temp\claude\C--Users-mills-Documents-Code-CaliraPM\5bfe5553-dcee-4283-8c8f-3ac10305de01\scratchpad\crl\build\assets\shot_integrations.png"/>
          <p:cNvPicPr>
            <a:picLocks noChangeAspect="1"/>
          </p:cNvPicPr>
          <p:nvPr/>
        </p:nvPicPr>
        <p:blipFill>
          <a:blip r:embed="rId8"/>
          <a:stretch>
            <a:fillRect/>
          </a:stretch>
        </p:blipFill>
        <p:spPr>
          <a:xfrm>
            <a:off x="6172200" y="3218688"/>
            <a:ext cx="329184" cy="329184"/>
          </a:xfrm>
          <a:prstGeom prst="rect">
            <a:avLst/>
          </a:prstGeom>
        </p:spPr>
      </p:pic>
      <p:sp>
        <p:nvSpPr>
          <p:cNvPr id="31" name="Text 23"/>
          <p:cNvSpPr txBox="1"/>
          <p:nvPr/>
        </p:nvSpPr>
        <p:spPr>
          <a:xfrm>
            <a:off x="6172200" y="3602736"/>
            <a:ext cx="2423160" cy="274320"/>
          </a:xfrm>
          <a:prstGeom prst="rect">
            <a:avLst/>
          </a:prstGeom>
          <a:noFill/>
          <a:ln/>
        </p:spPr>
        <p:txBody>
          <a:bodyPr wrap="square" lIns="0" tIns="0" rIns="0" bIns="0" rtlCol="0" anchor="t"/>
          <a:lstStyle/>
          <a:p>
            <a:pPr marL="0" indent="0">
              <a:buNone/>
            </a:pPr>
            <a:r>
              <a:rPr lang="en-US" sz="1150" b="1" dirty="0">
                <a:solidFill>
                  <a:srgbClr val="0B190D"/>
                </a:solidFill>
                <a:latin typeface="Arial" pitchFamily="34" charset="0"/>
                <a:ea typeface="Arial" pitchFamily="34" charset="-122"/>
                <a:cs typeface="Arial" pitchFamily="34" charset="-120"/>
              </a:rPr>
              <a:t>Connect</a:t>
            </a:r>
            <a:endParaRPr lang="en-US" sz="1150" dirty="0"/>
          </a:p>
        </p:txBody>
      </p:sp>
      <p:sp>
        <p:nvSpPr>
          <p:cNvPr id="32" name="Text 24"/>
          <p:cNvSpPr txBox="1"/>
          <p:nvPr/>
        </p:nvSpPr>
        <p:spPr>
          <a:xfrm>
            <a:off x="6172200" y="3895344"/>
            <a:ext cx="2423160" cy="758952"/>
          </a:xfrm>
          <a:prstGeom prst="rect">
            <a:avLst/>
          </a:prstGeom>
          <a:noFill/>
          <a:ln/>
        </p:spPr>
        <p:txBody>
          <a:bodyPr wrap="square" lIns="0" tIns="0" rIns="0" bIns="0" rtlCol="0" anchor="t"/>
          <a:lstStyle/>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Outlook / Exchange calendar sync</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Benchling, eLabNext, RSpace; Essentim sensors</a:t>
            </a:r>
            <a:endParaRPr lang="en-US" sz="900" dirty="0"/>
          </a:p>
          <a:p>
            <a:pPr marL="152400" indent="-152400">
              <a:spcAft>
                <a:spcPts val="300"/>
              </a:spcAft>
              <a:buSzPct val="100000"/>
              <a:buChar char="•"/>
            </a:pPr>
            <a:r>
              <a:rPr lang="en-US" sz="900" dirty="0">
                <a:solidFill>
                  <a:srgbClr val="0B190D"/>
                </a:solidFill>
                <a:latin typeface="Arial" pitchFamily="34" charset="0"/>
                <a:ea typeface="Arial" pitchFamily="34" charset="-122"/>
                <a:cs typeface="Arial" pitchFamily="34" charset="-120"/>
              </a:rPr>
              <a:t>Provantis, Maximo, Sapio via discovery-gated adapters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SOLUTION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Built to run enterprise-wide: scale, resilience and security</a:t>
            </a:r>
            <a:endParaRPr lang="en-US" sz="2200" dirty="0"/>
          </a:p>
        </p:txBody>
      </p:sp>
      <p:sp>
        <p:nvSpPr>
          <p:cNvPr id="5" name="Shape 3"/>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6" name="Text 4"/>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7" name="Text 5"/>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7</a:t>
            </a:r>
            <a:endParaRPr lang="en-US" sz="700" dirty="0"/>
          </a:p>
        </p:txBody>
      </p:sp>
      <p:sp>
        <p:nvSpPr>
          <p:cNvPr id="8" name="Shape 6"/>
          <p:cNvSpPr/>
          <p:nvPr/>
        </p:nvSpPr>
        <p:spPr>
          <a:xfrm>
            <a:off x="365760" y="1234440"/>
            <a:ext cx="2697480" cy="2834640"/>
          </a:xfrm>
          <a:prstGeom prst="roundRect">
            <a:avLst>
              <a:gd name="adj" fmla="val 2712"/>
            </a:avLst>
          </a:prstGeom>
          <a:solidFill>
            <a:srgbClr val="F4F5F7"/>
          </a:solidFill>
          <a:ln w="12700">
            <a:solidFill>
              <a:srgbClr val="F4F5F7"/>
            </a:solidFill>
            <a:prstDash val="solid"/>
          </a:ln>
        </p:spPr>
        <p:txBody>
          <a:bodyPr/>
          <a:lstStyle/>
          <a:p>
            <a:endParaRPr lang="en-GB"/>
          </a:p>
        </p:txBody>
      </p:sp>
      <p:sp>
        <p:nvSpPr>
          <p:cNvPr id="9" name="Text 7"/>
          <p:cNvSpPr txBox="1"/>
          <p:nvPr/>
        </p:nvSpPr>
        <p:spPr>
          <a:xfrm>
            <a:off x="5029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Scale</a:t>
            </a:r>
            <a:endParaRPr lang="en-US" sz="1300" dirty="0"/>
          </a:p>
        </p:txBody>
      </p:sp>
      <p:sp>
        <p:nvSpPr>
          <p:cNvPr id="10" name="Text 8"/>
          <p:cNvSpPr txBox="1"/>
          <p:nvPr/>
        </p:nvSpPr>
        <p:spPr>
          <a:xfrm>
            <a:off x="502920" y="1664208"/>
            <a:ext cx="2423160" cy="23317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Multi-tenant SaaS on AWS (Dublin), containerised on Kubernetes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Horizontal and vertical auto-scaling – no licence impact when scaling</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1,800+ labs in 50+ countries; per-lab time zones with UTC storage</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Named-user licensing with unlimited instruments and sites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Responsive web app on desktop, tablet and mobile; no client install (LabTrack optional, Windows)</a:t>
            </a:r>
            <a:endParaRPr lang="en-US" sz="950" dirty="0"/>
          </a:p>
        </p:txBody>
      </p:sp>
      <p:sp>
        <p:nvSpPr>
          <p:cNvPr id="11" name="Shape 9"/>
          <p:cNvSpPr/>
          <p:nvPr/>
        </p:nvSpPr>
        <p:spPr>
          <a:xfrm>
            <a:off x="3223260" y="1234440"/>
            <a:ext cx="2697480" cy="2834640"/>
          </a:xfrm>
          <a:prstGeom prst="roundRect">
            <a:avLst>
              <a:gd name="adj" fmla="val 2712"/>
            </a:avLst>
          </a:prstGeom>
          <a:solidFill>
            <a:srgbClr val="F4F5F7"/>
          </a:solidFill>
          <a:ln w="12700">
            <a:solidFill>
              <a:srgbClr val="F4F5F7"/>
            </a:solidFill>
            <a:prstDash val="solid"/>
          </a:ln>
        </p:spPr>
        <p:txBody>
          <a:bodyPr/>
          <a:lstStyle/>
          <a:p>
            <a:endParaRPr lang="en-GB"/>
          </a:p>
        </p:txBody>
      </p:sp>
      <p:sp>
        <p:nvSpPr>
          <p:cNvPr id="12" name="Text 10"/>
          <p:cNvSpPr txBox="1"/>
          <p:nvPr/>
        </p:nvSpPr>
        <p:spPr>
          <a:xfrm>
            <a:off x="33604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Resilience</a:t>
            </a:r>
            <a:endParaRPr lang="en-US" sz="1300" dirty="0"/>
          </a:p>
        </p:txBody>
      </p:sp>
      <p:sp>
        <p:nvSpPr>
          <p:cNvPr id="13" name="Text 11"/>
          <p:cNvSpPr txBox="1"/>
          <p:nvPr/>
        </p:nvSpPr>
        <p:spPr>
          <a:xfrm>
            <a:off x="3360420" y="1664208"/>
            <a:ext cx="2423160" cy="23317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Components across multiple availability zones; RDS with standby and automated failover</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Continuous point-in-time recovery (96 h), daily and weekly backups, encrypted and off-site</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Availability target 99.8% per month; SLA with service credits; status.calira.co</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24/7 monitoring (Grafana, Prometheus, Sentry, Coralogix, UptimeRobot); P1 response 30 min</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Zero-downtime CI/CD releases; DR restore within 24 h</a:t>
            </a:r>
            <a:endParaRPr lang="en-US" sz="950" dirty="0"/>
          </a:p>
        </p:txBody>
      </p:sp>
      <p:sp>
        <p:nvSpPr>
          <p:cNvPr id="14" name="Shape 12"/>
          <p:cNvSpPr/>
          <p:nvPr/>
        </p:nvSpPr>
        <p:spPr>
          <a:xfrm>
            <a:off x="6080760" y="1234440"/>
            <a:ext cx="2697480" cy="2834640"/>
          </a:xfrm>
          <a:prstGeom prst="roundRect">
            <a:avLst>
              <a:gd name="adj" fmla="val 2712"/>
            </a:avLst>
          </a:prstGeom>
          <a:solidFill>
            <a:srgbClr val="F4F5F7"/>
          </a:solidFill>
          <a:ln w="12700">
            <a:solidFill>
              <a:srgbClr val="F4F5F7"/>
            </a:solidFill>
            <a:prstDash val="solid"/>
          </a:ln>
        </p:spPr>
        <p:txBody>
          <a:bodyPr/>
          <a:lstStyle/>
          <a:p>
            <a:endParaRPr lang="en-GB"/>
          </a:p>
        </p:txBody>
      </p:sp>
      <p:sp>
        <p:nvSpPr>
          <p:cNvPr id="15" name="Text 13"/>
          <p:cNvSpPr txBox="1"/>
          <p:nvPr/>
        </p:nvSpPr>
        <p:spPr>
          <a:xfrm>
            <a:off x="62179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Security</a:t>
            </a:r>
            <a:endParaRPr lang="en-US" sz="1300" dirty="0"/>
          </a:p>
        </p:txBody>
      </p:sp>
      <p:sp>
        <p:nvSpPr>
          <p:cNvPr id="16" name="Text 14"/>
          <p:cNvSpPr txBox="1"/>
          <p:nvPr/>
        </p:nvSpPr>
        <p:spPr>
          <a:xfrm>
            <a:off x="6217920" y="1664208"/>
            <a:ext cx="2423160" cy="23317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Cloudflare WAF, DDoS protection and rate limiting at the edge; database reachable only inside the private network</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TLS 1.2+ in transit, AES-256 at rest; secrets in KMS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SSO (SAML 2.0), MFA, least-privilege RBAC, quarterly access reviews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Hosting partner ISO 27001 and Cyber Essentials Plus; annual penetration test</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GDPR-compliant, EEA-hosted; AI features can be disabled at account level</a:t>
            </a:r>
            <a:endParaRPr lang="en-US" sz="950" dirty="0"/>
          </a:p>
        </p:txBody>
      </p:sp>
      <p:sp>
        <p:nvSpPr>
          <p:cNvPr id="17" name="Shape 15"/>
          <p:cNvSpPr/>
          <p:nvPr/>
        </p:nvSpPr>
        <p:spPr>
          <a:xfrm>
            <a:off x="365760" y="4224528"/>
            <a:ext cx="2011680" cy="457200"/>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18" name="Text 16"/>
          <p:cNvSpPr txBox="1"/>
          <p:nvPr/>
        </p:nvSpPr>
        <p:spPr>
          <a:xfrm>
            <a:off x="457200" y="4224528"/>
            <a:ext cx="1828800" cy="457200"/>
          </a:xfrm>
          <a:prstGeom prst="rect">
            <a:avLst/>
          </a:prstGeom>
          <a:noFill/>
          <a:ln/>
        </p:spPr>
        <p:txBody>
          <a:bodyPr wrap="square" lIns="0" tIns="0" rIns="0" bIns="0" rtlCol="0" anchor="ctr"/>
          <a:lstStyle/>
          <a:p>
            <a:pPr marL="0" indent="0" algn="ctr">
              <a:buNone/>
            </a:pPr>
            <a:r>
              <a:rPr lang="en-US" sz="800" b="1" dirty="0">
                <a:solidFill>
                  <a:srgbClr val="0B190D"/>
                </a:solidFill>
                <a:latin typeface="Arial" pitchFamily="34" charset="0"/>
                <a:ea typeface="Arial" pitchFamily="34" charset="-122"/>
                <a:cs typeface="Arial" pitchFamily="34" charset="-120"/>
              </a:rPr>
              <a:t>Hosting partner: ISO 27001 &amp; Cyber Essentials Plus</a:t>
            </a:r>
            <a:endParaRPr lang="en-US" sz="800" dirty="0"/>
          </a:p>
        </p:txBody>
      </p:sp>
      <p:sp>
        <p:nvSpPr>
          <p:cNvPr id="19" name="Shape 17"/>
          <p:cNvSpPr/>
          <p:nvPr/>
        </p:nvSpPr>
        <p:spPr>
          <a:xfrm>
            <a:off x="2491740" y="4224528"/>
            <a:ext cx="2011680" cy="457200"/>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20" name="Text 18"/>
          <p:cNvSpPr txBox="1"/>
          <p:nvPr/>
        </p:nvSpPr>
        <p:spPr>
          <a:xfrm>
            <a:off x="2583180" y="4224528"/>
            <a:ext cx="1828800" cy="457200"/>
          </a:xfrm>
          <a:prstGeom prst="rect">
            <a:avLst/>
          </a:prstGeom>
          <a:noFill/>
          <a:ln/>
        </p:spPr>
        <p:txBody>
          <a:bodyPr wrap="square" lIns="0" tIns="0" rIns="0" bIns="0" rtlCol="0" anchor="ctr"/>
          <a:lstStyle/>
          <a:p>
            <a:pPr marL="0" indent="0" algn="ctr">
              <a:buNone/>
            </a:pPr>
            <a:r>
              <a:rPr lang="en-US" sz="800" b="1" dirty="0">
                <a:solidFill>
                  <a:srgbClr val="0B190D"/>
                </a:solidFill>
                <a:latin typeface="Arial" pitchFamily="34" charset="0"/>
                <a:ea typeface="Arial" pitchFamily="34" charset="-122"/>
                <a:cs typeface="Arial" pitchFamily="34" charset="-120"/>
              </a:rPr>
              <a:t>Annual penetration test · quarterly vulnerability scans</a:t>
            </a:r>
            <a:endParaRPr lang="en-US" sz="800" dirty="0"/>
          </a:p>
        </p:txBody>
      </p:sp>
      <p:sp>
        <p:nvSpPr>
          <p:cNvPr id="21" name="Shape 19"/>
          <p:cNvSpPr/>
          <p:nvPr/>
        </p:nvSpPr>
        <p:spPr>
          <a:xfrm>
            <a:off x="4617720" y="4224528"/>
            <a:ext cx="2011680" cy="457200"/>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22" name="Text 20"/>
          <p:cNvSpPr txBox="1"/>
          <p:nvPr/>
        </p:nvSpPr>
        <p:spPr>
          <a:xfrm>
            <a:off x="4709160" y="4224528"/>
            <a:ext cx="1828800" cy="457200"/>
          </a:xfrm>
          <a:prstGeom prst="rect">
            <a:avLst/>
          </a:prstGeom>
          <a:noFill/>
          <a:ln/>
        </p:spPr>
        <p:txBody>
          <a:bodyPr wrap="square" lIns="0" tIns="0" rIns="0" bIns="0" rtlCol="0" anchor="ctr"/>
          <a:lstStyle/>
          <a:p>
            <a:pPr marL="0" indent="0" algn="ctr">
              <a:buNone/>
            </a:pPr>
            <a:r>
              <a:rPr lang="en-US" sz="800" b="1" dirty="0">
                <a:solidFill>
                  <a:srgbClr val="0B190D"/>
                </a:solidFill>
                <a:latin typeface="Arial" pitchFamily="34" charset="0"/>
                <a:ea typeface="Arial" pitchFamily="34" charset="-122"/>
                <a:cs typeface="Arial" pitchFamily="34" charset="-120"/>
              </a:rPr>
              <a:t>GDPR · EEA-hosted · DPA with SCCs</a:t>
            </a:r>
            <a:endParaRPr lang="en-US" sz="800" dirty="0"/>
          </a:p>
        </p:txBody>
      </p:sp>
      <p:sp>
        <p:nvSpPr>
          <p:cNvPr id="23" name="Shape 21"/>
          <p:cNvSpPr/>
          <p:nvPr/>
        </p:nvSpPr>
        <p:spPr>
          <a:xfrm>
            <a:off x="6743700" y="4224528"/>
            <a:ext cx="2011680" cy="457200"/>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24" name="Text 22"/>
          <p:cNvSpPr txBox="1"/>
          <p:nvPr/>
        </p:nvSpPr>
        <p:spPr>
          <a:xfrm>
            <a:off x="6835140" y="4224528"/>
            <a:ext cx="1828800" cy="457200"/>
          </a:xfrm>
          <a:prstGeom prst="rect">
            <a:avLst/>
          </a:prstGeom>
          <a:noFill/>
          <a:ln/>
        </p:spPr>
        <p:txBody>
          <a:bodyPr wrap="square" lIns="0" tIns="0" rIns="0" bIns="0" rtlCol="0" anchor="ctr"/>
          <a:lstStyle/>
          <a:p>
            <a:pPr marL="0" indent="0" algn="ctr">
              <a:buNone/>
            </a:pPr>
            <a:r>
              <a:rPr lang="en-US" sz="800" b="1" dirty="0">
                <a:solidFill>
                  <a:srgbClr val="0B190D"/>
                </a:solidFill>
                <a:latin typeface="Arial" pitchFamily="34" charset="0"/>
                <a:ea typeface="Arial" pitchFamily="34" charset="-122"/>
                <a:cs typeface="Arial" pitchFamily="34" charset="-120"/>
              </a:rPr>
              <a:t>Public status page: status.calira.co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SOLUTION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Integrations: two standard, three discovery-gated</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You see each Discovery Report – and decide – before any integration build is priced</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8</a:t>
            </a:r>
            <a:endParaRPr lang="en-US" sz="700" dirty="0"/>
          </a:p>
        </p:txBody>
      </p:sp>
      <p:sp>
        <p:nvSpPr>
          <p:cNvPr id="9" name="Shape 7"/>
          <p:cNvSpPr/>
          <p:nvPr/>
        </p:nvSpPr>
        <p:spPr>
          <a:xfrm flipV="1">
            <a:off x="1691640" y="1655064"/>
            <a:ext cx="548640" cy="1408176"/>
          </a:xfrm>
          <a:prstGeom prst="line">
            <a:avLst/>
          </a:prstGeom>
          <a:noFill/>
          <a:ln w="12700">
            <a:solidFill>
              <a:srgbClr val="DDD4CD"/>
            </a:solidFill>
            <a:prstDash val="solid"/>
          </a:ln>
        </p:spPr>
        <p:txBody>
          <a:bodyPr/>
          <a:lstStyle/>
          <a:p>
            <a:endParaRPr lang="en-GB"/>
          </a:p>
        </p:txBody>
      </p:sp>
      <p:sp>
        <p:nvSpPr>
          <p:cNvPr id="10" name="Shape 8"/>
          <p:cNvSpPr/>
          <p:nvPr/>
        </p:nvSpPr>
        <p:spPr>
          <a:xfrm flipV="1">
            <a:off x="1691640" y="2331720"/>
            <a:ext cx="548640" cy="731520"/>
          </a:xfrm>
          <a:prstGeom prst="line">
            <a:avLst/>
          </a:prstGeom>
          <a:noFill/>
          <a:ln w="12700">
            <a:solidFill>
              <a:srgbClr val="DDD4CD"/>
            </a:solidFill>
            <a:prstDash val="solid"/>
          </a:ln>
        </p:spPr>
        <p:txBody>
          <a:bodyPr/>
          <a:lstStyle/>
          <a:p>
            <a:endParaRPr lang="en-GB"/>
          </a:p>
        </p:txBody>
      </p:sp>
      <p:sp>
        <p:nvSpPr>
          <p:cNvPr id="11" name="Shape 9"/>
          <p:cNvSpPr/>
          <p:nvPr/>
        </p:nvSpPr>
        <p:spPr>
          <a:xfrm flipV="1">
            <a:off x="1691640" y="3008376"/>
            <a:ext cx="548640" cy="54864"/>
          </a:xfrm>
          <a:prstGeom prst="line">
            <a:avLst/>
          </a:prstGeom>
          <a:noFill/>
          <a:ln w="12700">
            <a:solidFill>
              <a:srgbClr val="DDD4CD"/>
            </a:solidFill>
            <a:prstDash val="solid"/>
          </a:ln>
        </p:spPr>
        <p:txBody>
          <a:bodyPr/>
          <a:lstStyle/>
          <a:p>
            <a:endParaRPr lang="en-GB"/>
          </a:p>
        </p:txBody>
      </p:sp>
      <p:sp>
        <p:nvSpPr>
          <p:cNvPr id="12" name="Shape 10"/>
          <p:cNvSpPr/>
          <p:nvPr/>
        </p:nvSpPr>
        <p:spPr>
          <a:xfrm>
            <a:off x="1691640" y="3063240"/>
            <a:ext cx="548640" cy="621792"/>
          </a:xfrm>
          <a:prstGeom prst="line">
            <a:avLst/>
          </a:prstGeom>
          <a:noFill/>
          <a:ln w="12700">
            <a:solidFill>
              <a:srgbClr val="DDD4CD"/>
            </a:solidFill>
            <a:prstDash val="solid"/>
          </a:ln>
        </p:spPr>
        <p:txBody>
          <a:bodyPr/>
          <a:lstStyle/>
          <a:p>
            <a:endParaRPr lang="en-GB"/>
          </a:p>
        </p:txBody>
      </p:sp>
      <p:sp>
        <p:nvSpPr>
          <p:cNvPr id="13" name="Shape 11"/>
          <p:cNvSpPr/>
          <p:nvPr/>
        </p:nvSpPr>
        <p:spPr>
          <a:xfrm>
            <a:off x="1691640" y="3063240"/>
            <a:ext cx="548640" cy="1298448"/>
          </a:xfrm>
          <a:prstGeom prst="line">
            <a:avLst/>
          </a:prstGeom>
          <a:noFill/>
          <a:ln w="12700">
            <a:solidFill>
              <a:srgbClr val="DDD4CD"/>
            </a:solidFill>
            <a:prstDash val="solid"/>
          </a:ln>
        </p:spPr>
        <p:txBody>
          <a:bodyPr/>
          <a:lstStyle/>
          <a:p>
            <a:endParaRPr lang="en-GB"/>
          </a:p>
        </p:txBody>
      </p:sp>
      <p:sp>
        <p:nvSpPr>
          <p:cNvPr id="14" name="Shape 12"/>
          <p:cNvSpPr/>
          <p:nvPr/>
        </p:nvSpPr>
        <p:spPr>
          <a:xfrm>
            <a:off x="411480" y="2423160"/>
            <a:ext cx="1280160" cy="1280160"/>
          </a:xfrm>
          <a:prstGeom prst="ellipse">
            <a:avLst/>
          </a:prstGeom>
          <a:solidFill>
            <a:srgbClr val="E4F038"/>
          </a:solidFill>
          <a:ln w="12700">
            <a:solidFill>
              <a:srgbClr val="E4F038"/>
            </a:solidFill>
            <a:prstDash val="solid"/>
          </a:ln>
        </p:spPr>
        <p:txBody>
          <a:bodyPr/>
          <a:lstStyle/>
          <a:p>
            <a:endParaRPr lang="en-GB"/>
          </a:p>
        </p:txBody>
      </p:sp>
      <p:pic>
        <p:nvPicPr>
          <p:cNvPr id="15" name="Image 0" descr="C:\Users\mills\AppData\Local\Temp\claude\C--Users-mills-Documents-Code-CaliraPM\5bfe5553-dcee-4283-8c8f-3ac10305de01\scratchpad\crl\build\assets\mark.png"/>
          <p:cNvPicPr>
            <a:picLocks noChangeAspect="1"/>
          </p:cNvPicPr>
          <p:nvPr/>
        </p:nvPicPr>
        <p:blipFill>
          <a:blip r:embed="rId3"/>
          <a:stretch>
            <a:fillRect/>
          </a:stretch>
        </p:blipFill>
        <p:spPr>
          <a:xfrm>
            <a:off x="832104" y="2651760"/>
            <a:ext cx="438912" cy="384048"/>
          </a:xfrm>
          <a:prstGeom prst="rect">
            <a:avLst/>
          </a:prstGeom>
        </p:spPr>
      </p:pic>
      <p:sp>
        <p:nvSpPr>
          <p:cNvPr id="16" name="Text 13"/>
          <p:cNvSpPr txBox="1"/>
          <p:nvPr/>
        </p:nvSpPr>
        <p:spPr>
          <a:xfrm>
            <a:off x="411480" y="3108960"/>
            <a:ext cx="1280160" cy="274320"/>
          </a:xfrm>
          <a:prstGeom prst="rect">
            <a:avLst/>
          </a:prstGeom>
          <a:noFill/>
          <a:ln/>
        </p:spPr>
        <p:txBody>
          <a:bodyPr wrap="square" lIns="0" tIns="0" rIns="0" bIns="0" rtlCol="0" anchor="ctr"/>
          <a:lstStyle/>
          <a:p>
            <a:pPr marL="0" indent="0" algn="ctr">
              <a:buNone/>
            </a:pPr>
            <a:r>
              <a:rPr lang="en-US" sz="1100" b="1" dirty="0">
                <a:solidFill>
                  <a:srgbClr val="0B190D"/>
                </a:solidFill>
                <a:latin typeface="Arial" pitchFamily="34" charset="0"/>
                <a:ea typeface="Arial" pitchFamily="34" charset="-122"/>
                <a:cs typeface="Arial" pitchFamily="34" charset="-120"/>
              </a:rPr>
              <a:t>Calira</a:t>
            </a:r>
            <a:endParaRPr lang="en-US" sz="1100" dirty="0"/>
          </a:p>
        </p:txBody>
      </p:sp>
      <p:sp>
        <p:nvSpPr>
          <p:cNvPr id="17" name="Shape 14"/>
          <p:cNvSpPr/>
          <p:nvPr/>
        </p:nvSpPr>
        <p:spPr>
          <a:xfrm>
            <a:off x="2240280" y="1371600"/>
            <a:ext cx="2468880" cy="566928"/>
          </a:xfrm>
          <a:prstGeom prst="roundRect">
            <a:avLst>
              <a:gd name="adj" fmla="val 12903"/>
            </a:avLst>
          </a:prstGeom>
          <a:solidFill>
            <a:srgbClr val="0B190D"/>
          </a:solidFill>
          <a:ln w="12700">
            <a:solidFill>
              <a:srgbClr val="0B190D"/>
            </a:solidFill>
            <a:prstDash val="solid"/>
          </a:ln>
        </p:spPr>
        <p:txBody>
          <a:bodyPr/>
          <a:lstStyle/>
          <a:p>
            <a:endParaRPr lang="en-GB"/>
          </a:p>
        </p:txBody>
      </p:sp>
      <p:sp>
        <p:nvSpPr>
          <p:cNvPr id="18" name="Text 15"/>
          <p:cNvSpPr txBox="1"/>
          <p:nvPr/>
        </p:nvSpPr>
        <p:spPr>
          <a:xfrm>
            <a:off x="2350008" y="1417320"/>
            <a:ext cx="2249424"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 Sign-On (IdP)</a:t>
            </a:r>
            <a:endParaRPr lang="en-US" sz="1000" dirty="0"/>
          </a:p>
        </p:txBody>
      </p:sp>
      <p:sp>
        <p:nvSpPr>
          <p:cNvPr id="19" name="Text 16"/>
          <p:cNvSpPr txBox="1"/>
          <p:nvPr/>
        </p:nvSpPr>
        <p:spPr>
          <a:xfrm>
            <a:off x="2350008" y="1664208"/>
            <a:ext cx="2249424" cy="237744"/>
          </a:xfrm>
          <a:prstGeom prst="rect">
            <a:avLst/>
          </a:prstGeom>
          <a:noFill/>
          <a:ln/>
        </p:spPr>
        <p:txBody>
          <a:bodyPr wrap="square" lIns="0" tIns="0" rIns="0" bIns="0" rtlCol="0" anchor="t"/>
          <a:lstStyle/>
          <a:p>
            <a:pPr marL="0" indent="0">
              <a:buNone/>
            </a:pPr>
            <a:r>
              <a:rPr lang="en-US" sz="750" dirty="0">
                <a:solidFill>
                  <a:srgbClr val="E4F038"/>
                </a:solidFill>
                <a:latin typeface="Arial" pitchFamily="34" charset="0"/>
                <a:ea typeface="Arial" pitchFamily="34" charset="-122"/>
                <a:cs typeface="Arial" pitchFamily="34" charset="-120"/>
              </a:rPr>
              <a:t>Standard · configured in Phase 2</a:t>
            </a:r>
            <a:endParaRPr lang="en-US" sz="750" dirty="0"/>
          </a:p>
        </p:txBody>
      </p:sp>
      <p:sp>
        <p:nvSpPr>
          <p:cNvPr id="20" name="Shape 17"/>
          <p:cNvSpPr/>
          <p:nvPr/>
        </p:nvSpPr>
        <p:spPr>
          <a:xfrm>
            <a:off x="2240280" y="2048256"/>
            <a:ext cx="2468880" cy="566928"/>
          </a:xfrm>
          <a:prstGeom prst="roundRect">
            <a:avLst>
              <a:gd name="adj" fmla="val 12903"/>
            </a:avLst>
          </a:prstGeom>
          <a:solidFill>
            <a:srgbClr val="0B190D"/>
          </a:solidFill>
          <a:ln w="12700">
            <a:solidFill>
              <a:srgbClr val="0B190D"/>
            </a:solidFill>
            <a:prstDash val="solid"/>
          </a:ln>
        </p:spPr>
        <p:txBody>
          <a:bodyPr/>
          <a:lstStyle/>
          <a:p>
            <a:endParaRPr lang="en-GB"/>
          </a:p>
        </p:txBody>
      </p:sp>
      <p:sp>
        <p:nvSpPr>
          <p:cNvPr id="21" name="Text 18"/>
          <p:cNvSpPr txBox="1"/>
          <p:nvPr/>
        </p:nvSpPr>
        <p:spPr>
          <a:xfrm>
            <a:off x="2350008" y="2093976"/>
            <a:ext cx="2249424" cy="256032"/>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Outlook / Exchange</a:t>
            </a:r>
            <a:endParaRPr lang="en-US" sz="1000" dirty="0"/>
          </a:p>
        </p:txBody>
      </p:sp>
      <p:sp>
        <p:nvSpPr>
          <p:cNvPr id="22" name="Text 19"/>
          <p:cNvSpPr txBox="1"/>
          <p:nvPr/>
        </p:nvSpPr>
        <p:spPr>
          <a:xfrm>
            <a:off x="2350008" y="2340864"/>
            <a:ext cx="2249424" cy="237744"/>
          </a:xfrm>
          <a:prstGeom prst="rect">
            <a:avLst/>
          </a:prstGeom>
          <a:noFill/>
          <a:ln/>
        </p:spPr>
        <p:txBody>
          <a:bodyPr wrap="square" lIns="0" tIns="0" rIns="0" bIns="0" rtlCol="0" anchor="t"/>
          <a:lstStyle/>
          <a:p>
            <a:pPr marL="0" indent="0">
              <a:buNone/>
            </a:pPr>
            <a:r>
              <a:rPr lang="en-US" sz="750" dirty="0">
                <a:solidFill>
                  <a:srgbClr val="E4F038"/>
                </a:solidFill>
                <a:latin typeface="Arial" pitchFamily="34" charset="0"/>
                <a:ea typeface="Arial" pitchFamily="34" charset="-122"/>
                <a:cs typeface="Arial" pitchFamily="34" charset="-120"/>
              </a:rPr>
              <a:t>Standard · configured in Phase 2</a:t>
            </a:r>
            <a:endParaRPr lang="en-US" sz="750" dirty="0"/>
          </a:p>
        </p:txBody>
      </p:sp>
      <p:sp>
        <p:nvSpPr>
          <p:cNvPr id="23" name="Shape 20"/>
          <p:cNvSpPr/>
          <p:nvPr/>
        </p:nvSpPr>
        <p:spPr>
          <a:xfrm>
            <a:off x="2240280" y="2724912"/>
            <a:ext cx="2468880" cy="566928"/>
          </a:xfrm>
          <a:prstGeom prst="roundRect">
            <a:avLst>
              <a:gd name="adj" fmla="val 12903"/>
            </a:avLst>
          </a:prstGeom>
          <a:solidFill>
            <a:srgbClr val="FFFFFF"/>
          </a:solidFill>
          <a:ln w="12700">
            <a:solidFill>
              <a:srgbClr val="0B190D"/>
            </a:solidFill>
            <a:prstDash val="solid"/>
          </a:ln>
        </p:spPr>
        <p:txBody>
          <a:bodyPr/>
          <a:lstStyle/>
          <a:p>
            <a:endParaRPr lang="en-GB"/>
          </a:p>
        </p:txBody>
      </p:sp>
      <p:sp>
        <p:nvSpPr>
          <p:cNvPr id="24" name="Text 21"/>
          <p:cNvSpPr txBox="1"/>
          <p:nvPr/>
        </p:nvSpPr>
        <p:spPr>
          <a:xfrm>
            <a:off x="2350008" y="2770632"/>
            <a:ext cx="2249424" cy="256032"/>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Sapio Sciences ELN</a:t>
            </a:r>
            <a:endParaRPr lang="en-US" sz="1000" dirty="0"/>
          </a:p>
        </p:txBody>
      </p:sp>
      <p:sp>
        <p:nvSpPr>
          <p:cNvPr id="25" name="Text 22"/>
          <p:cNvSpPr txBox="1"/>
          <p:nvPr/>
        </p:nvSpPr>
        <p:spPr>
          <a:xfrm>
            <a:off x="2350008" y="3017520"/>
            <a:ext cx="2249424" cy="237744"/>
          </a:xfrm>
          <a:prstGeom prst="rect">
            <a:avLst/>
          </a:prstGeom>
          <a:noFill/>
          <a:ln/>
        </p:spPr>
        <p:txBody>
          <a:bodyPr wrap="square" lIns="0" tIns="0" rIns="0" bIns="0" rtlCol="0" anchor="t"/>
          <a:lstStyle/>
          <a:p>
            <a:pPr marL="0" indent="0">
              <a:buNone/>
            </a:pPr>
            <a:r>
              <a:rPr lang="en-US" sz="750" dirty="0">
                <a:solidFill>
                  <a:srgbClr val="535A6E"/>
                </a:solidFill>
                <a:latin typeface="Arial" pitchFamily="34" charset="0"/>
                <a:ea typeface="Arial" pitchFamily="34" charset="-122"/>
                <a:cs typeface="Arial" pitchFamily="34" charset="-120"/>
              </a:rPr>
              <a:t>Discovery in SOW · build by separate SOW</a:t>
            </a:r>
            <a:endParaRPr lang="en-US" sz="750" dirty="0"/>
          </a:p>
        </p:txBody>
      </p:sp>
      <p:sp>
        <p:nvSpPr>
          <p:cNvPr id="26" name="Shape 23"/>
          <p:cNvSpPr/>
          <p:nvPr/>
        </p:nvSpPr>
        <p:spPr>
          <a:xfrm>
            <a:off x="2240280" y="3401568"/>
            <a:ext cx="2468880" cy="566928"/>
          </a:xfrm>
          <a:prstGeom prst="roundRect">
            <a:avLst>
              <a:gd name="adj" fmla="val 12903"/>
            </a:avLst>
          </a:prstGeom>
          <a:solidFill>
            <a:srgbClr val="FFFFFF"/>
          </a:solidFill>
          <a:ln w="12700">
            <a:solidFill>
              <a:srgbClr val="0B190D"/>
            </a:solidFill>
            <a:prstDash val="solid"/>
          </a:ln>
        </p:spPr>
        <p:txBody>
          <a:bodyPr/>
          <a:lstStyle/>
          <a:p>
            <a:endParaRPr lang="en-GB"/>
          </a:p>
        </p:txBody>
      </p:sp>
      <p:sp>
        <p:nvSpPr>
          <p:cNvPr id="27" name="Text 24"/>
          <p:cNvSpPr txBox="1"/>
          <p:nvPr/>
        </p:nvSpPr>
        <p:spPr>
          <a:xfrm>
            <a:off x="2350008" y="3447288"/>
            <a:ext cx="2249424" cy="256032"/>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Provantis (Instem)</a:t>
            </a:r>
            <a:endParaRPr lang="en-US" sz="1000" dirty="0"/>
          </a:p>
        </p:txBody>
      </p:sp>
      <p:sp>
        <p:nvSpPr>
          <p:cNvPr id="28" name="Text 25"/>
          <p:cNvSpPr txBox="1"/>
          <p:nvPr/>
        </p:nvSpPr>
        <p:spPr>
          <a:xfrm>
            <a:off x="2350008" y="3694176"/>
            <a:ext cx="2249424" cy="237744"/>
          </a:xfrm>
          <a:prstGeom prst="rect">
            <a:avLst/>
          </a:prstGeom>
          <a:noFill/>
          <a:ln/>
        </p:spPr>
        <p:txBody>
          <a:bodyPr wrap="square" lIns="0" tIns="0" rIns="0" bIns="0" rtlCol="0" anchor="t"/>
          <a:lstStyle/>
          <a:p>
            <a:pPr marL="0" indent="0">
              <a:buNone/>
            </a:pPr>
            <a:r>
              <a:rPr lang="en-US" sz="750" dirty="0">
                <a:solidFill>
                  <a:srgbClr val="535A6E"/>
                </a:solidFill>
                <a:latin typeface="Arial" pitchFamily="34" charset="0"/>
                <a:ea typeface="Arial" pitchFamily="34" charset="-122"/>
                <a:cs typeface="Arial" pitchFamily="34" charset="-120"/>
              </a:rPr>
              <a:t>Discovery in SOW · build by separate SOW</a:t>
            </a:r>
            <a:endParaRPr lang="en-US" sz="750" dirty="0"/>
          </a:p>
        </p:txBody>
      </p:sp>
      <p:sp>
        <p:nvSpPr>
          <p:cNvPr id="29" name="Shape 26"/>
          <p:cNvSpPr/>
          <p:nvPr/>
        </p:nvSpPr>
        <p:spPr>
          <a:xfrm>
            <a:off x="2240280" y="4078224"/>
            <a:ext cx="2468880" cy="566928"/>
          </a:xfrm>
          <a:prstGeom prst="roundRect">
            <a:avLst>
              <a:gd name="adj" fmla="val 12903"/>
            </a:avLst>
          </a:prstGeom>
          <a:solidFill>
            <a:srgbClr val="FFFFFF"/>
          </a:solidFill>
          <a:ln w="12700">
            <a:solidFill>
              <a:srgbClr val="0B190D"/>
            </a:solidFill>
            <a:prstDash val="solid"/>
          </a:ln>
        </p:spPr>
        <p:txBody>
          <a:bodyPr/>
          <a:lstStyle/>
          <a:p>
            <a:endParaRPr lang="en-GB"/>
          </a:p>
        </p:txBody>
      </p:sp>
      <p:sp>
        <p:nvSpPr>
          <p:cNvPr id="30" name="Text 27"/>
          <p:cNvSpPr txBox="1"/>
          <p:nvPr/>
        </p:nvSpPr>
        <p:spPr>
          <a:xfrm>
            <a:off x="2350008" y="4123944"/>
            <a:ext cx="2249424" cy="256032"/>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IBM Maximo</a:t>
            </a:r>
            <a:endParaRPr lang="en-US" sz="1000" dirty="0"/>
          </a:p>
        </p:txBody>
      </p:sp>
      <p:sp>
        <p:nvSpPr>
          <p:cNvPr id="31" name="Text 28"/>
          <p:cNvSpPr txBox="1"/>
          <p:nvPr/>
        </p:nvSpPr>
        <p:spPr>
          <a:xfrm>
            <a:off x="2350008" y="4370832"/>
            <a:ext cx="2249424" cy="237744"/>
          </a:xfrm>
          <a:prstGeom prst="rect">
            <a:avLst/>
          </a:prstGeom>
          <a:noFill/>
          <a:ln/>
        </p:spPr>
        <p:txBody>
          <a:bodyPr wrap="square" lIns="0" tIns="0" rIns="0" bIns="0" rtlCol="0" anchor="t"/>
          <a:lstStyle/>
          <a:p>
            <a:pPr marL="0" indent="0">
              <a:buNone/>
            </a:pPr>
            <a:r>
              <a:rPr lang="en-US" sz="750" dirty="0">
                <a:solidFill>
                  <a:srgbClr val="535A6E"/>
                </a:solidFill>
                <a:latin typeface="Arial" pitchFamily="34" charset="0"/>
                <a:ea typeface="Arial" pitchFamily="34" charset="-122"/>
                <a:cs typeface="Arial" pitchFamily="34" charset="-120"/>
              </a:rPr>
              <a:t>Discovery in SOW · build by separate SOW</a:t>
            </a:r>
            <a:endParaRPr lang="en-US" sz="750" dirty="0"/>
          </a:p>
        </p:txBody>
      </p:sp>
      <p:sp>
        <p:nvSpPr>
          <p:cNvPr id="32" name="Text 29"/>
          <p:cNvSpPr txBox="1"/>
          <p:nvPr/>
        </p:nvSpPr>
        <p:spPr>
          <a:xfrm>
            <a:off x="5120640" y="1280160"/>
            <a:ext cx="3657600" cy="274320"/>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Why we are confident on the three new systems</a:t>
            </a:r>
            <a:endParaRPr lang="en-US" sz="1200" dirty="0"/>
          </a:p>
        </p:txBody>
      </p:sp>
      <p:sp>
        <p:nvSpPr>
          <p:cNvPr id="33" name="Text 30"/>
          <p:cNvSpPr txBox="1"/>
          <p:nvPr/>
        </p:nvSpPr>
        <p:spPr>
          <a:xfrm>
            <a:off x="5120640" y="1600200"/>
            <a:ext cx="3657600" cy="320040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One adapter framework for every integration: OAuth2/API-key auth, signed webhooks, background processing, central monitoring – a new vendor is a new adapter, not new infrastructure</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Provantis: our Head of Product spent 5+ years at Instem and knows the module architecture; Instem's new REST API and hosted SaaS delivery fit our pattern</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Maximo: enterprise-asset data mapping already scoped for Blue Mountain RAM; Maximo Manage REST API is mature and documented</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Sapio: live ELN integrations with Benchling and eLabNext follow the same REST-plus-webhook shape</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Each discovery ends in a report with data mapping, auth approach, dependencies and a build estimate – accepted by CRL before any build SOW</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DIFFERENTIATORS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Why Calira for CRL</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Six things we would ask you to weigh against any alternative</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9</a:t>
            </a:r>
            <a:endParaRPr lang="en-US" sz="700" dirty="0"/>
          </a:p>
        </p:txBody>
      </p:sp>
      <p:sp>
        <p:nvSpPr>
          <p:cNvPr id="9" name="Shape 7"/>
          <p:cNvSpPr/>
          <p:nvPr/>
        </p:nvSpPr>
        <p:spPr>
          <a:xfrm>
            <a:off x="365760" y="1325880"/>
            <a:ext cx="2697480" cy="1645920"/>
          </a:xfrm>
          <a:prstGeom prst="roundRect">
            <a:avLst>
              <a:gd name="adj" fmla="val 4444"/>
            </a:avLst>
          </a:prstGeom>
          <a:solidFill>
            <a:srgbClr val="E4F038"/>
          </a:solidFill>
          <a:ln w="12700">
            <a:solidFill>
              <a:srgbClr val="E4F038"/>
            </a:solidFill>
            <a:prstDash val="solid"/>
          </a:ln>
        </p:spPr>
        <p:txBody>
          <a:bodyPr/>
          <a:lstStyle/>
          <a:p>
            <a:endParaRPr lang="en-GB"/>
          </a:p>
        </p:txBody>
      </p:sp>
      <p:pic>
        <p:nvPicPr>
          <p:cNvPr id="10" name="Image 0" descr="C:\Users\mills\AppData\Local\Temp\claude\C--Users-mills-Documents-Code-CaliraPM\5bfe5553-dcee-4283-8c8f-3ac10305de01\scratchpad\crl\build\assets\icon_tap.png"/>
          <p:cNvPicPr>
            <a:picLocks noChangeAspect="1"/>
          </p:cNvPicPr>
          <p:nvPr/>
        </p:nvPicPr>
        <p:blipFill>
          <a:blip r:embed="rId3"/>
          <a:stretch>
            <a:fillRect/>
          </a:stretch>
        </p:blipFill>
        <p:spPr>
          <a:xfrm>
            <a:off x="502920" y="1463040"/>
            <a:ext cx="329184" cy="329184"/>
          </a:xfrm>
          <a:prstGeom prst="rect">
            <a:avLst/>
          </a:prstGeom>
        </p:spPr>
      </p:pic>
      <p:sp>
        <p:nvSpPr>
          <p:cNvPr id="11" name="Text 8"/>
          <p:cNvSpPr txBox="1"/>
          <p:nvPr/>
        </p:nvSpPr>
        <p:spPr>
          <a:xfrm>
            <a:off x="502920" y="184708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Proven inside CRL</a:t>
            </a:r>
            <a:endParaRPr lang="en-US" sz="1200" dirty="0"/>
          </a:p>
        </p:txBody>
      </p:sp>
      <p:sp>
        <p:nvSpPr>
          <p:cNvPr id="12" name="Text 9"/>
          <p:cNvSpPr txBox="1"/>
          <p:nvPr/>
        </p:nvSpPr>
        <p:spPr>
          <a:xfrm>
            <a:off x="502920" y="213969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Live in Edinburgh Chemistry under an existing contract – a reference you can call today, and a configuration baseline we can reuse.</a:t>
            </a:r>
            <a:endParaRPr lang="en-US" sz="950" dirty="0"/>
          </a:p>
        </p:txBody>
      </p:sp>
      <p:sp>
        <p:nvSpPr>
          <p:cNvPr id="13" name="Shape 10"/>
          <p:cNvSpPr/>
          <p:nvPr/>
        </p:nvSpPr>
        <p:spPr>
          <a:xfrm>
            <a:off x="3200400" y="132588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14" name="Image 1" descr="C:\Users\mills\AppData\Local\Temp\claude\C--Users-mills-Documents-Code-CaliraPM\5bfe5553-dcee-4283-8c8f-3ac10305de01\scratchpad\crl\build\assets\icon_fast.png"/>
          <p:cNvPicPr>
            <a:picLocks noChangeAspect="1"/>
          </p:cNvPicPr>
          <p:nvPr/>
        </p:nvPicPr>
        <p:blipFill>
          <a:blip r:embed="rId4"/>
          <a:stretch>
            <a:fillRect/>
          </a:stretch>
        </p:blipFill>
        <p:spPr>
          <a:xfrm>
            <a:off x="3337560" y="1463040"/>
            <a:ext cx="329184" cy="329184"/>
          </a:xfrm>
          <a:prstGeom prst="rect">
            <a:avLst/>
          </a:prstGeom>
        </p:spPr>
      </p:pic>
      <p:sp>
        <p:nvSpPr>
          <p:cNvPr id="15" name="Text 11"/>
          <p:cNvSpPr txBox="1"/>
          <p:nvPr/>
        </p:nvSpPr>
        <p:spPr>
          <a:xfrm>
            <a:off x="3337560" y="184708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Speed to value</a:t>
            </a:r>
            <a:endParaRPr lang="en-US" sz="1200" dirty="0"/>
          </a:p>
        </p:txBody>
      </p:sp>
      <p:sp>
        <p:nvSpPr>
          <p:cNvPr id="16" name="Text 12"/>
          <p:cNvSpPr txBox="1"/>
          <p:nvPr/>
        </p:nvSpPr>
        <p:spPr>
          <a:xfrm>
            <a:off x="3337560" y="213969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Lead site live in 8 weeks; each further site faster against the baseline. Standard implementation carries no services fee.</a:t>
            </a:r>
            <a:endParaRPr lang="en-US" sz="950" dirty="0"/>
          </a:p>
        </p:txBody>
      </p:sp>
      <p:sp>
        <p:nvSpPr>
          <p:cNvPr id="17" name="Shape 13"/>
          <p:cNvSpPr/>
          <p:nvPr/>
        </p:nvSpPr>
        <p:spPr>
          <a:xfrm>
            <a:off x="6035040" y="132588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18" name="Image 2" descr="C:\Users\mills\AppData\Local\Temp\claude\C--Users-mills-Documents-Code-CaliraPM\5bfe5553-dcee-4283-8c8f-3ac10305de01\scratchpad\crl\build\assets\icon_qr.png"/>
          <p:cNvPicPr>
            <a:picLocks noChangeAspect="1"/>
          </p:cNvPicPr>
          <p:nvPr/>
        </p:nvPicPr>
        <p:blipFill>
          <a:blip r:embed="rId5"/>
          <a:stretch>
            <a:fillRect/>
          </a:stretch>
        </p:blipFill>
        <p:spPr>
          <a:xfrm>
            <a:off x="6172200" y="1463040"/>
            <a:ext cx="329184" cy="329184"/>
          </a:xfrm>
          <a:prstGeom prst="rect">
            <a:avLst/>
          </a:prstGeom>
        </p:spPr>
      </p:pic>
      <p:sp>
        <p:nvSpPr>
          <p:cNvPr id="19" name="Text 14"/>
          <p:cNvSpPr txBox="1"/>
          <p:nvPr/>
        </p:nvSpPr>
        <p:spPr>
          <a:xfrm>
            <a:off x="6172200" y="184708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Adoption by design</a:t>
            </a:r>
            <a:endParaRPr lang="en-US" sz="1200" dirty="0"/>
          </a:p>
        </p:txBody>
      </p:sp>
      <p:sp>
        <p:nvSpPr>
          <p:cNvPr id="20" name="Text 15"/>
          <p:cNvSpPr txBox="1"/>
          <p:nvPr/>
        </p:nvSpPr>
        <p:spPr>
          <a:xfrm>
            <a:off x="6172200" y="213969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Researchers productive after 20–30 minutes of training; mobile and QR-code booking; contractual adoption KPIs.</a:t>
            </a:r>
            <a:endParaRPr lang="en-US" sz="950" dirty="0"/>
          </a:p>
        </p:txBody>
      </p:sp>
      <p:sp>
        <p:nvSpPr>
          <p:cNvPr id="21" name="Shape 16"/>
          <p:cNvSpPr/>
          <p:nvPr/>
        </p:nvSpPr>
        <p:spPr>
          <a:xfrm>
            <a:off x="365760" y="310896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22" name="Image 3" descr="C:\Users\mills\AppData\Local\Temp\claude\C--Users-mills-Documents-Code-CaliraPM\5bfe5553-dcee-4283-8c8f-3ac10305de01\scratchpad\crl\build\assets\shot_booking.png"/>
          <p:cNvPicPr>
            <a:picLocks noChangeAspect="1"/>
          </p:cNvPicPr>
          <p:nvPr/>
        </p:nvPicPr>
        <p:blipFill>
          <a:blip r:embed="rId6"/>
          <a:stretch>
            <a:fillRect/>
          </a:stretch>
        </p:blipFill>
        <p:spPr>
          <a:xfrm>
            <a:off x="502920" y="3246120"/>
            <a:ext cx="329184" cy="329184"/>
          </a:xfrm>
          <a:prstGeom prst="rect">
            <a:avLst/>
          </a:prstGeom>
        </p:spPr>
      </p:pic>
      <p:sp>
        <p:nvSpPr>
          <p:cNvPr id="23" name="Text 17"/>
          <p:cNvSpPr txBox="1"/>
          <p:nvPr/>
        </p:nvSpPr>
        <p:spPr>
          <a:xfrm>
            <a:off x="502920" y="363016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Actuals, not assumptions</a:t>
            </a:r>
            <a:endParaRPr lang="en-US" sz="1200" dirty="0"/>
          </a:p>
        </p:txBody>
      </p:sp>
      <p:sp>
        <p:nvSpPr>
          <p:cNvPr id="24" name="Text 18"/>
          <p:cNvSpPr txBox="1"/>
          <p:nvPr/>
        </p:nvSpPr>
        <p:spPr>
          <a:xfrm>
            <a:off x="502920" y="392277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LabTrack records real instrument sessions and locks equipment to bookings, so utilisation is measured, not guessed.</a:t>
            </a:r>
            <a:endParaRPr lang="en-US" sz="950" dirty="0"/>
          </a:p>
        </p:txBody>
      </p:sp>
      <p:sp>
        <p:nvSpPr>
          <p:cNvPr id="25" name="Shape 19"/>
          <p:cNvSpPr/>
          <p:nvPr/>
        </p:nvSpPr>
        <p:spPr>
          <a:xfrm>
            <a:off x="3200400" y="310896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26" name="Image 4" descr="C:\Users\mills\AppData\Local\Temp\claude\C--Users-mills-Documents-Code-CaliraPM\5bfe5553-dcee-4283-8c8f-3ac10305de01\scratchpad\crl\build\assets\icon_api.png"/>
          <p:cNvPicPr>
            <a:picLocks noChangeAspect="1"/>
          </p:cNvPicPr>
          <p:nvPr/>
        </p:nvPicPr>
        <p:blipFill>
          <a:blip r:embed="rId7"/>
          <a:stretch>
            <a:fillRect/>
          </a:stretch>
        </p:blipFill>
        <p:spPr>
          <a:xfrm>
            <a:off x="3337560" y="3246120"/>
            <a:ext cx="329184" cy="329184"/>
          </a:xfrm>
          <a:prstGeom prst="rect">
            <a:avLst/>
          </a:prstGeom>
        </p:spPr>
      </p:pic>
      <p:sp>
        <p:nvSpPr>
          <p:cNvPr id="27" name="Text 20"/>
          <p:cNvSpPr txBox="1"/>
          <p:nvPr/>
        </p:nvSpPr>
        <p:spPr>
          <a:xfrm>
            <a:off x="3337560" y="363016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AI-native, optional</a:t>
            </a:r>
            <a:endParaRPr lang="en-US" sz="1200" dirty="0"/>
          </a:p>
        </p:txBody>
      </p:sp>
      <p:sp>
        <p:nvSpPr>
          <p:cNvPr id="28" name="Text 21"/>
          <p:cNvSpPr txBox="1"/>
          <p:nvPr/>
        </p:nvSpPr>
        <p:spPr>
          <a:xfrm>
            <a:off x="3337560" y="392277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Natural-language querying and anomaly detection over usage data – switchable off at account level if CRL prefers.</a:t>
            </a:r>
            <a:endParaRPr lang="en-US" sz="950" dirty="0"/>
          </a:p>
        </p:txBody>
      </p:sp>
      <p:sp>
        <p:nvSpPr>
          <p:cNvPr id="29" name="Shape 22"/>
          <p:cNvSpPr/>
          <p:nvPr/>
        </p:nvSpPr>
        <p:spPr>
          <a:xfrm>
            <a:off x="6035040" y="3108960"/>
            <a:ext cx="2697480" cy="1645920"/>
          </a:xfrm>
          <a:prstGeom prst="roundRect">
            <a:avLst>
              <a:gd name="adj" fmla="val 4444"/>
            </a:avLst>
          </a:prstGeom>
          <a:solidFill>
            <a:srgbClr val="F4F5F7"/>
          </a:solidFill>
          <a:ln w="12700">
            <a:solidFill>
              <a:srgbClr val="F4F5F7"/>
            </a:solidFill>
            <a:prstDash val="solid"/>
          </a:ln>
        </p:spPr>
        <p:txBody>
          <a:bodyPr/>
          <a:lstStyle/>
          <a:p>
            <a:endParaRPr lang="en-GB"/>
          </a:p>
        </p:txBody>
      </p:sp>
      <p:pic>
        <p:nvPicPr>
          <p:cNvPr id="30" name="Image 5" descr="C:\Users\mills\AppData\Local\Temp\claude\C--Users-mills-Documents-Code-CaliraPM\5bfe5553-dcee-4283-8c8f-3ac10305de01\scratchpad\crl\build\assets\icon_sso.png"/>
          <p:cNvPicPr>
            <a:picLocks noChangeAspect="1"/>
          </p:cNvPicPr>
          <p:nvPr/>
        </p:nvPicPr>
        <p:blipFill>
          <a:blip r:embed="rId8"/>
          <a:stretch>
            <a:fillRect/>
          </a:stretch>
        </p:blipFill>
        <p:spPr>
          <a:xfrm>
            <a:off x="6172200" y="3246120"/>
            <a:ext cx="329184" cy="329184"/>
          </a:xfrm>
          <a:prstGeom prst="rect">
            <a:avLst/>
          </a:prstGeom>
        </p:spPr>
      </p:pic>
      <p:sp>
        <p:nvSpPr>
          <p:cNvPr id="31" name="Text 23"/>
          <p:cNvSpPr txBox="1"/>
          <p:nvPr/>
        </p:nvSpPr>
        <p:spPr>
          <a:xfrm>
            <a:off x="6172200" y="3630168"/>
            <a:ext cx="2423160" cy="274320"/>
          </a:xfrm>
          <a:prstGeom prst="rect">
            <a:avLst/>
          </a:prstGeom>
          <a:noFill/>
          <a:ln/>
        </p:spPr>
        <p:txBody>
          <a:bodyPr wrap="square" lIns="0" tIns="0" rIns="0" bIns="0" rtlCol="0" anchor="t"/>
          <a:lstStyle/>
          <a:p>
            <a:pPr marL="0" indent="0">
              <a:buNone/>
            </a:pPr>
            <a:r>
              <a:rPr lang="en-US" sz="1200" b="1" dirty="0">
                <a:solidFill>
                  <a:srgbClr val="0B190D"/>
                </a:solidFill>
                <a:latin typeface="Arial" pitchFamily="34" charset="0"/>
                <a:ea typeface="Arial" pitchFamily="34" charset="-122"/>
                <a:cs typeface="Arial" pitchFamily="34" charset="-120"/>
              </a:rPr>
              <a:t>A partner, not a ticket queue</a:t>
            </a:r>
            <a:endParaRPr lang="en-US" sz="1200" dirty="0"/>
          </a:p>
        </p:txBody>
      </p:sp>
      <p:sp>
        <p:nvSpPr>
          <p:cNvPr id="32" name="Text 24"/>
          <p:cNvSpPr txBox="1"/>
          <p:nvPr/>
        </p:nvSpPr>
        <p:spPr>
          <a:xfrm>
            <a:off x="6172200" y="3922776"/>
            <a:ext cx="2423160" cy="758952"/>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Named Solutions Manager through go-live, named Customer Success Manager after it, product leadership in the room.</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VALUE DRIVERS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The value case: utilisation, time and capital</a:t>
            </a:r>
            <a:endParaRPr lang="en-US" sz="2200" dirty="0"/>
          </a:p>
        </p:txBody>
      </p:sp>
      <p:sp>
        <p:nvSpPr>
          <p:cNvPr id="5" name="Shape 3"/>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6" name="Text 4"/>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7" name="Text 5"/>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10</a:t>
            </a:r>
            <a:endParaRPr lang="en-US" sz="700" dirty="0"/>
          </a:p>
        </p:txBody>
      </p:sp>
      <p:sp>
        <p:nvSpPr>
          <p:cNvPr id="8" name="Shape 6"/>
          <p:cNvSpPr/>
          <p:nvPr/>
        </p:nvSpPr>
        <p:spPr>
          <a:xfrm>
            <a:off x="365760" y="1234440"/>
            <a:ext cx="2743200" cy="1417320"/>
          </a:xfrm>
          <a:prstGeom prst="roundRect">
            <a:avLst>
              <a:gd name="adj" fmla="val 5161"/>
            </a:avLst>
          </a:prstGeom>
          <a:solidFill>
            <a:srgbClr val="0B190D"/>
          </a:solidFill>
          <a:ln w="12700">
            <a:solidFill>
              <a:srgbClr val="0B190D"/>
            </a:solidFill>
            <a:prstDash val="solid"/>
          </a:ln>
        </p:spPr>
        <p:txBody>
          <a:bodyPr/>
          <a:lstStyle/>
          <a:p>
            <a:endParaRPr lang="en-GB"/>
          </a:p>
        </p:txBody>
      </p:sp>
      <p:sp>
        <p:nvSpPr>
          <p:cNvPr id="9" name="Text 7"/>
          <p:cNvSpPr txBox="1"/>
          <p:nvPr/>
        </p:nvSpPr>
        <p:spPr>
          <a:xfrm>
            <a:off x="365760" y="1280160"/>
            <a:ext cx="2743200" cy="731520"/>
          </a:xfrm>
          <a:prstGeom prst="rect">
            <a:avLst/>
          </a:prstGeom>
          <a:noFill/>
          <a:ln/>
        </p:spPr>
        <p:txBody>
          <a:bodyPr wrap="square" lIns="0" tIns="0" rIns="0" bIns="0" rtlCol="0" anchor="ctr"/>
          <a:lstStyle/>
          <a:p>
            <a:pPr marL="0" indent="0" algn="ctr">
              <a:buNone/>
            </a:pPr>
            <a:r>
              <a:rPr lang="en-US" sz="4000" b="1" dirty="0">
                <a:solidFill>
                  <a:srgbClr val="E4F038"/>
                </a:solidFill>
                <a:latin typeface="Arial" pitchFamily="34" charset="0"/>
                <a:ea typeface="Arial" pitchFamily="34" charset="-122"/>
                <a:cs typeface="Arial" pitchFamily="34" charset="-120"/>
              </a:rPr>
              <a:t>35%</a:t>
            </a:r>
            <a:endParaRPr lang="en-US" sz="4000" dirty="0"/>
          </a:p>
        </p:txBody>
      </p:sp>
      <p:sp>
        <p:nvSpPr>
          <p:cNvPr id="10" name="Text 8"/>
          <p:cNvSpPr txBox="1"/>
          <p:nvPr/>
        </p:nvSpPr>
        <p:spPr>
          <a:xfrm>
            <a:off x="502920" y="2011680"/>
            <a:ext cx="2468880" cy="594360"/>
          </a:xfrm>
          <a:prstGeom prst="rect">
            <a:avLst/>
          </a:prstGeom>
          <a:noFill/>
          <a:ln/>
        </p:spPr>
        <p:txBody>
          <a:bodyPr wrap="square" lIns="0" tIns="0" rIns="0" bIns="0" rtlCol="0" anchor="t"/>
          <a:lstStyle/>
          <a:p>
            <a:pPr marL="0" indent="0" algn="ctr">
              <a:buNone/>
            </a:pPr>
            <a:r>
              <a:rPr lang="en-US" sz="850" dirty="0">
                <a:solidFill>
                  <a:srgbClr val="FFFFFF"/>
                </a:solidFill>
                <a:latin typeface="Arial" pitchFamily="34" charset="0"/>
                <a:ea typeface="Arial" pitchFamily="34" charset="-122"/>
                <a:cs typeface="Arial" pitchFamily="34" charset="-120"/>
              </a:rPr>
              <a:t>average utilisation of R&amp;D lab equipment – mostly lost to short, unmanaged stoppages (McKinsey, 2021)</a:t>
            </a:r>
            <a:endParaRPr lang="en-US" sz="850" dirty="0"/>
          </a:p>
        </p:txBody>
      </p:sp>
      <p:pic>
        <p:nvPicPr>
          <p:cNvPr id="11" name="Image 0" descr="C:\Users\mills\AppData\Local\Temp\claude\C--Users-mills-Documents-Code-CaliraPM\5bfe5553-dcee-4283-8c8f-3ac10305de01\scratchpad\crl\build\assets\chart_utilisation.png"/>
          <p:cNvPicPr>
            <a:picLocks noChangeAspect="1"/>
          </p:cNvPicPr>
          <p:nvPr/>
        </p:nvPicPr>
        <p:blipFill>
          <a:blip r:embed="rId3"/>
          <a:srcRect/>
          <a:stretch/>
        </p:blipFill>
        <p:spPr>
          <a:xfrm>
            <a:off x="365760" y="2788920"/>
            <a:ext cx="2743200" cy="1938528"/>
          </a:xfrm>
          <a:prstGeom prst="rect">
            <a:avLst/>
          </a:prstGeom>
        </p:spPr>
      </p:pic>
      <p:sp>
        <p:nvSpPr>
          <p:cNvPr id="12" name="Shape 9"/>
          <p:cNvSpPr/>
          <p:nvPr/>
        </p:nvSpPr>
        <p:spPr>
          <a:xfrm>
            <a:off x="3383280" y="1307592"/>
            <a:ext cx="73152" cy="502920"/>
          </a:xfrm>
          <a:prstGeom prst="rect">
            <a:avLst/>
          </a:prstGeom>
          <a:solidFill>
            <a:srgbClr val="E4F038"/>
          </a:solidFill>
          <a:ln w="12700">
            <a:solidFill>
              <a:srgbClr val="E4F038"/>
            </a:solidFill>
            <a:prstDash val="solid"/>
          </a:ln>
        </p:spPr>
        <p:txBody>
          <a:bodyPr/>
          <a:lstStyle/>
          <a:p>
            <a:endParaRPr lang="en-GB"/>
          </a:p>
        </p:txBody>
      </p:sp>
      <p:sp>
        <p:nvSpPr>
          <p:cNvPr id="13" name="Text 10"/>
          <p:cNvSpPr txBox="1"/>
          <p:nvPr/>
        </p:nvSpPr>
        <p:spPr>
          <a:xfrm>
            <a:off x="3611880" y="1234440"/>
            <a:ext cx="516636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Fewer conflicts, less coordination</a:t>
            </a:r>
            <a:endParaRPr lang="en-US" sz="1100" dirty="0"/>
          </a:p>
        </p:txBody>
      </p:sp>
      <p:sp>
        <p:nvSpPr>
          <p:cNvPr id="14" name="Text 11"/>
          <p:cNvSpPr txBox="1"/>
          <p:nvPr/>
        </p:nvSpPr>
        <p:spPr>
          <a:xfrm>
            <a:off x="3611880" y="1490472"/>
            <a:ext cx="5166360" cy="4114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One live calendar per resource with rules and approvals removes double-booking and the negotiation around it.</a:t>
            </a:r>
            <a:endParaRPr lang="en-US" sz="950" dirty="0"/>
          </a:p>
        </p:txBody>
      </p:sp>
      <p:sp>
        <p:nvSpPr>
          <p:cNvPr id="15" name="Shape 12"/>
          <p:cNvSpPr/>
          <p:nvPr/>
        </p:nvSpPr>
        <p:spPr>
          <a:xfrm>
            <a:off x="3383280" y="2020824"/>
            <a:ext cx="73152" cy="502920"/>
          </a:xfrm>
          <a:prstGeom prst="rect">
            <a:avLst/>
          </a:prstGeom>
          <a:solidFill>
            <a:srgbClr val="E4F038"/>
          </a:solidFill>
          <a:ln w="12700">
            <a:solidFill>
              <a:srgbClr val="E4F038"/>
            </a:solidFill>
            <a:prstDash val="solid"/>
          </a:ln>
        </p:spPr>
        <p:txBody>
          <a:bodyPr/>
          <a:lstStyle/>
          <a:p>
            <a:endParaRPr lang="en-GB"/>
          </a:p>
        </p:txBody>
      </p:sp>
      <p:sp>
        <p:nvSpPr>
          <p:cNvPr id="16" name="Text 13"/>
          <p:cNvSpPr txBox="1"/>
          <p:nvPr/>
        </p:nvSpPr>
        <p:spPr>
          <a:xfrm>
            <a:off x="3611880" y="1947672"/>
            <a:ext cx="516636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Higher utilisation, deferred capital</a:t>
            </a:r>
            <a:endParaRPr lang="en-US" sz="1100" dirty="0"/>
          </a:p>
        </p:txBody>
      </p:sp>
      <p:sp>
        <p:nvSpPr>
          <p:cNvPr id="17" name="Text 14"/>
          <p:cNvSpPr txBox="1"/>
          <p:nvPr/>
        </p:nvSpPr>
        <p:spPr>
          <a:xfrm>
            <a:off x="3611880" y="2203704"/>
            <a:ext cx="5166360" cy="4114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Visibility plus measured actuals raise use of existing instruments before new ones are bought.</a:t>
            </a:r>
            <a:endParaRPr lang="en-US" sz="950" dirty="0"/>
          </a:p>
        </p:txBody>
      </p:sp>
      <p:sp>
        <p:nvSpPr>
          <p:cNvPr id="18" name="Shape 15"/>
          <p:cNvSpPr/>
          <p:nvPr/>
        </p:nvSpPr>
        <p:spPr>
          <a:xfrm>
            <a:off x="3383280" y="2734056"/>
            <a:ext cx="73152" cy="502920"/>
          </a:xfrm>
          <a:prstGeom prst="rect">
            <a:avLst/>
          </a:prstGeom>
          <a:solidFill>
            <a:srgbClr val="E4F038"/>
          </a:solidFill>
          <a:ln w="12700">
            <a:solidFill>
              <a:srgbClr val="E4F038"/>
            </a:solidFill>
            <a:prstDash val="solid"/>
          </a:ln>
        </p:spPr>
        <p:txBody>
          <a:bodyPr/>
          <a:lstStyle/>
          <a:p>
            <a:endParaRPr lang="en-GB"/>
          </a:p>
        </p:txBody>
      </p:sp>
      <p:sp>
        <p:nvSpPr>
          <p:cNvPr id="19" name="Text 16"/>
          <p:cNvSpPr txBox="1"/>
          <p:nvPr/>
        </p:nvSpPr>
        <p:spPr>
          <a:xfrm>
            <a:off x="3611880" y="2660904"/>
            <a:ext cx="516636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Enterprise capacity you can plan</a:t>
            </a:r>
            <a:endParaRPr lang="en-US" sz="1100" dirty="0"/>
          </a:p>
        </p:txBody>
      </p:sp>
      <p:sp>
        <p:nvSpPr>
          <p:cNvPr id="20" name="Text 17"/>
          <p:cNvSpPr txBox="1"/>
          <p:nvPr/>
        </p:nvSpPr>
        <p:spPr>
          <a:xfrm>
            <a:off x="3611880" y="2916936"/>
            <a:ext cx="5166360" cy="4114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Utilisation and capacity rolled up across labs, departments and sites – shared, moved or retired on evidence.</a:t>
            </a:r>
            <a:endParaRPr lang="en-US" sz="950" dirty="0"/>
          </a:p>
        </p:txBody>
      </p:sp>
      <p:sp>
        <p:nvSpPr>
          <p:cNvPr id="21" name="Shape 18"/>
          <p:cNvSpPr/>
          <p:nvPr/>
        </p:nvSpPr>
        <p:spPr>
          <a:xfrm>
            <a:off x="3383280" y="3447288"/>
            <a:ext cx="73152" cy="502920"/>
          </a:xfrm>
          <a:prstGeom prst="rect">
            <a:avLst/>
          </a:prstGeom>
          <a:solidFill>
            <a:srgbClr val="E4F038"/>
          </a:solidFill>
          <a:ln w="12700">
            <a:solidFill>
              <a:srgbClr val="E4F038"/>
            </a:solidFill>
            <a:prstDash val="solid"/>
          </a:ln>
        </p:spPr>
        <p:txBody>
          <a:bodyPr/>
          <a:lstStyle/>
          <a:p>
            <a:endParaRPr lang="en-GB"/>
          </a:p>
        </p:txBody>
      </p:sp>
      <p:sp>
        <p:nvSpPr>
          <p:cNvPr id="22" name="Text 19"/>
          <p:cNvSpPr txBox="1"/>
          <p:nvPr/>
        </p:nvSpPr>
        <p:spPr>
          <a:xfrm>
            <a:off x="3611880" y="3374136"/>
            <a:ext cx="516636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A single source of truth</a:t>
            </a:r>
            <a:endParaRPr lang="en-US" sz="1100" dirty="0"/>
          </a:p>
        </p:txBody>
      </p:sp>
      <p:sp>
        <p:nvSpPr>
          <p:cNvPr id="23" name="Text 20"/>
          <p:cNvSpPr txBox="1"/>
          <p:nvPr/>
        </p:nvSpPr>
        <p:spPr>
          <a:xfrm>
            <a:off x="3611880" y="3630168"/>
            <a:ext cx="5166360" cy="4114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Bookings, actual usage, maintenance and point-of-use records in one auditable place, exportable and API-accessible.</a:t>
            </a:r>
            <a:endParaRPr lang="en-US" sz="950" dirty="0"/>
          </a:p>
        </p:txBody>
      </p:sp>
      <p:sp>
        <p:nvSpPr>
          <p:cNvPr id="24" name="Shape 21"/>
          <p:cNvSpPr/>
          <p:nvPr/>
        </p:nvSpPr>
        <p:spPr>
          <a:xfrm>
            <a:off x="3383280" y="4160520"/>
            <a:ext cx="73152" cy="502920"/>
          </a:xfrm>
          <a:prstGeom prst="rect">
            <a:avLst/>
          </a:prstGeom>
          <a:solidFill>
            <a:srgbClr val="E4F038"/>
          </a:solidFill>
          <a:ln w="12700">
            <a:solidFill>
              <a:srgbClr val="E4F038"/>
            </a:solidFill>
            <a:prstDash val="solid"/>
          </a:ln>
        </p:spPr>
        <p:txBody>
          <a:bodyPr/>
          <a:lstStyle/>
          <a:p>
            <a:endParaRPr lang="en-GB"/>
          </a:p>
        </p:txBody>
      </p:sp>
      <p:sp>
        <p:nvSpPr>
          <p:cNvPr id="25" name="Text 22"/>
          <p:cNvSpPr txBox="1"/>
          <p:nvPr/>
        </p:nvSpPr>
        <p:spPr>
          <a:xfrm>
            <a:off x="3611880" y="4087368"/>
            <a:ext cx="5166360" cy="256032"/>
          </a:xfrm>
          <a:prstGeom prst="rect">
            <a:avLst/>
          </a:prstGeom>
          <a:noFill/>
          <a:ln/>
        </p:spPr>
        <p:txBody>
          <a:bodyPr wrap="square" lIns="0" tIns="0" rIns="0" bIns="0" rtlCol="0" anchor="ctr"/>
          <a:lstStyle/>
          <a:p>
            <a:pPr marL="0" indent="0">
              <a:buNone/>
            </a:pPr>
            <a:r>
              <a:rPr lang="en-US" sz="1100" b="1" dirty="0">
                <a:solidFill>
                  <a:srgbClr val="0B190D"/>
                </a:solidFill>
                <a:latin typeface="Arial" pitchFamily="34" charset="0"/>
                <a:ea typeface="Arial" pitchFamily="34" charset="-122"/>
                <a:cs typeface="Arial" pitchFamily="34" charset="-120"/>
              </a:rPr>
              <a:t>Lower total cost of ownership</a:t>
            </a:r>
            <a:endParaRPr lang="en-US" sz="1100" dirty="0"/>
          </a:p>
        </p:txBody>
      </p:sp>
      <p:sp>
        <p:nvSpPr>
          <p:cNvPr id="26" name="Text 23"/>
          <p:cNvSpPr txBox="1"/>
          <p:nvPr/>
        </p:nvSpPr>
        <p:spPr>
          <a:xfrm>
            <a:off x="3611880" y="4343400"/>
            <a:ext cx="5166360" cy="411480"/>
          </a:xfrm>
          <a:prstGeom prst="rect">
            <a:avLst/>
          </a:prstGeom>
          <a:noFill/>
          <a:ln/>
        </p:spPr>
        <p:txBody>
          <a:bodyPr wrap="square" lIns="0" tIns="0" rIns="0" bIns="0" rtlCol="0" anchor="t"/>
          <a:lstStyle/>
          <a:p>
            <a:pPr marL="0" indent="0">
              <a:buNone/>
            </a:pPr>
            <a:r>
              <a:rPr lang="en-US" sz="950" dirty="0">
                <a:solidFill>
                  <a:srgbClr val="535A6E"/>
                </a:solidFill>
                <a:latin typeface="Arial" pitchFamily="34" charset="0"/>
                <a:ea typeface="Arial" pitchFamily="34" charset="-122"/>
                <a:cs typeface="Arial" pitchFamily="34" charset="-120"/>
              </a:rPr>
              <a:t>Configuration not customisation, no implementation fee, and best-of-breed integration rather than replacing Provantis.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IMPLEMENTATION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Lead site live in 8 weeks, then rollout waves</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Three concurrent workstreams under our four-phase enterprise onboarding methodology</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11</a:t>
            </a:r>
            <a:endParaRPr lang="en-US" sz="700" dirty="0"/>
          </a:p>
        </p:txBody>
      </p:sp>
      <p:sp>
        <p:nvSpPr>
          <p:cNvPr id="9" name="Text 7"/>
          <p:cNvSpPr txBox="1"/>
          <p:nvPr/>
        </p:nvSpPr>
        <p:spPr>
          <a:xfrm>
            <a:off x="2011680"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1</a:t>
            </a:r>
            <a:endParaRPr lang="en-US" sz="800" dirty="0"/>
          </a:p>
        </p:txBody>
      </p:sp>
      <p:sp>
        <p:nvSpPr>
          <p:cNvPr id="10" name="Text 8"/>
          <p:cNvSpPr txBox="1"/>
          <p:nvPr/>
        </p:nvSpPr>
        <p:spPr>
          <a:xfrm>
            <a:off x="2761488"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2</a:t>
            </a:r>
            <a:endParaRPr lang="en-US" sz="800" dirty="0"/>
          </a:p>
        </p:txBody>
      </p:sp>
      <p:sp>
        <p:nvSpPr>
          <p:cNvPr id="11" name="Text 9"/>
          <p:cNvSpPr txBox="1"/>
          <p:nvPr/>
        </p:nvSpPr>
        <p:spPr>
          <a:xfrm>
            <a:off x="3511296"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3</a:t>
            </a:r>
            <a:endParaRPr lang="en-US" sz="800" dirty="0"/>
          </a:p>
        </p:txBody>
      </p:sp>
      <p:sp>
        <p:nvSpPr>
          <p:cNvPr id="12" name="Text 10"/>
          <p:cNvSpPr txBox="1"/>
          <p:nvPr/>
        </p:nvSpPr>
        <p:spPr>
          <a:xfrm>
            <a:off x="4261104"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4</a:t>
            </a:r>
            <a:endParaRPr lang="en-US" sz="800" dirty="0"/>
          </a:p>
        </p:txBody>
      </p:sp>
      <p:sp>
        <p:nvSpPr>
          <p:cNvPr id="13" name="Text 11"/>
          <p:cNvSpPr txBox="1"/>
          <p:nvPr/>
        </p:nvSpPr>
        <p:spPr>
          <a:xfrm>
            <a:off x="5010912"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5</a:t>
            </a:r>
            <a:endParaRPr lang="en-US" sz="800" dirty="0"/>
          </a:p>
        </p:txBody>
      </p:sp>
      <p:sp>
        <p:nvSpPr>
          <p:cNvPr id="14" name="Text 12"/>
          <p:cNvSpPr txBox="1"/>
          <p:nvPr/>
        </p:nvSpPr>
        <p:spPr>
          <a:xfrm>
            <a:off x="5760720"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6</a:t>
            </a:r>
            <a:endParaRPr lang="en-US" sz="800" dirty="0"/>
          </a:p>
        </p:txBody>
      </p:sp>
      <p:sp>
        <p:nvSpPr>
          <p:cNvPr id="15" name="Text 13"/>
          <p:cNvSpPr txBox="1"/>
          <p:nvPr/>
        </p:nvSpPr>
        <p:spPr>
          <a:xfrm>
            <a:off x="6510528"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7</a:t>
            </a:r>
            <a:endParaRPr lang="en-US" sz="800" dirty="0"/>
          </a:p>
        </p:txBody>
      </p:sp>
      <p:sp>
        <p:nvSpPr>
          <p:cNvPr id="16" name="Text 14"/>
          <p:cNvSpPr txBox="1"/>
          <p:nvPr/>
        </p:nvSpPr>
        <p:spPr>
          <a:xfrm>
            <a:off x="7260336" y="1298448"/>
            <a:ext cx="749808"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Wk 8</a:t>
            </a:r>
            <a:endParaRPr lang="en-US" sz="800" dirty="0"/>
          </a:p>
        </p:txBody>
      </p:sp>
      <p:sp>
        <p:nvSpPr>
          <p:cNvPr id="17" name="Text 15"/>
          <p:cNvSpPr txBox="1"/>
          <p:nvPr/>
        </p:nvSpPr>
        <p:spPr>
          <a:xfrm>
            <a:off x="8010144" y="1298448"/>
            <a:ext cx="768096" cy="182880"/>
          </a:xfrm>
          <a:prstGeom prst="rect">
            <a:avLst/>
          </a:prstGeom>
          <a:noFill/>
          <a:ln/>
        </p:spPr>
        <p:txBody>
          <a:bodyPr wrap="square" lIns="0" tIns="0" rIns="0" bIns="0" rtlCol="0" anchor="ctr"/>
          <a:lstStyle/>
          <a:p>
            <a:pPr marL="0" indent="0" algn="ctr">
              <a:buNone/>
            </a:pPr>
            <a:r>
              <a:rPr lang="en-US" sz="800" dirty="0">
                <a:solidFill>
                  <a:srgbClr val="535A6E"/>
                </a:solidFill>
                <a:latin typeface="Arial" pitchFamily="34" charset="0"/>
                <a:ea typeface="Arial" pitchFamily="34" charset="-122"/>
                <a:cs typeface="Arial" pitchFamily="34" charset="-120"/>
              </a:rPr>
              <a:t>Post go-live</a:t>
            </a:r>
            <a:endParaRPr lang="en-US" sz="800" dirty="0"/>
          </a:p>
        </p:txBody>
      </p:sp>
      <p:sp>
        <p:nvSpPr>
          <p:cNvPr id="18" name="Text 16"/>
          <p:cNvSpPr txBox="1"/>
          <p:nvPr/>
        </p:nvSpPr>
        <p:spPr>
          <a:xfrm>
            <a:off x="365760" y="1536192"/>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A · Phase 1 Kick-off</a:t>
            </a:r>
            <a:endParaRPr lang="en-US" sz="850" dirty="0"/>
          </a:p>
        </p:txBody>
      </p:sp>
      <p:sp>
        <p:nvSpPr>
          <p:cNvPr id="19" name="Shape 17"/>
          <p:cNvSpPr/>
          <p:nvPr/>
        </p:nvSpPr>
        <p:spPr>
          <a:xfrm>
            <a:off x="2011680" y="1536192"/>
            <a:ext cx="1463040" cy="347472"/>
          </a:xfrm>
          <a:prstGeom prst="roundRect">
            <a:avLst>
              <a:gd name="adj" fmla="val 15789"/>
            </a:avLst>
          </a:prstGeom>
          <a:solidFill>
            <a:srgbClr val="0B190D"/>
          </a:solidFill>
          <a:ln w="12700">
            <a:solidFill>
              <a:srgbClr val="0B190D"/>
            </a:solidFill>
            <a:prstDash val="solid"/>
          </a:ln>
        </p:spPr>
        <p:txBody>
          <a:bodyPr/>
          <a:lstStyle/>
          <a:p>
            <a:endParaRPr lang="en-GB"/>
          </a:p>
        </p:txBody>
      </p:sp>
      <p:sp>
        <p:nvSpPr>
          <p:cNvPr id="20" name="Text 18"/>
          <p:cNvSpPr txBox="1"/>
          <p:nvPr/>
        </p:nvSpPr>
        <p:spPr>
          <a:xfrm>
            <a:off x="2084832" y="1536192"/>
            <a:ext cx="1316736" cy="347472"/>
          </a:xfrm>
          <a:prstGeom prst="rect">
            <a:avLst/>
          </a:prstGeom>
          <a:noFill/>
          <a:ln/>
        </p:spPr>
        <p:txBody>
          <a:bodyPr wrap="square" lIns="0" tIns="0" rIns="0" bIns="0" rtlCol="0" anchor="ctr"/>
          <a:lstStyle/>
          <a:p>
            <a:pPr marL="0" indent="0">
              <a:buNone/>
            </a:pPr>
            <a:r>
              <a:rPr lang="en-US" sz="750" dirty="0">
                <a:solidFill>
                  <a:srgbClr val="FFFFFF"/>
                </a:solidFill>
                <a:latin typeface="Arial" pitchFamily="34" charset="0"/>
                <a:ea typeface="Arial" pitchFamily="34" charset="-122"/>
                <a:cs typeface="Arial" pitchFamily="34" charset="-120"/>
              </a:rPr>
              <a:t>Goals, workflows, integrations, equipment data, go-live date</a:t>
            </a:r>
            <a:endParaRPr lang="en-US" sz="750" dirty="0"/>
          </a:p>
        </p:txBody>
      </p:sp>
      <p:sp>
        <p:nvSpPr>
          <p:cNvPr id="21" name="Text 19"/>
          <p:cNvSpPr txBox="1"/>
          <p:nvPr/>
        </p:nvSpPr>
        <p:spPr>
          <a:xfrm>
            <a:off x="365760" y="1965960"/>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A · Phase 2 Requirements &amp; configuration</a:t>
            </a:r>
            <a:endParaRPr lang="en-US" sz="850" dirty="0"/>
          </a:p>
        </p:txBody>
      </p:sp>
      <p:sp>
        <p:nvSpPr>
          <p:cNvPr id="22" name="Shape 20"/>
          <p:cNvSpPr/>
          <p:nvPr/>
        </p:nvSpPr>
        <p:spPr>
          <a:xfrm>
            <a:off x="3511296" y="1965960"/>
            <a:ext cx="1463040" cy="347472"/>
          </a:xfrm>
          <a:prstGeom prst="roundRect">
            <a:avLst>
              <a:gd name="adj" fmla="val 15789"/>
            </a:avLst>
          </a:prstGeom>
          <a:solidFill>
            <a:srgbClr val="0B190D"/>
          </a:solidFill>
          <a:ln w="12700">
            <a:solidFill>
              <a:srgbClr val="0B190D"/>
            </a:solidFill>
            <a:prstDash val="solid"/>
          </a:ln>
        </p:spPr>
        <p:txBody>
          <a:bodyPr/>
          <a:lstStyle/>
          <a:p>
            <a:endParaRPr lang="en-GB"/>
          </a:p>
        </p:txBody>
      </p:sp>
      <p:sp>
        <p:nvSpPr>
          <p:cNvPr id="23" name="Text 21"/>
          <p:cNvSpPr txBox="1"/>
          <p:nvPr/>
        </p:nvSpPr>
        <p:spPr>
          <a:xfrm>
            <a:off x="3584448" y="1965960"/>
            <a:ext cx="1316736" cy="347472"/>
          </a:xfrm>
          <a:prstGeom prst="rect">
            <a:avLst/>
          </a:prstGeom>
          <a:noFill/>
          <a:ln/>
        </p:spPr>
        <p:txBody>
          <a:bodyPr wrap="square" lIns="0" tIns="0" rIns="0" bIns="0" rtlCol="0" anchor="ctr"/>
          <a:lstStyle/>
          <a:p>
            <a:pPr marL="0" indent="0">
              <a:buNone/>
            </a:pPr>
            <a:r>
              <a:rPr lang="en-US" sz="750" dirty="0">
                <a:solidFill>
                  <a:srgbClr val="FFFFFF"/>
                </a:solidFill>
                <a:latin typeface="Arial" pitchFamily="34" charset="0"/>
                <a:ea typeface="Arial" pitchFamily="34" charset="-122"/>
                <a:cs typeface="Arial" pitchFamily="34" charset="-120"/>
              </a:rPr>
              <a:t>On-site workshop · admin training · equipment · SSO + Outlook</a:t>
            </a:r>
            <a:endParaRPr lang="en-US" sz="750" dirty="0"/>
          </a:p>
        </p:txBody>
      </p:sp>
      <p:sp>
        <p:nvSpPr>
          <p:cNvPr id="24" name="Text 22"/>
          <p:cNvSpPr txBox="1"/>
          <p:nvPr/>
        </p:nvSpPr>
        <p:spPr>
          <a:xfrm>
            <a:off x="365760" y="2395728"/>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A · Phase 3 Implementation &amp; adoption</a:t>
            </a:r>
            <a:endParaRPr lang="en-US" sz="850" dirty="0"/>
          </a:p>
        </p:txBody>
      </p:sp>
      <p:sp>
        <p:nvSpPr>
          <p:cNvPr id="25" name="Shape 23"/>
          <p:cNvSpPr/>
          <p:nvPr/>
        </p:nvSpPr>
        <p:spPr>
          <a:xfrm>
            <a:off x="5010912" y="2395728"/>
            <a:ext cx="2962656" cy="347472"/>
          </a:xfrm>
          <a:prstGeom prst="roundRect">
            <a:avLst>
              <a:gd name="adj" fmla="val 15789"/>
            </a:avLst>
          </a:prstGeom>
          <a:solidFill>
            <a:srgbClr val="0B190D"/>
          </a:solidFill>
          <a:ln w="12700">
            <a:solidFill>
              <a:srgbClr val="0B190D"/>
            </a:solidFill>
            <a:prstDash val="solid"/>
          </a:ln>
        </p:spPr>
        <p:txBody>
          <a:bodyPr/>
          <a:lstStyle/>
          <a:p>
            <a:endParaRPr lang="en-GB"/>
          </a:p>
        </p:txBody>
      </p:sp>
      <p:sp>
        <p:nvSpPr>
          <p:cNvPr id="26" name="Text 24"/>
          <p:cNvSpPr txBox="1"/>
          <p:nvPr/>
        </p:nvSpPr>
        <p:spPr>
          <a:xfrm>
            <a:off x="5084064" y="2395728"/>
            <a:ext cx="2816352" cy="347472"/>
          </a:xfrm>
          <a:prstGeom prst="rect">
            <a:avLst/>
          </a:prstGeom>
          <a:noFill/>
          <a:ln/>
        </p:spPr>
        <p:txBody>
          <a:bodyPr wrap="square" lIns="0" tIns="0" rIns="0" bIns="0" rtlCol="0" anchor="ctr"/>
          <a:lstStyle/>
          <a:p>
            <a:pPr marL="0" indent="0">
              <a:buNone/>
            </a:pPr>
            <a:r>
              <a:rPr lang="en-US" sz="750" dirty="0">
                <a:solidFill>
                  <a:srgbClr val="FFFFFF"/>
                </a:solidFill>
                <a:latin typeface="Arial" pitchFamily="34" charset="0"/>
                <a:ea typeface="Arial" pitchFamily="34" charset="-122"/>
                <a:cs typeface="Arial" pitchFamily="34" charset="-120"/>
              </a:rPr>
              <a:t>3 end-user workshops · UAT (10 days) · adoption dashboard · go-live readiness approval</a:t>
            </a:r>
            <a:endParaRPr lang="en-US" sz="750" dirty="0"/>
          </a:p>
        </p:txBody>
      </p:sp>
      <p:sp>
        <p:nvSpPr>
          <p:cNvPr id="27" name="Text 25"/>
          <p:cNvSpPr txBox="1"/>
          <p:nvPr/>
        </p:nvSpPr>
        <p:spPr>
          <a:xfrm>
            <a:off x="365760" y="2825496"/>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A · Phase 4 Hypercare &amp; optimisation</a:t>
            </a:r>
            <a:endParaRPr lang="en-US" sz="850" dirty="0"/>
          </a:p>
        </p:txBody>
      </p:sp>
      <p:sp>
        <p:nvSpPr>
          <p:cNvPr id="28" name="Shape 26"/>
          <p:cNvSpPr/>
          <p:nvPr/>
        </p:nvSpPr>
        <p:spPr>
          <a:xfrm>
            <a:off x="8010144" y="2825496"/>
            <a:ext cx="731520" cy="347472"/>
          </a:xfrm>
          <a:prstGeom prst="roundRect">
            <a:avLst>
              <a:gd name="adj" fmla="val 15789"/>
            </a:avLst>
          </a:prstGeom>
          <a:solidFill>
            <a:srgbClr val="E4F038"/>
          </a:solidFill>
          <a:ln w="12700">
            <a:solidFill>
              <a:srgbClr val="E4F038"/>
            </a:solidFill>
            <a:prstDash val="solid"/>
          </a:ln>
        </p:spPr>
        <p:txBody>
          <a:bodyPr/>
          <a:lstStyle/>
          <a:p>
            <a:endParaRPr lang="en-GB"/>
          </a:p>
        </p:txBody>
      </p:sp>
      <p:sp>
        <p:nvSpPr>
          <p:cNvPr id="29" name="Text 27"/>
          <p:cNvSpPr txBox="1"/>
          <p:nvPr/>
        </p:nvSpPr>
        <p:spPr>
          <a:xfrm>
            <a:off x="8083296" y="2825496"/>
            <a:ext cx="585216" cy="347472"/>
          </a:xfrm>
          <a:prstGeom prst="rect">
            <a:avLst/>
          </a:prstGeom>
          <a:noFill/>
          <a:ln/>
        </p:spPr>
        <p:txBody>
          <a:bodyPr wrap="square" lIns="0" tIns="0" rIns="0" bIns="0" rtlCol="0" anchor="ctr"/>
          <a:lstStyle/>
          <a:p>
            <a:pPr marL="0" indent="0">
              <a:buNone/>
            </a:pPr>
            <a:r>
              <a:rPr lang="en-US" sz="750" dirty="0">
                <a:solidFill>
                  <a:srgbClr val="0B190D"/>
                </a:solidFill>
                <a:latin typeface="Arial" pitchFamily="34" charset="0"/>
                <a:ea typeface="Arial" pitchFamily="34" charset="-122"/>
                <a:cs typeface="Arial" pitchFamily="34" charset="-120"/>
              </a:rPr>
              <a:t>CSM-led · value report · roadmaps</a:t>
            </a:r>
            <a:endParaRPr lang="en-US" sz="750" dirty="0"/>
          </a:p>
        </p:txBody>
      </p:sp>
      <p:sp>
        <p:nvSpPr>
          <p:cNvPr id="30" name="Text 28"/>
          <p:cNvSpPr txBox="1"/>
          <p:nvPr/>
        </p:nvSpPr>
        <p:spPr>
          <a:xfrm>
            <a:off x="365760" y="3255264"/>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B · Standard integrations</a:t>
            </a:r>
            <a:endParaRPr lang="en-US" sz="850" dirty="0"/>
          </a:p>
        </p:txBody>
      </p:sp>
      <p:sp>
        <p:nvSpPr>
          <p:cNvPr id="31" name="Shape 29"/>
          <p:cNvSpPr/>
          <p:nvPr/>
        </p:nvSpPr>
        <p:spPr>
          <a:xfrm>
            <a:off x="3511296" y="3255264"/>
            <a:ext cx="1463040" cy="347472"/>
          </a:xfrm>
          <a:prstGeom prst="roundRect">
            <a:avLst>
              <a:gd name="adj" fmla="val 15789"/>
            </a:avLst>
          </a:prstGeom>
          <a:solidFill>
            <a:srgbClr val="DDD4CD"/>
          </a:solidFill>
          <a:ln w="12700">
            <a:solidFill>
              <a:srgbClr val="DDD4CD"/>
            </a:solidFill>
            <a:prstDash val="solid"/>
          </a:ln>
        </p:spPr>
        <p:txBody>
          <a:bodyPr/>
          <a:lstStyle/>
          <a:p>
            <a:endParaRPr lang="en-GB"/>
          </a:p>
        </p:txBody>
      </p:sp>
      <p:sp>
        <p:nvSpPr>
          <p:cNvPr id="32" name="Text 30"/>
          <p:cNvSpPr txBox="1"/>
          <p:nvPr/>
        </p:nvSpPr>
        <p:spPr>
          <a:xfrm>
            <a:off x="3584448" y="3255264"/>
            <a:ext cx="1316736" cy="347472"/>
          </a:xfrm>
          <a:prstGeom prst="rect">
            <a:avLst/>
          </a:prstGeom>
          <a:noFill/>
          <a:ln/>
        </p:spPr>
        <p:txBody>
          <a:bodyPr wrap="square" lIns="0" tIns="0" rIns="0" bIns="0" rtlCol="0" anchor="ctr"/>
          <a:lstStyle/>
          <a:p>
            <a:pPr marL="0" indent="0">
              <a:buNone/>
            </a:pPr>
            <a:r>
              <a:rPr lang="en-US" sz="750" dirty="0">
                <a:solidFill>
                  <a:srgbClr val="0B190D"/>
                </a:solidFill>
                <a:latin typeface="Arial" pitchFamily="34" charset="0"/>
                <a:ea typeface="Arial" pitchFamily="34" charset="-122"/>
                <a:cs typeface="Arial" pitchFamily="34" charset="-120"/>
              </a:rPr>
              <a:t>SSO and Outlook / Exchange – configuration only</a:t>
            </a:r>
            <a:endParaRPr lang="en-US" sz="750" dirty="0"/>
          </a:p>
        </p:txBody>
      </p:sp>
      <p:sp>
        <p:nvSpPr>
          <p:cNvPr id="33" name="Text 31"/>
          <p:cNvSpPr txBox="1"/>
          <p:nvPr/>
        </p:nvSpPr>
        <p:spPr>
          <a:xfrm>
            <a:off x="365760" y="3685032"/>
            <a:ext cx="1600200" cy="347472"/>
          </a:xfrm>
          <a:prstGeom prst="rect">
            <a:avLst/>
          </a:prstGeom>
          <a:noFill/>
          <a:ln/>
        </p:spPr>
        <p:txBody>
          <a:bodyPr wrap="square" lIns="0" tIns="0" rIns="0" bIns="0" rtlCol="0" anchor="ctr"/>
          <a:lstStyle/>
          <a:p>
            <a:pPr marL="0" indent="0">
              <a:buNone/>
            </a:pPr>
            <a:r>
              <a:rPr lang="en-US" sz="850" b="1" dirty="0">
                <a:solidFill>
                  <a:srgbClr val="0B190D"/>
                </a:solidFill>
                <a:latin typeface="Arial" pitchFamily="34" charset="0"/>
                <a:ea typeface="Arial" pitchFamily="34" charset="-122"/>
                <a:cs typeface="Arial" pitchFamily="34" charset="-120"/>
              </a:rPr>
              <a:t>C · Technical discovery ×3</a:t>
            </a:r>
            <a:endParaRPr lang="en-US" sz="850" dirty="0"/>
          </a:p>
        </p:txBody>
      </p:sp>
      <p:sp>
        <p:nvSpPr>
          <p:cNvPr id="34" name="Shape 32"/>
          <p:cNvSpPr/>
          <p:nvPr/>
        </p:nvSpPr>
        <p:spPr>
          <a:xfrm>
            <a:off x="2011680" y="3685032"/>
            <a:ext cx="5961888" cy="347472"/>
          </a:xfrm>
          <a:prstGeom prst="roundRect">
            <a:avLst>
              <a:gd name="adj" fmla="val 15789"/>
            </a:avLst>
          </a:prstGeom>
          <a:solidFill>
            <a:srgbClr val="DDD4CD"/>
          </a:solidFill>
          <a:ln w="12700">
            <a:solidFill>
              <a:srgbClr val="DDD4CD"/>
            </a:solidFill>
            <a:prstDash val="solid"/>
          </a:ln>
        </p:spPr>
        <p:txBody>
          <a:bodyPr/>
          <a:lstStyle/>
          <a:p>
            <a:endParaRPr lang="en-GB"/>
          </a:p>
        </p:txBody>
      </p:sp>
      <p:sp>
        <p:nvSpPr>
          <p:cNvPr id="35" name="Text 33"/>
          <p:cNvSpPr txBox="1"/>
          <p:nvPr/>
        </p:nvSpPr>
        <p:spPr>
          <a:xfrm>
            <a:off x="2084832" y="3685032"/>
            <a:ext cx="5815584" cy="347472"/>
          </a:xfrm>
          <a:prstGeom prst="rect">
            <a:avLst/>
          </a:prstGeom>
          <a:noFill/>
          <a:ln/>
        </p:spPr>
        <p:txBody>
          <a:bodyPr wrap="square" lIns="0" tIns="0" rIns="0" bIns="0" rtlCol="0" anchor="ctr"/>
          <a:lstStyle/>
          <a:p>
            <a:pPr marL="0" indent="0">
              <a:buNone/>
            </a:pPr>
            <a:r>
              <a:rPr lang="en-US" sz="750" dirty="0">
                <a:solidFill>
                  <a:srgbClr val="0B190D"/>
                </a:solidFill>
                <a:latin typeface="Arial" pitchFamily="34" charset="0"/>
                <a:ea typeface="Arial" pitchFamily="34" charset="-122"/>
                <a:cs typeface="Arial" pitchFamily="34" charset="-120"/>
              </a:rPr>
              <a:t>Provantis, Maximo and Sapio in parallel → three Discovery Reports for CRL acceptance</a:t>
            </a:r>
            <a:endParaRPr lang="en-US" sz="750" dirty="0"/>
          </a:p>
        </p:txBody>
      </p:sp>
      <p:sp>
        <p:nvSpPr>
          <p:cNvPr id="36" name="Shape 34"/>
          <p:cNvSpPr/>
          <p:nvPr/>
        </p:nvSpPr>
        <p:spPr>
          <a:xfrm>
            <a:off x="365760" y="4187952"/>
            <a:ext cx="8412480" cy="621792"/>
          </a:xfrm>
          <a:prstGeom prst="roundRect">
            <a:avLst>
              <a:gd name="adj" fmla="val 11765"/>
            </a:avLst>
          </a:prstGeom>
          <a:solidFill>
            <a:srgbClr val="F4F5F7"/>
          </a:solidFill>
          <a:ln w="12700">
            <a:solidFill>
              <a:srgbClr val="F4F5F7"/>
            </a:solidFill>
            <a:prstDash val="solid"/>
          </a:ln>
        </p:spPr>
        <p:txBody>
          <a:bodyPr/>
          <a:lstStyle/>
          <a:p>
            <a:endParaRPr lang="en-GB"/>
          </a:p>
        </p:txBody>
      </p:sp>
      <p:sp>
        <p:nvSpPr>
          <p:cNvPr id="37" name="Text 35"/>
          <p:cNvSpPr txBox="1"/>
          <p:nvPr/>
        </p:nvSpPr>
        <p:spPr>
          <a:xfrm>
            <a:off x="502920" y="4233672"/>
            <a:ext cx="8138160" cy="548640"/>
          </a:xfrm>
          <a:prstGeom prst="rect">
            <a:avLst/>
          </a:prstGeom>
          <a:noFill/>
          <a:ln/>
        </p:spPr>
        <p:txBody>
          <a:bodyPr wrap="square" lIns="0" tIns="0" rIns="0" bIns="0" rtlCol="0" anchor="t"/>
          <a:lstStyle/>
          <a:p>
            <a:pPr marL="0" indent="0">
              <a:buNone/>
            </a:pPr>
            <a:r>
              <a:rPr lang="en-US" sz="900" b="1" dirty="0">
                <a:solidFill>
                  <a:srgbClr val="0B190D"/>
                </a:solidFill>
                <a:latin typeface="Arial" pitchFamily="34" charset="0"/>
                <a:ea typeface="Arial" pitchFamily="34" charset="-122"/>
                <a:cs typeface="Arial" pitchFamily="34" charset="-120"/>
              </a:rPr>
              <a:t>Rollout waves. </a:t>
            </a:r>
            <a:r>
              <a:rPr lang="en-US" sz="900" dirty="0">
                <a:solidFill>
                  <a:srgbClr val="0B190D"/>
                </a:solidFill>
                <a:latin typeface="Arial" pitchFamily="34" charset="0"/>
                <a:ea typeface="Arial" pitchFamily="34" charset="-122"/>
                <a:cs typeface="Arial" pitchFamily="34" charset="-120"/>
              </a:rPr>
              <a:t>Each further site is onboarded against the Lead Site's configuration baseline, workflow library and training curriculum: Phase 1 reduced to site-specific confirmation, Phases 2–3 in full (on-site workshop per qualifying site), Phase 4 once at enterprise level. Sites are sequenced so each wave learns from the last.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IMPLEMENTATION</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Your Calira team, and the adoption KPIs we sign up to</a:t>
            </a:r>
            <a:endParaRPr lang="en-US" sz="2200" dirty="0"/>
          </a:p>
        </p:txBody>
      </p:sp>
      <p:sp>
        <p:nvSpPr>
          <p:cNvPr id="5" name="Shape 3"/>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6" name="Text 4"/>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7" name="Text 5"/>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12</a:t>
            </a:r>
            <a:endParaRPr lang="en-US" sz="700" dirty="0"/>
          </a:p>
        </p:txBody>
      </p:sp>
      <p:sp>
        <p:nvSpPr>
          <p:cNvPr id="8" name="Shape 6"/>
          <p:cNvSpPr/>
          <p:nvPr/>
        </p:nvSpPr>
        <p:spPr>
          <a:xfrm>
            <a:off x="365760" y="1280160"/>
            <a:ext cx="457200" cy="457200"/>
          </a:xfrm>
          <a:prstGeom prst="ellipse">
            <a:avLst/>
          </a:prstGeom>
          <a:solidFill>
            <a:srgbClr val="0B190D"/>
          </a:solidFill>
          <a:ln w="12700">
            <a:solidFill>
              <a:srgbClr val="0B190D"/>
            </a:solidFill>
            <a:prstDash val="solid"/>
          </a:ln>
        </p:spPr>
        <p:txBody>
          <a:bodyPr/>
          <a:lstStyle/>
          <a:p>
            <a:endParaRPr lang="en-GB"/>
          </a:p>
        </p:txBody>
      </p:sp>
      <p:sp>
        <p:nvSpPr>
          <p:cNvPr id="9" name="Text 7"/>
          <p:cNvSpPr txBox="1"/>
          <p:nvPr/>
        </p:nvSpPr>
        <p:spPr>
          <a:xfrm>
            <a:off x="365760" y="1280160"/>
            <a:ext cx="457200" cy="457200"/>
          </a:xfrm>
          <a:prstGeom prst="rect">
            <a:avLst/>
          </a:prstGeom>
          <a:noFill/>
          <a:ln/>
        </p:spPr>
        <p:txBody>
          <a:bodyPr wrap="square" lIns="0" tIns="0" rIns="0" bIns="0" rtlCol="0" anchor="ctr"/>
          <a:lstStyle/>
          <a:p>
            <a:pPr marL="0" indent="0" algn="ctr">
              <a:buNone/>
            </a:pPr>
            <a:r>
              <a:rPr lang="en-US" sz="1000" b="1" dirty="0">
                <a:solidFill>
                  <a:srgbClr val="E4F038"/>
                </a:solidFill>
                <a:latin typeface="Arial" pitchFamily="34" charset="0"/>
                <a:ea typeface="Arial" pitchFamily="34" charset="-122"/>
                <a:cs typeface="Arial" pitchFamily="34" charset="-120"/>
              </a:rPr>
              <a:t>MA</a:t>
            </a:r>
            <a:endParaRPr lang="en-US" sz="1000" dirty="0"/>
          </a:p>
        </p:txBody>
      </p:sp>
      <p:sp>
        <p:nvSpPr>
          <p:cNvPr id="10" name="Text 8"/>
          <p:cNvSpPr txBox="1"/>
          <p:nvPr/>
        </p:nvSpPr>
        <p:spPr>
          <a:xfrm>
            <a:off x="960120" y="1261872"/>
            <a:ext cx="3017520" cy="237744"/>
          </a:xfrm>
          <a:prstGeom prst="rect">
            <a:avLst/>
          </a:prstGeom>
          <a:noFill/>
          <a:ln/>
        </p:spPr>
        <p:txBody>
          <a:bodyPr wrap="square" lIns="0" tIns="0" rIns="0" bIns="0" rtlCol="0" anchor="ctr"/>
          <a:lstStyle/>
          <a:p>
            <a:pPr marL="0" indent="0">
              <a:buNone/>
            </a:pPr>
            <a:r>
              <a:rPr lang="en-US" sz="1050" b="1" dirty="0">
                <a:solidFill>
                  <a:srgbClr val="0B190D"/>
                </a:solidFill>
                <a:latin typeface="Arial" pitchFamily="34" charset="0"/>
                <a:ea typeface="Arial" pitchFamily="34" charset="-122"/>
                <a:cs typeface="Arial" pitchFamily="34" charset="-120"/>
              </a:rPr>
              <a:t>Morsal Amini</a:t>
            </a:r>
            <a:endParaRPr lang="en-US" sz="1050" dirty="0"/>
          </a:p>
        </p:txBody>
      </p:sp>
      <p:sp>
        <p:nvSpPr>
          <p:cNvPr id="11" name="Text 9"/>
          <p:cNvSpPr txBox="1"/>
          <p:nvPr/>
        </p:nvSpPr>
        <p:spPr>
          <a:xfrm>
            <a:off x="960120" y="1490472"/>
            <a:ext cx="3108960" cy="365760"/>
          </a:xfrm>
          <a:prstGeom prst="rect">
            <a:avLst/>
          </a:prstGeom>
          <a:noFill/>
          <a:ln/>
        </p:spPr>
        <p:txBody>
          <a:bodyPr wrap="square" lIns="0" tIns="0" rIns="0" bIns="0" rtlCol="0" anchor="t"/>
          <a:lstStyle/>
          <a:p>
            <a:pPr marL="0" indent="0">
              <a:buNone/>
            </a:pPr>
            <a:r>
              <a:rPr lang="en-US" sz="850" dirty="0">
                <a:solidFill>
                  <a:srgbClr val="535A6E"/>
                </a:solidFill>
                <a:latin typeface="Arial" pitchFamily="34" charset="0"/>
                <a:ea typeface="Arial" pitchFamily="34" charset="-122"/>
                <a:cs typeface="Arial" pitchFamily="34" charset="-120"/>
              </a:rPr>
              <a:t>Senior Solutions Manager · implementation lead, Phases 1–3 and all waves</a:t>
            </a:r>
            <a:endParaRPr lang="en-US" sz="850" dirty="0"/>
          </a:p>
        </p:txBody>
      </p:sp>
      <p:sp>
        <p:nvSpPr>
          <p:cNvPr id="12" name="Shape 10"/>
          <p:cNvSpPr/>
          <p:nvPr/>
        </p:nvSpPr>
        <p:spPr>
          <a:xfrm>
            <a:off x="365760" y="1883664"/>
            <a:ext cx="457200" cy="457200"/>
          </a:xfrm>
          <a:prstGeom prst="ellipse">
            <a:avLst/>
          </a:prstGeom>
          <a:solidFill>
            <a:srgbClr val="0B190D"/>
          </a:solidFill>
          <a:ln w="12700">
            <a:solidFill>
              <a:srgbClr val="0B190D"/>
            </a:solidFill>
            <a:prstDash val="solid"/>
          </a:ln>
        </p:spPr>
        <p:txBody>
          <a:bodyPr/>
          <a:lstStyle/>
          <a:p>
            <a:endParaRPr lang="en-GB"/>
          </a:p>
        </p:txBody>
      </p:sp>
      <p:sp>
        <p:nvSpPr>
          <p:cNvPr id="13" name="Text 11"/>
          <p:cNvSpPr txBox="1"/>
          <p:nvPr/>
        </p:nvSpPr>
        <p:spPr>
          <a:xfrm>
            <a:off x="365760" y="1883664"/>
            <a:ext cx="457200" cy="457200"/>
          </a:xfrm>
          <a:prstGeom prst="rect">
            <a:avLst/>
          </a:prstGeom>
          <a:noFill/>
          <a:ln/>
        </p:spPr>
        <p:txBody>
          <a:bodyPr wrap="square" lIns="0" tIns="0" rIns="0" bIns="0" rtlCol="0" anchor="ctr"/>
          <a:lstStyle/>
          <a:p>
            <a:pPr marL="0" indent="0" algn="ctr">
              <a:buNone/>
            </a:pPr>
            <a:r>
              <a:rPr lang="en-US" sz="1000" b="1" dirty="0">
                <a:solidFill>
                  <a:srgbClr val="E4F038"/>
                </a:solidFill>
                <a:latin typeface="Arial" pitchFamily="34" charset="0"/>
                <a:ea typeface="Arial" pitchFamily="34" charset="-122"/>
                <a:cs typeface="Arial" pitchFamily="34" charset="-120"/>
              </a:rPr>
              <a:t>NB</a:t>
            </a:r>
            <a:endParaRPr lang="en-US" sz="1000" dirty="0"/>
          </a:p>
        </p:txBody>
      </p:sp>
      <p:sp>
        <p:nvSpPr>
          <p:cNvPr id="14" name="Text 12"/>
          <p:cNvSpPr txBox="1"/>
          <p:nvPr/>
        </p:nvSpPr>
        <p:spPr>
          <a:xfrm>
            <a:off x="960120" y="1865376"/>
            <a:ext cx="3017520" cy="237744"/>
          </a:xfrm>
          <a:prstGeom prst="rect">
            <a:avLst/>
          </a:prstGeom>
          <a:noFill/>
          <a:ln/>
        </p:spPr>
        <p:txBody>
          <a:bodyPr wrap="square" lIns="0" tIns="0" rIns="0" bIns="0" rtlCol="0" anchor="ctr"/>
          <a:lstStyle/>
          <a:p>
            <a:pPr marL="0" indent="0">
              <a:buNone/>
            </a:pPr>
            <a:r>
              <a:rPr lang="en-US" sz="1050" b="1" dirty="0">
                <a:solidFill>
                  <a:srgbClr val="0B190D"/>
                </a:solidFill>
                <a:latin typeface="Arial" pitchFamily="34" charset="0"/>
                <a:ea typeface="Arial" pitchFamily="34" charset="-122"/>
                <a:cs typeface="Arial" pitchFamily="34" charset="-120"/>
              </a:rPr>
              <a:t>Nathan Beynon</a:t>
            </a:r>
            <a:endParaRPr lang="en-US" sz="1050" dirty="0"/>
          </a:p>
        </p:txBody>
      </p:sp>
      <p:sp>
        <p:nvSpPr>
          <p:cNvPr id="15" name="Text 13"/>
          <p:cNvSpPr txBox="1"/>
          <p:nvPr/>
        </p:nvSpPr>
        <p:spPr>
          <a:xfrm>
            <a:off x="960120" y="2093976"/>
            <a:ext cx="3108960" cy="365760"/>
          </a:xfrm>
          <a:prstGeom prst="rect">
            <a:avLst/>
          </a:prstGeom>
          <a:noFill/>
          <a:ln/>
        </p:spPr>
        <p:txBody>
          <a:bodyPr wrap="square" lIns="0" tIns="0" rIns="0" bIns="0" rtlCol="0" anchor="t"/>
          <a:lstStyle/>
          <a:p>
            <a:pPr marL="0" indent="0">
              <a:buNone/>
            </a:pPr>
            <a:r>
              <a:rPr lang="en-US" sz="850" dirty="0">
                <a:solidFill>
                  <a:srgbClr val="535A6E"/>
                </a:solidFill>
                <a:latin typeface="Arial" pitchFamily="34" charset="0"/>
                <a:ea typeface="Arial" pitchFamily="34" charset="-122"/>
                <a:cs typeface="Arial" pitchFamily="34" charset="-120"/>
              </a:rPr>
              <a:t>Customer Success Manager · Phase 4 hypercare, adoption and value reporting</a:t>
            </a:r>
            <a:endParaRPr lang="en-US" sz="850" dirty="0"/>
          </a:p>
        </p:txBody>
      </p:sp>
      <p:sp>
        <p:nvSpPr>
          <p:cNvPr id="16" name="Shape 14"/>
          <p:cNvSpPr/>
          <p:nvPr/>
        </p:nvSpPr>
        <p:spPr>
          <a:xfrm>
            <a:off x="365760" y="2487168"/>
            <a:ext cx="457200" cy="457200"/>
          </a:xfrm>
          <a:prstGeom prst="ellipse">
            <a:avLst/>
          </a:prstGeom>
          <a:solidFill>
            <a:srgbClr val="0B190D"/>
          </a:solidFill>
          <a:ln w="12700">
            <a:solidFill>
              <a:srgbClr val="0B190D"/>
            </a:solidFill>
            <a:prstDash val="solid"/>
          </a:ln>
        </p:spPr>
        <p:txBody>
          <a:bodyPr/>
          <a:lstStyle/>
          <a:p>
            <a:endParaRPr lang="en-GB"/>
          </a:p>
        </p:txBody>
      </p:sp>
      <p:sp>
        <p:nvSpPr>
          <p:cNvPr id="17" name="Text 15"/>
          <p:cNvSpPr txBox="1"/>
          <p:nvPr/>
        </p:nvSpPr>
        <p:spPr>
          <a:xfrm>
            <a:off x="365760" y="2487168"/>
            <a:ext cx="457200" cy="457200"/>
          </a:xfrm>
          <a:prstGeom prst="rect">
            <a:avLst/>
          </a:prstGeom>
          <a:noFill/>
          <a:ln/>
        </p:spPr>
        <p:txBody>
          <a:bodyPr wrap="square" lIns="0" tIns="0" rIns="0" bIns="0" rtlCol="0" anchor="ctr"/>
          <a:lstStyle/>
          <a:p>
            <a:pPr marL="0" indent="0" algn="ctr">
              <a:buNone/>
            </a:pPr>
            <a:r>
              <a:rPr lang="en-US" sz="1000" b="1" dirty="0">
                <a:solidFill>
                  <a:srgbClr val="E4F038"/>
                </a:solidFill>
                <a:latin typeface="Arial" pitchFamily="34" charset="0"/>
                <a:ea typeface="Arial" pitchFamily="34" charset="-122"/>
                <a:cs typeface="Arial" pitchFamily="34" charset="-120"/>
              </a:rPr>
              <a:t>CM</a:t>
            </a:r>
            <a:endParaRPr lang="en-US" sz="1000" dirty="0"/>
          </a:p>
        </p:txBody>
      </p:sp>
      <p:sp>
        <p:nvSpPr>
          <p:cNvPr id="18" name="Text 16"/>
          <p:cNvSpPr txBox="1"/>
          <p:nvPr/>
        </p:nvSpPr>
        <p:spPr>
          <a:xfrm>
            <a:off x="960120" y="2468880"/>
            <a:ext cx="3017520" cy="237744"/>
          </a:xfrm>
          <a:prstGeom prst="rect">
            <a:avLst/>
          </a:prstGeom>
          <a:noFill/>
          <a:ln/>
        </p:spPr>
        <p:txBody>
          <a:bodyPr wrap="square" lIns="0" tIns="0" rIns="0" bIns="0" rtlCol="0" anchor="ctr"/>
          <a:lstStyle/>
          <a:p>
            <a:pPr marL="0" indent="0">
              <a:buNone/>
            </a:pPr>
            <a:r>
              <a:rPr lang="en-US" sz="1050" b="1" dirty="0">
                <a:solidFill>
                  <a:srgbClr val="0B190D"/>
                </a:solidFill>
                <a:latin typeface="Arial" pitchFamily="34" charset="0"/>
                <a:ea typeface="Arial" pitchFamily="34" charset="-122"/>
                <a:cs typeface="Arial" pitchFamily="34" charset="-120"/>
              </a:rPr>
              <a:t>Chris Mills</a:t>
            </a:r>
            <a:endParaRPr lang="en-US" sz="1050" dirty="0"/>
          </a:p>
        </p:txBody>
      </p:sp>
      <p:sp>
        <p:nvSpPr>
          <p:cNvPr id="19" name="Text 17"/>
          <p:cNvSpPr txBox="1"/>
          <p:nvPr/>
        </p:nvSpPr>
        <p:spPr>
          <a:xfrm>
            <a:off x="960120" y="2697480"/>
            <a:ext cx="3108960" cy="365760"/>
          </a:xfrm>
          <a:prstGeom prst="rect">
            <a:avLst/>
          </a:prstGeom>
          <a:noFill/>
          <a:ln/>
        </p:spPr>
        <p:txBody>
          <a:bodyPr wrap="square" lIns="0" tIns="0" rIns="0" bIns="0" rtlCol="0" anchor="t"/>
          <a:lstStyle/>
          <a:p>
            <a:pPr marL="0" indent="0">
              <a:buNone/>
            </a:pPr>
            <a:r>
              <a:rPr lang="en-US" sz="850" dirty="0">
                <a:solidFill>
                  <a:srgbClr val="535A6E"/>
                </a:solidFill>
                <a:latin typeface="Arial" pitchFamily="34" charset="0"/>
                <a:ea typeface="Arial" pitchFamily="34" charset="-122"/>
                <a:cs typeface="Arial" pitchFamily="34" charset="-120"/>
              </a:rPr>
              <a:t>Head of Product · project manager; 25 years in R&amp;D software, formerly Instem</a:t>
            </a:r>
            <a:endParaRPr lang="en-US" sz="850" dirty="0"/>
          </a:p>
        </p:txBody>
      </p:sp>
      <p:sp>
        <p:nvSpPr>
          <p:cNvPr id="20" name="Shape 18"/>
          <p:cNvSpPr/>
          <p:nvPr/>
        </p:nvSpPr>
        <p:spPr>
          <a:xfrm>
            <a:off x="365760" y="3090672"/>
            <a:ext cx="457200" cy="457200"/>
          </a:xfrm>
          <a:prstGeom prst="ellipse">
            <a:avLst/>
          </a:prstGeom>
          <a:solidFill>
            <a:srgbClr val="0B190D"/>
          </a:solidFill>
          <a:ln w="12700">
            <a:solidFill>
              <a:srgbClr val="0B190D"/>
            </a:solidFill>
            <a:prstDash val="solid"/>
          </a:ln>
        </p:spPr>
        <p:txBody>
          <a:bodyPr/>
          <a:lstStyle/>
          <a:p>
            <a:endParaRPr lang="en-GB"/>
          </a:p>
        </p:txBody>
      </p:sp>
      <p:sp>
        <p:nvSpPr>
          <p:cNvPr id="21" name="Text 19"/>
          <p:cNvSpPr txBox="1"/>
          <p:nvPr/>
        </p:nvSpPr>
        <p:spPr>
          <a:xfrm>
            <a:off x="365760" y="3090672"/>
            <a:ext cx="457200" cy="457200"/>
          </a:xfrm>
          <a:prstGeom prst="rect">
            <a:avLst/>
          </a:prstGeom>
          <a:noFill/>
          <a:ln/>
        </p:spPr>
        <p:txBody>
          <a:bodyPr wrap="square" lIns="0" tIns="0" rIns="0" bIns="0" rtlCol="0" anchor="ctr"/>
          <a:lstStyle/>
          <a:p>
            <a:pPr marL="0" indent="0" algn="ctr">
              <a:buNone/>
            </a:pPr>
            <a:r>
              <a:rPr lang="en-US" sz="1000" b="1" dirty="0">
                <a:solidFill>
                  <a:srgbClr val="E4F038"/>
                </a:solidFill>
                <a:latin typeface="Arial" pitchFamily="34" charset="0"/>
                <a:ea typeface="Arial" pitchFamily="34" charset="-122"/>
                <a:cs typeface="Arial" pitchFamily="34" charset="-120"/>
              </a:rPr>
              <a:t>HT</a:t>
            </a:r>
            <a:endParaRPr lang="en-US" sz="1000" dirty="0"/>
          </a:p>
        </p:txBody>
      </p:sp>
      <p:sp>
        <p:nvSpPr>
          <p:cNvPr id="22" name="Text 20"/>
          <p:cNvSpPr txBox="1"/>
          <p:nvPr/>
        </p:nvSpPr>
        <p:spPr>
          <a:xfrm>
            <a:off x="960120" y="3072384"/>
            <a:ext cx="3017520" cy="237744"/>
          </a:xfrm>
          <a:prstGeom prst="rect">
            <a:avLst/>
          </a:prstGeom>
          <a:noFill/>
          <a:ln/>
        </p:spPr>
        <p:txBody>
          <a:bodyPr wrap="square" lIns="0" tIns="0" rIns="0" bIns="0" rtlCol="0" anchor="ctr"/>
          <a:lstStyle/>
          <a:p>
            <a:pPr marL="0" indent="0">
              <a:buNone/>
            </a:pPr>
            <a:r>
              <a:rPr lang="en-US" sz="1050" b="1" dirty="0">
                <a:solidFill>
                  <a:srgbClr val="0B190D"/>
                </a:solidFill>
                <a:latin typeface="Arial" pitchFamily="34" charset="0"/>
                <a:ea typeface="Arial" pitchFamily="34" charset="-122"/>
                <a:cs typeface="Arial" pitchFamily="34" charset="-120"/>
              </a:rPr>
              <a:t>Hristo Tenev</a:t>
            </a:r>
            <a:endParaRPr lang="en-US" sz="1050" dirty="0"/>
          </a:p>
        </p:txBody>
      </p:sp>
      <p:sp>
        <p:nvSpPr>
          <p:cNvPr id="23" name="Text 21"/>
          <p:cNvSpPr txBox="1"/>
          <p:nvPr/>
        </p:nvSpPr>
        <p:spPr>
          <a:xfrm>
            <a:off x="960120" y="3300984"/>
            <a:ext cx="3108960" cy="365760"/>
          </a:xfrm>
          <a:prstGeom prst="rect">
            <a:avLst/>
          </a:prstGeom>
          <a:noFill/>
          <a:ln/>
        </p:spPr>
        <p:txBody>
          <a:bodyPr wrap="square" lIns="0" tIns="0" rIns="0" bIns="0" rtlCol="0" anchor="t"/>
          <a:lstStyle/>
          <a:p>
            <a:pPr marL="0" indent="0">
              <a:buNone/>
            </a:pPr>
            <a:r>
              <a:rPr lang="en-US" sz="850" dirty="0">
                <a:solidFill>
                  <a:srgbClr val="535A6E"/>
                </a:solidFill>
                <a:latin typeface="Arial" pitchFamily="34" charset="0"/>
                <a:ea typeface="Arial" pitchFamily="34" charset="-122"/>
                <a:cs typeface="Arial" pitchFamily="34" charset="-120"/>
              </a:rPr>
              <a:t>Integration Engineer · Provantis, Maximo and Sapio discovery and build</a:t>
            </a:r>
            <a:endParaRPr lang="en-US" sz="850" dirty="0"/>
          </a:p>
        </p:txBody>
      </p:sp>
      <p:sp>
        <p:nvSpPr>
          <p:cNvPr id="24" name="Shape 22"/>
          <p:cNvSpPr/>
          <p:nvPr/>
        </p:nvSpPr>
        <p:spPr>
          <a:xfrm>
            <a:off x="365760" y="3694176"/>
            <a:ext cx="457200" cy="457200"/>
          </a:xfrm>
          <a:prstGeom prst="ellipse">
            <a:avLst/>
          </a:prstGeom>
          <a:solidFill>
            <a:srgbClr val="0B190D"/>
          </a:solidFill>
          <a:ln w="12700">
            <a:solidFill>
              <a:srgbClr val="0B190D"/>
            </a:solidFill>
            <a:prstDash val="solid"/>
          </a:ln>
        </p:spPr>
        <p:txBody>
          <a:bodyPr/>
          <a:lstStyle/>
          <a:p>
            <a:endParaRPr lang="en-GB"/>
          </a:p>
        </p:txBody>
      </p:sp>
      <p:sp>
        <p:nvSpPr>
          <p:cNvPr id="25" name="Text 23"/>
          <p:cNvSpPr txBox="1"/>
          <p:nvPr/>
        </p:nvSpPr>
        <p:spPr>
          <a:xfrm>
            <a:off x="365760" y="3694176"/>
            <a:ext cx="457200" cy="457200"/>
          </a:xfrm>
          <a:prstGeom prst="rect">
            <a:avLst/>
          </a:prstGeom>
          <a:noFill/>
          <a:ln/>
        </p:spPr>
        <p:txBody>
          <a:bodyPr wrap="square" lIns="0" tIns="0" rIns="0" bIns="0" rtlCol="0" anchor="ctr"/>
          <a:lstStyle/>
          <a:p>
            <a:pPr marL="0" indent="0" algn="ctr">
              <a:buNone/>
            </a:pPr>
            <a:r>
              <a:rPr lang="en-US" sz="1000" b="1" dirty="0">
                <a:solidFill>
                  <a:srgbClr val="E4F038"/>
                </a:solidFill>
                <a:latin typeface="Arial" pitchFamily="34" charset="0"/>
                <a:ea typeface="Arial" pitchFamily="34" charset="-122"/>
                <a:cs typeface="Arial" pitchFamily="34" charset="-120"/>
              </a:rPr>
              <a:t>CD</a:t>
            </a:r>
            <a:endParaRPr lang="en-US" sz="1000" dirty="0"/>
          </a:p>
        </p:txBody>
      </p:sp>
      <p:sp>
        <p:nvSpPr>
          <p:cNvPr id="26" name="Text 24"/>
          <p:cNvSpPr txBox="1"/>
          <p:nvPr/>
        </p:nvSpPr>
        <p:spPr>
          <a:xfrm>
            <a:off x="960120" y="3675888"/>
            <a:ext cx="3017520" cy="237744"/>
          </a:xfrm>
          <a:prstGeom prst="rect">
            <a:avLst/>
          </a:prstGeom>
          <a:noFill/>
          <a:ln/>
        </p:spPr>
        <p:txBody>
          <a:bodyPr wrap="square" lIns="0" tIns="0" rIns="0" bIns="0" rtlCol="0" anchor="ctr"/>
          <a:lstStyle/>
          <a:p>
            <a:pPr marL="0" indent="0">
              <a:buNone/>
            </a:pPr>
            <a:r>
              <a:rPr lang="en-US" sz="1050" b="1" dirty="0">
                <a:solidFill>
                  <a:srgbClr val="0B190D"/>
                </a:solidFill>
                <a:latin typeface="Arial" pitchFamily="34" charset="0"/>
                <a:ea typeface="Arial" pitchFamily="34" charset="-122"/>
                <a:cs typeface="Arial" pitchFamily="34" charset="-120"/>
              </a:rPr>
              <a:t>Craig Davison</a:t>
            </a:r>
            <a:endParaRPr lang="en-US" sz="1050" dirty="0"/>
          </a:p>
        </p:txBody>
      </p:sp>
      <p:sp>
        <p:nvSpPr>
          <p:cNvPr id="27" name="Text 25"/>
          <p:cNvSpPr txBox="1"/>
          <p:nvPr/>
        </p:nvSpPr>
        <p:spPr>
          <a:xfrm>
            <a:off x="960120" y="3904488"/>
            <a:ext cx="3108960" cy="365760"/>
          </a:xfrm>
          <a:prstGeom prst="rect">
            <a:avLst/>
          </a:prstGeom>
          <a:noFill/>
          <a:ln/>
        </p:spPr>
        <p:txBody>
          <a:bodyPr wrap="square" lIns="0" tIns="0" rIns="0" bIns="0" rtlCol="0" anchor="t"/>
          <a:lstStyle/>
          <a:p>
            <a:pPr marL="0" indent="0">
              <a:buNone/>
            </a:pPr>
            <a:r>
              <a:rPr lang="en-US" sz="850" dirty="0">
                <a:solidFill>
                  <a:srgbClr val="535A6E"/>
                </a:solidFill>
                <a:latin typeface="Arial" pitchFamily="34" charset="0"/>
                <a:ea typeface="Arial" pitchFamily="34" charset="-122"/>
                <a:cs typeface="Arial" pitchFamily="34" charset="-120"/>
              </a:rPr>
              <a:t>Senior Account Executive · commercial lead and escalation</a:t>
            </a:r>
            <a:endParaRPr lang="en-US" sz="850" dirty="0"/>
          </a:p>
        </p:txBody>
      </p:sp>
      <p:sp>
        <p:nvSpPr>
          <p:cNvPr id="28" name="Text 26"/>
          <p:cNvSpPr txBox="1"/>
          <p:nvPr/>
        </p:nvSpPr>
        <p:spPr>
          <a:xfrm>
            <a:off x="365760" y="4297680"/>
            <a:ext cx="3749040" cy="502920"/>
          </a:xfrm>
          <a:prstGeom prst="rect">
            <a:avLst/>
          </a:prstGeom>
          <a:noFill/>
          <a:ln/>
        </p:spPr>
        <p:txBody>
          <a:bodyPr wrap="square" lIns="0" tIns="0" rIns="0" bIns="0" rtlCol="0" anchor="t"/>
          <a:lstStyle/>
          <a:p>
            <a:pPr marL="0" indent="0">
              <a:buNone/>
            </a:pPr>
            <a:r>
              <a:rPr lang="en-US" sz="850" i="1" dirty="0">
                <a:solidFill>
                  <a:srgbClr val="0B190D"/>
                </a:solidFill>
                <a:latin typeface="Arial" pitchFamily="34" charset="0"/>
                <a:ea typeface="Arial" pitchFamily="34" charset="-122"/>
                <a:cs typeface="Arial" pitchFamily="34" charset="-120"/>
              </a:rPr>
              <a:t>From CRL: project owner, IT (SSO, integrations), lab managers and admins, early-adopter users. All Calira staff are full-time employees; no implementation partner.</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343400" y="1280160"/>
          <a:ext cx="4434840" cy="3072384"/>
        </p:xfrm>
        <a:graphic>
          <a:graphicData uri="http://schemas.openxmlformats.org/drawingml/2006/table">
            <a:tbl>
              <a:tblPr/>
              <a:tblGrid>
                <a:gridCol w="13258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buNone/>
                      </a:pPr>
                      <a:r>
                        <a:rPr lang="en-US" sz="900" b="1" dirty="0">
                          <a:solidFill>
                            <a:srgbClr val="FFFFFF"/>
                          </a:solidFill>
                          <a:latin typeface="Arial" pitchFamily="34" charset="0"/>
                          <a:ea typeface="Arial" pitchFamily="34" charset="-122"/>
                          <a:cs typeface="Arial" pitchFamily="34" charset="-120"/>
                        </a:rPr>
                        <a:t>KPI</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solidFill>
                      <a:srgbClr val="0B190D"/>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Target</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solidFill>
                      <a:srgbClr val="0B190D"/>
                    </a:solidFill>
                  </a:tcPr>
                </a:tc>
                <a:tc>
                  <a:txBody>
                    <a:bodyPr/>
                    <a:lstStyle/>
                    <a:p>
                      <a:pPr marL="0" indent="0">
                        <a:buNone/>
                      </a:pPr>
                      <a:r>
                        <a:rPr lang="en-US" sz="900" b="1" dirty="0">
                          <a:solidFill>
                            <a:srgbClr val="FFFFFF"/>
                          </a:solidFill>
                          <a:latin typeface="Arial" pitchFamily="34" charset="0"/>
                          <a:ea typeface="Arial" pitchFamily="34" charset="-122"/>
                          <a:cs typeface="Arial" pitchFamily="34" charset="-120"/>
                        </a:rPr>
                        <a:t>If missed</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solidFill>
                      <a:srgbClr val="0B190D"/>
                    </a:solidFill>
                  </a:tcPr>
                </a:tc>
                <a:extLst>
                  <a:ext uri="{0D108BD9-81ED-4DB2-BD59-A6C34878D82A}">
                    <a16:rowId xmlns:a16="http://schemas.microsoft.com/office/drawing/2014/main" val="10000"/>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Workshop attendance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 80% of invited SMEs per site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Extra virtual workshop, no fee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Administrator coverage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100% attend a training session</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Extra admin session, no fee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Training coverage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100% of named users trained</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Go-live not sought until remedied</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User activation</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 75% accept invitation within 10 days</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Adoption clinic + mitigation plan</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Booking adoption</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 50% of activated users book within 30 days</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Support workshop + workflow review</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Sustained adoption</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 50% of users active monthly, 3 months</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Further optimisation support</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900" dirty="0">
                          <a:solidFill>
                            <a:srgbClr val="0B190D"/>
                          </a:solidFill>
                          <a:latin typeface="Arial" pitchFamily="34" charset="0"/>
                          <a:ea typeface="Arial" pitchFamily="34" charset="-122"/>
                          <a:cs typeface="Arial" pitchFamily="34" charset="-120"/>
                        </a:rPr>
                        <a:t>Discovery quality</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Reports accepted without material rework</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tc>
                  <a:txBody>
                    <a:bodyPr/>
                    <a:lstStyle/>
                    <a:p>
                      <a:pPr marL="0" indent="0">
                        <a:buNone/>
                      </a:pPr>
                      <a:r>
                        <a:rPr lang="en-US" sz="900" dirty="0">
                          <a:solidFill>
                            <a:srgbClr val="0B190D"/>
                          </a:solidFill>
                          <a:latin typeface="Arial" pitchFamily="34" charset="0"/>
                          <a:ea typeface="Arial" pitchFamily="34" charset="-122"/>
                          <a:cs typeface="Arial" pitchFamily="34" charset="-120"/>
                        </a:rPr>
                        <a:t>Revised and resubmitted, no fee</a:t>
                      </a:r>
                      <a:endParaRPr lang="en-US" sz="900" dirty="0">
                        <a:latin typeface="Arial" charset="0"/>
                        <a:ea typeface="Arial" charset="0"/>
                        <a:cs typeface="Arial" charset="0"/>
                      </a:endParaRPr>
                    </a:p>
                  </a:txBody>
                  <a:tcPr marL="45720" marR="45720" anchor="ctr">
                    <a:lnL w="6350" cap="flat" cmpd="sng" algn="ctr">
                      <a:solidFill>
                        <a:srgbClr val="DDD4CD"/>
                      </a:solidFill>
                      <a:prstDash val="solid"/>
                      <a:round/>
                      <a:headEnd type="none" w="med" len="med"/>
                      <a:tailEnd type="none" w="med" len="med"/>
                    </a:lnL>
                    <a:lnR w="6350" cap="flat" cmpd="sng" algn="ctr">
                      <a:solidFill>
                        <a:srgbClr val="DDD4CD"/>
                      </a:solidFill>
                      <a:prstDash val="solid"/>
                      <a:round/>
                      <a:headEnd type="none" w="med" len="med"/>
                      <a:tailEnd type="none" w="med" len="med"/>
                    </a:lnR>
                    <a:lnT w="6350" cap="flat" cmpd="sng" algn="ctr">
                      <a:solidFill>
                        <a:srgbClr val="DDD4CD"/>
                      </a:solidFill>
                      <a:prstDash val="solid"/>
                      <a:round/>
                      <a:headEnd type="none" w="med" len="med"/>
                      <a:tailEnd type="none" w="med" len="med"/>
                    </a:lnT>
                    <a:lnB w="6350" cap="flat" cmpd="sng" algn="ctr">
                      <a:solidFill>
                        <a:srgbClr val="DDD4CD"/>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0" name="Text 27"/>
          <p:cNvSpPr txBox="1"/>
          <p:nvPr/>
        </p:nvSpPr>
        <p:spPr>
          <a:xfrm>
            <a:off x="4343400" y="4434840"/>
            <a:ext cx="4434840" cy="365760"/>
          </a:xfrm>
          <a:prstGeom prst="rect">
            <a:avLst/>
          </a:prstGeom>
          <a:noFill/>
          <a:ln/>
        </p:spPr>
        <p:txBody>
          <a:bodyPr wrap="square" lIns="0" tIns="0" rIns="0" bIns="0" rtlCol="0" anchor="t"/>
          <a:lstStyle/>
          <a:p>
            <a:pPr marL="0" indent="0">
              <a:buNone/>
            </a:pPr>
            <a:r>
              <a:rPr lang="en-US" sz="800" dirty="0">
                <a:solidFill>
                  <a:srgbClr val="535A6E"/>
                </a:solidFill>
                <a:latin typeface="Arial" pitchFamily="34" charset="0"/>
                <a:ea typeface="Arial" pitchFamily="34" charset="-122"/>
                <a:cs typeface="Arial" pitchFamily="34" charset="-120"/>
              </a:rPr>
              <a:t>Measured from the adoption dashboard and reported at each check-in; targets assume CRL releases users for training.</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COMMERCIALS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Named users, unlimited instruments, no implementation fees</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Headline figures from Exhibits D1A, D2a/b and the SOW – all list prices in USD</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13</a:t>
            </a:r>
            <a:endParaRPr lang="en-US" sz="700" dirty="0"/>
          </a:p>
        </p:txBody>
      </p:sp>
      <p:sp>
        <p:nvSpPr>
          <p:cNvPr id="9" name="Shape 7"/>
          <p:cNvSpPr/>
          <p:nvPr/>
        </p:nvSpPr>
        <p:spPr>
          <a:xfrm>
            <a:off x="365760" y="1234440"/>
            <a:ext cx="2697480" cy="3520440"/>
          </a:xfrm>
          <a:prstGeom prst="roundRect">
            <a:avLst>
              <a:gd name="adj" fmla="val 2712"/>
            </a:avLst>
          </a:prstGeom>
          <a:solidFill>
            <a:srgbClr val="F4F5F7"/>
          </a:solidFill>
          <a:ln w="12700">
            <a:solidFill>
              <a:srgbClr val="F4F5F7"/>
            </a:solidFill>
            <a:prstDash val="solid"/>
          </a:ln>
        </p:spPr>
        <p:txBody>
          <a:bodyPr/>
          <a:lstStyle/>
          <a:p>
            <a:endParaRPr lang="en-GB"/>
          </a:p>
        </p:txBody>
      </p:sp>
      <p:sp>
        <p:nvSpPr>
          <p:cNvPr id="10" name="Text 8"/>
          <p:cNvSpPr txBox="1"/>
          <p:nvPr/>
        </p:nvSpPr>
        <p:spPr>
          <a:xfrm>
            <a:off x="5029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Licence</a:t>
            </a:r>
            <a:endParaRPr lang="en-US" sz="1300" dirty="0"/>
          </a:p>
        </p:txBody>
      </p:sp>
      <p:sp>
        <p:nvSpPr>
          <p:cNvPr id="11" name="Text 9"/>
          <p:cNvSpPr txBox="1"/>
          <p:nvPr/>
        </p:nvSpPr>
        <p:spPr>
          <a:xfrm>
            <a:off x="502920" y="1664208"/>
            <a:ext cx="2423160" cy="30175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Named-user annual subscription: $405 per user per year (list)</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Unlimited instruments, rooms, sites and bookings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Volume tiers: 10% off from 501 users, 15% from 1,001, 20% from 1,501, 25% from 2,001 (applied per tier band)</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Multi-year: 10% off for 3 years, 15% for 5 years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LabTrack real-time tracking optional: $140 per asset per year</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Site or enterprise licence available – open to discussion</a:t>
            </a:r>
            <a:endParaRPr lang="en-US" sz="950" dirty="0"/>
          </a:p>
        </p:txBody>
      </p:sp>
      <p:sp>
        <p:nvSpPr>
          <p:cNvPr id="12" name="Shape 10"/>
          <p:cNvSpPr/>
          <p:nvPr/>
        </p:nvSpPr>
        <p:spPr>
          <a:xfrm>
            <a:off x="3223260" y="1234440"/>
            <a:ext cx="2697480" cy="3520440"/>
          </a:xfrm>
          <a:prstGeom prst="roundRect">
            <a:avLst>
              <a:gd name="adj" fmla="val 2712"/>
            </a:avLst>
          </a:prstGeom>
          <a:solidFill>
            <a:srgbClr val="F4F5F7"/>
          </a:solidFill>
          <a:ln w="12700">
            <a:solidFill>
              <a:srgbClr val="F4F5F7"/>
            </a:solidFill>
            <a:prstDash val="solid"/>
          </a:ln>
        </p:spPr>
        <p:txBody>
          <a:bodyPr/>
          <a:lstStyle/>
          <a:p>
            <a:endParaRPr lang="en-GB"/>
          </a:p>
        </p:txBody>
      </p:sp>
      <p:sp>
        <p:nvSpPr>
          <p:cNvPr id="13" name="Text 11"/>
          <p:cNvSpPr txBox="1"/>
          <p:nvPr/>
        </p:nvSpPr>
        <p:spPr>
          <a:xfrm>
            <a:off x="33604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Services</a:t>
            </a:r>
            <a:endParaRPr lang="en-US" sz="1300" dirty="0"/>
          </a:p>
        </p:txBody>
      </p:sp>
      <p:sp>
        <p:nvSpPr>
          <p:cNvPr id="14" name="Text 12"/>
          <p:cNvSpPr txBox="1"/>
          <p:nvPr/>
        </p:nvSpPr>
        <p:spPr>
          <a:xfrm>
            <a:off x="3360420" y="1664208"/>
            <a:ext cx="2423160" cy="30175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Core implementation, training, SSO and Outlook: $0 (100% discount on standard implementation services)</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Technical discovery for Provantis, IBM Maximo and Sapio: $31,200 fixed (30 engineer days + project management)</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Integration builds priced by separate SOW after CRL accepts each Discovery Report</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Initial SOW capped at $40,000 not-to-exceed</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On-site workshops: no fee; travel and accommodation at cost, pre-approved</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Rate card locked for the term</a:t>
            </a:r>
            <a:endParaRPr lang="en-US" sz="950" dirty="0"/>
          </a:p>
        </p:txBody>
      </p:sp>
      <p:sp>
        <p:nvSpPr>
          <p:cNvPr id="15" name="Shape 13"/>
          <p:cNvSpPr/>
          <p:nvPr/>
        </p:nvSpPr>
        <p:spPr>
          <a:xfrm>
            <a:off x="6080760" y="1234440"/>
            <a:ext cx="2697480" cy="3520440"/>
          </a:xfrm>
          <a:prstGeom prst="roundRect">
            <a:avLst>
              <a:gd name="adj" fmla="val 2712"/>
            </a:avLst>
          </a:prstGeom>
          <a:solidFill>
            <a:srgbClr val="E4F038"/>
          </a:solidFill>
          <a:ln w="12700">
            <a:solidFill>
              <a:srgbClr val="E4F038"/>
            </a:solidFill>
            <a:prstDash val="solid"/>
          </a:ln>
        </p:spPr>
        <p:txBody>
          <a:bodyPr/>
          <a:lstStyle/>
          <a:p>
            <a:endParaRPr lang="en-GB"/>
          </a:p>
        </p:txBody>
      </p:sp>
      <p:sp>
        <p:nvSpPr>
          <p:cNvPr id="16" name="Text 14"/>
          <p:cNvSpPr txBox="1"/>
          <p:nvPr/>
        </p:nvSpPr>
        <p:spPr>
          <a:xfrm>
            <a:off x="6217920" y="1371600"/>
            <a:ext cx="2423160" cy="274320"/>
          </a:xfrm>
          <a:prstGeom prst="rect">
            <a:avLst/>
          </a:prstGeom>
          <a:noFill/>
          <a:ln/>
        </p:spPr>
        <p:txBody>
          <a:bodyPr wrap="square" lIns="0" tIns="0" rIns="0" bIns="0" rtlCol="0" anchor="t"/>
          <a:lstStyle/>
          <a:p>
            <a:pPr marL="0" indent="0">
              <a:buNone/>
            </a:pPr>
            <a:r>
              <a:rPr lang="en-US" sz="1300" b="1" dirty="0">
                <a:solidFill>
                  <a:srgbClr val="0B190D"/>
                </a:solidFill>
                <a:latin typeface="Arial" pitchFamily="34" charset="0"/>
                <a:ea typeface="Arial" pitchFamily="34" charset="-122"/>
                <a:cs typeface="Arial" pitchFamily="34" charset="-120"/>
              </a:rPr>
              <a:t>Terms</a:t>
            </a:r>
            <a:endParaRPr lang="en-US" sz="1300" dirty="0"/>
          </a:p>
        </p:txBody>
      </p:sp>
      <p:sp>
        <p:nvSpPr>
          <p:cNvPr id="17" name="Text 15"/>
          <p:cNvSpPr txBox="1"/>
          <p:nvPr/>
        </p:nvSpPr>
        <p:spPr>
          <a:xfrm>
            <a:off x="6217920" y="1664208"/>
            <a:ext cx="2423160" cy="301752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Pricing locked for 3 years; two further 1-year extensions on the same terms, increases capped to an agreed index</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Users added any time, pro-rata, co-terminating with the annual term; re-baseline up or down at each anniversary</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Payment 60 days from invoice (90 available if helpful)</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SLA: availability with service credits; 10% of monthly fees at risk; termination for persistent failure</a:t>
            </a:r>
            <a:endParaRPr lang="en-US" sz="950" dirty="0"/>
          </a:p>
          <a:p>
            <a:pPr marL="152400" indent="-152400">
              <a:spcAft>
                <a:spcPts val="300"/>
              </a:spcAft>
              <a:buSzPct val="100000"/>
              <a:buChar char="•"/>
            </a:pPr>
            <a:r>
              <a:rPr lang="en-US" sz="950" dirty="0">
                <a:solidFill>
                  <a:srgbClr val="0B190D"/>
                </a:solidFill>
                <a:latin typeface="Arial" pitchFamily="34" charset="0"/>
                <a:ea typeface="Arial" pitchFamily="34" charset="-122"/>
                <a:cs typeface="Arial" pitchFamily="34" charset="-120"/>
              </a:rPr>
              <a:t>Global, non-exclusive term licence covering CRL and affiliates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COMMERCIALS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Commercial principles: 26 of 30 agreed, four flagged openly</a:t>
            </a:r>
            <a:endParaRPr lang="en-US" sz="2200" dirty="0"/>
          </a:p>
        </p:txBody>
      </p:sp>
      <p:sp>
        <p:nvSpPr>
          <p:cNvPr id="5" name="Text 3"/>
          <p:cNvSpPr txBox="1"/>
          <p:nvPr/>
        </p:nvSpPr>
        <p:spPr>
          <a:xfrm>
            <a:off x="365760" y="987552"/>
            <a:ext cx="8412480" cy="274320"/>
          </a:xfrm>
          <a:prstGeom prst="rect">
            <a:avLst/>
          </a:prstGeom>
          <a:noFill/>
          <a:ln/>
        </p:spPr>
        <p:txBody>
          <a:bodyPr wrap="square" lIns="0" tIns="0" rIns="0" bIns="0" rtlCol="0" anchor="t"/>
          <a:lstStyle/>
          <a:p>
            <a:pPr marL="0" indent="0">
              <a:buNone/>
            </a:pPr>
            <a:r>
              <a:rPr lang="en-US" sz="1100" dirty="0">
                <a:solidFill>
                  <a:srgbClr val="535A6E"/>
                </a:solidFill>
                <a:latin typeface="Arial" pitchFamily="34" charset="0"/>
                <a:ea typeface="Arial" pitchFamily="34" charset="-122"/>
                <a:cs typeface="Arial" pitchFamily="34" charset="-120"/>
              </a:rPr>
              <a:t>Exhibit C6 responses, which are contractually binding</a:t>
            </a:r>
            <a:endParaRPr lang="en-US" sz="1100" dirty="0"/>
          </a:p>
        </p:txBody>
      </p:sp>
      <p:sp>
        <p:nvSpPr>
          <p:cNvPr id="6" name="Shape 4"/>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7" name="Text 5"/>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8" name="Text 6"/>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14</a:t>
            </a:r>
            <a:endParaRPr lang="en-US" sz="700" dirty="0"/>
          </a:p>
        </p:txBody>
      </p:sp>
      <p:sp>
        <p:nvSpPr>
          <p:cNvPr id="9" name="Shape 7"/>
          <p:cNvSpPr/>
          <p:nvPr/>
        </p:nvSpPr>
        <p:spPr>
          <a:xfrm>
            <a:off x="365760" y="1325880"/>
            <a:ext cx="4114800" cy="3429000"/>
          </a:xfrm>
          <a:prstGeom prst="roundRect">
            <a:avLst>
              <a:gd name="adj" fmla="val 2133"/>
            </a:avLst>
          </a:prstGeom>
          <a:solidFill>
            <a:srgbClr val="F4F5F7"/>
          </a:solidFill>
          <a:ln w="12700">
            <a:solidFill>
              <a:srgbClr val="F4F5F7"/>
            </a:solidFill>
            <a:prstDash val="solid"/>
          </a:ln>
        </p:spPr>
        <p:txBody>
          <a:bodyPr/>
          <a:lstStyle/>
          <a:p>
            <a:endParaRPr lang="en-GB"/>
          </a:p>
        </p:txBody>
      </p:sp>
      <p:sp>
        <p:nvSpPr>
          <p:cNvPr id="10" name="Text 8"/>
          <p:cNvSpPr txBox="1"/>
          <p:nvPr/>
        </p:nvSpPr>
        <p:spPr>
          <a:xfrm>
            <a:off x="502920" y="1417320"/>
            <a:ext cx="3840480" cy="274320"/>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Agreed</a:t>
            </a:r>
            <a:endParaRPr lang="en-US" sz="1200" dirty="0"/>
          </a:p>
        </p:txBody>
      </p:sp>
      <p:sp>
        <p:nvSpPr>
          <p:cNvPr id="11" name="Text 9"/>
          <p:cNvSpPr txBox="1"/>
          <p:nvPr/>
        </p:nvSpPr>
        <p:spPr>
          <a:xfrm>
            <a:off x="502920" y="1737360"/>
            <a:ext cx="3840480" cy="2926080"/>
          </a:xfrm>
          <a:prstGeom prst="rect">
            <a:avLst/>
          </a:prstGeom>
          <a:noFill/>
          <a:ln/>
        </p:spPr>
        <p:txBody>
          <a:bodyPr wrap="square" lIns="0" tIns="0" rIns="0" bIns="0" rtlCol="0" anchor="t"/>
          <a:lstStyle/>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3-year price lock, two 1-year extensions, index-capped increases</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Own resources for implementation and future services – no implementation partner</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User-based licensing; global, non-exclusive term licence for CRL and affiliates</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Ramp-up volumes, pro-rata additions, co-termination, annual re-baselining</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60-day payment terms; rates locked for the term</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99.5% uptime commitment, SLA credits, 10% of fees at risk, termination for persistent failure</a:t>
            </a:r>
            <a:endParaRPr lang="en-US" sz="950" dirty="0"/>
          </a:p>
          <a:p>
            <a:pPr marL="152400" indent="-152400">
              <a:spcAft>
                <a:spcPts val="500"/>
              </a:spcAft>
              <a:buSzPct val="100000"/>
              <a:buChar char="•"/>
            </a:pPr>
            <a:r>
              <a:rPr lang="en-US" sz="950" dirty="0">
                <a:solidFill>
                  <a:srgbClr val="0B190D"/>
                </a:solidFill>
                <a:latin typeface="Arial" pitchFamily="34" charset="0"/>
                <a:ea typeface="Arial" pitchFamily="34" charset="-122"/>
                <a:cs typeface="Arial" pitchFamily="34" charset="-120"/>
              </a:rPr>
              <a:t>Proactive CX metrics, innovation tracking and demonstrable Agile delivery</a:t>
            </a:r>
            <a:endParaRPr lang="en-US" sz="950" dirty="0"/>
          </a:p>
        </p:txBody>
      </p:sp>
      <p:sp>
        <p:nvSpPr>
          <p:cNvPr id="12" name="Shape 10"/>
          <p:cNvSpPr/>
          <p:nvPr/>
        </p:nvSpPr>
        <p:spPr>
          <a:xfrm>
            <a:off x="4663440" y="1325880"/>
            <a:ext cx="4114800" cy="3429000"/>
          </a:xfrm>
          <a:prstGeom prst="roundRect">
            <a:avLst>
              <a:gd name="adj" fmla="val 2133"/>
            </a:avLst>
          </a:prstGeom>
          <a:solidFill>
            <a:srgbClr val="FFFFFF"/>
          </a:solidFill>
          <a:ln w="12700">
            <a:solidFill>
              <a:srgbClr val="0B190D"/>
            </a:solidFill>
            <a:prstDash val="solid"/>
          </a:ln>
        </p:spPr>
        <p:txBody>
          <a:bodyPr/>
          <a:lstStyle/>
          <a:p>
            <a:endParaRPr lang="en-GB"/>
          </a:p>
        </p:txBody>
      </p:sp>
      <p:sp>
        <p:nvSpPr>
          <p:cNvPr id="13" name="Text 11"/>
          <p:cNvSpPr txBox="1"/>
          <p:nvPr/>
        </p:nvSpPr>
        <p:spPr>
          <a:xfrm>
            <a:off x="4800600" y="1417320"/>
            <a:ext cx="3840480" cy="274320"/>
          </a:xfrm>
          <a:prstGeom prst="rect">
            <a:avLst/>
          </a:prstGeom>
          <a:noFill/>
          <a:ln/>
        </p:spPr>
        <p:txBody>
          <a:bodyPr wrap="square" lIns="0" tIns="0" rIns="0" bIns="0" rtlCol="0" anchor="ctr"/>
          <a:lstStyle/>
          <a:p>
            <a:pPr marL="0" indent="0">
              <a:buNone/>
            </a:pPr>
            <a:r>
              <a:rPr lang="en-US" sz="1200" b="1" dirty="0">
                <a:solidFill>
                  <a:srgbClr val="0B190D"/>
                </a:solidFill>
                <a:latin typeface="Arial" pitchFamily="34" charset="0"/>
                <a:ea typeface="Arial" pitchFamily="34" charset="-122"/>
                <a:cs typeface="Arial" pitchFamily="34" charset="-120"/>
              </a:rPr>
              <a:t>Where we said no, or qualified our answer</a:t>
            </a:r>
            <a:endParaRPr lang="en-US" sz="1200" dirty="0"/>
          </a:p>
        </p:txBody>
      </p:sp>
      <p:sp>
        <p:nvSpPr>
          <p:cNvPr id="14" name="Text 12"/>
          <p:cNvSpPr txBox="1"/>
          <p:nvPr/>
        </p:nvSpPr>
        <p:spPr>
          <a:xfrm>
            <a:off x="4800600" y="1755648"/>
            <a:ext cx="3840480" cy="228600"/>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GxP compliance</a:t>
            </a:r>
            <a:endParaRPr lang="en-US" sz="1000" dirty="0"/>
          </a:p>
        </p:txBody>
      </p:sp>
      <p:sp>
        <p:nvSpPr>
          <p:cNvPr id="15" name="Text 13"/>
          <p:cNvSpPr txBox="1"/>
          <p:nvPr/>
        </p:nvSpPr>
        <p:spPr>
          <a:xfrm>
            <a:off x="4800600" y="1984248"/>
            <a:ext cx="3840480" cy="50292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Calira is not GxP-validated; validation deliverables (IQ/OQ/PQ, Part 11) are excluded from the SOW. CRL may validate the platform itself.</a:t>
            </a:r>
            <a:endParaRPr lang="en-US" sz="900" dirty="0"/>
          </a:p>
        </p:txBody>
      </p:sp>
      <p:sp>
        <p:nvSpPr>
          <p:cNvPr id="16" name="Text 14"/>
          <p:cNvSpPr txBox="1"/>
          <p:nvPr/>
        </p:nvSpPr>
        <p:spPr>
          <a:xfrm>
            <a:off x="4800600" y="2487168"/>
            <a:ext cx="3840480" cy="228600"/>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Retroactive tier pricing</a:t>
            </a:r>
            <a:endParaRPr lang="en-US" sz="1000" dirty="0"/>
          </a:p>
        </p:txBody>
      </p:sp>
      <p:sp>
        <p:nvSpPr>
          <p:cNvPr id="17" name="Text 15"/>
          <p:cNvSpPr txBox="1"/>
          <p:nvPr/>
        </p:nvSpPr>
        <p:spPr>
          <a:xfrm>
            <a:off x="4800600" y="2715768"/>
            <a:ext cx="3840480" cy="50292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Tier discounts apply to users within each band, not to all users once a band is reached.</a:t>
            </a:r>
            <a:endParaRPr lang="en-US" sz="900" dirty="0"/>
          </a:p>
        </p:txBody>
      </p:sp>
      <p:sp>
        <p:nvSpPr>
          <p:cNvPr id="18" name="Text 16"/>
          <p:cNvSpPr txBox="1"/>
          <p:nvPr/>
        </p:nvSpPr>
        <p:spPr>
          <a:xfrm>
            <a:off x="4800600" y="3218688"/>
            <a:ext cx="3840480" cy="228600"/>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Credits for inactive users</a:t>
            </a:r>
            <a:endParaRPr lang="en-US" sz="1000" dirty="0"/>
          </a:p>
        </p:txBody>
      </p:sp>
      <p:sp>
        <p:nvSpPr>
          <p:cNvPr id="19" name="Text 17"/>
          <p:cNvSpPr txBox="1"/>
          <p:nvPr/>
        </p:nvSpPr>
        <p:spPr>
          <a:xfrm>
            <a:off x="4800600" y="3447288"/>
            <a:ext cx="3840480" cy="50292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Annual named-user contracts; users can be removed at any date, but no monthly-activity credit.</a:t>
            </a:r>
            <a:endParaRPr lang="en-US" sz="900" dirty="0"/>
          </a:p>
        </p:txBody>
      </p:sp>
      <p:sp>
        <p:nvSpPr>
          <p:cNvPr id="20" name="Text 18"/>
          <p:cNvSpPr txBox="1"/>
          <p:nvPr/>
        </p:nvSpPr>
        <p:spPr>
          <a:xfrm>
            <a:off x="4800600" y="3950208"/>
            <a:ext cx="3840480" cy="228600"/>
          </a:xfrm>
          <a:prstGeom prst="rect">
            <a:avLst/>
          </a:prstGeom>
          <a:noFill/>
          <a:ln/>
        </p:spPr>
        <p:txBody>
          <a:bodyPr wrap="square" lIns="0" tIns="0" rIns="0" bIns="0" rtlCol="0" anchor="ctr"/>
          <a:lstStyle/>
          <a:p>
            <a:pPr marL="0" indent="0">
              <a:buNone/>
            </a:pPr>
            <a:r>
              <a:rPr lang="en-US" sz="1000" b="1" dirty="0">
                <a:solidFill>
                  <a:srgbClr val="0B190D"/>
                </a:solidFill>
                <a:latin typeface="Arial" pitchFamily="34" charset="0"/>
                <a:ea typeface="Arial" pitchFamily="34" charset="-122"/>
                <a:cs typeface="Arial" pitchFamily="34" charset="-120"/>
              </a:rPr>
              <a:t>Partial termination</a:t>
            </a:r>
            <a:endParaRPr lang="en-US" sz="1000" dirty="0"/>
          </a:p>
        </p:txBody>
      </p:sp>
      <p:sp>
        <p:nvSpPr>
          <p:cNvPr id="21" name="Text 19"/>
          <p:cNvSpPr txBox="1"/>
          <p:nvPr/>
        </p:nvSpPr>
        <p:spPr>
          <a:xfrm>
            <a:off x="4800600" y="4178808"/>
            <a:ext cx="3840480" cy="502920"/>
          </a:xfrm>
          <a:prstGeom prst="rect">
            <a:avLst/>
          </a:prstGeom>
          <a:noFill/>
          <a:ln/>
        </p:spPr>
        <p:txBody>
          <a:bodyPr wrap="square" lIns="0" tIns="0" rIns="0" bIns="0" rtlCol="0" anchor="t"/>
          <a:lstStyle/>
          <a:p>
            <a:pPr marL="0" indent="0">
              <a:buNone/>
            </a:pPr>
            <a:r>
              <a:rPr lang="en-US" sz="900" dirty="0">
                <a:solidFill>
                  <a:srgbClr val="535A6E"/>
                </a:solidFill>
                <a:latin typeface="Arial" pitchFamily="34" charset="0"/>
                <a:ea typeface="Arial" pitchFamily="34" charset="-122"/>
                <a:cs typeface="Arial" pitchFamily="34" charset="-120"/>
              </a:rPr>
              <a:t>Termination rights are in whole, not by service line or geography.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65760" y="274320"/>
            <a:ext cx="1143000" cy="219456"/>
          </a:xfrm>
          <a:prstGeom prst="roundRect">
            <a:avLst>
              <a:gd name="adj" fmla="val 50000"/>
            </a:avLst>
          </a:prstGeom>
          <a:solidFill>
            <a:srgbClr val="E4F038"/>
          </a:solidFill>
          <a:ln w="12700">
            <a:solidFill>
              <a:srgbClr val="E4F038"/>
            </a:solidFill>
            <a:prstDash val="solid"/>
          </a:ln>
        </p:spPr>
        <p:txBody>
          <a:bodyPr/>
          <a:lstStyle/>
          <a:p>
            <a:endParaRPr lang="en-GB"/>
          </a:p>
        </p:txBody>
      </p:sp>
      <p:sp>
        <p:nvSpPr>
          <p:cNvPr id="3" name="Text 1"/>
          <p:cNvSpPr txBox="1"/>
          <p:nvPr/>
        </p:nvSpPr>
        <p:spPr>
          <a:xfrm>
            <a:off x="365760" y="274320"/>
            <a:ext cx="1143000" cy="219456"/>
          </a:xfrm>
          <a:prstGeom prst="rect">
            <a:avLst/>
          </a:prstGeom>
          <a:noFill/>
          <a:ln/>
        </p:spPr>
        <p:txBody>
          <a:bodyPr wrap="square" lIns="0" tIns="0" rIns="0" bIns="0" rtlCol="0" anchor="ctr"/>
          <a:lstStyle/>
          <a:p>
            <a:pPr marL="0" indent="0" algn="ctr">
              <a:buNone/>
            </a:pPr>
            <a:r>
              <a:rPr lang="en-US" sz="700" b="1" kern="0" spc="100" dirty="0">
                <a:solidFill>
                  <a:srgbClr val="0B190D"/>
                </a:solidFill>
                <a:latin typeface="Arial" pitchFamily="34" charset="0"/>
                <a:ea typeface="Arial" pitchFamily="34" charset="-122"/>
                <a:cs typeface="Arial" pitchFamily="34" charset="-120"/>
              </a:rPr>
              <a:t>NEXT STEPS</a:t>
            </a:r>
            <a:endParaRPr lang="en-US" sz="700" dirty="0"/>
          </a:p>
        </p:txBody>
      </p:sp>
      <p:sp>
        <p:nvSpPr>
          <p:cNvPr id="4" name="Text 2"/>
          <p:cNvSpPr txBox="1"/>
          <p:nvPr/>
        </p:nvSpPr>
        <p:spPr>
          <a:xfrm>
            <a:off x="365760" y="530352"/>
            <a:ext cx="8412480" cy="457200"/>
          </a:xfrm>
          <a:prstGeom prst="rect">
            <a:avLst/>
          </a:prstGeom>
          <a:noFill/>
          <a:ln/>
        </p:spPr>
        <p:txBody>
          <a:bodyPr wrap="square" lIns="0" tIns="0" rIns="0" bIns="0" rtlCol="0" anchor="ctr">
            <a:normAutofit/>
          </a:bodyPr>
          <a:lstStyle/>
          <a:p>
            <a:pPr marL="0" indent="0">
              <a:buNone/>
            </a:pPr>
            <a:r>
              <a:rPr lang="en-US" sz="2200" b="1" dirty="0">
                <a:solidFill>
                  <a:srgbClr val="0B190D"/>
                </a:solidFill>
                <a:latin typeface="Arial" pitchFamily="34" charset="0"/>
                <a:ea typeface="Arial" pitchFamily="34" charset="-122"/>
                <a:cs typeface="Arial" pitchFamily="34" charset="-120"/>
              </a:rPr>
              <a:t>From proposal to lead-site go-live</a:t>
            </a:r>
            <a:endParaRPr lang="en-US" sz="2200" dirty="0"/>
          </a:p>
        </p:txBody>
      </p:sp>
      <p:sp>
        <p:nvSpPr>
          <p:cNvPr id="5" name="Shape 3"/>
          <p:cNvSpPr/>
          <p:nvPr/>
        </p:nvSpPr>
        <p:spPr>
          <a:xfrm>
            <a:off x="365760" y="4873752"/>
            <a:ext cx="8412480" cy="0"/>
          </a:xfrm>
          <a:prstGeom prst="line">
            <a:avLst/>
          </a:prstGeom>
          <a:noFill/>
          <a:ln w="9525">
            <a:solidFill>
              <a:srgbClr val="DDD4CD"/>
            </a:solidFill>
            <a:prstDash val="solid"/>
          </a:ln>
        </p:spPr>
        <p:txBody>
          <a:bodyPr/>
          <a:lstStyle/>
          <a:p>
            <a:endParaRPr lang="en-GB"/>
          </a:p>
        </p:txBody>
      </p:sp>
      <p:sp>
        <p:nvSpPr>
          <p:cNvPr id="6" name="Text 4"/>
          <p:cNvSpPr txBox="1"/>
          <p:nvPr/>
        </p:nvSpPr>
        <p:spPr>
          <a:xfrm>
            <a:off x="365760" y="4901184"/>
            <a:ext cx="5486400" cy="182880"/>
          </a:xfrm>
          <a:prstGeom prst="rect">
            <a:avLst/>
          </a:prstGeom>
          <a:noFill/>
          <a:ln/>
        </p:spPr>
        <p:txBody>
          <a:bodyPr wrap="square" lIns="0" tIns="0" rIns="0" bIns="0" rtlCol="0" anchor="ctr"/>
          <a:lstStyle/>
          <a:p>
            <a:pPr marL="0" indent="0">
              <a:buNone/>
            </a:pPr>
            <a:r>
              <a:rPr lang="en-US" sz="700" dirty="0">
                <a:solidFill>
                  <a:srgbClr val="535A6E"/>
                </a:solidFill>
                <a:latin typeface="Arial" pitchFamily="34" charset="0"/>
                <a:ea typeface="Arial" pitchFamily="34" charset="-122"/>
                <a:cs typeface="Arial" pitchFamily="34" charset="-120"/>
              </a:rPr>
              <a:t>Proposal summary for Charles River Laboratories</a:t>
            </a:r>
            <a:endParaRPr lang="en-US" sz="700" dirty="0"/>
          </a:p>
        </p:txBody>
      </p:sp>
      <p:sp>
        <p:nvSpPr>
          <p:cNvPr id="7" name="Text 5"/>
          <p:cNvSpPr txBox="1"/>
          <p:nvPr/>
        </p:nvSpPr>
        <p:spPr>
          <a:xfrm>
            <a:off x="8229600" y="4901184"/>
            <a:ext cx="548640" cy="182880"/>
          </a:xfrm>
          <a:prstGeom prst="rect">
            <a:avLst/>
          </a:prstGeom>
          <a:noFill/>
          <a:ln/>
        </p:spPr>
        <p:txBody>
          <a:bodyPr wrap="square" lIns="0" tIns="0" rIns="0" bIns="0" rtlCol="0" anchor="ctr"/>
          <a:lstStyle/>
          <a:p>
            <a:pPr marL="0" indent="0" algn="r">
              <a:buNone/>
            </a:pPr>
            <a:r>
              <a:rPr lang="en-US" sz="700" dirty="0">
                <a:solidFill>
                  <a:srgbClr val="535A6E"/>
                </a:solidFill>
                <a:latin typeface="Arial" pitchFamily="34" charset="0"/>
                <a:ea typeface="Arial" pitchFamily="34" charset="-122"/>
                <a:cs typeface="Arial" pitchFamily="34" charset="-120"/>
              </a:rPr>
              <a:t>15</a:t>
            </a:r>
            <a:endParaRPr lang="en-US" sz="700" dirty="0"/>
          </a:p>
        </p:txBody>
      </p:sp>
      <p:sp>
        <p:nvSpPr>
          <p:cNvPr id="8" name="Shape 6"/>
          <p:cNvSpPr/>
          <p:nvPr/>
        </p:nvSpPr>
        <p:spPr>
          <a:xfrm>
            <a:off x="365760" y="1371600"/>
            <a:ext cx="1984248" cy="2468880"/>
          </a:xfrm>
          <a:prstGeom prst="roundRect">
            <a:avLst>
              <a:gd name="adj" fmla="val 3687"/>
            </a:avLst>
          </a:prstGeom>
          <a:solidFill>
            <a:srgbClr val="F4F5F7"/>
          </a:solidFill>
          <a:ln w="12700">
            <a:solidFill>
              <a:srgbClr val="F4F5F7"/>
            </a:solidFill>
            <a:prstDash val="solid"/>
          </a:ln>
        </p:spPr>
        <p:txBody>
          <a:bodyPr/>
          <a:lstStyle/>
          <a:p>
            <a:endParaRPr lang="en-GB"/>
          </a:p>
        </p:txBody>
      </p:sp>
      <p:sp>
        <p:nvSpPr>
          <p:cNvPr id="9" name="Text 7"/>
          <p:cNvSpPr txBox="1"/>
          <p:nvPr/>
        </p:nvSpPr>
        <p:spPr>
          <a:xfrm>
            <a:off x="502920" y="1463040"/>
            <a:ext cx="1737360" cy="548640"/>
          </a:xfrm>
          <a:prstGeom prst="rect">
            <a:avLst/>
          </a:prstGeom>
          <a:noFill/>
          <a:ln/>
        </p:spPr>
        <p:txBody>
          <a:bodyPr wrap="square" lIns="0" tIns="0" rIns="0" bIns="0" rtlCol="0" anchor="ctr"/>
          <a:lstStyle/>
          <a:p>
            <a:pPr marL="0" indent="0">
              <a:buNone/>
            </a:pPr>
            <a:r>
              <a:rPr lang="en-US" sz="3000" b="1" dirty="0">
                <a:solidFill>
                  <a:srgbClr val="0B190D"/>
                </a:solidFill>
                <a:latin typeface="Arial" pitchFamily="34" charset="0"/>
                <a:ea typeface="Arial" pitchFamily="34" charset="-122"/>
                <a:cs typeface="Arial" pitchFamily="34" charset="-120"/>
              </a:rPr>
              <a:t>1</a:t>
            </a:r>
            <a:endParaRPr lang="en-US" sz="3000" dirty="0"/>
          </a:p>
        </p:txBody>
      </p:sp>
      <p:sp>
        <p:nvSpPr>
          <p:cNvPr id="10" name="Text 8"/>
          <p:cNvSpPr txBox="1"/>
          <p:nvPr/>
        </p:nvSpPr>
        <p:spPr>
          <a:xfrm>
            <a:off x="502920" y="2011680"/>
            <a:ext cx="1737360" cy="274320"/>
          </a:xfrm>
          <a:prstGeom prst="rect">
            <a:avLst/>
          </a:prstGeom>
          <a:noFill/>
          <a:ln/>
        </p:spPr>
        <p:txBody>
          <a:bodyPr wrap="square" lIns="0" tIns="0" rIns="0" bIns="0" rtlCol="0" anchor="ctr"/>
          <a:lstStyle/>
          <a:p>
            <a:pPr marL="0" indent="0">
              <a:buNone/>
            </a:pPr>
            <a:r>
              <a:rPr lang="en-US" sz="1150" b="1" dirty="0">
                <a:solidFill>
                  <a:srgbClr val="0B190D"/>
                </a:solidFill>
                <a:latin typeface="Arial" pitchFamily="34" charset="0"/>
                <a:ea typeface="Arial" pitchFamily="34" charset="-122"/>
                <a:cs typeface="Arial" pitchFamily="34" charset="-120"/>
              </a:rPr>
              <a:t>References and demo</a:t>
            </a:r>
            <a:endParaRPr lang="en-US" sz="1150" dirty="0"/>
          </a:p>
        </p:txBody>
      </p:sp>
      <p:sp>
        <p:nvSpPr>
          <p:cNvPr id="11" name="Text 9"/>
          <p:cNvSpPr txBox="1"/>
          <p:nvPr/>
        </p:nvSpPr>
        <p:spPr>
          <a:xfrm>
            <a:off x="502920" y="2331720"/>
            <a:ext cx="1737360" cy="1417320"/>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Reference calls with Novo Nordisk, Moderna, Eli Lilly and CRL Edinburgh; a hands-on demo against your workflows.</a:t>
            </a:r>
            <a:endParaRPr lang="en-US" sz="950" dirty="0"/>
          </a:p>
        </p:txBody>
      </p:sp>
      <p:sp>
        <p:nvSpPr>
          <p:cNvPr id="12" name="Shape 10"/>
          <p:cNvSpPr/>
          <p:nvPr/>
        </p:nvSpPr>
        <p:spPr>
          <a:xfrm>
            <a:off x="2313432" y="2468880"/>
            <a:ext cx="201168" cy="274320"/>
          </a:xfrm>
          <a:prstGeom prst="rightArrow">
            <a:avLst/>
          </a:prstGeom>
          <a:solidFill>
            <a:srgbClr val="0B190D"/>
          </a:solidFill>
          <a:ln w="12700">
            <a:solidFill>
              <a:srgbClr val="0B190D"/>
            </a:solidFill>
            <a:prstDash val="solid"/>
          </a:ln>
        </p:spPr>
        <p:txBody>
          <a:bodyPr/>
          <a:lstStyle/>
          <a:p>
            <a:endParaRPr lang="en-GB"/>
          </a:p>
        </p:txBody>
      </p:sp>
      <p:sp>
        <p:nvSpPr>
          <p:cNvPr id="13" name="Shape 11"/>
          <p:cNvSpPr/>
          <p:nvPr/>
        </p:nvSpPr>
        <p:spPr>
          <a:xfrm>
            <a:off x="2487168" y="1371600"/>
            <a:ext cx="1984248" cy="2468880"/>
          </a:xfrm>
          <a:prstGeom prst="roundRect">
            <a:avLst>
              <a:gd name="adj" fmla="val 3687"/>
            </a:avLst>
          </a:prstGeom>
          <a:solidFill>
            <a:srgbClr val="F4F5F7"/>
          </a:solidFill>
          <a:ln w="12700">
            <a:solidFill>
              <a:srgbClr val="F4F5F7"/>
            </a:solidFill>
            <a:prstDash val="solid"/>
          </a:ln>
        </p:spPr>
        <p:txBody>
          <a:bodyPr/>
          <a:lstStyle/>
          <a:p>
            <a:endParaRPr lang="en-GB"/>
          </a:p>
        </p:txBody>
      </p:sp>
      <p:sp>
        <p:nvSpPr>
          <p:cNvPr id="14" name="Text 12"/>
          <p:cNvSpPr txBox="1"/>
          <p:nvPr/>
        </p:nvSpPr>
        <p:spPr>
          <a:xfrm>
            <a:off x="2624328" y="1463040"/>
            <a:ext cx="1737360" cy="548640"/>
          </a:xfrm>
          <a:prstGeom prst="rect">
            <a:avLst/>
          </a:prstGeom>
          <a:noFill/>
          <a:ln/>
        </p:spPr>
        <p:txBody>
          <a:bodyPr wrap="square" lIns="0" tIns="0" rIns="0" bIns="0" rtlCol="0" anchor="ctr"/>
          <a:lstStyle/>
          <a:p>
            <a:pPr marL="0" indent="0">
              <a:buNone/>
            </a:pPr>
            <a:r>
              <a:rPr lang="en-US" sz="3000" b="1" dirty="0">
                <a:solidFill>
                  <a:srgbClr val="0B190D"/>
                </a:solidFill>
                <a:latin typeface="Arial" pitchFamily="34" charset="0"/>
                <a:ea typeface="Arial" pitchFamily="34" charset="-122"/>
                <a:cs typeface="Arial" pitchFamily="34" charset="-120"/>
              </a:rPr>
              <a:t>2</a:t>
            </a:r>
            <a:endParaRPr lang="en-US" sz="3000" dirty="0"/>
          </a:p>
        </p:txBody>
      </p:sp>
      <p:sp>
        <p:nvSpPr>
          <p:cNvPr id="15" name="Text 13"/>
          <p:cNvSpPr txBox="1"/>
          <p:nvPr/>
        </p:nvSpPr>
        <p:spPr>
          <a:xfrm>
            <a:off x="2624328" y="2011680"/>
            <a:ext cx="1737360" cy="274320"/>
          </a:xfrm>
          <a:prstGeom prst="rect">
            <a:avLst/>
          </a:prstGeom>
          <a:noFill/>
          <a:ln/>
        </p:spPr>
        <p:txBody>
          <a:bodyPr wrap="square" lIns="0" tIns="0" rIns="0" bIns="0" rtlCol="0" anchor="ctr"/>
          <a:lstStyle/>
          <a:p>
            <a:pPr marL="0" indent="0">
              <a:buNone/>
            </a:pPr>
            <a:r>
              <a:rPr lang="en-US" sz="1150" b="1" dirty="0">
                <a:solidFill>
                  <a:srgbClr val="0B190D"/>
                </a:solidFill>
                <a:latin typeface="Arial" pitchFamily="34" charset="0"/>
                <a:ea typeface="Arial" pitchFamily="34" charset="-122"/>
                <a:cs typeface="Arial" pitchFamily="34" charset="-120"/>
              </a:rPr>
              <a:t>Confirm scope</a:t>
            </a:r>
            <a:endParaRPr lang="en-US" sz="1150" dirty="0"/>
          </a:p>
        </p:txBody>
      </p:sp>
      <p:sp>
        <p:nvSpPr>
          <p:cNvPr id="16" name="Text 14"/>
          <p:cNvSpPr txBox="1"/>
          <p:nvPr/>
        </p:nvSpPr>
        <p:spPr>
          <a:xfrm>
            <a:off x="2624328" y="2331720"/>
            <a:ext cx="1737360" cy="1417320"/>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Lead site, user and equipment counts, wave sequence and the integration priorities for discovery.</a:t>
            </a:r>
            <a:endParaRPr lang="en-US" sz="950" dirty="0"/>
          </a:p>
        </p:txBody>
      </p:sp>
      <p:sp>
        <p:nvSpPr>
          <p:cNvPr id="17" name="Shape 15"/>
          <p:cNvSpPr/>
          <p:nvPr/>
        </p:nvSpPr>
        <p:spPr>
          <a:xfrm>
            <a:off x="4434840" y="2468880"/>
            <a:ext cx="201168" cy="274320"/>
          </a:xfrm>
          <a:prstGeom prst="rightArrow">
            <a:avLst/>
          </a:prstGeom>
          <a:solidFill>
            <a:srgbClr val="0B190D"/>
          </a:solidFill>
          <a:ln w="12700">
            <a:solidFill>
              <a:srgbClr val="0B190D"/>
            </a:solidFill>
            <a:prstDash val="solid"/>
          </a:ln>
        </p:spPr>
        <p:txBody>
          <a:bodyPr/>
          <a:lstStyle/>
          <a:p>
            <a:endParaRPr lang="en-GB"/>
          </a:p>
        </p:txBody>
      </p:sp>
      <p:sp>
        <p:nvSpPr>
          <p:cNvPr id="18" name="Shape 16"/>
          <p:cNvSpPr/>
          <p:nvPr/>
        </p:nvSpPr>
        <p:spPr>
          <a:xfrm>
            <a:off x="4608576" y="1371600"/>
            <a:ext cx="1984248" cy="2468880"/>
          </a:xfrm>
          <a:prstGeom prst="roundRect">
            <a:avLst>
              <a:gd name="adj" fmla="val 3687"/>
            </a:avLst>
          </a:prstGeom>
          <a:solidFill>
            <a:srgbClr val="F4F5F7"/>
          </a:solidFill>
          <a:ln w="12700">
            <a:solidFill>
              <a:srgbClr val="F4F5F7"/>
            </a:solidFill>
            <a:prstDash val="solid"/>
          </a:ln>
        </p:spPr>
        <p:txBody>
          <a:bodyPr/>
          <a:lstStyle/>
          <a:p>
            <a:endParaRPr lang="en-GB"/>
          </a:p>
        </p:txBody>
      </p:sp>
      <p:sp>
        <p:nvSpPr>
          <p:cNvPr id="19" name="Text 17"/>
          <p:cNvSpPr txBox="1"/>
          <p:nvPr/>
        </p:nvSpPr>
        <p:spPr>
          <a:xfrm>
            <a:off x="4745736" y="1463040"/>
            <a:ext cx="1737360" cy="548640"/>
          </a:xfrm>
          <a:prstGeom prst="rect">
            <a:avLst/>
          </a:prstGeom>
          <a:noFill/>
          <a:ln/>
        </p:spPr>
        <p:txBody>
          <a:bodyPr wrap="square" lIns="0" tIns="0" rIns="0" bIns="0" rtlCol="0" anchor="ctr"/>
          <a:lstStyle/>
          <a:p>
            <a:pPr marL="0" indent="0">
              <a:buNone/>
            </a:pPr>
            <a:r>
              <a:rPr lang="en-US" sz="3000" b="1" dirty="0">
                <a:solidFill>
                  <a:srgbClr val="0B190D"/>
                </a:solidFill>
                <a:latin typeface="Arial" pitchFamily="34" charset="0"/>
                <a:ea typeface="Arial" pitchFamily="34" charset="-122"/>
                <a:cs typeface="Arial" pitchFamily="34" charset="-120"/>
              </a:rPr>
              <a:t>3</a:t>
            </a:r>
            <a:endParaRPr lang="en-US" sz="3000" dirty="0"/>
          </a:p>
        </p:txBody>
      </p:sp>
      <p:sp>
        <p:nvSpPr>
          <p:cNvPr id="20" name="Text 18"/>
          <p:cNvSpPr txBox="1"/>
          <p:nvPr/>
        </p:nvSpPr>
        <p:spPr>
          <a:xfrm>
            <a:off x="4745736" y="2011680"/>
            <a:ext cx="1737360" cy="274320"/>
          </a:xfrm>
          <a:prstGeom prst="rect">
            <a:avLst/>
          </a:prstGeom>
          <a:noFill/>
          <a:ln/>
        </p:spPr>
        <p:txBody>
          <a:bodyPr wrap="square" lIns="0" tIns="0" rIns="0" bIns="0" rtlCol="0" anchor="ctr"/>
          <a:lstStyle/>
          <a:p>
            <a:pPr marL="0" indent="0">
              <a:buNone/>
            </a:pPr>
            <a:r>
              <a:rPr lang="en-US" sz="1150" b="1" dirty="0">
                <a:solidFill>
                  <a:srgbClr val="0B190D"/>
                </a:solidFill>
                <a:latin typeface="Arial" pitchFamily="34" charset="0"/>
                <a:ea typeface="Arial" pitchFamily="34" charset="-122"/>
                <a:cs typeface="Arial" pitchFamily="34" charset="-120"/>
              </a:rPr>
              <a:t>Contract and kick-off</a:t>
            </a:r>
            <a:endParaRPr lang="en-US" sz="1150" dirty="0"/>
          </a:p>
        </p:txBody>
      </p:sp>
      <p:sp>
        <p:nvSpPr>
          <p:cNvPr id="21" name="Text 19"/>
          <p:cNvSpPr txBox="1"/>
          <p:nvPr/>
        </p:nvSpPr>
        <p:spPr>
          <a:xfrm>
            <a:off x="4745736" y="2331720"/>
            <a:ext cx="1737360" cy="1417320"/>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MSA, SOW and DPA finalised; project owner nominated; go-live date set at the kick-off meeting.</a:t>
            </a:r>
            <a:endParaRPr lang="en-US" sz="950" dirty="0"/>
          </a:p>
        </p:txBody>
      </p:sp>
      <p:sp>
        <p:nvSpPr>
          <p:cNvPr id="22" name="Shape 20"/>
          <p:cNvSpPr/>
          <p:nvPr/>
        </p:nvSpPr>
        <p:spPr>
          <a:xfrm>
            <a:off x="6556248" y="2468880"/>
            <a:ext cx="201168" cy="274320"/>
          </a:xfrm>
          <a:prstGeom prst="rightArrow">
            <a:avLst/>
          </a:prstGeom>
          <a:solidFill>
            <a:srgbClr val="0B190D"/>
          </a:solidFill>
          <a:ln w="12700">
            <a:solidFill>
              <a:srgbClr val="0B190D"/>
            </a:solidFill>
            <a:prstDash val="solid"/>
          </a:ln>
        </p:spPr>
        <p:txBody>
          <a:bodyPr/>
          <a:lstStyle/>
          <a:p>
            <a:endParaRPr lang="en-GB"/>
          </a:p>
        </p:txBody>
      </p:sp>
      <p:sp>
        <p:nvSpPr>
          <p:cNvPr id="23" name="Shape 21"/>
          <p:cNvSpPr/>
          <p:nvPr/>
        </p:nvSpPr>
        <p:spPr>
          <a:xfrm>
            <a:off x="6729984" y="1371600"/>
            <a:ext cx="1984248" cy="2468880"/>
          </a:xfrm>
          <a:prstGeom prst="roundRect">
            <a:avLst>
              <a:gd name="adj" fmla="val 3687"/>
            </a:avLst>
          </a:prstGeom>
          <a:solidFill>
            <a:srgbClr val="E4F038"/>
          </a:solidFill>
          <a:ln w="12700">
            <a:solidFill>
              <a:srgbClr val="E4F038"/>
            </a:solidFill>
            <a:prstDash val="solid"/>
          </a:ln>
        </p:spPr>
        <p:txBody>
          <a:bodyPr/>
          <a:lstStyle/>
          <a:p>
            <a:endParaRPr lang="en-GB"/>
          </a:p>
        </p:txBody>
      </p:sp>
      <p:sp>
        <p:nvSpPr>
          <p:cNvPr id="24" name="Text 22"/>
          <p:cNvSpPr txBox="1"/>
          <p:nvPr/>
        </p:nvSpPr>
        <p:spPr>
          <a:xfrm>
            <a:off x="6867144" y="1463040"/>
            <a:ext cx="1737360" cy="548640"/>
          </a:xfrm>
          <a:prstGeom prst="rect">
            <a:avLst/>
          </a:prstGeom>
          <a:noFill/>
          <a:ln/>
        </p:spPr>
        <p:txBody>
          <a:bodyPr wrap="square" lIns="0" tIns="0" rIns="0" bIns="0" rtlCol="0" anchor="ctr"/>
          <a:lstStyle/>
          <a:p>
            <a:pPr marL="0" indent="0">
              <a:buNone/>
            </a:pPr>
            <a:r>
              <a:rPr lang="en-US" sz="3000" b="1" dirty="0">
                <a:solidFill>
                  <a:srgbClr val="0B190D"/>
                </a:solidFill>
                <a:latin typeface="Arial" pitchFamily="34" charset="0"/>
                <a:ea typeface="Arial" pitchFamily="34" charset="-122"/>
                <a:cs typeface="Arial" pitchFamily="34" charset="-120"/>
              </a:rPr>
              <a:t>4</a:t>
            </a:r>
            <a:endParaRPr lang="en-US" sz="3000" dirty="0"/>
          </a:p>
        </p:txBody>
      </p:sp>
      <p:sp>
        <p:nvSpPr>
          <p:cNvPr id="25" name="Text 23"/>
          <p:cNvSpPr txBox="1"/>
          <p:nvPr/>
        </p:nvSpPr>
        <p:spPr>
          <a:xfrm>
            <a:off x="6867144" y="2011680"/>
            <a:ext cx="1737360" cy="274320"/>
          </a:xfrm>
          <a:prstGeom prst="rect">
            <a:avLst/>
          </a:prstGeom>
          <a:noFill/>
          <a:ln/>
        </p:spPr>
        <p:txBody>
          <a:bodyPr wrap="square" lIns="0" tIns="0" rIns="0" bIns="0" rtlCol="0" anchor="ctr"/>
          <a:lstStyle/>
          <a:p>
            <a:pPr marL="0" indent="0">
              <a:buNone/>
            </a:pPr>
            <a:r>
              <a:rPr lang="en-US" sz="1150" b="1" dirty="0">
                <a:solidFill>
                  <a:srgbClr val="0B190D"/>
                </a:solidFill>
                <a:latin typeface="Arial" pitchFamily="34" charset="0"/>
                <a:ea typeface="Arial" pitchFamily="34" charset="-122"/>
                <a:cs typeface="Arial" pitchFamily="34" charset="-120"/>
              </a:rPr>
              <a:t>Week 8</a:t>
            </a:r>
            <a:endParaRPr lang="en-US" sz="1150" dirty="0"/>
          </a:p>
        </p:txBody>
      </p:sp>
      <p:sp>
        <p:nvSpPr>
          <p:cNvPr id="26" name="Text 24"/>
          <p:cNvSpPr txBox="1"/>
          <p:nvPr/>
        </p:nvSpPr>
        <p:spPr>
          <a:xfrm>
            <a:off x="6867144" y="2331720"/>
            <a:ext cx="1737360" cy="1417320"/>
          </a:xfrm>
          <a:prstGeom prst="rect">
            <a:avLst/>
          </a:prstGeom>
          <a:noFill/>
          <a:ln/>
        </p:spPr>
        <p:txBody>
          <a:bodyPr wrap="square" lIns="0" tIns="0" rIns="0" bIns="0" rtlCol="0" anchor="t"/>
          <a:lstStyle/>
          <a:p>
            <a:pPr marL="0" indent="0">
              <a:buNone/>
            </a:pPr>
            <a:r>
              <a:rPr lang="en-US" sz="950" dirty="0">
                <a:solidFill>
                  <a:srgbClr val="0B190D"/>
                </a:solidFill>
                <a:latin typeface="Arial" pitchFamily="34" charset="0"/>
                <a:ea typeface="Arial" pitchFamily="34" charset="-122"/>
                <a:cs typeface="Arial" pitchFamily="34" charset="-120"/>
              </a:rPr>
              <a:t>Lead site live and accepted; three Discovery Reports delivered; expansion plan agreed.</a:t>
            </a:r>
            <a:endParaRPr lang="en-US" sz="950" dirty="0"/>
          </a:p>
        </p:txBody>
      </p:sp>
      <p:sp>
        <p:nvSpPr>
          <p:cNvPr id="27" name="Text 25"/>
          <p:cNvSpPr txBox="1"/>
          <p:nvPr/>
        </p:nvSpPr>
        <p:spPr>
          <a:xfrm>
            <a:off x="365760" y="4069080"/>
            <a:ext cx="8412480" cy="457200"/>
          </a:xfrm>
          <a:prstGeom prst="rect">
            <a:avLst/>
          </a:prstGeom>
          <a:noFill/>
          <a:ln/>
        </p:spPr>
        <p:txBody>
          <a:bodyPr wrap="square" lIns="0" tIns="0" rIns="0" bIns="0" rtlCol="0" anchor="ctr"/>
          <a:lstStyle/>
          <a:p>
            <a:pPr marL="0" indent="0">
              <a:buNone/>
            </a:pPr>
            <a:r>
              <a:rPr lang="en-US" sz="2000" b="1" dirty="0">
                <a:solidFill>
                  <a:srgbClr val="0B190D"/>
                </a:solidFill>
                <a:latin typeface="Arial" pitchFamily="34" charset="0"/>
                <a:ea typeface="Arial" pitchFamily="34" charset="-122"/>
                <a:cs typeface="Arial" pitchFamily="34" charset="-120"/>
              </a:rPr>
              <a:t>Questions</a:t>
            </a:r>
            <a:endParaRPr lang="en-US" sz="2000" dirty="0"/>
          </a:p>
        </p:txBody>
      </p:sp>
      <p:sp>
        <p:nvSpPr>
          <p:cNvPr id="28" name="Text 26"/>
          <p:cNvSpPr txBox="1"/>
          <p:nvPr/>
        </p:nvSpPr>
        <p:spPr>
          <a:xfrm>
            <a:off x="365760" y="4480560"/>
            <a:ext cx="8412480" cy="320040"/>
          </a:xfrm>
          <a:prstGeom prst="rect">
            <a:avLst/>
          </a:prstGeom>
          <a:noFill/>
          <a:ln/>
        </p:spPr>
        <p:txBody>
          <a:bodyPr wrap="square" lIns="0" tIns="0" rIns="0" bIns="0" rtlCol="0" anchor="ctr"/>
          <a:lstStyle/>
          <a:p>
            <a:pPr marL="0" indent="0">
              <a:buNone/>
            </a:pPr>
            <a:r>
              <a:rPr lang="en-US" sz="1000" dirty="0">
                <a:solidFill>
                  <a:srgbClr val="535A6E"/>
                </a:solidFill>
                <a:latin typeface="Arial" pitchFamily="34" charset="0"/>
                <a:ea typeface="Arial" pitchFamily="34" charset="-122"/>
                <a:cs typeface="Arial" pitchFamily="34" charset="-120"/>
              </a:rPr>
              <a:t>We are happy to walk through any individual requirement response, the SOW, or the security and architecture questionnaires.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4F038"/>
        </a:solidFill>
        <a:effectLst/>
      </p:bgPr>
    </p:bg>
    <p:spTree>
      <p:nvGrpSpPr>
        <p:cNvPr id="1" name=""/>
        <p:cNvGrpSpPr/>
        <p:nvPr/>
      </p:nvGrpSpPr>
      <p:grpSpPr>
        <a:xfrm>
          <a:off x="0" y="0"/>
          <a:ext cx="0" cy="0"/>
          <a:chOff x="0" y="0"/>
          <a:chExt cx="0" cy="0"/>
        </a:xfrm>
      </p:grpSpPr>
      <p:pic>
        <p:nvPicPr>
          <p:cNvPr id="2" name="Image 0" descr="C:\Users\mills\AppData\Local\Temp\claude\C--Users-mills-Documents-Code-CaliraPM\5bfe5553-dcee-4283-8c8f-3ac10305de01\scratchpad\crl\build\assets\logo.png"/>
          <p:cNvPicPr>
            <a:picLocks noChangeAspect="1"/>
          </p:cNvPicPr>
          <p:nvPr/>
        </p:nvPicPr>
        <p:blipFill>
          <a:blip r:embed="rId3"/>
          <a:stretch>
            <a:fillRect/>
          </a:stretch>
        </p:blipFill>
        <p:spPr>
          <a:xfrm>
            <a:off x="292608" y="274320"/>
            <a:ext cx="2240280" cy="795528"/>
          </a:xfrm>
          <a:prstGeom prst="rect">
            <a:avLst/>
          </a:prstGeom>
        </p:spPr>
      </p:pic>
      <p:pic>
        <p:nvPicPr>
          <p:cNvPr id="3" name="Image 1" descr="C:\Users\mills\AppData\Local\Temp\claude\C--Users-mills-Documents-Code-CaliraPM\5bfe5553-dcee-4283-8c8f-3ac10305de01\scratchpad\crl\build\assets\photo_lab.jpg"/>
          <p:cNvPicPr>
            <a:picLocks noChangeAspect="1"/>
          </p:cNvPicPr>
          <p:nvPr/>
        </p:nvPicPr>
        <p:blipFill>
          <a:blip r:embed="rId4"/>
          <a:srcRect/>
          <a:stretch/>
        </p:blipFill>
        <p:spPr>
          <a:xfrm>
            <a:off x="4572000" y="292608"/>
            <a:ext cx="4279392" cy="4553712"/>
          </a:xfrm>
          <a:prstGeom prst="rect">
            <a:avLst/>
          </a:prstGeom>
        </p:spPr>
      </p:pic>
      <p:pic>
        <p:nvPicPr>
          <p:cNvPr id="4" name="Image 2" descr="C:\Users\mills\AppData\Local\Temp\claude\C--Users-mills-Documents-Code-CaliraPM\5bfe5553-dcee-4283-8c8f-3ac10305de01\scratchpad\crl\build\assets\dots_yellow.png"/>
          <p:cNvPicPr>
            <a:picLocks noChangeAspect="1"/>
          </p:cNvPicPr>
          <p:nvPr/>
        </p:nvPicPr>
        <p:blipFill>
          <a:blip r:embed="rId5">
            <a:alphaModFix amt="85000"/>
          </a:blip>
          <a:stretch>
            <a:fillRect/>
          </a:stretch>
        </p:blipFill>
        <p:spPr>
          <a:xfrm>
            <a:off x="4572000" y="292608"/>
            <a:ext cx="4279392" cy="4553712"/>
          </a:xfrm>
          <a:prstGeom prst="rect">
            <a:avLst/>
          </a:prstGeom>
        </p:spPr>
      </p:pic>
      <p:sp>
        <p:nvSpPr>
          <p:cNvPr id="5" name="Text 0"/>
          <p:cNvSpPr txBox="1"/>
          <p:nvPr/>
        </p:nvSpPr>
        <p:spPr>
          <a:xfrm>
            <a:off x="292608" y="1737360"/>
            <a:ext cx="4114800" cy="1463040"/>
          </a:xfrm>
          <a:prstGeom prst="rect">
            <a:avLst/>
          </a:prstGeom>
          <a:noFill/>
          <a:ln/>
        </p:spPr>
        <p:txBody>
          <a:bodyPr wrap="square" lIns="0" tIns="0" rIns="0" bIns="0" rtlCol="0" anchor="t"/>
          <a:lstStyle/>
          <a:p>
            <a:pPr marL="0" indent="0">
              <a:buNone/>
            </a:pPr>
            <a:r>
              <a:rPr lang="en-US" sz="3400" b="1" dirty="0">
                <a:solidFill>
                  <a:srgbClr val="0B190D"/>
                </a:solidFill>
                <a:latin typeface="Arial" pitchFamily="34" charset="0"/>
                <a:ea typeface="Arial" pitchFamily="34" charset="-122"/>
                <a:cs typeface="Arial" pitchFamily="34" charset="-120"/>
              </a:rPr>
              <a:t>Thank you</a:t>
            </a:r>
            <a:endParaRPr lang="en-US" sz="3400" dirty="0"/>
          </a:p>
        </p:txBody>
      </p:sp>
      <p:sp>
        <p:nvSpPr>
          <p:cNvPr id="6" name="Text 1"/>
          <p:cNvSpPr txBox="1"/>
          <p:nvPr/>
        </p:nvSpPr>
        <p:spPr>
          <a:xfrm>
            <a:off x="292608" y="3977640"/>
            <a:ext cx="4114800" cy="640080"/>
          </a:xfrm>
          <a:prstGeom prst="rect">
            <a:avLst/>
          </a:prstGeom>
          <a:noFill/>
          <a:ln/>
        </p:spPr>
        <p:txBody>
          <a:bodyPr wrap="square" lIns="0" tIns="0" rIns="0" bIns="0" rtlCol="0" anchor="t"/>
          <a:lstStyle/>
          <a:p>
            <a:pPr marL="0" indent="0">
              <a:buNone/>
            </a:pPr>
            <a:r>
              <a:rPr lang="en-US" sz="1000" b="1" dirty="0">
                <a:solidFill>
                  <a:srgbClr val="0B190D"/>
                </a:solidFill>
                <a:latin typeface="Arial" pitchFamily="34" charset="0"/>
                <a:ea typeface="Arial" pitchFamily="34" charset="-122"/>
                <a:cs typeface="Arial" pitchFamily="34" charset="-120"/>
              </a:rPr>
              <a:t>Craig Davison · Senior Account Executive</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craig@calira.co  ·  +44 (0)75 4515 2687</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Chris Mills · Head of Product  ·  chris@calira.co</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Clustermarket Ltd DBA Calira · 34 Lime Street, London EC3M 7AT</a:t>
            </a:r>
            <a:endParaRPr lang="en-US" sz="1000" dirty="0"/>
          </a:p>
          <a:p>
            <a:pPr marL="0" indent="0">
              <a:buNone/>
            </a:pPr>
            <a:r>
              <a:rPr lang="en-US" sz="1000" dirty="0">
                <a:solidFill>
                  <a:srgbClr val="0B190D"/>
                </a:solidFill>
                <a:latin typeface="Arial" pitchFamily="34" charset="0"/>
                <a:ea typeface="Arial" pitchFamily="34" charset="-122"/>
                <a:cs typeface="Arial" pitchFamily="34" charset="-120"/>
              </a:rPr>
              <a:t>calira.co</a:t>
            </a:r>
            <a:endParaRPr lang="en-US" sz="1000" dirty="0"/>
          </a:p>
        </p:txBody>
      </p:sp>
      <p:sp>
        <p:nvSpPr>
          <p:cNvPr id="7" name="Text 2"/>
          <p:cNvSpPr txBox="1"/>
          <p:nvPr/>
        </p:nvSpPr>
        <p:spPr>
          <a:xfrm>
            <a:off x="292608" y="4828032"/>
            <a:ext cx="3657600" cy="182880"/>
          </a:xfrm>
          <a:prstGeom prst="rect">
            <a:avLst/>
          </a:prstGeom>
          <a:noFill/>
          <a:ln/>
        </p:spPr>
        <p:txBody>
          <a:bodyPr wrap="square" lIns="0" tIns="0" rIns="0" bIns="0" rtlCol="0" anchor="ctr"/>
          <a:lstStyle/>
          <a:p>
            <a:pPr marL="0" indent="0">
              <a:buNone/>
            </a:pPr>
            <a:r>
              <a:rPr lang="en-US" sz="600" dirty="0">
                <a:solidFill>
                  <a:srgbClr val="0B190D"/>
                </a:solidFill>
                <a:latin typeface="Arial" pitchFamily="34" charset="0"/>
                <a:ea typeface="Arial" pitchFamily="34" charset="-122"/>
                <a:cs typeface="Arial" pitchFamily="34" charset="-120"/>
              </a:rPr>
              <a:t>© 2026 calira.co All rights reserved</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4099</Words>
  <Application>Microsoft Office PowerPoint</Application>
  <PresentationFormat>On-screen Show (16:9)</PresentationFormat>
  <Paragraphs>396</Paragraphs>
  <Slides>17</Slides>
  <Notes>17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Clustermarket Ltd DBA Calira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Calira – Proposal summary for Charles River Laboratories</dc:title>
  <dc:subject>PptxGenJS Presentation</dc:subject>
  <dc:creator>Calira</dc:creator>
  <cp:lastModifiedBy>Christopher Mills</cp:lastModifiedBy>
  <cp:revision>2</cp:revision>
  <dcterms:created xsi:type="dcterms:W3CDTF">2026-09-18T08:47:34Z</dcterms:created>
  <dcterms:modified xsi:type="dcterms:W3CDTF">2026-09-18T09:06:22Z</dcterms:modified>
</cp:coreProperties>
</file>