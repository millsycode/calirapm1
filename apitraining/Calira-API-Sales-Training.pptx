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3"/>
    <p:sldMasterId id="2147483661" r:id="rId4"/>
  </p:sldMasterIdLst>
  <p:notesMasterIdLst>
    <p:notesMasterId r:id="rId5"/>
  </p:notesMasterIdLst>
  <p:sldIdLst>
    <p:sldId id="256" r:id="rId24"/>
    <p:sldId id="257" r:id="rId23"/>
    <p:sldId id="258" r:id="rId22"/>
    <p:sldId id="259" r:id="rId21"/>
    <p:sldId id="260" r:id="rId20"/>
    <p:sldId id="261" r:id="rId19"/>
    <p:sldId id="262" r:id="rId18"/>
    <p:sldId id="263" r:id="rId17"/>
    <p:sldId id="264" r:id="rId16"/>
    <p:sldId id="265" r:id="rId15"/>
    <p:sldId id="266" r:id="rId14"/>
    <p:sldId id="267" r:id="rId13"/>
    <p:sldId id="268" r:id="rId12"/>
    <p:sldId id="269" r:id="rId11"/>
    <p:sldId id="270" r:id="rId10"/>
    <p:sldId id="271" r:id="rId9"/>
    <p:sldId id="272" r:id="rId8"/>
    <p:sldId id="273" r:id="rId7"/>
    <p:sldId id="274" r:id="rId6"/>
    <p:sldId id="275" r:id="rId46"/>
    <p:sldId id="276" r:id="rId47"/>
    <p:sldId id="277" r:id="rId48"/>
    <p:sldId id="278" r:id="rId49"/>
    <p:sldId id="279" r:id="rId50"/>
    <p:sldId id="280" r:id="rId51"/>
    <p:sldId id="281" r:id="rId52"/>
    <p:sldId id="282" r:id="rId53"/>
    <p:sldId id="283" r:id="rId54"/>
    <p:sldId id="284" r:id="rId55"/>
    <p:sldId id="285" r:id="rId56"/>
    <p:sldId id="286" r:id="rId57"/>
    <p:sldId id="287" r:id="rId58"/>
    <p:sldId id="288" r:id="rId59"/>
    <p:sldId id="289" r:id="rId60"/>
    <p:sldId id="290" r:id="rId61"/>
  </p:sldIdLst>
  <p:sldSz cy="10287000" cx="18288000"/>
  <p:notesSz cx="10287000" cy="18288000"/>
  <p:embeddedFontLst>
    <p:embeddedFont>
      <p:font typeface="Roboto Mono Medium"/>
      <p:regular r:id="rId25"/>
      <p:bold r:id="rId26"/>
      <p:italic r:id="rId27"/>
      <p:boldItalic r:id="rId28"/>
    </p:embeddedFont>
    <p:embeddedFont>
      <p:font typeface="Inter SemiBold"/>
      <p:regular r:id="rId29"/>
      <p:bold r:id="rId30"/>
      <p:italic r:id="rId31"/>
      <p:boldItalic r:id="rId32"/>
    </p:embeddedFont>
    <p:embeddedFont>
      <p:font typeface="Inter"/>
      <p:regular r:id="rId33"/>
      <p:bold r:id="rId34"/>
      <p:italic r:id="rId35"/>
      <p:boldItalic r:id="rId36"/>
    </p:embeddedFont>
    <p:embeddedFont>
      <p:font typeface="Roboto Mono"/>
      <p:regular r:id="rId37"/>
      <p:bold r:id="rId38"/>
      <p:italic r:id="rId39"/>
      <p:boldItalic r:id="rId40"/>
    </p:embeddedFont>
    <p:embeddedFont>
      <p:font typeface="Inter Medium"/>
      <p:regular r:id="rId41"/>
      <p:bold r:id="rId42"/>
      <p:italic r:id="rId43"/>
      <p:boldItalic r:id="rId44"/>
    </p:embeddedFont>
    <p:embeddedFont>
      <p:font typeface="Special Gothic Condensed One"/>
      <p:regular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5" Type="http://schemas.openxmlformats.org/officeDocument/2006/relationships/notesMaster" Target="notesMasters/notesMaster1.xml"/><Relationship Id="rId6" Type="http://schemas.openxmlformats.org/officeDocument/2006/relationships/slide" Target="slides/slide19.xml"/><Relationship Id="rId7" Type="http://schemas.openxmlformats.org/officeDocument/2006/relationships/slide" Target="slides/slide18.xml"/><Relationship Id="rId8" Type="http://schemas.openxmlformats.org/officeDocument/2006/relationships/slide" Target="slides/slide17.xml"/><Relationship Id="rId9" Type="http://schemas.openxmlformats.org/officeDocument/2006/relationships/slide" Target="slides/slide16.xml"/><Relationship Id="rId10" Type="http://schemas.openxmlformats.org/officeDocument/2006/relationships/slide" Target="slides/slide15.xml"/><Relationship Id="rId11" Type="http://schemas.openxmlformats.org/officeDocument/2006/relationships/slide" Target="slides/slide14.xml"/><Relationship Id="rId12" Type="http://schemas.openxmlformats.org/officeDocument/2006/relationships/slide" Target="slides/slide13.xml"/><Relationship Id="rId13" Type="http://schemas.openxmlformats.org/officeDocument/2006/relationships/slide" Target="slides/slide12.xml"/><Relationship Id="rId14" Type="http://schemas.openxmlformats.org/officeDocument/2006/relationships/slide" Target="slides/slide11.xml"/><Relationship Id="rId15" Type="http://schemas.openxmlformats.org/officeDocument/2006/relationships/slide" Target="slides/slide10.xml"/><Relationship Id="rId16" Type="http://schemas.openxmlformats.org/officeDocument/2006/relationships/slide" Target="slides/slide9.xml"/><Relationship Id="rId17" Type="http://schemas.openxmlformats.org/officeDocument/2006/relationships/slide" Target="slides/slide8.xml"/><Relationship Id="rId18" Type="http://schemas.openxmlformats.org/officeDocument/2006/relationships/slide" Target="slides/slide7.xml"/><Relationship Id="rId19" Type="http://schemas.openxmlformats.org/officeDocument/2006/relationships/slide" Target="slides/slide6.xml"/><Relationship Id="rId20" Type="http://schemas.openxmlformats.org/officeDocument/2006/relationships/slide" Target="slides/slide5.xml"/><Relationship Id="rId21" Type="http://schemas.openxmlformats.org/officeDocument/2006/relationships/slide" Target="slides/slide4.xml"/><Relationship Id="rId22" Type="http://schemas.openxmlformats.org/officeDocument/2006/relationships/slide" Target="slides/slide3.xml"/><Relationship Id="rId23" Type="http://schemas.openxmlformats.org/officeDocument/2006/relationships/slide" Target="slides/slide2.xml"/><Relationship Id="rId24" Type="http://schemas.openxmlformats.org/officeDocument/2006/relationships/slide" Target="slides/slide1.xml"/><Relationship Id="rId25" Type="http://schemas.openxmlformats.org/officeDocument/2006/relationships/font" Target="fonts/RobotoMonoMedium-regular.fntdata"/><Relationship Id="rId26" Type="http://schemas.openxmlformats.org/officeDocument/2006/relationships/font" Target="fonts/RobotoMonoMedium-bold.fntdata"/><Relationship Id="rId27" Type="http://schemas.openxmlformats.org/officeDocument/2006/relationships/font" Target="fonts/RobotoMonoMedium-italic.fntdata"/><Relationship Id="rId28" Type="http://schemas.openxmlformats.org/officeDocument/2006/relationships/font" Target="fonts/RobotoMonoMedium-boldItalic.fntdata"/><Relationship Id="rId29" Type="http://schemas.openxmlformats.org/officeDocument/2006/relationships/font" Target="fonts/InterSemiBold-regular.fntdata"/><Relationship Id="rId30" Type="http://schemas.openxmlformats.org/officeDocument/2006/relationships/font" Target="fonts/InterSemiBold-bold.fntdata"/><Relationship Id="rId31" Type="http://schemas.openxmlformats.org/officeDocument/2006/relationships/font" Target="fonts/InterSemiBold-italic.fntdata"/><Relationship Id="rId32" Type="http://schemas.openxmlformats.org/officeDocument/2006/relationships/font" Target="fonts/InterSemiBold-boldItalic.fntdata"/><Relationship Id="rId33" Type="http://schemas.openxmlformats.org/officeDocument/2006/relationships/font" Target="fonts/Inter-regular.fntdata"/><Relationship Id="rId34" Type="http://schemas.openxmlformats.org/officeDocument/2006/relationships/font" Target="fonts/Inter-bold.fntdata"/><Relationship Id="rId35" Type="http://schemas.openxmlformats.org/officeDocument/2006/relationships/font" Target="fonts/Inter-italic.fntdata"/><Relationship Id="rId36" Type="http://schemas.openxmlformats.org/officeDocument/2006/relationships/font" Target="fonts/Inter-boldItalic.fntdata"/><Relationship Id="rId37" Type="http://schemas.openxmlformats.org/officeDocument/2006/relationships/font" Target="fonts/RobotoMono-regular.fntdata"/><Relationship Id="rId38" Type="http://schemas.openxmlformats.org/officeDocument/2006/relationships/font" Target="fonts/RobotoMono-bold.fntdata"/><Relationship Id="rId39" Type="http://schemas.openxmlformats.org/officeDocument/2006/relationships/font" Target="fonts/RobotoMono-italic.fntdata"/><Relationship Id="rId40" Type="http://schemas.openxmlformats.org/officeDocument/2006/relationships/font" Target="fonts/RobotoMono-boldItalic.fntdata"/><Relationship Id="rId41" Type="http://schemas.openxmlformats.org/officeDocument/2006/relationships/font" Target="fonts/InterMedium-regular.fntdata"/><Relationship Id="rId42" Type="http://schemas.openxmlformats.org/officeDocument/2006/relationships/font" Target="fonts/InterMedium-bold.fntdata"/><Relationship Id="rId43" Type="http://schemas.openxmlformats.org/officeDocument/2006/relationships/font" Target="fonts/InterMedium-italic.fntdata"/><Relationship Id="rId44" Type="http://schemas.openxmlformats.org/officeDocument/2006/relationships/font" Target="fonts/InterMedium-boldItalic.fntdata"/><Relationship Id="rId45" Type="http://schemas.openxmlformats.org/officeDocument/2006/relationships/font" Target="fonts/SpecialGothicCondensedOne-regular.fntdata"/><Relationship Id="rId46" Type="http://schemas.openxmlformats.org/officeDocument/2006/relationships/slide" Target="slides/slide20.xml"/><Relationship Id="rId47" Type="http://schemas.openxmlformats.org/officeDocument/2006/relationships/slide" Target="slides/slide21.xml"/><Relationship Id="rId48" Type="http://schemas.openxmlformats.org/officeDocument/2006/relationships/slide" Target="slides/slide22.xml"/><Relationship Id="rId49" Type="http://schemas.openxmlformats.org/officeDocument/2006/relationships/slide" Target="slides/slide23.xml"/><Relationship Id="rId50" Type="http://schemas.openxmlformats.org/officeDocument/2006/relationships/slide" Target="slides/slide24.xml"/><Relationship Id="rId51" Type="http://schemas.openxmlformats.org/officeDocument/2006/relationships/slide" Target="slides/slide25.xml"/><Relationship Id="rId52" Type="http://schemas.openxmlformats.org/officeDocument/2006/relationships/slide" Target="slides/slide26.xml"/><Relationship Id="rId53" Type="http://schemas.openxmlformats.org/officeDocument/2006/relationships/slide" Target="slides/slide27.xml"/><Relationship Id="rId54" Type="http://schemas.openxmlformats.org/officeDocument/2006/relationships/slide" Target="slides/slide28.xml"/><Relationship Id="rId55" Type="http://schemas.openxmlformats.org/officeDocument/2006/relationships/slide" Target="slides/slide29.xml"/><Relationship Id="rId56" Type="http://schemas.openxmlformats.org/officeDocument/2006/relationships/slide" Target="slides/slide30.xml"/><Relationship Id="rId57" Type="http://schemas.openxmlformats.org/officeDocument/2006/relationships/slide" Target="slides/slide31.xml"/><Relationship Id="rId58" Type="http://schemas.openxmlformats.org/officeDocument/2006/relationships/slide" Target="slides/slide32.xml"/><Relationship Id="rId59" Type="http://schemas.openxmlformats.org/officeDocument/2006/relationships/slide" Target="slides/slide33.xml"/><Relationship Id="rId60" Type="http://schemas.openxmlformats.org/officeDocument/2006/relationships/slide" Target="slides/slide34.xml"/><Relationship Id="rId61"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Welcome. Goal for today: by the end, everyone can explain the API to a customer in plain English, connect a customer's application, and run a live demo in Postman without help from Product.</a:t>
            </a:r>
          </a:p>
        </p:txBody>
      </p:sp>
      <p:sp>
        <p:nvSpPr>
          <p:cNvPr id="4" name="Slide Number Placeholder 3"/>
          <p:cNvSpPr>
            <a:spLocks noGrp="1"/>
          </p:cNvSpPr>
          <p:nvPr>
            <p:ph type="sldNum" idx="12"/>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Parts 1-3 are the ideas: what an API is, how requests work, and how a customer gets connected. Part 4 is hands-on in Postman and takes the longest. Part 5 is how to talk about it, then practice.</a:t>
            </a:r>
          </a:p>
        </p:txBody>
      </p:sp>
      <p:sp>
        <p:nvSpPr>
          <p:cNvPr id="4" name="Slide Number Placeholder 3"/>
          <p:cNvSpPr>
            <a:spLocks noGrp="1"/>
          </p:cNvSpPr>
          <p:nvPr>
            <p:ph type="sldNum" idx="12"/>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big idea. Keep it light: nobody needs to remember technical terms, just the picture.</a:t>
            </a:r>
          </a:p>
        </p:txBody>
      </p:sp>
      <p:sp>
        <p:nvSpPr>
          <p:cNvPr id="4" name="Slide Number Placeholder 3"/>
          <p:cNvSpPr>
            <a:spLocks noGrp="1"/>
          </p:cNvSpPr>
          <p:nvPr>
            <p:ph type="sldNum" idx="12"/>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Restaurant analogy. The customer's system is the diner, the API is the waiter, Calira is the kitchen. The diner never walks into the kitchen; they ask the waiter, who brings back exactly what was ordered. REST just means the waiter speaks a standard language that every web tool understands.</a:t>
            </a:r>
          </a:p>
        </p:txBody>
      </p:sp>
      <p:sp>
        <p:nvSpPr>
          <p:cNvPr id="4" name="Slide Number Placeholder 3"/>
          <p:cNvSpPr>
            <a:spLocks noGrp="1"/>
          </p:cNvSpPr>
          <p:nvPr>
            <p:ph type="sldNum" idx="12"/>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Only five words, and each one has a plain meaning. If a customer says 'endpoint', they mean 'the address for that kind of thing'. Everything else in the training builds on these.</a:t>
            </a:r>
          </a:p>
        </p:txBody>
      </p:sp>
      <p:sp>
        <p:nvSpPr>
          <p:cNvPr id="4" name="Slide Number Placeholder 3"/>
          <p:cNvSpPr>
            <a:spLocks noGrp="1"/>
          </p:cNvSpPr>
          <p:nvPr>
            <p:ph type="sldNum" idx="12"/>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Read the strip left to right: GET (what to do) + the base address (which Calira) + the endpoint (what kind of thing) + an optional filter. The base address for live data is api.clustermarket.com/v1. The two cards underneath are the other things sent with a request.</a:t>
            </a:r>
          </a:p>
        </p:txBody>
      </p:sp>
      <p:sp>
        <p:nvSpPr>
          <p:cNvPr id="4" name="Slide Number Placeholder 3"/>
          <p:cNvSpPr>
            <a:spLocks noGrp="1"/>
          </p:cNvSpPr>
          <p:nvPr>
            <p:ph type="sldNum" idx="12"/>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the 'what can it do' slide for customer conversations. Reading is the safe starting point; writing (creating or changing) needs extra permission that the customer switches on when they register their application.</a:t>
            </a:r>
          </a:p>
        </p:txBody>
      </p:sp>
      <p:sp>
        <p:nvSpPr>
          <p:cNvPr id="4" name="Slide Number Placeholder 3"/>
          <p:cNvSpPr>
            <a:spLocks noGrp="1"/>
          </p:cNvSpPr>
          <p:nvPr>
            <p:ph type="sldNum" idx="12"/>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Three actions, the status codes, and JSON. These are the only 'technical' ideas everyone needs.</a:t>
            </a:r>
          </a:p>
        </p:txBody>
      </p:sp>
      <p:sp>
        <p:nvSpPr>
          <p:cNvPr id="4" name="Slide Number Placeholder 3"/>
          <p:cNvSpPr>
            <a:spLocks noGrp="1"/>
          </p:cNvSpPr>
          <p:nvPr>
            <p:ph type="sldNum" idx="12"/>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Three verbs: GET reads, POST creates, PATCH changes part of something. You may hear PUT and DELETE in other contexts. Calira does not use them: you cannot delete or cancel a booking through the API today, so if a customer asks, the answer is that cancelling is done in the app.</a:t>
            </a:r>
          </a:p>
        </p:txBody>
      </p:sp>
      <p:sp>
        <p:nvSpPr>
          <p:cNvPr id="4" name="Slide Number Placeholder 3"/>
          <p:cNvSpPr>
            <a:spLocks noGrp="1"/>
          </p:cNvSpPr>
          <p:nvPr>
            <p:ph type="sldNum" idx="12"/>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When something fails, read the number first. 2xx is success. 4xx means something on our side of the conversation (your token, your permissions, your data) needs fixing. 5xx is Calira's problem. The next slides show how to fix each one.</a:t>
            </a:r>
          </a:p>
        </p:txBody>
      </p:sp>
      <p:sp>
        <p:nvSpPr>
          <p:cNvPr id="4" name="Slide Number Placeholder 3"/>
          <p:cNvSpPr>
            <a:spLocks noGrp="1"/>
          </p:cNvSpPr>
          <p:nvPr>
            <p:ph type="sldNum" idx="12"/>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Show that the form on the left and the JSON on the right contain the same three facts. The labels are fixed by Calira; the values are the only thing you ever change.</a:t>
            </a:r>
          </a:p>
        </p:txBody>
      </p:sp>
      <p:sp>
        <p:nvSpPr>
          <p:cNvPr id="4" name="Slide Number Placeholder 3"/>
          <p:cNvSpPr>
            <a:spLocks noGrp="1"/>
          </p:cNvSpPr>
          <p:nvPr>
            <p:ph type="sldNum" idx="12"/>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Walk through the numbers on the left, then the legend on the right. The point is not to memorise this: it is so that JSON looks familiar and less scary. Note the last line has no comma after it.</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three mistakes on the right cause most JSON errors. Curly quotes are the sneaky one: they appear when text is pasted from Word, Outlook or Slack. Postman will underline the problem in red, so you can always see where to look.</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A complete round trip. Left: the three values a salesperson edits. Right: the answer; the status 201 Created confirms it worked, and the id (777 here) is how you refer to this booking in later requests.</a:t>
            </a:r>
          </a:p>
        </p:txBody>
      </p:sp>
      <p:sp>
        <p:nvSpPr>
          <p:cNvPr id="4" name="Slide Number Placeholder 3"/>
          <p:cNvSpPr>
            <a:spLocks noGrp="1"/>
          </p:cNvSpPr>
          <p:nvPr>
            <p:ph type="sldNum" idx="12"/>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How a customer gets from 'no access' to 'connected'. This follows the Setting Up API Access guide.</a:t>
            </a:r>
          </a:p>
        </p:txBody>
      </p:sp>
      <p:sp>
        <p:nvSpPr>
          <p:cNvPr id="4" name="Slide Number Placeholder 3"/>
          <p:cNvSpPr>
            <a:spLocks noGrp="1"/>
          </p:cNvSpPr>
          <p:nvPr>
            <p:ph type="sldNum" idx="12"/>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whole journey on one slide. Two steps belong to the customer, one is ours (approval in Control Room), and the last one is what you do in Postman. Client ID and secret identify the application; the token identifies a person's session.</a:t>
            </a:r>
          </a:p>
        </p:txBody>
      </p:sp>
      <p:sp>
        <p:nvSpPr>
          <p:cNvPr id="4" name="Slide Number Placeholder 3"/>
          <p:cNvSpPr>
            <a:spLocks noGrp="1"/>
          </p:cNvSpPr>
          <p:nvPr>
            <p:ph type="sldNum" idx="12"/>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form on the right is a simplified picture of the real page. Callback is where Calira sends the browser after the customer approves access; for Postman it is https://oauth.pstmn.io/v1/callback. Tick only the permissions the customer needs: 'read' ones for reporting, 'write' ones if they want to create or change equipment and bookings.</a:t>
            </a:r>
          </a:p>
        </p:txBody>
      </p:sp>
      <p:sp>
        <p:nvSpPr>
          <p:cNvPr id="4" name="Slide Number Placeholder 3"/>
          <p:cNvSpPr>
            <a:spLocks noGrp="1"/>
          </p:cNvSpPr>
          <p:nvPr>
            <p:ph type="sldNum" idx="12"/>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screenshot is mocked up: the real values are long random strings. The secret is the sensitive one. If you ever need to show a demo on screen, mask the secret or use a throwaway application.</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the one step Calira controls. Before approving, check who owns the application and which permissions it asks for, and that it belongs to a real customer. Revoke is the off switch if an application should lose access. Publish is a separate setting for apps shown to all Calira users, which a normal customer integration does not need.</a:t>
            </a:r>
          </a:p>
        </p:txBody>
      </p:sp>
      <p:sp>
        <p:nvSpPr>
          <p:cNvPr id="4" name="Slide Number Placeholder 3"/>
          <p:cNvSpPr>
            <a:spLocks noGrp="1"/>
          </p:cNvSpPr>
          <p:nvPr>
            <p:ph type="sldNum" idx="12"/>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person logging in must be an admin of the labs they tick. The application can only ever see the labs ticked here; if a customer later wants to add a lab, they authorise again.</a:t>
            </a:r>
          </a:p>
        </p:txBody>
      </p:sp>
      <p:sp>
        <p:nvSpPr>
          <p:cNvPr id="4" name="Slide Number Placeholder 3"/>
          <p:cNvSpPr>
            <a:spLocks noGrp="1"/>
          </p:cNvSpPr>
          <p:nvPr>
            <p:ph type="sldNum" idx="12"/>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Hands-on. Everyone should have Postman installed and the two files ready before this part starts.</a:t>
            </a:r>
          </a:p>
        </p:txBody>
      </p:sp>
      <p:sp>
        <p:nvSpPr>
          <p:cNvPr id="4" name="Slide Number Placeholder 3"/>
          <p:cNvSpPr>
            <a:spLocks noGrp="1"/>
          </p:cNvSpPr>
          <p:nvPr>
            <p:ph type="sldNum" idx="12"/>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Postman does exactly what a developer's code would do, but with buttons. Install it before the session if you can. The free plan is all you need.</a:t>
            </a:r>
          </a:p>
        </p:txBody>
      </p:sp>
      <p:sp>
        <p:nvSpPr>
          <p:cNvPr id="4" name="Slide Number Placeholder 3"/>
          <p:cNvSpPr>
            <a:spLocks noGrp="1"/>
          </p:cNvSpPr>
          <p:nvPr>
            <p:ph type="sldNum" idx="12"/>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You will be given two files: the collection and the environment. Importing them is drag and drop. After importing, the left sidebar should show the Calira API collection with folders, and Calira under Environments.</a:t>
            </a:r>
          </a:p>
        </p:txBody>
      </p:sp>
      <p:sp>
        <p:nvSpPr>
          <p:cNvPr id="4" name="Slide Number Placeholder 3"/>
          <p:cNvSpPr>
            <a:spLocks noGrp="1"/>
          </p:cNvSpPr>
          <p:nvPr>
            <p:ph type="sldNum" idx="12"/>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environment is the one place you type values. Selecting it (top right) is the step people forget most often: with 'No environment' selected, nothing will work. account_id and equipment_id are numbers from the customer's own Calira; your Product contact can give you ones to use for demos. The variable names here must match the environment file you are given.</a:t>
            </a:r>
          </a:p>
        </p:txBody>
      </p:sp>
      <p:sp>
        <p:nvSpPr>
          <p:cNvPr id="4" name="Slide Number Placeholder 3"/>
          <p:cNvSpPr>
            <a:spLocks noGrp="1"/>
          </p:cNvSpPr>
          <p:nvPr>
            <p:ph type="sldNum" idx="12"/>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Everything in the Authorization tab is already filled in from the environment, so the only clicks are Get New Access Token, log in and authorise in the browser, then Use Token. Then copy the token into the 'token' variable so every request can use it. When a call returns 401, the token has expired: do this again.</a:t>
            </a:r>
          </a:p>
        </p:txBody>
      </p:sp>
      <p:sp>
        <p:nvSpPr>
          <p:cNvPr id="4" name="Slide Number Placeholder 3"/>
          <p:cNvSpPr>
            <a:spLocks noGrp="1"/>
          </p:cNvSpPr>
          <p:nvPr>
            <p:ph type="sldNum" idx="12"/>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Five things to find on screen. Everyone should be able to point at each one. The environment menu (1) and the response status (5) are the two you will look at on every single request.</a:t>
            </a:r>
          </a:p>
        </p:txBody>
      </p:sp>
      <p:sp>
        <p:nvSpPr>
          <p:cNvPr id="4" name="Slide Number Placeholder 3"/>
          <p:cNvSpPr>
            <a:spLocks noGrp="1"/>
          </p:cNvSpPr>
          <p:nvPr>
            <p:ph type="sldNum" idx="12"/>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The simplest call in the whole API: it just returns the person the token belongs to. If this works, the environment, the token and the application approval are all fine.</a:t>
            </a:r>
          </a:p>
        </p:txBody>
      </p:sp>
      <p:sp>
        <p:nvSpPr>
          <p:cNvPr id="4" name="Slide Number Placeholder 3"/>
          <p:cNvSpPr>
            <a:spLocks noGrp="1"/>
          </p:cNvSpPr>
          <p:nvPr>
            <p:ph type="sldNum" idx="12"/>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Parameters are optional filters added to the end of the address. The Params tab shows them as a table so you never edit the address by hand. Unticked rows are ignored.</a:t>
            </a:r>
          </a:p>
        </p:txBody>
      </p:sp>
      <p:sp>
        <p:nvSpPr>
          <p:cNvPr id="4" name="Slide Number Placeholder 3"/>
          <p:cNvSpPr>
            <a:spLocks noGrp="1"/>
          </p:cNvSpPr>
          <p:nvPr>
            <p:ph type="sldNum" idx="12"/>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Yellow shows the values you can change. Everything else, including the labels, quotes and commas, stays exactly as it is. {{equipment_id}} means 'use the equipment_id from my environment'; you can also type a number there.</a:t>
            </a:r>
          </a:p>
        </p:txBody>
      </p:sp>
      <p:sp>
        <p:nvSpPr>
          <p:cNvPr id="4" name="Slide Number Placeholder 3"/>
          <p:cNvSpPr>
            <a:spLocks noGrp="1"/>
          </p:cNvSpPr>
          <p:nvPr>
            <p:ph type="sldNum" idx="12"/>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This is the demo flow to practise. Step 1 needs start_time and end_time as parameters. Step 2 returns the booking id; copy it into the booking_id variable (or type it into the address) for steps 3 and 4.</a:t>
            </a:r>
          </a:p>
        </p:txBody>
      </p:sp>
      <p:sp>
        <p:nvSpPr>
          <p:cNvPr id="4" name="Slide Number Placeholder 3"/>
          <p:cNvSpPr>
            <a:spLocks noGrp="1"/>
          </p:cNvSpPr>
          <p:nvPr>
            <p:ph type="sldNum" idx="12"/>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Work through the list in order; the first two fix most problems. The numbers in brackets link back to the status code table. When you escalate, never include the token or client secret.</a:t>
            </a:r>
          </a:p>
        </p:txBody>
      </p:sp>
      <p:sp>
        <p:nvSpPr>
          <p:cNvPr id="4" name="Slide Number Placeholder 3"/>
          <p:cNvSpPr>
            <a:spLocks noGrp="1"/>
          </p:cNvSpPr>
          <p:nvPr>
            <p:ph type="sldNum" idx="12"/>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Short and practical: what to say, what to ask, then time to practise.</a:t>
            </a:r>
          </a:p>
        </p:txBody>
      </p:sp>
      <p:sp>
        <p:nvSpPr>
          <p:cNvPr id="4" name="Slide Number Placeholder 3"/>
          <p:cNvSpPr>
            <a:spLocks noGrp="1"/>
          </p:cNvSpPr>
          <p:nvPr>
            <p:ph type="sldNum" idx="12"/>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Lead with the customer's problem, not the technology. The questions help you find out whether they have systems to connect and who would do the work. Be clear that the demo shows what the API makes possible.</a:t>
            </a:r>
          </a:p>
        </p:txBody>
      </p:sp>
      <p:sp>
        <p:nvSpPr>
          <p:cNvPr id="4" name="Slide Number Placeholder 3"/>
          <p:cNvSpPr>
            <a:spLocks noGrp="1"/>
          </p:cNvSpPr>
          <p:nvPr>
            <p:ph type="sldNum" idx="12"/>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Give people 15-20 minutes. Walk round and help. Anyone who completes task 6 can run the demo flow on their own. Ask them to note any step that was unclear so the training can be improved.</a:t>
            </a:r>
          </a:p>
        </p:txBody>
      </p:sp>
      <p:sp>
        <p:nvSpPr>
          <p:cNvPr id="4" name="Slide Number Placeholder 3"/>
          <p:cNvSpPr>
            <a:spLocks noGrp="1"/>
          </p:cNvSpPr>
          <p:nvPr>
            <p:ph type="sldNum" idx="12"/>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3"/>
          </p:nvPr>
        </p:nvSpPr>
        <p:spPr/>
      </p:sp>
      <p:sp>
        <p:nvSpPr>
          <p:cNvPr id="3" name="Notes Placeholder 2"/>
          <p:cNvSpPr>
            <a:spLocks noGrp="1"/>
          </p:cNvSpPr>
          <p:nvPr>
            <p:ph type="body" idx="1"/>
          </p:nvPr>
        </p:nvSpPr>
        <p:spPr/>
        <p:txBody>
          <a:bodyPr/>
          <a:lstStyle/>
          <a:p>
            <a:r>
              <a:t>Open the floor. Remind everyone where the Postman files and the Setting Up API Access guide live.</a:t>
            </a:r>
          </a:p>
        </p:txBody>
      </p:sp>
      <p:sp>
        <p:nvSpPr>
          <p:cNvPr id="4" name="Slide Number Placeholder 3"/>
          <p:cNvSpPr>
            <a:spLocks noGrp="1"/>
          </p:cNvSpPr>
          <p:nvPr>
            <p:ph type="sldNum" idx="12"/>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15" name="Shape 15"/>
        <p:cNvGrpSpPr/>
        <p:nvPr/>
      </p:nvGrpSpPr>
      <p:grpSpPr>
        <a:xfrm>
          <a:off x="0" y="0"/>
          <a:ext cx="0" cy="0"/>
          <a:chOff x="0" y="0"/>
          <a:chExt cx="0" cy="0"/>
        </a:xfrm>
      </p:grpSpPr>
      <p:sp>
        <p:nvSpPr>
          <p:cNvPr id="16" name="Google Shape;16;p4"/>
          <p:cNvSpPr txBox="1"/>
          <p:nvPr>
            <p:ph type="ctrTitle"/>
          </p:nvPr>
        </p:nvSpPr>
        <p:spPr>
          <a:xfrm>
            <a:off x="457200" y="2800350"/>
            <a:ext cx="7959600" cy="2229000"/>
          </a:xfrm>
          <a:prstGeom prst="rect">
            <a:avLst/>
          </a:prstGeom>
        </p:spPr>
        <p:txBody>
          <a:bodyPr anchorCtr="0" anchor="t" bIns="0" lIns="0" spcFirstLastPara="1" rIns="0" wrap="square" tIns="0">
            <a:normAutofit/>
          </a:bodyPr>
          <a:lstStyle>
            <a:lvl1pPr lvl="0">
              <a:lnSpc>
                <a:spcPct val="85000"/>
              </a:lnSpc>
              <a:spcBef>
                <a:spcPts val="0"/>
              </a:spcBef>
              <a:spcAft>
                <a:spcPts val="0"/>
              </a:spcAft>
              <a:buSzPts val="8400"/>
              <a:buNone/>
              <a:defRPr sz="8400"/>
            </a:lvl1pPr>
            <a:lvl2pPr lvl="1" algn="ctr">
              <a:spcBef>
                <a:spcPts val="0"/>
              </a:spcBef>
              <a:spcAft>
                <a:spcPts val="0"/>
              </a:spcAft>
              <a:buSzPts val="10400"/>
              <a:buNone/>
              <a:defRPr sz="10400"/>
            </a:lvl2pPr>
            <a:lvl3pPr lvl="2" algn="ctr">
              <a:spcBef>
                <a:spcPts val="0"/>
              </a:spcBef>
              <a:spcAft>
                <a:spcPts val="0"/>
              </a:spcAft>
              <a:buSzPts val="10400"/>
              <a:buNone/>
              <a:defRPr sz="10400"/>
            </a:lvl3pPr>
            <a:lvl4pPr lvl="3" algn="ctr">
              <a:spcBef>
                <a:spcPts val="0"/>
              </a:spcBef>
              <a:spcAft>
                <a:spcPts val="0"/>
              </a:spcAft>
              <a:buSzPts val="10400"/>
              <a:buNone/>
              <a:defRPr sz="10400"/>
            </a:lvl4pPr>
            <a:lvl5pPr lvl="4" algn="ctr">
              <a:spcBef>
                <a:spcPts val="0"/>
              </a:spcBef>
              <a:spcAft>
                <a:spcPts val="0"/>
              </a:spcAft>
              <a:buSzPts val="10400"/>
              <a:buNone/>
              <a:defRPr sz="10400"/>
            </a:lvl5pPr>
            <a:lvl6pPr lvl="5" algn="ctr">
              <a:spcBef>
                <a:spcPts val="0"/>
              </a:spcBef>
              <a:spcAft>
                <a:spcPts val="0"/>
              </a:spcAft>
              <a:buSzPts val="10400"/>
              <a:buNone/>
              <a:defRPr sz="10400"/>
            </a:lvl6pPr>
            <a:lvl7pPr lvl="6" algn="ctr">
              <a:spcBef>
                <a:spcPts val="0"/>
              </a:spcBef>
              <a:spcAft>
                <a:spcPts val="0"/>
              </a:spcAft>
              <a:buSzPts val="10400"/>
              <a:buNone/>
              <a:defRPr sz="10400"/>
            </a:lvl7pPr>
            <a:lvl8pPr lvl="7" algn="ctr">
              <a:spcBef>
                <a:spcPts val="0"/>
              </a:spcBef>
              <a:spcAft>
                <a:spcPts val="0"/>
              </a:spcAft>
              <a:buSzPts val="10400"/>
              <a:buNone/>
              <a:defRPr sz="10400"/>
            </a:lvl8pPr>
            <a:lvl9pPr lvl="8" algn="ctr">
              <a:spcBef>
                <a:spcPts val="0"/>
              </a:spcBef>
              <a:spcAft>
                <a:spcPts val="0"/>
              </a:spcAft>
              <a:buSzPts val="10400"/>
              <a:buNone/>
              <a:defRPr sz="10400"/>
            </a:lvl9pPr>
          </a:lstStyle>
          <a:p/>
        </p:txBody>
      </p:sp>
      <p:sp>
        <p:nvSpPr>
          <p:cNvPr id="17" name="Google Shape;17;p4"/>
          <p:cNvSpPr txBox="1"/>
          <p:nvPr>
            <p:ph idx="1" type="subTitle"/>
          </p:nvPr>
        </p:nvSpPr>
        <p:spPr>
          <a:xfrm>
            <a:off x="457200" y="5746200"/>
            <a:ext cx="7035600" cy="1297200"/>
          </a:xfrm>
          <a:prstGeom prst="rect">
            <a:avLst/>
          </a:prstGeom>
        </p:spPr>
        <p:txBody>
          <a:bodyPr anchorCtr="0" anchor="t" bIns="0" lIns="0" spcFirstLastPara="1" rIns="0" wrap="square" tIns="0">
            <a:noAutofit/>
          </a:bodyPr>
          <a:lstStyle>
            <a:lvl1pPr lvl="0">
              <a:lnSpc>
                <a:spcPct val="100000"/>
              </a:lnSpc>
              <a:spcBef>
                <a:spcPts val="0"/>
              </a:spcBef>
              <a:spcAft>
                <a:spcPts val="0"/>
              </a:spcAft>
              <a:buSzPts val="2800"/>
              <a:buFont typeface="Inter Medium"/>
              <a:buNone/>
              <a:defRPr sz="2800">
                <a:latin typeface="Inter Medium"/>
                <a:ea typeface="Inter Medium"/>
                <a:cs typeface="Inter Medium"/>
                <a:sym typeface="Inter Medium"/>
              </a:defRPr>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18" name="Google Shape;18;p4"/>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
        <p:nvSpPr>
          <p:cNvPr id="19" name="Google Shape;19;p4"/>
          <p:cNvSpPr txBox="1"/>
          <p:nvPr/>
        </p:nvSpPr>
        <p:spPr>
          <a:xfrm>
            <a:off x="457200" y="9675600"/>
            <a:ext cx="3886200" cy="153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1000">
                <a:solidFill>
                  <a:srgbClr val="0B190D"/>
                </a:solidFill>
                <a:latin typeface="Inter Medium"/>
                <a:ea typeface="Inter Medium"/>
                <a:cs typeface="Inter Medium"/>
                <a:sym typeface="Inter Medium"/>
              </a:rPr>
              <a:t>© 2026 calira.co All rights reserved</a:t>
            </a:r>
            <a:endParaRPr sz="1000">
              <a:solidFill>
                <a:srgbClr val="0B190D"/>
              </a:solidFill>
              <a:latin typeface="Inter Medium"/>
              <a:ea typeface="Inter Medium"/>
              <a:cs typeface="Inter Medium"/>
              <a:sym typeface="Inter Medium"/>
            </a:endParaRPr>
          </a:p>
        </p:txBody>
      </p:sp>
      <p:sp>
        <p:nvSpPr>
          <p:cNvPr id="20" name="Google Shape;20;p4"/>
          <p:cNvSpPr txBox="1"/>
          <p:nvPr>
            <p:ph idx="2" type="body"/>
          </p:nvPr>
        </p:nvSpPr>
        <p:spPr>
          <a:xfrm>
            <a:off x="457200" y="7486650"/>
            <a:ext cx="7111800" cy="1221000"/>
          </a:xfrm>
          <a:prstGeom prst="rect">
            <a:avLst/>
          </a:prstGeom>
        </p:spPr>
        <p:txBody>
          <a:bodyPr anchorCtr="0" anchor="t" bIns="0" lIns="0" spcFirstLastPara="1" rIns="0" wrap="square" tIns="0">
            <a:noAutofit/>
          </a:bodyPr>
          <a:lstStyle>
            <a:lvl1pPr indent="-342900" lvl="0" marL="457200">
              <a:spcBef>
                <a:spcPts val="0"/>
              </a:spcBef>
              <a:spcAft>
                <a:spcPts val="0"/>
              </a:spcAft>
              <a:buSzPts val="1800"/>
              <a:buChar char="●"/>
              <a:defRPr sz="1800"/>
            </a:lvl1pPr>
            <a:lvl2pPr indent="-342900" lvl="1" marL="914400">
              <a:spcBef>
                <a:spcPts val="0"/>
              </a:spcBef>
              <a:spcAft>
                <a:spcPts val="0"/>
              </a:spcAft>
              <a:buSzPts val="1800"/>
              <a:buChar char="○"/>
              <a:defRPr sz="1800"/>
            </a:lvl2pPr>
            <a:lvl3pPr indent="-342900" lvl="2" marL="1371600">
              <a:spcBef>
                <a:spcPts val="0"/>
              </a:spcBef>
              <a:spcAft>
                <a:spcPts val="0"/>
              </a:spcAft>
              <a:buSzPts val="1800"/>
              <a:buChar char="■"/>
              <a:defRPr sz="1800"/>
            </a:lvl3pPr>
            <a:lvl4pPr indent="-342900" lvl="3" marL="1828800">
              <a:spcBef>
                <a:spcPts val="0"/>
              </a:spcBef>
              <a:spcAft>
                <a:spcPts val="0"/>
              </a:spcAft>
              <a:buSzPts val="1800"/>
              <a:buChar char="●"/>
              <a:defRPr sz="1800"/>
            </a:lvl4pPr>
            <a:lvl5pPr indent="-342900" lvl="4" marL="2286000">
              <a:spcBef>
                <a:spcPts val="0"/>
              </a:spcBef>
              <a:spcAft>
                <a:spcPts val="0"/>
              </a:spcAft>
              <a:buSzPts val="1800"/>
              <a:buChar char="○"/>
              <a:defRPr sz="1800"/>
            </a:lvl5pPr>
            <a:lvl6pPr indent="-342900" lvl="5" marL="2743200">
              <a:spcBef>
                <a:spcPts val="0"/>
              </a:spcBef>
              <a:spcAft>
                <a:spcPts val="0"/>
              </a:spcAft>
              <a:buSzPts val="1800"/>
              <a:buChar char="■"/>
              <a:defRPr sz="1800"/>
            </a:lvl6pPr>
            <a:lvl7pPr indent="-342900" lvl="6" marL="3200400">
              <a:spcBef>
                <a:spcPts val="0"/>
              </a:spcBef>
              <a:spcAft>
                <a:spcPts val="0"/>
              </a:spcAft>
              <a:buSzPts val="1800"/>
              <a:buChar char="●"/>
              <a:defRPr sz="1800"/>
            </a:lvl7pPr>
            <a:lvl8pPr indent="-342900" lvl="7" marL="3657600">
              <a:spcBef>
                <a:spcPts val="0"/>
              </a:spcBef>
              <a:spcAft>
                <a:spcPts val="0"/>
              </a:spcAft>
              <a:buSzPts val="1800"/>
              <a:buChar char="○"/>
              <a:defRPr sz="1800"/>
            </a:lvl8pPr>
            <a:lvl9pPr indent="-342900" lvl="8" marL="4114800">
              <a:spcBef>
                <a:spcPts val="0"/>
              </a:spcBef>
              <a:spcAft>
                <a:spcPts val="0"/>
              </a:spcAft>
              <a:buSzPts val="1800"/>
              <a:buFont typeface="Inter"/>
              <a:buChar char="■"/>
              <a:defRPr sz="1800">
                <a:latin typeface="Inter"/>
                <a:ea typeface="Inter"/>
                <a:cs typeface="Inter"/>
                <a:sym typeface="Inter"/>
              </a:defRPr>
            </a:lvl9pPr>
          </a:lstStyle>
          <a:p/>
        </p:txBody>
      </p:sp>
      <p:pic>
        <p:nvPicPr>
          <p:cNvPr id="21" name="Google Shape;21;p4" title="Calira Interim Logo.png"/>
          <p:cNvPicPr preferRelativeResize="0"/>
          <p:nvPr/>
        </p:nvPicPr>
        <p:blipFill rotWithShape="1">
          <a:blip r:embed="rId2">
            <a:alphaModFix/>
          </a:blip>
          <a:srcRect b="16840" l="0" r="0" t="0"/>
          <a:stretch/>
        </p:blipFill>
        <p:spPr>
          <a:xfrm>
            <a:off x="457200" y="457199"/>
            <a:ext cx="2664599" cy="787199"/>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6"/>
        </a:solidFill>
      </p:bgPr>
    </p:bg>
    <p:spTree>
      <p:nvGrpSpPr>
        <p:cNvPr id="22" name="Shape 22"/>
        <p:cNvGrpSpPr/>
        <p:nvPr/>
      </p:nvGrpSpPr>
      <p:grpSpPr>
        <a:xfrm>
          <a:off x="0" y="0"/>
          <a:ext cx="0" cy="0"/>
          <a:chOff x="0" y="0"/>
          <a:chExt cx="0" cy="0"/>
        </a:xfrm>
      </p:grpSpPr>
      <p:sp>
        <p:nvSpPr>
          <p:cNvPr id="23" name="Google Shape;23;p5"/>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
        <p:nvSpPr>
          <p:cNvPr id="24" name="Google Shape;24;p5"/>
          <p:cNvSpPr txBox="1"/>
          <p:nvPr>
            <p:ph type="ctrTitle"/>
          </p:nvPr>
        </p:nvSpPr>
        <p:spPr>
          <a:xfrm>
            <a:off x="457200" y="2800350"/>
            <a:ext cx="7959600" cy="2229000"/>
          </a:xfrm>
          <a:prstGeom prst="rect">
            <a:avLst/>
          </a:prstGeom>
        </p:spPr>
        <p:txBody>
          <a:bodyPr anchorCtr="0" anchor="t" bIns="0" lIns="0" spcFirstLastPara="1" rIns="0" wrap="square" tIns="0">
            <a:normAutofit/>
          </a:bodyPr>
          <a:lstStyle>
            <a:lvl1pPr lvl="0">
              <a:lnSpc>
                <a:spcPct val="85000"/>
              </a:lnSpc>
              <a:spcBef>
                <a:spcPts val="0"/>
              </a:spcBef>
              <a:spcAft>
                <a:spcPts val="0"/>
              </a:spcAft>
              <a:buSzPts val="8400"/>
              <a:buNone/>
              <a:defRPr sz="8400"/>
            </a:lvl1pPr>
            <a:lvl2pPr lvl="1" algn="ctr">
              <a:spcBef>
                <a:spcPts val="0"/>
              </a:spcBef>
              <a:spcAft>
                <a:spcPts val="0"/>
              </a:spcAft>
              <a:buSzPts val="10400"/>
              <a:buNone/>
              <a:defRPr sz="10400"/>
            </a:lvl2pPr>
            <a:lvl3pPr lvl="2" algn="ctr">
              <a:spcBef>
                <a:spcPts val="0"/>
              </a:spcBef>
              <a:spcAft>
                <a:spcPts val="0"/>
              </a:spcAft>
              <a:buSzPts val="10400"/>
              <a:buNone/>
              <a:defRPr sz="10400"/>
            </a:lvl3pPr>
            <a:lvl4pPr lvl="3" algn="ctr">
              <a:spcBef>
                <a:spcPts val="0"/>
              </a:spcBef>
              <a:spcAft>
                <a:spcPts val="0"/>
              </a:spcAft>
              <a:buSzPts val="10400"/>
              <a:buNone/>
              <a:defRPr sz="10400"/>
            </a:lvl4pPr>
            <a:lvl5pPr lvl="4" algn="ctr">
              <a:spcBef>
                <a:spcPts val="0"/>
              </a:spcBef>
              <a:spcAft>
                <a:spcPts val="0"/>
              </a:spcAft>
              <a:buSzPts val="10400"/>
              <a:buNone/>
              <a:defRPr sz="10400"/>
            </a:lvl5pPr>
            <a:lvl6pPr lvl="5" algn="ctr">
              <a:spcBef>
                <a:spcPts val="0"/>
              </a:spcBef>
              <a:spcAft>
                <a:spcPts val="0"/>
              </a:spcAft>
              <a:buSzPts val="10400"/>
              <a:buNone/>
              <a:defRPr sz="10400"/>
            </a:lvl6pPr>
            <a:lvl7pPr lvl="6" algn="ctr">
              <a:spcBef>
                <a:spcPts val="0"/>
              </a:spcBef>
              <a:spcAft>
                <a:spcPts val="0"/>
              </a:spcAft>
              <a:buSzPts val="10400"/>
              <a:buNone/>
              <a:defRPr sz="10400"/>
            </a:lvl7pPr>
            <a:lvl8pPr lvl="7" algn="ctr">
              <a:spcBef>
                <a:spcPts val="0"/>
              </a:spcBef>
              <a:spcAft>
                <a:spcPts val="0"/>
              </a:spcAft>
              <a:buSzPts val="10400"/>
              <a:buNone/>
              <a:defRPr sz="10400"/>
            </a:lvl8pPr>
            <a:lvl9pPr lvl="8" algn="ctr">
              <a:spcBef>
                <a:spcPts val="0"/>
              </a:spcBef>
              <a:spcAft>
                <a:spcPts val="0"/>
              </a:spcAft>
              <a:buSzPts val="10400"/>
              <a:buNone/>
              <a:defRPr sz="10400"/>
            </a:lvl9pPr>
          </a:lstStyle>
          <a:p/>
        </p:txBody>
      </p:sp>
      <p:sp>
        <p:nvSpPr>
          <p:cNvPr id="25" name="Google Shape;25;p5"/>
          <p:cNvSpPr txBox="1"/>
          <p:nvPr/>
        </p:nvSpPr>
        <p:spPr>
          <a:xfrm>
            <a:off x="914400" y="457200"/>
            <a:ext cx="34290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n-US" sz="1200">
                <a:solidFill>
                  <a:srgbClr val="0B190D"/>
                </a:solidFill>
                <a:latin typeface="Roboto Mono Medium"/>
                <a:ea typeface="Roboto Mono Medium"/>
                <a:cs typeface="Roboto Mono Medium"/>
                <a:sym typeface="Roboto Mono Medium"/>
              </a:rPr>
              <a:t>SECTION HEADER</a:t>
            </a:r>
            <a:endParaRPr sz="1200">
              <a:solidFill>
                <a:srgbClr val="0B190D"/>
              </a:solidFill>
              <a:latin typeface="Roboto Mono Medium"/>
              <a:ea typeface="Roboto Mono Medium"/>
              <a:cs typeface="Roboto Mono Medium"/>
              <a:sym typeface="Roboto Mono Medium"/>
            </a:endParaRPr>
          </a:p>
        </p:txBody>
      </p:sp>
      <p:pic>
        <p:nvPicPr>
          <p:cNvPr id="26" name="Google Shape;26;p5" title="Clustermarket-icon.png"/>
          <p:cNvPicPr preferRelativeResize="0"/>
          <p:nvPr/>
        </p:nvPicPr>
        <p:blipFill>
          <a:blip r:embed="rId2">
            <a:alphaModFix/>
          </a:blip>
          <a:stretch>
            <a:fillRect/>
          </a:stretch>
        </p:blipFill>
        <p:spPr>
          <a:xfrm>
            <a:off x="457198" y="420624"/>
            <a:ext cx="289100" cy="24965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rgbClr val="FAFAED"/>
        </a:solidFill>
      </p:bgPr>
    </p:bg>
    <p:spTree>
      <p:nvGrpSpPr>
        <p:cNvPr id="27" name="Shape 27"/>
        <p:cNvGrpSpPr/>
        <p:nvPr/>
      </p:nvGrpSpPr>
      <p:grpSpPr>
        <a:xfrm>
          <a:off x="0" y="0"/>
          <a:ext cx="0" cy="0"/>
          <a:chOff x="0" y="0"/>
          <a:chExt cx="0" cy="0"/>
        </a:xfrm>
      </p:grpSpPr>
      <p:sp>
        <p:nvSpPr>
          <p:cNvPr id="28" name="Google Shape;28;p6"/>
          <p:cNvSpPr txBox="1"/>
          <p:nvPr>
            <p:ph type="title"/>
          </p:nvPr>
        </p:nvSpPr>
        <p:spPr>
          <a:xfrm>
            <a:off x="457200" y="1095150"/>
            <a:ext cx="13030200" cy="1705200"/>
          </a:xfrm>
          <a:prstGeom prst="rect">
            <a:avLst/>
          </a:prstGeom>
        </p:spPr>
        <p:txBody>
          <a:bodyPr anchorCtr="0" anchor="t" bIns="0" lIns="0" spcFirstLastPara="1" rIns="0" wrap="square" tIns="0">
            <a:normAutofit/>
          </a:bodyPr>
          <a:lstStyle>
            <a:lvl1pPr lvl="0">
              <a:spcBef>
                <a:spcPts val="0"/>
              </a:spcBef>
              <a:spcAft>
                <a:spcPts val="0"/>
              </a:spcAft>
              <a:buSzPts val="6000"/>
              <a:buNone/>
              <a:defRPr sz="6000"/>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29" name="Google Shape;29;p6"/>
          <p:cNvSpPr txBox="1"/>
          <p:nvPr>
            <p:ph idx="1" type="body"/>
          </p:nvPr>
        </p:nvSpPr>
        <p:spPr>
          <a:xfrm>
            <a:off x="457200" y="2800350"/>
            <a:ext cx="17041200" cy="6832800"/>
          </a:xfrm>
          <a:prstGeom prst="rect">
            <a:avLst/>
          </a:prstGeom>
        </p:spPr>
        <p:txBody>
          <a:bodyPr anchorCtr="0" anchor="t" bIns="0" lIns="0" spcFirstLastPara="1" rIns="0" wrap="square" tIns="0">
            <a:noAutofit/>
          </a:bodyPr>
          <a:lstStyle>
            <a:lvl1pPr indent="-457200" lvl="0" marL="457200">
              <a:spcBef>
                <a:spcPts val="0"/>
              </a:spcBef>
              <a:spcAft>
                <a:spcPts val="0"/>
              </a:spcAft>
              <a:buSzPts val="3600"/>
              <a:buChar char="●"/>
              <a:defRPr/>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317500" lvl="8" marL="4114800">
              <a:spcBef>
                <a:spcPts val="0"/>
              </a:spcBef>
              <a:spcAft>
                <a:spcPts val="0"/>
              </a:spcAft>
              <a:buSzPts val="1400"/>
              <a:buChar char="■"/>
              <a:defRPr/>
            </a:lvl9pPr>
          </a:lstStyle>
          <a:p/>
        </p:txBody>
      </p:sp>
      <p:sp>
        <p:nvSpPr>
          <p:cNvPr id="30" name="Google Shape;30;p6"/>
          <p:cNvSpPr txBox="1"/>
          <p:nvPr>
            <p:ph idx="12" type="sldNum"/>
          </p:nvPr>
        </p:nvSpPr>
        <p:spPr>
          <a:xfrm>
            <a:off x="17113568" y="9499702"/>
            <a:ext cx="1097400" cy="787200"/>
          </a:xfrm>
          <a:prstGeom prst="rect">
            <a:avLst/>
          </a:prstGeom>
        </p:spPr>
        <p:txBody>
          <a:bodyPr anchorCtr="0" anchor="t" bIns="182850" lIns="182850" spcFirstLastPara="1" rIns="182850" wrap="square" tIns="182850">
            <a:normAutofit/>
          </a:bodyPr>
          <a:lstStyle>
            <a:lvl1pPr lvl="0">
              <a:buNone/>
              <a:defRPr sz="2600">
                <a:solidFill>
                  <a:srgbClr val="0B190D"/>
                </a:solidFill>
                <a:latin typeface="Inter"/>
                <a:ea typeface="Inter"/>
                <a:cs typeface="Inter"/>
                <a:sym typeface="Inter"/>
              </a:defRPr>
            </a:lvl1pPr>
            <a:lvl2pPr lvl="1">
              <a:buNone/>
              <a:defRPr sz="2600">
                <a:solidFill>
                  <a:srgbClr val="0B190D"/>
                </a:solidFill>
                <a:latin typeface="Inter"/>
                <a:ea typeface="Inter"/>
                <a:cs typeface="Inter"/>
                <a:sym typeface="Inter"/>
              </a:defRPr>
            </a:lvl2pPr>
            <a:lvl3pPr lvl="2">
              <a:buNone/>
              <a:defRPr sz="2600">
                <a:solidFill>
                  <a:srgbClr val="0B190D"/>
                </a:solidFill>
                <a:latin typeface="Inter"/>
                <a:ea typeface="Inter"/>
                <a:cs typeface="Inter"/>
                <a:sym typeface="Inter"/>
              </a:defRPr>
            </a:lvl3pPr>
            <a:lvl4pPr lvl="3">
              <a:buNone/>
              <a:defRPr sz="2600">
                <a:solidFill>
                  <a:srgbClr val="0B190D"/>
                </a:solidFill>
                <a:latin typeface="Inter"/>
                <a:ea typeface="Inter"/>
                <a:cs typeface="Inter"/>
                <a:sym typeface="Inter"/>
              </a:defRPr>
            </a:lvl4pPr>
            <a:lvl5pPr lvl="4">
              <a:buNone/>
              <a:defRPr sz="2600">
                <a:solidFill>
                  <a:srgbClr val="0B190D"/>
                </a:solidFill>
                <a:latin typeface="Inter"/>
                <a:ea typeface="Inter"/>
                <a:cs typeface="Inter"/>
                <a:sym typeface="Inter"/>
              </a:defRPr>
            </a:lvl5pPr>
            <a:lvl6pPr lvl="5">
              <a:buNone/>
              <a:defRPr sz="2600">
                <a:solidFill>
                  <a:srgbClr val="0B190D"/>
                </a:solidFill>
                <a:latin typeface="Inter"/>
                <a:ea typeface="Inter"/>
                <a:cs typeface="Inter"/>
                <a:sym typeface="Inter"/>
              </a:defRPr>
            </a:lvl6pPr>
            <a:lvl7pPr lvl="6">
              <a:buNone/>
              <a:defRPr sz="2600">
                <a:solidFill>
                  <a:srgbClr val="0B190D"/>
                </a:solidFill>
                <a:latin typeface="Inter"/>
                <a:ea typeface="Inter"/>
                <a:cs typeface="Inter"/>
                <a:sym typeface="Inter"/>
              </a:defRPr>
            </a:lvl7pPr>
            <a:lvl8pPr lvl="7">
              <a:buNone/>
              <a:defRPr sz="2600">
                <a:solidFill>
                  <a:srgbClr val="0B190D"/>
                </a:solidFill>
                <a:latin typeface="Inter"/>
                <a:ea typeface="Inter"/>
                <a:cs typeface="Inter"/>
                <a:sym typeface="Inter"/>
              </a:defRPr>
            </a:lvl8pPr>
            <a:lvl9pPr lvl="8">
              <a:buNone/>
              <a:defRPr sz="2600">
                <a:solidFill>
                  <a:srgbClr val="0B190D"/>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7"/>
          <p:cNvSpPr txBox="1"/>
          <p:nvPr>
            <p:ph type="title"/>
          </p:nvPr>
        </p:nvSpPr>
        <p:spPr>
          <a:xfrm>
            <a:off x="457200" y="1095150"/>
            <a:ext cx="13030200" cy="1705200"/>
          </a:xfrm>
          <a:prstGeom prst="rect">
            <a:avLst/>
          </a:prstGeom>
        </p:spPr>
        <p:txBody>
          <a:bodyPr anchorCtr="0" anchor="t" bIns="0" lIns="0" spcFirstLastPara="1" rIns="0" wrap="square" tIns="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3" name="Google Shape;33;p7"/>
          <p:cNvSpPr txBox="1"/>
          <p:nvPr>
            <p:ph idx="1" type="body"/>
          </p:nvPr>
        </p:nvSpPr>
        <p:spPr>
          <a:xfrm>
            <a:off x="623400" y="2304950"/>
            <a:ext cx="7999800" cy="6832800"/>
          </a:xfrm>
          <a:prstGeom prst="rect">
            <a:avLst/>
          </a:prstGeom>
        </p:spPr>
        <p:txBody>
          <a:bodyPr anchorCtr="0" anchor="t" bIns="182850" lIns="182850" spcFirstLastPara="1" rIns="182850" wrap="square" tIns="182850">
            <a:normAutofit/>
          </a:bodyPr>
          <a:lstStyle>
            <a:lvl1pPr indent="-406400" lvl="0" marL="457200">
              <a:spcBef>
                <a:spcPts val="0"/>
              </a:spcBef>
              <a:spcAft>
                <a:spcPts val="0"/>
              </a:spcAft>
              <a:buSzPts val="2800"/>
              <a:buChar char="●"/>
              <a:defRPr sz="28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34" name="Google Shape;34;p7"/>
          <p:cNvSpPr txBox="1"/>
          <p:nvPr>
            <p:ph idx="2" type="body"/>
          </p:nvPr>
        </p:nvSpPr>
        <p:spPr>
          <a:xfrm>
            <a:off x="9664800" y="2304950"/>
            <a:ext cx="7999800" cy="6832800"/>
          </a:xfrm>
          <a:prstGeom prst="rect">
            <a:avLst/>
          </a:prstGeom>
        </p:spPr>
        <p:txBody>
          <a:bodyPr anchorCtr="0" anchor="t" bIns="182850" lIns="182850" spcFirstLastPara="1" rIns="182850" wrap="square" tIns="182850">
            <a:normAutofit/>
          </a:bodyPr>
          <a:lstStyle>
            <a:lvl1pPr indent="-406400" lvl="0" marL="457200">
              <a:spcBef>
                <a:spcPts val="0"/>
              </a:spcBef>
              <a:spcAft>
                <a:spcPts val="0"/>
              </a:spcAft>
              <a:buSzPts val="2800"/>
              <a:buChar char="●"/>
              <a:defRPr sz="28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35" name="Google Shape;35;p7"/>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8"/>
          <p:cNvSpPr txBox="1"/>
          <p:nvPr>
            <p:ph type="title"/>
          </p:nvPr>
        </p:nvSpPr>
        <p:spPr>
          <a:xfrm>
            <a:off x="457200" y="1095150"/>
            <a:ext cx="13030200" cy="1705200"/>
          </a:xfrm>
          <a:prstGeom prst="rect">
            <a:avLst/>
          </a:prstGeom>
        </p:spPr>
        <p:txBody>
          <a:bodyPr anchorCtr="0" anchor="t" bIns="0" lIns="0" spcFirstLastPara="1" rIns="0" wrap="square" tIns="0">
            <a:normAutofit/>
          </a:bodyPr>
          <a:lstStyle>
            <a:lvl1pPr lvl="0">
              <a:spcBef>
                <a:spcPts val="0"/>
              </a:spcBef>
              <a:spcAft>
                <a:spcPts val="0"/>
              </a:spcAft>
              <a:buSzPts val="5600"/>
              <a:buNone/>
              <a:defRPr/>
            </a:lvl1pPr>
            <a:lvl2pPr lvl="1">
              <a:spcBef>
                <a:spcPts val="0"/>
              </a:spcBef>
              <a:spcAft>
                <a:spcPts val="0"/>
              </a:spcAft>
              <a:buSzPts val="5600"/>
              <a:buNone/>
              <a:defRPr/>
            </a:lvl2pPr>
            <a:lvl3pPr lvl="2">
              <a:spcBef>
                <a:spcPts val="0"/>
              </a:spcBef>
              <a:spcAft>
                <a:spcPts val="0"/>
              </a:spcAft>
              <a:buSzPts val="5600"/>
              <a:buNone/>
              <a:defRPr/>
            </a:lvl3pPr>
            <a:lvl4pPr lvl="3">
              <a:spcBef>
                <a:spcPts val="0"/>
              </a:spcBef>
              <a:spcAft>
                <a:spcPts val="0"/>
              </a:spcAft>
              <a:buSzPts val="5600"/>
              <a:buNone/>
              <a:defRPr/>
            </a:lvl4pPr>
            <a:lvl5pPr lvl="4">
              <a:spcBef>
                <a:spcPts val="0"/>
              </a:spcBef>
              <a:spcAft>
                <a:spcPts val="0"/>
              </a:spcAft>
              <a:buSzPts val="5600"/>
              <a:buNone/>
              <a:defRPr/>
            </a:lvl5pPr>
            <a:lvl6pPr lvl="5">
              <a:spcBef>
                <a:spcPts val="0"/>
              </a:spcBef>
              <a:spcAft>
                <a:spcPts val="0"/>
              </a:spcAft>
              <a:buSzPts val="5600"/>
              <a:buNone/>
              <a:defRPr/>
            </a:lvl6pPr>
            <a:lvl7pPr lvl="6">
              <a:spcBef>
                <a:spcPts val="0"/>
              </a:spcBef>
              <a:spcAft>
                <a:spcPts val="0"/>
              </a:spcAft>
              <a:buSzPts val="5600"/>
              <a:buNone/>
              <a:defRPr/>
            </a:lvl7pPr>
            <a:lvl8pPr lvl="7">
              <a:spcBef>
                <a:spcPts val="0"/>
              </a:spcBef>
              <a:spcAft>
                <a:spcPts val="0"/>
              </a:spcAft>
              <a:buSzPts val="5600"/>
              <a:buNone/>
              <a:defRPr/>
            </a:lvl8pPr>
            <a:lvl9pPr lvl="8">
              <a:spcBef>
                <a:spcPts val="0"/>
              </a:spcBef>
              <a:spcAft>
                <a:spcPts val="0"/>
              </a:spcAft>
              <a:buSzPts val="5600"/>
              <a:buNone/>
              <a:defRPr/>
            </a:lvl9pPr>
          </a:lstStyle>
          <a:p/>
        </p:txBody>
      </p:sp>
      <p:sp>
        <p:nvSpPr>
          <p:cNvPr id="38" name="Google Shape;38;p8"/>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sp>
        <p:nvSpPr>
          <p:cNvPr id="40" name="Google Shape;40;p9"/>
          <p:cNvSpPr txBox="1"/>
          <p:nvPr>
            <p:ph type="title"/>
          </p:nvPr>
        </p:nvSpPr>
        <p:spPr>
          <a:xfrm>
            <a:off x="623400" y="1111200"/>
            <a:ext cx="5616000" cy="1511400"/>
          </a:xfrm>
          <a:prstGeom prst="rect">
            <a:avLst/>
          </a:prstGeom>
        </p:spPr>
        <p:txBody>
          <a:bodyPr anchorCtr="0" anchor="b" bIns="0" lIns="0" spcFirstLastPara="1" rIns="0" wrap="square" tIns="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9"/>
          <p:cNvSpPr txBox="1"/>
          <p:nvPr>
            <p:ph idx="1" type="body"/>
          </p:nvPr>
        </p:nvSpPr>
        <p:spPr>
          <a:xfrm>
            <a:off x="623400" y="2779200"/>
            <a:ext cx="5616000" cy="63588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42" name="Google Shape;42;p9"/>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3" name="Shape 43"/>
        <p:cNvGrpSpPr/>
        <p:nvPr/>
      </p:nvGrpSpPr>
      <p:grpSpPr>
        <a:xfrm>
          <a:off x="0" y="0"/>
          <a:ext cx="0" cy="0"/>
          <a:chOff x="0" y="0"/>
          <a:chExt cx="0" cy="0"/>
        </a:xfrm>
      </p:grpSpPr>
      <p:sp>
        <p:nvSpPr>
          <p:cNvPr id="44" name="Google Shape;44;p10"/>
          <p:cNvSpPr txBox="1"/>
          <p:nvPr>
            <p:ph type="title"/>
          </p:nvPr>
        </p:nvSpPr>
        <p:spPr>
          <a:xfrm>
            <a:off x="980500" y="900300"/>
            <a:ext cx="12735600" cy="8181600"/>
          </a:xfrm>
          <a:prstGeom prst="rect">
            <a:avLst/>
          </a:prstGeom>
        </p:spPr>
        <p:txBody>
          <a:bodyPr anchorCtr="0" anchor="ctr" bIns="0" lIns="0" spcFirstLastPara="1" rIns="0" wrap="square" tIns="0">
            <a:normAutofit/>
          </a:bodyPr>
          <a:lstStyle>
            <a:lvl1pPr lvl="0">
              <a:spcBef>
                <a:spcPts val="0"/>
              </a:spcBef>
              <a:spcAft>
                <a:spcPts val="0"/>
              </a:spcAft>
              <a:buSzPts val="9600"/>
              <a:buNone/>
              <a:defRPr sz="9600"/>
            </a:lvl1pPr>
            <a:lvl2pPr lvl="1">
              <a:spcBef>
                <a:spcPts val="0"/>
              </a:spcBef>
              <a:spcAft>
                <a:spcPts val="0"/>
              </a:spcAft>
              <a:buSzPts val="9600"/>
              <a:buNone/>
              <a:defRPr sz="9600"/>
            </a:lvl2pPr>
            <a:lvl3pPr lvl="2">
              <a:spcBef>
                <a:spcPts val="0"/>
              </a:spcBef>
              <a:spcAft>
                <a:spcPts val="0"/>
              </a:spcAft>
              <a:buSzPts val="9600"/>
              <a:buNone/>
              <a:defRPr sz="9600"/>
            </a:lvl3pPr>
            <a:lvl4pPr lvl="3">
              <a:spcBef>
                <a:spcPts val="0"/>
              </a:spcBef>
              <a:spcAft>
                <a:spcPts val="0"/>
              </a:spcAft>
              <a:buSzPts val="9600"/>
              <a:buNone/>
              <a:defRPr sz="9600"/>
            </a:lvl4pPr>
            <a:lvl5pPr lvl="4">
              <a:spcBef>
                <a:spcPts val="0"/>
              </a:spcBef>
              <a:spcAft>
                <a:spcPts val="0"/>
              </a:spcAft>
              <a:buSzPts val="9600"/>
              <a:buNone/>
              <a:defRPr sz="9600"/>
            </a:lvl5pPr>
            <a:lvl6pPr lvl="5">
              <a:spcBef>
                <a:spcPts val="0"/>
              </a:spcBef>
              <a:spcAft>
                <a:spcPts val="0"/>
              </a:spcAft>
              <a:buSzPts val="9600"/>
              <a:buNone/>
              <a:defRPr sz="9600"/>
            </a:lvl6pPr>
            <a:lvl7pPr lvl="6">
              <a:spcBef>
                <a:spcPts val="0"/>
              </a:spcBef>
              <a:spcAft>
                <a:spcPts val="0"/>
              </a:spcAft>
              <a:buSzPts val="9600"/>
              <a:buNone/>
              <a:defRPr sz="9600"/>
            </a:lvl7pPr>
            <a:lvl8pPr lvl="7">
              <a:spcBef>
                <a:spcPts val="0"/>
              </a:spcBef>
              <a:spcAft>
                <a:spcPts val="0"/>
              </a:spcAft>
              <a:buSzPts val="9600"/>
              <a:buNone/>
              <a:defRPr sz="9600"/>
            </a:lvl8pPr>
            <a:lvl9pPr lvl="8">
              <a:spcBef>
                <a:spcPts val="0"/>
              </a:spcBef>
              <a:spcAft>
                <a:spcPts val="0"/>
              </a:spcAft>
              <a:buSzPts val="9600"/>
              <a:buNone/>
              <a:defRPr sz="9600"/>
            </a:lvl9pPr>
          </a:lstStyle>
          <a:p/>
        </p:txBody>
      </p:sp>
      <p:sp>
        <p:nvSpPr>
          <p:cNvPr id="45" name="Google Shape;45;p10"/>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6" name="Shape 46"/>
        <p:cNvGrpSpPr/>
        <p:nvPr/>
      </p:nvGrpSpPr>
      <p:grpSpPr>
        <a:xfrm>
          <a:off x="0" y="0"/>
          <a:ext cx="0" cy="0"/>
          <a:chOff x="0" y="0"/>
          <a:chExt cx="0" cy="0"/>
        </a:xfrm>
      </p:grpSpPr>
      <p:sp>
        <p:nvSpPr>
          <p:cNvPr id="47" name="Google Shape;47;p11"/>
          <p:cNvSpPr/>
          <p:nvPr/>
        </p:nvSpPr>
        <p:spPr>
          <a:xfrm>
            <a:off x="9144000" y="-250"/>
            <a:ext cx="9144000" cy="10287000"/>
          </a:xfrm>
          <a:prstGeom prst="rect">
            <a:avLst/>
          </a:prstGeom>
          <a:solidFill>
            <a:schemeClr val="lt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48" name="Google Shape;48;p11"/>
          <p:cNvSpPr txBox="1"/>
          <p:nvPr>
            <p:ph type="title"/>
          </p:nvPr>
        </p:nvSpPr>
        <p:spPr>
          <a:xfrm>
            <a:off x="531000" y="2466350"/>
            <a:ext cx="8090400" cy="2964600"/>
          </a:xfrm>
          <a:prstGeom prst="rect">
            <a:avLst/>
          </a:prstGeom>
        </p:spPr>
        <p:txBody>
          <a:bodyPr anchorCtr="0" anchor="b" bIns="0" lIns="0" spcFirstLastPara="1" rIns="0" wrap="square" tIns="0">
            <a:normAutofit/>
          </a:bodyPr>
          <a:lstStyle>
            <a:lvl1pPr lvl="0" algn="ctr">
              <a:spcBef>
                <a:spcPts val="0"/>
              </a:spcBef>
              <a:spcAft>
                <a:spcPts val="0"/>
              </a:spcAft>
              <a:buSzPts val="8400"/>
              <a:buNone/>
              <a:defRPr sz="8400"/>
            </a:lvl1pPr>
            <a:lvl2pPr lvl="1" algn="ctr">
              <a:spcBef>
                <a:spcPts val="0"/>
              </a:spcBef>
              <a:spcAft>
                <a:spcPts val="0"/>
              </a:spcAft>
              <a:buSzPts val="8400"/>
              <a:buNone/>
              <a:defRPr sz="8400"/>
            </a:lvl2pPr>
            <a:lvl3pPr lvl="2" algn="ctr">
              <a:spcBef>
                <a:spcPts val="0"/>
              </a:spcBef>
              <a:spcAft>
                <a:spcPts val="0"/>
              </a:spcAft>
              <a:buSzPts val="8400"/>
              <a:buNone/>
              <a:defRPr sz="8400"/>
            </a:lvl3pPr>
            <a:lvl4pPr lvl="3" algn="ctr">
              <a:spcBef>
                <a:spcPts val="0"/>
              </a:spcBef>
              <a:spcAft>
                <a:spcPts val="0"/>
              </a:spcAft>
              <a:buSzPts val="8400"/>
              <a:buNone/>
              <a:defRPr sz="8400"/>
            </a:lvl4pPr>
            <a:lvl5pPr lvl="4" algn="ctr">
              <a:spcBef>
                <a:spcPts val="0"/>
              </a:spcBef>
              <a:spcAft>
                <a:spcPts val="0"/>
              </a:spcAft>
              <a:buSzPts val="8400"/>
              <a:buNone/>
              <a:defRPr sz="8400"/>
            </a:lvl5pPr>
            <a:lvl6pPr lvl="5" algn="ctr">
              <a:spcBef>
                <a:spcPts val="0"/>
              </a:spcBef>
              <a:spcAft>
                <a:spcPts val="0"/>
              </a:spcAft>
              <a:buSzPts val="8400"/>
              <a:buNone/>
              <a:defRPr sz="8400"/>
            </a:lvl6pPr>
            <a:lvl7pPr lvl="6" algn="ctr">
              <a:spcBef>
                <a:spcPts val="0"/>
              </a:spcBef>
              <a:spcAft>
                <a:spcPts val="0"/>
              </a:spcAft>
              <a:buSzPts val="8400"/>
              <a:buNone/>
              <a:defRPr sz="8400"/>
            </a:lvl7pPr>
            <a:lvl8pPr lvl="7" algn="ctr">
              <a:spcBef>
                <a:spcPts val="0"/>
              </a:spcBef>
              <a:spcAft>
                <a:spcPts val="0"/>
              </a:spcAft>
              <a:buSzPts val="8400"/>
              <a:buNone/>
              <a:defRPr sz="8400"/>
            </a:lvl8pPr>
            <a:lvl9pPr lvl="8" algn="ctr">
              <a:spcBef>
                <a:spcPts val="0"/>
              </a:spcBef>
              <a:spcAft>
                <a:spcPts val="0"/>
              </a:spcAft>
              <a:buSzPts val="8400"/>
              <a:buNone/>
              <a:defRPr sz="8400"/>
            </a:lvl9pPr>
          </a:lstStyle>
          <a:p/>
        </p:txBody>
      </p:sp>
      <p:sp>
        <p:nvSpPr>
          <p:cNvPr id="49" name="Google Shape;49;p11"/>
          <p:cNvSpPr txBox="1"/>
          <p:nvPr>
            <p:ph idx="1" type="subTitle"/>
          </p:nvPr>
        </p:nvSpPr>
        <p:spPr>
          <a:xfrm>
            <a:off x="531000" y="5606150"/>
            <a:ext cx="8090400" cy="2470200"/>
          </a:xfrm>
          <a:prstGeom prst="rect">
            <a:avLst/>
          </a:prstGeom>
        </p:spPr>
        <p:txBody>
          <a:bodyPr anchorCtr="0" anchor="t" bIns="182850" lIns="182850" spcFirstLastPara="1" rIns="182850" wrap="square" tIns="18285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50" name="Google Shape;50;p11"/>
          <p:cNvSpPr txBox="1"/>
          <p:nvPr>
            <p:ph idx="2" type="body"/>
          </p:nvPr>
        </p:nvSpPr>
        <p:spPr>
          <a:xfrm>
            <a:off x="9879000" y="1448150"/>
            <a:ext cx="7674000" cy="7390200"/>
          </a:xfrm>
          <a:prstGeom prst="rect">
            <a:avLst/>
          </a:prstGeom>
        </p:spPr>
        <p:txBody>
          <a:bodyPr anchorCtr="0" anchor="ctr" bIns="182850" lIns="182850" spcFirstLastPara="1" rIns="182850" wrap="square" tIns="182850">
            <a:normAutofit/>
          </a:bodyPr>
          <a:lstStyle>
            <a:lvl1pPr indent="-457200" lvl="0" marL="457200">
              <a:spcBef>
                <a:spcPts val="0"/>
              </a:spcBef>
              <a:spcAft>
                <a:spcPts val="0"/>
              </a:spcAft>
              <a:buSzPts val="3600"/>
              <a:buChar char="●"/>
              <a:defRPr/>
            </a:lvl1pPr>
            <a:lvl2pPr indent="-406400" lvl="1" marL="914400">
              <a:spcBef>
                <a:spcPts val="0"/>
              </a:spcBef>
              <a:spcAft>
                <a:spcPts val="0"/>
              </a:spcAft>
              <a:buSzPts val="2800"/>
              <a:buChar char="○"/>
              <a:defRPr/>
            </a:lvl2pPr>
            <a:lvl3pPr indent="-406400" lvl="2" marL="1371600">
              <a:spcBef>
                <a:spcPts val="0"/>
              </a:spcBef>
              <a:spcAft>
                <a:spcPts val="0"/>
              </a:spcAft>
              <a:buSzPts val="2800"/>
              <a:buChar char="■"/>
              <a:defRPr/>
            </a:lvl3pPr>
            <a:lvl4pPr indent="-406400" lvl="3" marL="1828800">
              <a:spcBef>
                <a:spcPts val="0"/>
              </a:spcBef>
              <a:spcAft>
                <a:spcPts val="0"/>
              </a:spcAft>
              <a:buSzPts val="2800"/>
              <a:buChar char="●"/>
              <a:defRPr/>
            </a:lvl4pPr>
            <a:lvl5pPr indent="-406400" lvl="4" marL="2286000">
              <a:spcBef>
                <a:spcPts val="0"/>
              </a:spcBef>
              <a:spcAft>
                <a:spcPts val="0"/>
              </a:spcAft>
              <a:buSzPts val="2800"/>
              <a:buChar char="○"/>
              <a:defRPr/>
            </a:lvl5pPr>
            <a:lvl6pPr indent="-406400" lvl="5" marL="2743200">
              <a:spcBef>
                <a:spcPts val="0"/>
              </a:spcBef>
              <a:spcAft>
                <a:spcPts val="0"/>
              </a:spcAft>
              <a:buSzPts val="2800"/>
              <a:buChar char="■"/>
              <a:defRPr/>
            </a:lvl6pPr>
            <a:lvl7pPr indent="-406400" lvl="6" marL="3200400">
              <a:spcBef>
                <a:spcPts val="0"/>
              </a:spcBef>
              <a:spcAft>
                <a:spcPts val="0"/>
              </a:spcAft>
              <a:buSzPts val="2800"/>
              <a:buChar char="●"/>
              <a:defRPr/>
            </a:lvl7pPr>
            <a:lvl8pPr indent="-406400" lvl="7" marL="3657600">
              <a:spcBef>
                <a:spcPts val="0"/>
              </a:spcBef>
              <a:spcAft>
                <a:spcPts val="0"/>
              </a:spcAft>
              <a:buSzPts val="2800"/>
              <a:buChar char="○"/>
              <a:defRPr/>
            </a:lvl8pPr>
            <a:lvl9pPr indent="-317500" lvl="8" marL="4114800">
              <a:spcBef>
                <a:spcPts val="0"/>
              </a:spcBef>
              <a:spcAft>
                <a:spcPts val="0"/>
              </a:spcAft>
              <a:buSzPts val="1400"/>
              <a:buChar char="■"/>
              <a:defRPr/>
            </a:lvl9pPr>
          </a:lstStyle>
          <a:p/>
        </p:txBody>
      </p:sp>
      <p:sp>
        <p:nvSpPr>
          <p:cNvPr id="51" name="Google Shape;51;p11"/>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2"/>
          <p:cNvSpPr txBox="1"/>
          <p:nvPr>
            <p:ph idx="1" type="body"/>
          </p:nvPr>
        </p:nvSpPr>
        <p:spPr>
          <a:xfrm>
            <a:off x="623400" y="8461150"/>
            <a:ext cx="11997600" cy="1210200"/>
          </a:xfrm>
          <a:prstGeom prst="rect">
            <a:avLst/>
          </a:prstGeom>
        </p:spPr>
        <p:txBody>
          <a:bodyPr anchorCtr="0" anchor="ctr" bIns="182850" lIns="182850" spcFirstLastPara="1" rIns="182850" wrap="square" tIns="182850">
            <a:normAutofit/>
          </a:bodyPr>
          <a:lstStyle>
            <a:lvl1pPr indent="-228600" lvl="0" marL="457200">
              <a:lnSpc>
                <a:spcPct val="100000"/>
              </a:lnSpc>
              <a:spcBef>
                <a:spcPts val="0"/>
              </a:spcBef>
              <a:spcAft>
                <a:spcPts val="0"/>
              </a:spcAft>
              <a:buSzPts val="3600"/>
              <a:buNone/>
              <a:defRPr/>
            </a:lvl1pPr>
          </a:lstStyle>
          <a:p/>
        </p:txBody>
      </p:sp>
      <p:sp>
        <p:nvSpPr>
          <p:cNvPr id="54" name="Google Shape;54;p12"/>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3"/>
          <p:cNvSpPr txBox="1"/>
          <p:nvPr>
            <p:ph hasCustomPrompt="1" type="title"/>
          </p:nvPr>
        </p:nvSpPr>
        <p:spPr>
          <a:xfrm>
            <a:off x="623400" y="2212250"/>
            <a:ext cx="17041200" cy="3927000"/>
          </a:xfrm>
          <a:prstGeom prst="rect">
            <a:avLst/>
          </a:prstGeom>
        </p:spPr>
        <p:txBody>
          <a:bodyPr anchorCtr="0" anchor="b" bIns="0" lIns="0" spcFirstLastPara="1" rIns="0" wrap="square" tIns="0">
            <a:normAutofit/>
          </a:bodyPr>
          <a:lstStyle>
            <a:lvl1pPr lvl="0" algn="ctr">
              <a:spcBef>
                <a:spcPts val="0"/>
              </a:spcBef>
              <a:spcAft>
                <a:spcPts val="0"/>
              </a:spcAft>
              <a:buSzPts val="24000"/>
              <a:buNone/>
              <a:defRPr b="0" sz="24000"/>
            </a:lvl1pPr>
            <a:lvl2pPr lvl="1" algn="ctr">
              <a:spcBef>
                <a:spcPts val="0"/>
              </a:spcBef>
              <a:spcAft>
                <a:spcPts val="0"/>
              </a:spcAft>
              <a:buSzPts val="24000"/>
              <a:buNone/>
              <a:defRPr sz="24000"/>
            </a:lvl2pPr>
            <a:lvl3pPr lvl="2" algn="ctr">
              <a:spcBef>
                <a:spcPts val="0"/>
              </a:spcBef>
              <a:spcAft>
                <a:spcPts val="0"/>
              </a:spcAft>
              <a:buSzPts val="24000"/>
              <a:buNone/>
              <a:defRPr sz="24000"/>
            </a:lvl3pPr>
            <a:lvl4pPr lvl="3" algn="ctr">
              <a:spcBef>
                <a:spcPts val="0"/>
              </a:spcBef>
              <a:spcAft>
                <a:spcPts val="0"/>
              </a:spcAft>
              <a:buSzPts val="24000"/>
              <a:buNone/>
              <a:defRPr sz="24000"/>
            </a:lvl4pPr>
            <a:lvl5pPr lvl="4" algn="ctr">
              <a:spcBef>
                <a:spcPts val="0"/>
              </a:spcBef>
              <a:spcAft>
                <a:spcPts val="0"/>
              </a:spcAft>
              <a:buSzPts val="24000"/>
              <a:buNone/>
              <a:defRPr sz="24000"/>
            </a:lvl5pPr>
            <a:lvl6pPr lvl="5" algn="ctr">
              <a:spcBef>
                <a:spcPts val="0"/>
              </a:spcBef>
              <a:spcAft>
                <a:spcPts val="0"/>
              </a:spcAft>
              <a:buSzPts val="24000"/>
              <a:buNone/>
              <a:defRPr sz="24000"/>
            </a:lvl6pPr>
            <a:lvl7pPr lvl="6" algn="ctr">
              <a:spcBef>
                <a:spcPts val="0"/>
              </a:spcBef>
              <a:spcAft>
                <a:spcPts val="0"/>
              </a:spcAft>
              <a:buSzPts val="24000"/>
              <a:buNone/>
              <a:defRPr sz="24000"/>
            </a:lvl7pPr>
            <a:lvl8pPr lvl="7" algn="ctr">
              <a:spcBef>
                <a:spcPts val="0"/>
              </a:spcBef>
              <a:spcAft>
                <a:spcPts val="0"/>
              </a:spcAft>
              <a:buSzPts val="24000"/>
              <a:buNone/>
              <a:defRPr sz="24000"/>
            </a:lvl8pPr>
            <a:lvl9pPr lvl="8" algn="ctr">
              <a:spcBef>
                <a:spcPts val="0"/>
              </a:spcBef>
              <a:spcAft>
                <a:spcPts val="0"/>
              </a:spcAft>
              <a:buSzPts val="24000"/>
              <a:buNone/>
              <a:defRPr sz="24000"/>
            </a:lvl9pPr>
          </a:lstStyle>
          <a:p>
            <a:r>
              <a:t>xx%</a:t>
            </a:r>
          </a:p>
        </p:txBody>
      </p:sp>
      <p:sp>
        <p:nvSpPr>
          <p:cNvPr id="57" name="Google Shape;57;p13"/>
          <p:cNvSpPr txBox="1"/>
          <p:nvPr>
            <p:ph idx="1" type="body"/>
          </p:nvPr>
        </p:nvSpPr>
        <p:spPr>
          <a:xfrm>
            <a:off x="623400" y="6304450"/>
            <a:ext cx="17041200" cy="2601600"/>
          </a:xfrm>
          <a:prstGeom prst="rect">
            <a:avLst/>
          </a:prstGeom>
        </p:spPr>
        <p:txBody>
          <a:bodyPr anchorCtr="0" anchor="t" bIns="182850" lIns="182850" spcFirstLastPara="1" rIns="182850" wrap="square" tIns="182850">
            <a:normAutofit/>
          </a:bodyPr>
          <a:lstStyle>
            <a:lvl1pPr indent="-457200" lvl="0" marL="457200" algn="ctr">
              <a:spcBef>
                <a:spcPts val="0"/>
              </a:spcBef>
              <a:spcAft>
                <a:spcPts val="0"/>
              </a:spcAft>
              <a:buSzPts val="3600"/>
              <a:buChar char="●"/>
              <a:defRPr/>
            </a:lvl1pPr>
            <a:lvl2pPr indent="-406400" lvl="1" marL="914400" algn="ctr">
              <a:spcBef>
                <a:spcPts val="0"/>
              </a:spcBef>
              <a:spcAft>
                <a:spcPts val="0"/>
              </a:spcAft>
              <a:buSzPts val="2800"/>
              <a:buChar char="○"/>
              <a:defRPr/>
            </a:lvl2pPr>
            <a:lvl3pPr indent="-406400" lvl="2" marL="1371600" algn="ctr">
              <a:spcBef>
                <a:spcPts val="0"/>
              </a:spcBef>
              <a:spcAft>
                <a:spcPts val="0"/>
              </a:spcAft>
              <a:buSzPts val="2800"/>
              <a:buChar char="■"/>
              <a:defRPr/>
            </a:lvl3pPr>
            <a:lvl4pPr indent="-406400" lvl="3" marL="1828800" algn="ctr">
              <a:spcBef>
                <a:spcPts val="0"/>
              </a:spcBef>
              <a:spcAft>
                <a:spcPts val="0"/>
              </a:spcAft>
              <a:buSzPts val="2800"/>
              <a:buChar char="●"/>
              <a:defRPr/>
            </a:lvl4pPr>
            <a:lvl5pPr indent="-406400" lvl="4" marL="2286000" algn="ctr">
              <a:spcBef>
                <a:spcPts val="0"/>
              </a:spcBef>
              <a:spcAft>
                <a:spcPts val="0"/>
              </a:spcAft>
              <a:buSzPts val="2800"/>
              <a:buChar char="○"/>
              <a:defRPr/>
            </a:lvl5pPr>
            <a:lvl6pPr indent="-406400" lvl="5" marL="2743200" algn="ctr">
              <a:spcBef>
                <a:spcPts val="0"/>
              </a:spcBef>
              <a:spcAft>
                <a:spcPts val="0"/>
              </a:spcAft>
              <a:buSzPts val="2800"/>
              <a:buChar char="■"/>
              <a:defRPr/>
            </a:lvl6pPr>
            <a:lvl7pPr indent="-406400" lvl="6" marL="3200400" algn="ctr">
              <a:spcBef>
                <a:spcPts val="0"/>
              </a:spcBef>
              <a:spcAft>
                <a:spcPts val="0"/>
              </a:spcAft>
              <a:buSzPts val="2800"/>
              <a:buChar char="●"/>
              <a:defRPr/>
            </a:lvl7pPr>
            <a:lvl8pPr indent="-406400" lvl="7" marL="3657600" algn="ctr">
              <a:spcBef>
                <a:spcPts val="0"/>
              </a:spcBef>
              <a:spcAft>
                <a:spcPts val="0"/>
              </a:spcAft>
              <a:buSzPts val="2800"/>
              <a:buChar char="○"/>
              <a:defRPr/>
            </a:lvl8pPr>
            <a:lvl9pPr indent="-317500" lvl="8" marL="4114800" algn="ctr">
              <a:spcBef>
                <a:spcPts val="0"/>
              </a:spcBef>
              <a:spcAft>
                <a:spcPts val="0"/>
              </a:spcAft>
              <a:buSzPts val="1400"/>
              <a:buChar char="■"/>
              <a:defRPr/>
            </a:lvl9pPr>
          </a:lstStyle>
          <a:p/>
        </p:txBody>
      </p:sp>
      <p:sp>
        <p:nvSpPr>
          <p:cNvPr id="58" name="Google Shape;58;p13"/>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9" name="Shape 59"/>
        <p:cNvGrpSpPr/>
        <p:nvPr/>
      </p:nvGrpSpPr>
      <p:grpSpPr>
        <a:xfrm>
          <a:off x="0" y="0"/>
          <a:ext cx="0" cy="0"/>
          <a:chOff x="0" y="0"/>
          <a:chExt cx="0" cy="0"/>
        </a:xfrm>
      </p:grpSpPr>
      <p:sp>
        <p:nvSpPr>
          <p:cNvPr id="60" name="Google Shape;60;p14"/>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1" name="Shape 11"/>
        <p:cNvGrpSpPr/>
        <p:nvPr/>
      </p:nvGrpSpPr>
      <p:grpSpPr>
        <a:xfrm>
          <a:off x="0" y="0"/>
          <a:ext cx="0" cy="0"/>
          <a:chOff x="0" y="0"/>
          <a:chExt cx="0" cy="0"/>
        </a:xfrm>
      </p:grpSpPr>
      <p:sp>
        <p:nvSpPr>
          <p:cNvPr id="12" name="Google Shape;12;p3"/>
          <p:cNvSpPr txBox="1"/>
          <p:nvPr>
            <p:ph type="title"/>
          </p:nvPr>
        </p:nvSpPr>
        <p:spPr>
          <a:xfrm>
            <a:off x="457200" y="1095150"/>
            <a:ext cx="13030200" cy="1705200"/>
          </a:xfrm>
          <a:prstGeom prst="rect">
            <a:avLst/>
          </a:prstGeom>
          <a:noFill/>
          <a:ln>
            <a:noFill/>
          </a:ln>
        </p:spPr>
        <p:txBody>
          <a:bodyPr anchorCtr="0" anchor="t" bIns="0" lIns="0" spcFirstLastPara="1" rIns="0" wrap="square" tIns="0">
            <a:normAutofit/>
          </a:bodyPr>
          <a:lstStyle>
            <a:lvl1pPr lvl="0">
              <a:lnSpc>
                <a:spcPct val="85000"/>
              </a:lnSpc>
              <a:spcBef>
                <a:spcPts val="0"/>
              </a:spcBef>
              <a:spcAft>
                <a:spcPts val="0"/>
              </a:spcAft>
              <a:buClr>
                <a:srgbClr val="0B190D"/>
              </a:buClr>
              <a:buSzPts val="5600"/>
              <a:buFont typeface="Special Gothic Condensed One"/>
              <a:buNone/>
              <a:defRPr b="1" sz="5600">
                <a:solidFill>
                  <a:srgbClr val="0B190D"/>
                </a:solidFill>
                <a:latin typeface="Special Gothic Condensed One"/>
                <a:ea typeface="Special Gothic Condensed One"/>
                <a:cs typeface="Special Gothic Condensed One"/>
                <a:sym typeface="Special Gothic Condensed One"/>
              </a:defRPr>
            </a:lvl1pPr>
            <a:lvl2pPr lvl="1">
              <a:spcBef>
                <a:spcPts val="0"/>
              </a:spcBef>
              <a:spcAft>
                <a:spcPts val="0"/>
              </a:spcAft>
              <a:buClr>
                <a:srgbClr val="0B190D"/>
              </a:buClr>
              <a:buSzPts val="5600"/>
              <a:buNone/>
              <a:defRPr sz="5600">
                <a:solidFill>
                  <a:srgbClr val="0B190D"/>
                </a:solidFill>
              </a:defRPr>
            </a:lvl2pPr>
            <a:lvl3pPr lvl="2">
              <a:spcBef>
                <a:spcPts val="0"/>
              </a:spcBef>
              <a:spcAft>
                <a:spcPts val="0"/>
              </a:spcAft>
              <a:buClr>
                <a:srgbClr val="0B190D"/>
              </a:buClr>
              <a:buSzPts val="5600"/>
              <a:buNone/>
              <a:defRPr sz="5600">
                <a:solidFill>
                  <a:srgbClr val="0B190D"/>
                </a:solidFill>
              </a:defRPr>
            </a:lvl3pPr>
            <a:lvl4pPr lvl="3">
              <a:spcBef>
                <a:spcPts val="0"/>
              </a:spcBef>
              <a:spcAft>
                <a:spcPts val="0"/>
              </a:spcAft>
              <a:buClr>
                <a:srgbClr val="0B190D"/>
              </a:buClr>
              <a:buSzPts val="5600"/>
              <a:buNone/>
              <a:defRPr sz="5600">
                <a:solidFill>
                  <a:srgbClr val="0B190D"/>
                </a:solidFill>
              </a:defRPr>
            </a:lvl4pPr>
            <a:lvl5pPr lvl="4">
              <a:spcBef>
                <a:spcPts val="0"/>
              </a:spcBef>
              <a:spcAft>
                <a:spcPts val="0"/>
              </a:spcAft>
              <a:buClr>
                <a:srgbClr val="0B190D"/>
              </a:buClr>
              <a:buSzPts val="5600"/>
              <a:buNone/>
              <a:defRPr sz="5600">
                <a:solidFill>
                  <a:srgbClr val="0B190D"/>
                </a:solidFill>
              </a:defRPr>
            </a:lvl5pPr>
            <a:lvl6pPr lvl="5">
              <a:spcBef>
                <a:spcPts val="0"/>
              </a:spcBef>
              <a:spcAft>
                <a:spcPts val="0"/>
              </a:spcAft>
              <a:buClr>
                <a:srgbClr val="0B190D"/>
              </a:buClr>
              <a:buSzPts val="5600"/>
              <a:buNone/>
              <a:defRPr sz="5600">
                <a:solidFill>
                  <a:srgbClr val="0B190D"/>
                </a:solidFill>
              </a:defRPr>
            </a:lvl6pPr>
            <a:lvl7pPr lvl="6">
              <a:spcBef>
                <a:spcPts val="0"/>
              </a:spcBef>
              <a:spcAft>
                <a:spcPts val="0"/>
              </a:spcAft>
              <a:buClr>
                <a:srgbClr val="0B190D"/>
              </a:buClr>
              <a:buSzPts val="5600"/>
              <a:buNone/>
              <a:defRPr sz="5600">
                <a:solidFill>
                  <a:srgbClr val="0B190D"/>
                </a:solidFill>
              </a:defRPr>
            </a:lvl7pPr>
            <a:lvl8pPr lvl="7">
              <a:spcBef>
                <a:spcPts val="0"/>
              </a:spcBef>
              <a:spcAft>
                <a:spcPts val="0"/>
              </a:spcAft>
              <a:buClr>
                <a:srgbClr val="0B190D"/>
              </a:buClr>
              <a:buSzPts val="5600"/>
              <a:buNone/>
              <a:defRPr sz="5600">
                <a:solidFill>
                  <a:srgbClr val="0B190D"/>
                </a:solidFill>
              </a:defRPr>
            </a:lvl8pPr>
            <a:lvl9pPr lvl="8">
              <a:spcBef>
                <a:spcPts val="0"/>
              </a:spcBef>
              <a:spcAft>
                <a:spcPts val="0"/>
              </a:spcAft>
              <a:buClr>
                <a:srgbClr val="0B190D"/>
              </a:buClr>
              <a:buSzPts val="5600"/>
              <a:buNone/>
              <a:defRPr sz="5600">
                <a:solidFill>
                  <a:srgbClr val="0B190D"/>
                </a:solidFill>
              </a:defRPr>
            </a:lvl9pPr>
          </a:lstStyle>
          <a:p/>
        </p:txBody>
      </p:sp>
      <p:sp>
        <p:nvSpPr>
          <p:cNvPr id="13" name="Google Shape;13;p3"/>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nSpc>
                <a:spcPct val="115000"/>
              </a:lnSpc>
              <a:spcBef>
                <a:spcPts val="0"/>
              </a:spcBef>
              <a:spcAft>
                <a:spcPts val="0"/>
              </a:spcAft>
              <a:buClr>
                <a:srgbClr val="0B190D"/>
              </a:buClr>
              <a:buSzPts val="3600"/>
              <a:buFont typeface="Inter"/>
              <a:buChar char="●"/>
              <a:defRPr sz="3600">
                <a:solidFill>
                  <a:srgbClr val="0B190D"/>
                </a:solidFill>
                <a:latin typeface="Inter"/>
                <a:ea typeface="Inter"/>
                <a:cs typeface="Inter"/>
                <a:sym typeface="Inter"/>
              </a:defRPr>
            </a:lvl1pPr>
            <a:lvl2pPr indent="-406400" lvl="1" marL="914400">
              <a:lnSpc>
                <a:spcPct val="115000"/>
              </a:lnSpc>
              <a:spcBef>
                <a:spcPts val="0"/>
              </a:spcBef>
              <a:spcAft>
                <a:spcPts val="0"/>
              </a:spcAft>
              <a:buClr>
                <a:srgbClr val="0B190D"/>
              </a:buClr>
              <a:buSzPts val="2800"/>
              <a:buFont typeface="Inter"/>
              <a:buChar char="○"/>
              <a:defRPr sz="2800">
                <a:solidFill>
                  <a:srgbClr val="0B190D"/>
                </a:solidFill>
                <a:latin typeface="Inter"/>
                <a:ea typeface="Inter"/>
                <a:cs typeface="Inter"/>
                <a:sym typeface="Inter"/>
              </a:defRPr>
            </a:lvl2pPr>
            <a:lvl3pPr indent="-406400" lvl="2" marL="1371600">
              <a:lnSpc>
                <a:spcPct val="115000"/>
              </a:lnSpc>
              <a:spcBef>
                <a:spcPts val="0"/>
              </a:spcBef>
              <a:spcAft>
                <a:spcPts val="0"/>
              </a:spcAft>
              <a:buClr>
                <a:srgbClr val="0B190D"/>
              </a:buClr>
              <a:buSzPts val="2800"/>
              <a:buFont typeface="Inter"/>
              <a:buChar char="■"/>
              <a:defRPr sz="2800">
                <a:solidFill>
                  <a:srgbClr val="0B190D"/>
                </a:solidFill>
                <a:latin typeface="Inter"/>
                <a:ea typeface="Inter"/>
                <a:cs typeface="Inter"/>
                <a:sym typeface="Inter"/>
              </a:defRPr>
            </a:lvl3pPr>
            <a:lvl4pPr indent="-406400" lvl="3" marL="1828800">
              <a:lnSpc>
                <a:spcPct val="115000"/>
              </a:lnSpc>
              <a:spcBef>
                <a:spcPts val="0"/>
              </a:spcBef>
              <a:spcAft>
                <a:spcPts val="0"/>
              </a:spcAft>
              <a:buClr>
                <a:srgbClr val="0B190D"/>
              </a:buClr>
              <a:buSzPts val="2800"/>
              <a:buFont typeface="Inter"/>
              <a:buChar char="●"/>
              <a:defRPr sz="2800">
                <a:solidFill>
                  <a:srgbClr val="0B190D"/>
                </a:solidFill>
                <a:latin typeface="Inter"/>
                <a:ea typeface="Inter"/>
                <a:cs typeface="Inter"/>
                <a:sym typeface="Inter"/>
              </a:defRPr>
            </a:lvl4pPr>
            <a:lvl5pPr indent="-406400" lvl="4" marL="2286000">
              <a:lnSpc>
                <a:spcPct val="115000"/>
              </a:lnSpc>
              <a:spcBef>
                <a:spcPts val="0"/>
              </a:spcBef>
              <a:spcAft>
                <a:spcPts val="0"/>
              </a:spcAft>
              <a:buClr>
                <a:srgbClr val="0B190D"/>
              </a:buClr>
              <a:buSzPts val="2800"/>
              <a:buFont typeface="Inter"/>
              <a:buChar char="○"/>
              <a:defRPr sz="2800">
                <a:solidFill>
                  <a:srgbClr val="0B190D"/>
                </a:solidFill>
                <a:latin typeface="Inter"/>
                <a:ea typeface="Inter"/>
                <a:cs typeface="Inter"/>
                <a:sym typeface="Inter"/>
              </a:defRPr>
            </a:lvl5pPr>
            <a:lvl6pPr indent="-406400" lvl="5" marL="2743200">
              <a:lnSpc>
                <a:spcPct val="115000"/>
              </a:lnSpc>
              <a:spcBef>
                <a:spcPts val="0"/>
              </a:spcBef>
              <a:spcAft>
                <a:spcPts val="0"/>
              </a:spcAft>
              <a:buClr>
                <a:srgbClr val="0B190D"/>
              </a:buClr>
              <a:buSzPts val="2800"/>
              <a:buFont typeface="Inter"/>
              <a:buChar char="■"/>
              <a:defRPr sz="2800">
                <a:solidFill>
                  <a:srgbClr val="0B190D"/>
                </a:solidFill>
                <a:latin typeface="Inter"/>
                <a:ea typeface="Inter"/>
                <a:cs typeface="Inter"/>
                <a:sym typeface="Inter"/>
              </a:defRPr>
            </a:lvl6pPr>
            <a:lvl7pPr indent="-406400" lvl="6" marL="3200400">
              <a:lnSpc>
                <a:spcPct val="115000"/>
              </a:lnSpc>
              <a:spcBef>
                <a:spcPts val="0"/>
              </a:spcBef>
              <a:spcAft>
                <a:spcPts val="0"/>
              </a:spcAft>
              <a:buClr>
                <a:srgbClr val="0B190D"/>
              </a:buClr>
              <a:buSzPts val="2800"/>
              <a:buFont typeface="Inter"/>
              <a:buChar char="●"/>
              <a:defRPr sz="2800">
                <a:solidFill>
                  <a:srgbClr val="0B190D"/>
                </a:solidFill>
                <a:latin typeface="Inter"/>
                <a:ea typeface="Inter"/>
                <a:cs typeface="Inter"/>
                <a:sym typeface="Inter"/>
              </a:defRPr>
            </a:lvl7pPr>
            <a:lvl8pPr indent="-406400" lvl="7" marL="3657600">
              <a:lnSpc>
                <a:spcPct val="115000"/>
              </a:lnSpc>
              <a:spcBef>
                <a:spcPts val="0"/>
              </a:spcBef>
              <a:spcAft>
                <a:spcPts val="0"/>
              </a:spcAft>
              <a:buClr>
                <a:srgbClr val="0B190D"/>
              </a:buClr>
              <a:buSzPts val="2800"/>
              <a:buFont typeface="Inter"/>
              <a:buChar char="○"/>
              <a:defRPr sz="2800">
                <a:solidFill>
                  <a:srgbClr val="0B190D"/>
                </a:solidFill>
                <a:latin typeface="Inter"/>
                <a:ea typeface="Inter"/>
                <a:cs typeface="Inter"/>
                <a:sym typeface="Inter"/>
              </a:defRPr>
            </a:lvl8pPr>
            <a:lvl9pPr indent="-317500" lvl="8" marL="4114800">
              <a:lnSpc>
                <a:spcPct val="115000"/>
              </a:lnSpc>
              <a:spcBef>
                <a:spcPts val="0"/>
              </a:spcBef>
              <a:spcAft>
                <a:spcPts val="0"/>
              </a:spcAft>
              <a:buClr>
                <a:srgbClr val="0B190D"/>
              </a:buClr>
              <a:buSzPts val="1400"/>
              <a:buFont typeface="Roboto Mono Medium"/>
              <a:buChar char="■"/>
              <a:defRPr sz="1400">
                <a:solidFill>
                  <a:srgbClr val="0B190D"/>
                </a:solidFill>
                <a:latin typeface="Roboto Mono Medium"/>
                <a:ea typeface="Roboto Mono Medium"/>
                <a:cs typeface="Roboto Mono Medium"/>
                <a:sym typeface="Roboto Mono Medium"/>
              </a:defRPr>
            </a:lvl9pPr>
          </a:lstStyle>
          <a:p/>
        </p:txBody>
      </p:sp>
      <p:sp>
        <p:nvSpPr>
          <p:cNvPr id="14" name="Google Shape;14;p3"/>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lvl="0" algn="r">
              <a:buNone/>
              <a:defRPr sz="2000">
                <a:solidFill>
                  <a:schemeClr val="dk2"/>
                </a:solidFill>
              </a:defRPr>
            </a:lvl1pPr>
            <a:lvl2pPr lvl="1" algn="r">
              <a:buNone/>
              <a:defRPr sz="2000">
                <a:solidFill>
                  <a:schemeClr val="dk2"/>
                </a:solidFill>
              </a:defRPr>
            </a:lvl2pPr>
            <a:lvl3pPr lvl="2" algn="r">
              <a:buNone/>
              <a:defRPr sz="2000">
                <a:solidFill>
                  <a:schemeClr val="dk2"/>
                </a:solidFill>
              </a:defRPr>
            </a:lvl3pPr>
            <a:lvl4pPr lvl="3" algn="r">
              <a:buNone/>
              <a:defRPr sz="2000">
                <a:solidFill>
                  <a:schemeClr val="dk2"/>
                </a:solidFill>
              </a:defRPr>
            </a:lvl4pPr>
            <a:lvl5pPr lvl="4" algn="r">
              <a:buNone/>
              <a:defRPr sz="2000">
                <a:solidFill>
                  <a:schemeClr val="dk2"/>
                </a:solidFill>
              </a:defRPr>
            </a:lvl5pPr>
            <a:lvl6pPr lvl="5" algn="r">
              <a:buNone/>
              <a:defRPr sz="2000">
                <a:solidFill>
                  <a:schemeClr val="dk2"/>
                </a:solidFill>
              </a:defRPr>
            </a:lvl6pPr>
            <a:lvl7pPr lvl="6" algn="r">
              <a:buNone/>
              <a:defRPr sz="2000">
                <a:solidFill>
                  <a:schemeClr val="dk2"/>
                </a:solidFill>
              </a:defRPr>
            </a:lvl7pPr>
            <a:lvl8pPr lvl="7" algn="r">
              <a:buNone/>
              <a:defRPr sz="2000">
                <a:solidFill>
                  <a:schemeClr val="dk2"/>
                </a:solidFill>
              </a:defRPr>
            </a:lvl8pPr>
            <a:lvl9pPr lvl="8" algn="r">
              <a:buNone/>
              <a:defRPr sz="2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88">
          <p15:clr>
            <a:srgbClr val="E46962"/>
          </p15:clr>
        </p15:guide>
        <p15:guide id="2" pos="288">
          <p15:clr>
            <a:srgbClr val="E46962"/>
          </p15:clr>
        </p15:guide>
        <p15:guide id="3" pos="11232">
          <p15:clr>
            <a:srgbClr val="E46962"/>
          </p15:clr>
        </p15:guide>
        <p15:guide id="4" orient="horz" pos="6192">
          <p15:clr>
            <a:srgbClr val="E46962"/>
          </p15:clr>
        </p15:guide>
        <p15:guide id="5" pos="5760">
          <p15:clr>
            <a:srgbClr val="E46962"/>
          </p15:clr>
        </p15:guide>
        <p15:guide id="6" pos="3024">
          <p15:clr>
            <a:srgbClr val="E46962"/>
          </p15:clr>
        </p15:guide>
        <p15:guide id="7" pos="8496">
          <p15:clr>
            <a:srgbClr val="E46962"/>
          </p15:clr>
        </p15:guide>
        <p15:guide id="8" orient="horz" pos="3240">
          <p15:clr>
            <a:srgbClr val="E46962"/>
          </p15:clr>
        </p15:guide>
        <p15:guide id="9" orient="horz" pos="690">
          <p15:clr>
            <a:srgbClr val="E46962"/>
          </p15:clr>
        </p15:guide>
        <p15:guide id="10" orient="horz" pos="1764">
          <p15:clr>
            <a:srgbClr val="E46962"/>
          </p15:clr>
        </p15:guide>
        <p15:guide id="11" orient="horz" pos="4716">
          <p15:clr>
            <a:srgbClr val="E46962"/>
          </p15:clr>
        </p15:guide>
        <p15:guide id="12" pos="3932">
          <p15:clr>
            <a:srgbClr val="E46962"/>
          </p15:clr>
        </p15:guide>
        <p15:guide id="13" pos="7588">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jp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19.png"/><Relationship Id="rId4" Type="http://schemas.openxmlformats.org/officeDocument/2006/relationships/image" Target="../media/image18.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17.pn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17.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17.png"/><Relationship Id="rId4" Type="http://schemas.openxmlformats.org/officeDocument/2006/relationships/image" Target="../media/image15.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30.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7.png"/><Relationship Id="rId4" Type="http://schemas.openxmlformats.org/officeDocument/2006/relationships/image" Target="../media/image31.png"/><Relationship Id="rId5" Type="http://schemas.openxmlformats.org/officeDocument/2006/relationships/image" Target="../media/image15.png"/><Relationship Id="rId6"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image" Target="../media/image32.jpg"/><Relationship Id="rId4" Type="http://schemas.openxmlformats.org/officeDocument/2006/relationships/notesSlide" Target="../notesSlides/notesSlide3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ED"/>
        </a:solidFill>
        <a:effectLst/>
      </p:bgPr>
    </p:bg>
    <p:spTree>
      <p:nvGrpSpPr>
        <p:cNvPr id="1" name=""/>
        <p:cNvGrpSpPr/>
        <p:nvPr/>
      </p:nvGrpSpPr>
      <p:grpSpPr/>
      <p:pic>
        <p:nvPicPr>
          <p:cNvPr id="2" name="Picture 1" descr="s1_0.png"/>
          <p:cNvPicPr>
            <a:picLocks noChangeAspect="1"/>
          </p:cNvPicPr>
          <p:nvPr/>
        </p:nvPicPr>
        <p:blipFill>
          <a:blip r:embed="rId2"/>
          <a:stretch>
            <a:fillRect/>
          </a:stretch>
        </p:blipFill>
        <p:spPr>
          <a:xfrm>
            <a:off x="475488" y="594360"/>
            <a:ext cx="1655064" cy="384048"/>
          </a:xfrm>
          <a:prstGeom prst="rect">
            <a:avLst/>
          </a:prstGeom>
        </p:spPr>
      </p:pic>
      <p:sp>
        <p:nvSpPr>
          <p:cNvPr id="3" name="Rectangle 2"/>
          <p:cNvSpPr/>
          <p:nvPr/>
        </p:nvSpPr>
        <p:spPr>
          <a:xfrm>
            <a:off x="2441448" y="777240"/>
            <a:ext cx="15371064" cy="10972"/>
          </a:xfrm>
          <a:prstGeom prst="rect">
            <a:avLst/>
          </a:prstGeom>
          <a:solidFill>
            <a:srgbClr val="000000"/>
          </a:solidFill>
          <a:ln>
            <a:noFill/>
          </a:ln>
        </p:spPr>
        <p:txBody>
          <a:bodyPr rtlCol="0" anchor="ctr"/>
          <a:lstStyle/>
          <a:p>
            <a:pPr algn="ctr"/>
          </a:p>
        </p:txBody>
      </p:sp>
      <p:sp>
        <p:nvSpPr>
          <p:cNvPr id="4" name="TextBox 3"/>
          <p:cNvSpPr txBox="1"/>
          <p:nvPr/>
        </p:nvSpPr>
        <p:spPr>
          <a:xfrm>
            <a:off x="475488" y="1527048"/>
            <a:ext cx="10972800" cy="365760"/>
          </a:xfrm>
          <a:prstGeom prst="rect">
            <a:avLst/>
          </a:prstGeom>
          <a:noFill/>
        </p:spPr>
        <p:txBody>
          <a:bodyPr wrap="square" lIns="0" rIns="0" tIns="0" bIns="0" anchor="t">
            <a:noAutofit/>
          </a:bodyPr>
          <a:lstStyle/>
          <a:p>
            <a:pPr algn="l"/>
            <a:r>
              <a:rPr sz="1800" b="0" i="0">
                <a:solidFill>
                  <a:srgbClr val="000000"/>
                </a:solidFill>
                <a:latin typeface="Roboto Mono"/>
              </a:rPr>
              <a:t>OCTOBER 9TH, 2026</a:t>
            </a:r>
          </a:p>
        </p:txBody>
      </p:sp>
      <p:sp>
        <p:nvSpPr>
          <p:cNvPr id="5" name="Title"/>
          <p:cNvSpPr txBox="1"/>
          <p:nvPr/>
        </p:nvSpPr>
        <p:spPr>
          <a:xfrm>
            <a:off x="475488" y="2148840"/>
            <a:ext cx="11521440" cy="3017520"/>
          </a:xfrm>
          <a:prstGeom prst="rect">
            <a:avLst/>
          </a:prstGeom>
          <a:noFill/>
        </p:spPr>
        <p:txBody>
          <a:bodyPr wrap="square" lIns="0" rIns="0" tIns="0" bIns="0" anchor="t">
            <a:noAutofit/>
          </a:bodyPr>
          <a:lstStyle/>
          <a:p>
            <a:pPr algn="l">
              <a:lnSpc>
                <a:spcPct val="95000"/>
              </a:lnSpc>
            </a:pPr>
            <a:r>
              <a:rPr sz="7600" b="1" i="0">
                <a:solidFill>
                  <a:srgbClr val="000000"/>
                </a:solidFill>
                <a:highlight>
                  <a:srgbClr val="E8FC2E"/>
                </a:highlight>
                <a:latin typeface="Inter"/>
              </a:rPr>
              <a:t>The Calira API, explained</a:t>
            </a:r>
          </a:p>
        </p:txBody>
      </p:sp>
      <p:sp>
        <p:nvSpPr>
          <p:cNvPr id="6" name="TextBox 5"/>
          <p:cNvSpPr txBox="1"/>
          <p:nvPr/>
        </p:nvSpPr>
        <p:spPr>
          <a:xfrm>
            <a:off x="475488" y="5257800"/>
            <a:ext cx="10972800" cy="1463040"/>
          </a:xfrm>
          <a:prstGeom prst="rect">
            <a:avLst/>
          </a:prstGeom>
          <a:noFill/>
        </p:spPr>
        <p:txBody>
          <a:bodyPr wrap="square" lIns="0" rIns="0" tIns="0" bIns="0" anchor="t">
            <a:noAutofit/>
          </a:bodyPr>
          <a:lstStyle/>
          <a:p>
            <a:pPr algn="l">
              <a:lnSpc>
                <a:spcPct val="105000"/>
              </a:lnSpc>
            </a:pPr>
            <a:r>
              <a:rPr sz="3000" b="0" i="0">
                <a:solidFill>
                  <a:srgbClr val="2C2825"/>
                </a:solidFill>
                <a:latin typeface="Inter"/>
              </a:rPr>
              <a:t>No jargon. What the API is, how it works and how to show it to customers.</a:t>
            </a:r>
          </a:p>
        </p:txBody>
      </p:sp>
      <p:pic>
        <p:nvPicPr>
          <p:cNvPr id="7" name="Picture 6" descr="photo_title.jpg"/>
          <p:cNvPicPr>
            <a:picLocks noChangeAspect="1"/>
          </p:cNvPicPr>
          <p:nvPr/>
        </p:nvPicPr>
        <p:blipFill>
          <a:blip r:embed="rId3"/>
          <a:stretch>
            <a:fillRect/>
          </a:stretch>
        </p:blipFill>
        <p:spPr>
          <a:xfrm>
            <a:off x="12417552" y="1252728"/>
            <a:ext cx="4480560" cy="6638544"/>
          </a:xfrm>
          <a:prstGeom prst="rect">
            <a:avLst/>
          </a:prstGeom>
        </p:spPr>
      </p:pic>
      <p:sp>
        <p:nvSpPr>
          <p:cNvPr id="8" name="Rectangle 7"/>
          <p:cNvSpPr/>
          <p:nvPr/>
        </p:nvSpPr>
        <p:spPr>
          <a:xfrm>
            <a:off x="475488" y="8275320"/>
            <a:ext cx="15544800" cy="10972"/>
          </a:xfrm>
          <a:prstGeom prst="rect">
            <a:avLst/>
          </a:prstGeom>
          <a:solidFill>
            <a:srgbClr val="000000"/>
          </a:solidFill>
          <a:ln>
            <a:noFill/>
          </a:ln>
        </p:spPr>
        <p:txBody>
          <a:bodyPr rtlCol="0" anchor="ctr"/>
          <a:lstStyle/>
          <a:p>
            <a:pPr algn="ctr"/>
          </a:p>
        </p:txBody>
      </p:sp>
      <p:sp>
        <p:nvSpPr>
          <p:cNvPr id="9" name="TextBox 8"/>
          <p:cNvSpPr txBox="1"/>
          <p:nvPr/>
        </p:nvSpPr>
        <p:spPr>
          <a:xfrm>
            <a:off x="475488" y="8549640"/>
            <a:ext cx="5120640" cy="365760"/>
          </a:xfrm>
          <a:prstGeom prst="rect">
            <a:avLst/>
          </a:prstGeom>
          <a:noFill/>
        </p:spPr>
        <p:txBody>
          <a:bodyPr wrap="square" lIns="0" rIns="0" tIns="0" bIns="0" anchor="t">
            <a:noAutofit/>
          </a:bodyPr>
          <a:lstStyle/>
          <a:p>
            <a:pPr algn="l"/>
            <a:r>
              <a:rPr sz="1800" b="0" i="0">
                <a:solidFill>
                  <a:srgbClr val="000000"/>
                </a:solidFill>
                <a:latin typeface="Roboto Mono"/>
              </a:rPr>
              <a:t>SALES TEAM TRAINING</a:t>
            </a:r>
          </a:p>
        </p:txBody>
      </p:sp>
      <p:sp>
        <p:nvSpPr>
          <p:cNvPr id="10" name="TextBox 9"/>
          <p:cNvSpPr txBox="1"/>
          <p:nvPr/>
        </p:nvSpPr>
        <p:spPr>
          <a:xfrm>
            <a:off x="6126480" y="8549640"/>
            <a:ext cx="4572000" cy="365760"/>
          </a:xfrm>
          <a:prstGeom prst="rect">
            <a:avLst/>
          </a:prstGeom>
          <a:noFill/>
        </p:spPr>
        <p:txBody>
          <a:bodyPr wrap="square" lIns="0" rIns="0" tIns="0" bIns="0" anchor="t">
            <a:noAutofit/>
          </a:bodyPr>
          <a:lstStyle/>
          <a:p>
            <a:pPr algn="l"/>
            <a:r>
              <a:rPr sz="1800" b="0" i="0">
                <a:solidFill>
                  <a:srgbClr val="000000"/>
                </a:solidFill>
                <a:latin typeface="Roboto Mono"/>
              </a:rPr>
              <a:t>ABOUT 75 MINUTES</a:t>
            </a:r>
          </a:p>
        </p:txBody>
      </p:sp>
      <p:sp>
        <p:nvSpPr>
          <p:cNvPr id="11" name="TextBox 10"/>
          <p:cNvSpPr txBox="1"/>
          <p:nvPr/>
        </p:nvSpPr>
        <p:spPr>
          <a:xfrm>
            <a:off x="10515600" y="8549640"/>
            <a:ext cx="5486400" cy="365760"/>
          </a:xfrm>
          <a:prstGeom prst="rect">
            <a:avLst/>
          </a:prstGeom>
          <a:noFill/>
        </p:spPr>
        <p:txBody>
          <a:bodyPr wrap="square" lIns="0" rIns="0" tIns="0" bIns="0" anchor="t">
            <a:noAutofit/>
          </a:bodyPr>
          <a:lstStyle/>
          <a:p>
            <a:pPr algn="l"/>
            <a:r>
              <a:rPr sz="1800" b="0" i="0">
                <a:solidFill>
                  <a:srgbClr val="000000"/>
                </a:solidFill>
                <a:latin typeface="Roboto Mono"/>
              </a:rPr>
              <a:t>FROM CALIRA PRODUCT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ED"/>
        </a:solidFill>
        <a:effectLst/>
      </p:bgPr>
    </p:bg>
    <p:spTree>
      <p:nvGrpSpPr>
        <p:cNvPr id="1" name=""/>
        <p:cNvGrpSpPr/>
        <p:nvPr/>
      </p:nvGrpSpPr>
      <p:grpSpPr/>
      <p:pic>
        <p:nvPicPr>
          <p:cNvPr id="2" name="Picture 1" descr="s1_0.png"/>
          <p:cNvPicPr>
            <a:picLocks noChangeAspect="1"/>
          </p:cNvPicPr>
          <p:nvPr/>
        </p:nvPicPr>
        <p:blipFill>
          <a:blip r:embed="rId2"/>
          <a:stretch>
            <a:fillRect/>
          </a:stretch>
        </p:blipFill>
        <p:spPr>
          <a:xfrm>
            <a:off x="475488" y="594360"/>
            <a:ext cx="1655064" cy="384048"/>
          </a:xfrm>
          <a:prstGeom prst="rect">
            <a:avLst/>
          </a:prstGeom>
        </p:spPr>
      </p:pic>
      <p:sp>
        <p:nvSpPr>
          <p:cNvPr id="3" name="Rectangle 2"/>
          <p:cNvSpPr/>
          <p:nvPr/>
        </p:nvSpPr>
        <p:spPr>
          <a:xfrm>
            <a:off x="2441448" y="777240"/>
            <a:ext cx="15371064" cy="10972"/>
          </a:xfrm>
          <a:prstGeom prst="rect">
            <a:avLst/>
          </a:prstGeom>
          <a:solidFill>
            <a:srgbClr val="000000"/>
          </a:solidFill>
          <a:ln>
            <a:noFill/>
          </a:ln>
        </p:spPr>
        <p:txBody>
          <a:bodyPr rtlCol="0" anchor="ctr"/>
          <a:lstStyle/>
          <a:p>
            <a:pPr algn="ctr"/>
          </a:p>
        </p:txBody>
      </p:sp>
      <p:sp>
        <p:nvSpPr>
          <p:cNvPr id="4" name="TextBox 3"/>
          <p:cNvSpPr txBox="1"/>
          <p:nvPr/>
        </p:nvSpPr>
        <p:spPr>
          <a:xfrm>
            <a:off x="475488" y="1527048"/>
            <a:ext cx="7315200" cy="365760"/>
          </a:xfrm>
          <a:prstGeom prst="rect">
            <a:avLst/>
          </a:prstGeom>
          <a:noFill/>
        </p:spPr>
        <p:txBody>
          <a:bodyPr wrap="square" lIns="0" rIns="0" tIns="0" bIns="0" anchor="t">
            <a:noAutofit/>
          </a:bodyPr>
          <a:lstStyle/>
          <a:p>
            <a:pPr algn="l"/>
            <a:r>
              <a:rPr sz="1800" b="0" i="0">
                <a:solidFill>
                  <a:srgbClr val="000000"/>
                </a:solidFill>
                <a:latin typeface="Roboto Mono"/>
              </a:rPr>
              <a:t>AGENDA</a:t>
            </a:r>
          </a:p>
        </p:txBody>
      </p:sp>
      <p:sp>
        <p:nvSpPr>
          <p:cNvPr id="5" name="Title"/>
          <p:cNvSpPr txBox="1"/>
          <p:nvPr/>
        </p:nvSpPr>
        <p:spPr>
          <a:xfrm>
            <a:off x="475488" y="2011680"/>
            <a:ext cx="7863840" cy="4023360"/>
          </a:xfrm>
          <a:prstGeom prst="rect">
            <a:avLst/>
          </a:prstGeom>
          <a:noFill/>
        </p:spPr>
        <p:txBody>
          <a:bodyPr wrap="square" lIns="0" rIns="0" tIns="0" bIns="0" anchor="t">
            <a:noAutofit/>
          </a:bodyPr>
          <a:lstStyle/>
          <a:p>
            <a:pPr algn="l">
              <a:lnSpc>
                <a:spcPct val="95000"/>
              </a:lnSpc>
            </a:pPr>
            <a:r>
              <a:rPr sz="6000" b="1" i="0">
                <a:solidFill>
                  <a:srgbClr val="000000"/>
                </a:solidFill>
                <a:latin typeface="Inter"/>
              </a:rPr>
              <a:t>What we will cover in the next 75 minutes</a:t>
            </a:r>
          </a:p>
        </p:txBody>
      </p:sp>
      <p:sp>
        <p:nvSpPr>
          <p:cNvPr id="6" name="TextBox 5"/>
          <p:cNvSpPr txBox="1"/>
          <p:nvPr/>
        </p:nvSpPr>
        <p:spPr>
          <a:xfrm>
            <a:off x="475488" y="7955279"/>
            <a:ext cx="7680960" cy="822960"/>
          </a:xfrm>
          <a:prstGeom prst="rect">
            <a:avLst/>
          </a:prstGeom>
          <a:noFill/>
        </p:spPr>
        <p:txBody>
          <a:bodyPr wrap="square" lIns="0" rIns="0" tIns="0" bIns="0" anchor="t">
            <a:noAutofit/>
          </a:bodyPr>
          <a:lstStyle/>
          <a:p>
            <a:pPr algn="l"/>
            <a:r>
              <a:rPr sz="2000" b="0" i="0">
                <a:solidFill>
                  <a:srgbClr val="2C2825"/>
                </a:solidFill>
                <a:latin typeface="Inter"/>
              </a:rPr>
              <a:t>Ask questions as we go. There are no silly questions here.</a:t>
            </a:r>
          </a:p>
        </p:txBody>
      </p:sp>
      <p:sp>
        <p:nvSpPr>
          <p:cNvPr id="7" name="Rectangle 6"/>
          <p:cNvSpPr/>
          <p:nvPr/>
        </p:nvSpPr>
        <p:spPr>
          <a:xfrm>
            <a:off x="9601200" y="2148840"/>
            <a:ext cx="8211312" cy="10972"/>
          </a:xfrm>
          <a:prstGeom prst="rect">
            <a:avLst/>
          </a:prstGeom>
          <a:solidFill>
            <a:srgbClr val="000000"/>
          </a:solidFill>
          <a:ln>
            <a:noFill/>
          </a:ln>
        </p:spPr>
        <p:txBody>
          <a:bodyPr rtlCol="0" anchor="ctr"/>
          <a:lstStyle/>
          <a:p>
            <a:pPr algn="ctr"/>
          </a:p>
        </p:txBody>
      </p:sp>
      <p:sp>
        <p:nvSpPr>
          <p:cNvPr id="8" name="TextBox 7"/>
          <p:cNvSpPr txBox="1"/>
          <p:nvPr/>
        </p:nvSpPr>
        <p:spPr>
          <a:xfrm>
            <a:off x="9601200" y="2395728"/>
            <a:ext cx="822960" cy="731520"/>
          </a:xfrm>
          <a:prstGeom prst="rect">
            <a:avLst/>
          </a:prstGeom>
          <a:noFill/>
        </p:spPr>
        <p:txBody>
          <a:bodyPr wrap="square" lIns="0" rIns="0" tIns="0" bIns="0" anchor="t">
            <a:noAutofit/>
          </a:bodyPr>
          <a:lstStyle/>
          <a:p>
            <a:pPr algn="l"/>
            <a:r>
              <a:rPr sz="4000" b="1" i="0">
                <a:solidFill>
                  <a:srgbClr val="000000"/>
                </a:solidFill>
                <a:latin typeface="Inter"/>
              </a:rPr>
              <a:t>1</a:t>
            </a:r>
          </a:p>
        </p:txBody>
      </p:sp>
      <p:sp>
        <p:nvSpPr>
          <p:cNvPr id="9" name="TextBox 8"/>
          <p:cNvSpPr txBox="1"/>
          <p:nvPr/>
        </p:nvSpPr>
        <p:spPr>
          <a:xfrm>
            <a:off x="10607040" y="2423160"/>
            <a:ext cx="5943600" cy="731520"/>
          </a:xfrm>
          <a:prstGeom prst="rect">
            <a:avLst/>
          </a:prstGeom>
          <a:noFill/>
        </p:spPr>
        <p:txBody>
          <a:bodyPr wrap="square" lIns="0" rIns="0" tIns="0" bIns="0" anchor="t">
            <a:noAutofit/>
          </a:bodyPr>
          <a:lstStyle/>
          <a:p>
            <a:pPr algn="l"/>
            <a:r>
              <a:rPr sz="2600" b="0" i="0">
                <a:solidFill>
                  <a:srgbClr val="000000"/>
                </a:solidFill>
                <a:latin typeface="Inter"/>
              </a:rPr>
              <a:t>What an API is, in plain English</a:t>
            </a:r>
          </a:p>
        </p:txBody>
      </p:sp>
      <p:sp>
        <p:nvSpPr>
          <p:cNvPr id="10" name="TextBox 9"/>
          <p:cNvSpPr txBox="1"/>
          <p:nvPr/>
        </p:nvSpPr>
        <p:spPr>
          <a:xfrm>
            <a:off x="16459200" y="2487168"/>
            <a:ext cx="1353312" cy="457200"/>
          </a:xfrm>
          <a:prstGeom prst="rect">
            <a:avLst/>
          </a:prstGeom>
          <a:noFill/>
        </p:spPr>
        <p:txBody>
          <a:bodyPr wrap="square" lIns="0" rIns="0" tIns="0" bIns="0" anchor="t">
            <a:noAutofit/>
          </a:bodyPr>
          <a:lstStyle/>
          <a:p>
            <a:pPr algn="r"/>
            <a:r>
              <a:rPr sz="1800" b="0" i="0">
                <a:solidFill>
                  <a:srgbClr val="000000"/>
                </a:solidFill>
                <a:latin typeface="Roboto Mono"/>
              </a:rPr>
              <a:t>10 MIN</a:t>
            </a:r>
          </a:p>
        </p:txBody>
      </p:sp>
      <p:sp>
        <p:nvSpPr>
          <p:cNvPr id="11" name="Rectangle 10"/>
          <p:cNvSpPr/>
          <p:nvPr/>
        </p:nvSpPr>
        <p:spPr>
          <a:xfrm>
            <a:off x="9601200" y="3474720"/>
            <a:ext cx="8211312" cy="10972"/>
          </a:xfrm>
          <a:prstGeom prst="rect">
            <a:avLst/>
          </a:prstGeom>
          <a:solidFill>
            <a:srgbClr val="000000"/>
          </a:solidFill>
          <a:ln>
            <a:noFill/>
          </a:ln>
        </p:spPr>
        <p:txBody>
          <a:bodyPr rtlCol="0" anchor="ctr"/>
          <a:lstStyle/>
          <a:p>
            <a:pPr algn="ctr"/>
          </a:p>
        </p:txBody>
      </p:sp>
      <p:sp>
        <p:nvSpPr>
          <p:cNvPr id="12" name="TextBox 11"/>
          <p:cNvSpPr txBox="1"/>
          <p:nvPr/>
        </p:nvSpPr>
        <p:spPr>
          <a:xfrm>
            <a:off x="9601200" y="3721608"/>
            <a:ext cx="822960" cy="731520"/>
          </a:xfrm>
          <a:prstGeom prst="rect">
            <a:avLst/>
          </a:prstGeom>
          <a:noFill/>
        </p:spPr>
        <p:txBody>
          <a:bodyPr wrap="square" lIns="0" rIns="0" tIns="0" bIns="0" anchor="t">
            <a:noAutofit/>
          </a:bodyPr>
          <a:lstStyle/>
          <a:p>
            <a:pPr algn="l"/>
            <a:r>
              <a:rPr sz="4000" b="1" i="0">
                <a:solidFill>
                  <a:srgbClr val="000000"/>
                </a:solidFill>
                <a:latin typeface="Inter"/>
              </a:rPr>
              <a:t>2</a:t>
            </a:r>
          </a:p>
        </p:txBody>
      </p:sp>
      <p:sp>
        <p:nvSpPr>
          <p:cNvPr id="13" name="TextBox 12"/>
          <p:cNvSpPr txBox="1"/>
          <p:nvPr/>
        </p:nvSpPr>
        <p:spPr>
          <a:xfrm>
            <a:off x="10607040" y="3749039"/>
            <a:ext cx="5943600" cy="731520"/>
          </a:xfrm>
          <a:prstGeom prst="rect">
            <a:avLst/>
          </a:prstGeom>
          <a:noFill/>
        </p:spPr>
        <p:txBody>
          <a:bodyPr wrap="square" lIns="0" rIns="0" tIns="0" bIns="0" anchor="t">
            <a:noAutofit/>
          </a:bodyPr>
          <a:lstStyle/>
          <a:p>
            <a:pPr algn="l"/>
            <a:r>
              <a:rPr sz="2600" b="0" i="0">
                <a:solidFill>
                  <a:srgbClr val="000000"/>
                </a:solidFill>
                <a:latin typeface="Inter"/>
              </a:rPr>
              <a:t>How requests and answers work</a:t>
            </a:r>
          </a:p>
        </p:txBody>
      </p:sp>
      <p:sp>
        <p:nvSpPr>
          <p:cNvPr id="14" name="TextBox 13"/>
          <p:cNvSpPr txBox="1"/>
          <p:nvPr/>
        </p:nvSpPr>
        <p:spPr>
          <a:xfrm>
            <a:off x="16459200" y="3813048"/>
            <a:ext cx="1353312" cy="457200"/>
          </a:xfrm>
          <a:prstGeom prst="rect">
            <a:avLst/>
          </a:prstGeom>
          <a:noFill/>
        </p:spPr>
        <p:txBody>
          <a:bodyPr wrap="square" lIns="0" rIns="0" tIns="0" bIns="0" anchor="t">
            <a:noAutofit/>
          </a:bodyPr>
          <a:lstStyle/>
          <a:p>
            <a:pPr algn="r"/>
            <a:r>
              <a:rPr sz="1800" b="0" i="0">
                <a:solidFill>
                  <a:srgbClr val="000000"/>
                </a:solidFill>
                <a:latin typeface="Roboto Mono"/>
              </a:rPr>
              <a:t>15 MIN</a:t>
            </a:r>
          </a:p>
        </p:txBody>
      </p:sp>
      <p:sp>
        <p:nvSpPr>
          <p:cNvPr id="15" name="Rectangle 14"/>
          <p:cNvSpPr/>
          <p:nvPr/>
        </p:nvSpPr>
        <p:spPr>
          <a:xfrm>
            <a:off x="9601200" y="4800600"/>
            <a:ext cx="8211312" cy="10972"/>
          </a:xfrm>
          <a:prstGeom prst="rect">
            <a:avLst/>
          </a:prstGeom>
          <a:solidFill>
            <a:srgbClr val="000000"/>
          </a:solidFill>
          <a:ln>
            <a:noFill/>
          </a:ln>
        </p:spPr>
        <p:txBody>
          <a:bodyPr rtlCol="0" anchor="ctr"/>
          <a:lstStyle/>
          <a:p>
            <a:pPr algn="ctr"/>
          </a:p>
        </p:txBody>
      </p:sp>
      <p:sp>
        <p:nvSpPr>
          <p:cNvPr id="16" name="TextBox 15"/>
          <p:cNvSpPr txBox="1"/>
          <p:nvPr/>
        </p:nvSpPr>
        <p:spPr>
          <a:xfrm>
            <a:off x="9601200" y="5047488"/>
            <a:ext cx="822960" cy="731520"/>
          </a:xfrm>
          <a:prstGeom prst="rect">
            <a:avLst/>
          </a:prstGeom>
          <a:noFill/>
        </p:spPr>
        <p:txBody>
          <a:bodyPr wrap="square" lIns="0" rIns="0" tIns="0" bIns="0" anchor="t">
            <a:noAutofit/>
          </a:bodyPr>
          <a:lstStyle/>
          <a:p>
            <a:pPr algn="l"/>
            <a:r>
              <a:rPr sz="4000" b="1" i="0">
                <a:solidFill>
                  <a:srgbClr val="000000"/>
                </a:solidFill>
                <a:latin typeface="Inter"/>
              </a:rPr>
              <a:t>3</a:t>
            </a:r>
          </a:p>
        </p:txBody>
      </p:sp>
      <p:sp>
        <p:nvSpPr>
          <p:cNvPr id="17" name="TextBox 16"/>
          <p:cNvSpPr txBox="1"/>
          <p:nvPr/>
        </p:nvSpPr>
        <p:spPr>
          <a:xfrm>
            <a:off x="10607040" y="5074920"/>
            <a:ext cx="5943600" cy="731520"/>
          </a:xfrm>
          <a:prstGeom prst="rect">
            <a:avLst/>
          </a:prstGeom>
          <a:noFill/>
        </p:spPr>
        <p:txBody>
          <a:bodyPr wrap="square" lIns="0" rIns="0" tIns="0" bIns="0" anchor="t">
            <a:noAutofit/>
          </a:bodyPr>
          <a:lstStyle/>
          <a:p>
            <a:pPr algn="l"/>
            <a:r>
              <a:rPr sz="2600" b="0" i="0">
                <a:solidFill>
                  <a:srgbClr val="000000"/>
                </a:solidFill>
                <a:latin typeface="Inter"/>
              </a:rPr>
              <a:t>Getting a customer connected</a:t>
            </a:r>
          </a:p>
        </p:txBody>
      </p:sp>
      <p:sp>
        <p:nvSpPr>
          <p:cNvPr id="18" name="TextBox 17"/>
          <p:cNvSpPr txBox="1"/>
          <p:nvPr/>
        </p:nvSpPr>
        <p:spPr>
          <a:xfrm>
            <a:off x="16459200" y="5138928"/>
            <a:ext cx="1353312" cy="457200"/>
          </a:xfrm>
          <a:prstGeom prst="rect">
            <a:avLst/>
          </a:prstGeom>
          <a:noFill/>
        </p:spPr>
        <p:txBody>
          <a:bodyPr wrap="square" lIns="0" rIns="0" tIns="0" bIns="0" anchor="t">
            <a:noAutofit/>
          </a:bodyPr>
          <a:lstStyle/>
          <a:p>
            <a:pPr algn="r"/>
            <a:r>
              <a:rPr sz="1800" b="0" i="0">
                <a:solidFill>
                  <a:srgbClr val="000000"/>
                </a:solidFill>
                <a:latin typeface="Roboto Mono"/>
              </a:rPr>
              <a:t>10 MIN</a:t>
            </a:r>
          </a:p>
        </p:txBody>
      </p:sp>
      <p:sp>
        <p:nvSpPr>
          <p:cNvPr id="19" name="Rectangle 18"/>
          <p:cNvSpPr/>
          <p:nvPr/>
        </p:nvSpPr>
        <p:spPr>
          <a:xfrm>
            <a:off x="9601200" y="6126480"/>
            <a:ext cx="8211312" cy="10972"/>
          </a:xfrm>
          <a:prstGeom prst="rect">
            <a:avLst/>
          </a:prstGeom>
          <a:solidFill>
            <a:srgbClr val="000000"/>
          </a:solidFill>
          <a:ln>
            <a:noFill/>
          </a:ln>
        </p:spPr>
        <p:txBody>
          <a:bodyPr rtlCol="0" anchor="ctr"/>
          <a:lstStyle/>
          <a:p>
            <a:pPr algn="ctr"/>
          </a:p>
        </p:txBody>
      </p:sp>
      <p:sp>
        <p:nvSpPr>
          <p:cNvPr id="20" name="TextBox 19"/>
          <p:cNvSpPr txBox="1"/>
          <p:nvPr/>
        </p:nvSpPr>
        <p:spPr>
          <a:xfrm>
            <a:off x="9601200" y="6373368"/>
            <a:ext cx="822960" cy="731520"/>
          </a:xfrm>
          <a:prstGeom prst="rect">
            <a:avLst/>
          </a:prstGeom>
          <a:noFill/>
        </p:spPr>
        <p:txBody>
          <a:bodyPr wrap="square" lIns="0" rIns="0" tIns="0" bIns="0" anchor="t">
            <a:noAutofit/>
          </a:bodyPr>
          <a:lstStyle/>
          <a:p>
            <a:pPr algn="l"/>
            <a:r>
              <a:rPr sz="4000" b="1" i="0">
                <a:solidFill>
                  <a:srgbClr val="000000"/>
                </a:solidFill>
                <a:latin typeface="Inter"/>
              </a:rPr>
              <a:t>4</a:t>
            </a:r>
          </a:p>
        </p:txBody>
      </p:sp>
      <p:sp>
        <p:nvSpPr>
          <p:cNvPr id="21" name="TextBox 20"/>
          <p:cNvSpPr txBox="1"/>
          <p:nvPr/>
        </p:nvSpPr>
        <p:spPr>
          <a:xfrm>
            <a:off x="10607040" y="6400800"/>
            <a:ext cx="5943600" cy="731520"/>
          </a:xfrm>
          <a:prstGeom prst="rect">
            <a:avLst/>
          </a:prstGeom>
          <a:noFill/>
        </p:spPr>
        <p:txBody>
          <a:bodyPr wrap="square" lIns="0" rIns="0" tIns="0" bIns="0" anchor="t">
            <a:noAutofit/>
          </a:bodyPr>
          <a:lstStyle/>
          <a:p>
            <a:pPr algn="l"/>
            <a:r>
              <a:rPr sz="2600" b="0" i="0">
                <a:solidFill>
                  <a:srgbClr val="000000"/>
                </a:solidFill>
                <a:latin typeface="Inter"/>
              </a:rPr>
              <a:t>Hands-on with Postman</a:t>
            </a:r>
          </a:p>
        </p:txBody>
      </p:sp>
      <p:sp>
        <p:nvSpPr>
          <p:cNvPr id="22" name="TextBox 21"/>
          <p:cNvSpPr txBox="1"/>
          <p:nvPr/>
        </p:nvSpPr>
        <p:spPr>
          <a:xfrm>
            <a:off x="16459200" y="6464808"/>
            <a:ext cx="1353312" cy="457200"/>
          </a:xfrm>
          <a:prstGeom prst="rect">
            <a:avLst/>
          </a:prstGeom>
          <a:noFill/>
        </p:spPr>
        <p:txBody>
          <a:bodyPr wrap="square" lIns="0" rIns="0" tIns="0" bIns="0" anchor="t">
            <a:noAutofit/>
          </a:bodyPr>
          <a:lstStyle/>
          <a:p>
            <a:pPr algn="r"/>
            <a:r>
              <a:rPr sz="1800" b="0" i="0">
                <a:solidFill>
                  <a:srgbClr val="000000"/>
                </a:solidFill>
                <a:latin typeface="Roboto Mono"/>
              </a:rPr>
              <a:t>30 MIN</a:t>
            </a:r>
          </a:p>
        </p:txBody>
      </p:sp>
      <p:sp>
        <p:nvSpPr>
          <p:cNvPr id="23" name="Rectangle 22"/>
          <p:cNvSpPr/>
          <p:nvPr/>
        </p:nvSpPr>
        <p:spPr>
          <a:xfrm>
            <a:off x="9601200" y="7452360"/>
            <a:ext cx="8211312" cy="10972"/>
          </a:xfrm>
          <a:prstGeom prst="rect">
            <a:avLst/>
          </a:prstGeom>
          <a:solidFill>
            <a:srgbClr val="000000"/>
          </a:solidFill>
          <a:ln>
            <a:noFill/>
          </a:ln>
        </p:spPr>
        <p:txBody>
          <a:bodyPr rtlCol="0" anchor="ctr"/>
          <a:lstStyle/>
          <a:p>
            <a:pPr algn="ctr"/>
          </a:p>
        </p:txBody>
      </p:sp>
      <p:sp>
        <p:nvSpPr>
          <p:cNvPr id="24" name="TextBox 23"/>
          <p:cNvSpPr txBox="1"/>
          <p:nvPr/>
        </p:nvSpPr>
        <p:spPr>
          <a:xfrm>
            <a:off x="9601200" y="7699248"/>
            <a:ext cx="822960" cy="731520"/>
          </a:xfrm>
          <a:prstGeom prst="rect">
            <a:avLst/>
          </a:prstGeom>
          <a:noFill/>
        </p:spPr>
        <p:txBody>
          <a:bodyPr wrap="square" lIns="0" rIns="0" tIns="0" bIns="0" anchor="t">
            <a:noAutofit/>
          </a:bodyPr>
          <a:lstStyle/>
          <a:p>
            <a:pPr algn="l"/>
            <a:r>
              <a:rPr sz="4000" b="1" i="0">
                <a:solidFill>
                  <a:srgbClr val="000000"/>
                </a:solidFill>
                <a:latin typeface="Inter"/>
              </a:rPr>
              <a:t>5</a:t>
            </a:r>
          </a:p>
        </p:txBody>
      </p:sp>
      <p:sp>
        <p:nvSpPr>
          <p:cNvPr id="25" name="TextBox 24"/>
          <p:cNvSpPr txBox="1"/>
          <p:nvPr/>
        </p:nvSpPr>
        <p:spPr>
          <a:xfrm>
            <a:off x="10607040" y="7726680"/>
            <a:ext cx="5943600" cy="731520"/>
          </a:xfrm>
          <a:prstGeom prst="rect">
            <a:avLst/>
          </a:prstGeom>
          <a:noFill/>
        </p:spPr>
        <p:txBody>
          <a:bodyPr wrap="square" lIns="0" rIns="0" tIns="0" bIns="0" anchor="t">
            <a:noAutofit/>
          </a:bodyPr>
          <a:lstStyle/>
          <a:p>
            <a:pPr algn="l"/>
            <a:r>
              <a:rPr sz="2600" b="0" i="0">
                <a:solidFill>
                  <a:srgbClr val="000000"/>
                </a:solidFill>
                <a:latin typeface="Inter"/>
              </a:rPr>
              <a:t>Pitching the API and practice</a:t>
            </a:r>
          </a:p>
        </p:txBody>
      </p:sp>
      <p:sp>
        <p:nvSpPr>
          <p:cNvPr id="26" name="TextBox 25"/>
          <p:cNvSpPr txBox="1"/>
          <p:nvPr/>
        </p:nvSpPr>
        <p:spPr>
          <a:xfrm>
            <a:off x="16459200" y="7790688"/>
            <a:ext cx="1353312" cy="457200"/>
          </a:xfrm>
          <a:prstGeom prst="rect">
            <a:avLst/>
          </a:prstGeom>
          <a:noFill/>
        </p:spPr>
        <p:txBody>
          <a:bodyPr wrap="square" lIns="0" rIns="0" tIns="0" bIns="0" anchor="t">
            <a:noAutofit/>
          </a:bodyPr>
          <a:lstStyle/>
          <a:p>
            <a:pPr algn="r"/>
            <a:r>
              <a:rPr sz="1800" b="0" i="0">
                <a:solidFill>
                  <a:srgbClr val="000000"/>
                </a:solidFill>
                <a:latin typeface="Roboto Mono"/>
              </a:rPr>
              <a:t>10 MIN</a:t>
            </a:r>
          </a:p>
        </p:txBody>
      </p:sp>
      <p:sp>
        <p:nvSpPr>
          <p:cNvPr id="27" name="Rectangle 26"/>
          <p:cNvSpPr/>
          <p:nvPr/>
        </p:nvSpPr>
        <p:spPr>
          <a:xfrm>
            <a:off x="9601200" y="8778240"/>
            <a:ext cx="8211312" cy="10972"/>
          </a:xfrm>
          <a:prstGeom prst="rect">
            <a:avLst/>
          </a:prstGeom>
          <a:solidFill>
            <a:srgbClr val="000000"/>
          </a:solidFill>
          <a:ln>
            <a:noFill/>
          </a:ln>
        </p:spPr>
        <p:txBody>
          <a:bodyPr rtlCol="0" anchor="ctr"/>
          <a:lstStyle/>
          <a:p>
            <a:pPr algn="ctr"/>
          </a:p>
        </p:txBody>
      </p:sp>
      <p:sp>
        <p:nvSpPr>
          <p:cNvPr id="28" name="Rectangle 27"/>
          <p:cNvSpPr/>
          <p:nvPr/>
        </p:nvSpPr>
        <p:spPr>
          <a:xfrm>
            <a:off x="475488" y="9189720"/>
            <a:ext cx="17337024" cy="10972"/>
          </a:xfrm>
          <a:prstGeom prst="rect">
            <a:avLst/>
          </a:prstGeom>
          <a:solidFill>
            <a:srgbClr val="000000"/>
          </a:solidFill>
          <a:ln>
            <a:noFill/>
          </a:ln>
        </p:spPr>
        <p:txBody>
          <a:bodyPr rtlCol="0" anchor="ctr"/>
          <a:lstStyle/>
          <a:p>
            <a:pPr algn="ctr"/>
          </a:p>
        </p:txBody>
      </p:sp>
      <p:sp>
        <p:nvSpPr>
          <p:cNvPr id="29" name="TextBox 28"/>
          <p:cNvSpPr txBox="1"/>
          <p:nvPr/>
        </p:nvSpPr>
        <p:spPr>
          <a:xfrm>
            <a:off x="475488" y="9354312"/>
            <a:ext cx="2743200" cy="338328"/>
          </a:xfrm>
          <a:prstGeom prst="rect">
            <a:avLst/>
          </a:prstGeom>
          <a:noFill/>
        </p:spPr>
        <p:txBody>
          <a:bodyPr wrap="square" lIns="0" rIns="0" tIns="0" bIns="0" anchor="t">
            <a:noAutofit/>
          </a:bodyPr>
          <a:lstStyle/>
          <a:p>
            <a:pPr algn="l"/>
            <a:r>
              <a:rPr sz="1800" b="0" i="0">
                <a:solidFill>
                  <a:srgbClr val="000000"/>
                </a:solidFill>
                <a:latin typeface="Roboto Mono"/>
              </a:rPr>
              <a:t>CALIRA.CO</a:t>
            </a:r>
          </a:p>
        </p:txBody>
      </p:sp>
      <p:sp>
        <p:nvSpPr>
          <p:cNvPr id="30" name="TextBox 29"/>
          <p:cNvSpPr txBox="1"/>
          <p:nvPr/>
        </p:nvSpPr>
        <p:spPr>
          <a:xfrm>
            <a:off x="15983712" y="9354312"/>
            <a:ext cx="1828800" cy="338328"/>
          </a:xfrm>
          <a:prstGeom prst="rect">
            <a:avLst/>
          </a:prstGeom>
          <a:noFill/>
        </p:spPr>
        <p:txBody>
          <a:bodyPr wrap="square" lIns="0" rIns="0" tIns="0" bIns="0" anchor="t">
            <a:noAutofit/>
          </a:bodyPr>
          <a:lstStyle/>
          <a:p>
            <a:pPr algn="r"/>
            <a:r>
              <a:rPr sz="1800" b="0" i="0">
                <a:solidFill>
                  <a:srgbClr val="000000"/>
                </a:solidFill>
                <a:latin typeface="Roboto Mono"/>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E8FC2E"/>
        </a:solidFill>
        <a:effectLst/>
      </p:bgPr>
    </p:bg>
    <p:spTree>
      <p:nvGrpSpPr>
        <p:cNvPr id="1" name=""/>
        <p:cNvGrpSpPr/>
        <p:nvPr/>
      </p:nvGrpSpPr>
      <p:grpSpPr/>
      <p:sp>
        <p:nvSpPr>
          <p:cNvPr id="2" name="Rounded Rectangle 1"/>
          <p:cNvSpPr/>
          <p:nvPr/>
        </p:nvSpPr>
        <p:spPr>
          <a:xfrm>
            <a:off x="457200" y="457200"/>
            <a:ext cx="2743200" cy="475488"/>
          </a:xfrm>
          <a:prstGeom prst="roundRect">
            <a:avLst>
              <a:gd name="adj" fmla="val 50000"/>
            </a:avLst>
          </a:prstGeom>
          <a:solidFill>
            <a:srgbClr val="FFFFFF"/>
          </a:solidFill>
          <a:ln w="12700">
            <a:solidFill>
              <a:srgbClr val="000000"/>
            </a:solidFill>
          </a:ln>
        </p:spPr>
        <p:txBody>
          <a:bodyPr rtlCol="0" anchor="ctr" wrap="none" lIns="0" rIns="0" tIns="0" bIns="0">
            <a:noAutofit/>
          </a:bodyPr>
          <a:lstStyle/>
          <a:p>
            <a:pPr algn="ctr"/>
            <a:r>
              <a:rPr sz="1600" b="1" i="0">
                <a:solidFill>
                  <a:srgbClr val="000000"/>
                </a:solidFill>
                <a:latin typeface="Roboto Mono"/>
              </a:rPr>
              <a:t>PART 1 OF 5</a:t>
            </a:r>
          </a:p>
        </p:txBody>
      </p:sp>
      <p:sp>
        <p:nvSpPr>
          <p:cNvPr id="3" name="Title"/>
          <p:cNvSpPr txBox="1"/>
          <p:nvPr/>
        </p:nvSpPr>
        <p:spPr>
          <a:xfrm>
            <a:off x="457200" y="2194560"/>
            <a:ext cx="10241280" cy="4754880"/>
          </a:xfrm>
          <a:prstGeom prst="rect">
            <a:avLst/>
          </a:prstGeom>
          <a:noFill/>
        </p:spPr>
        <p:txBody>
          <a:bodyPr wrap="square" lIns="0" rIns="0" tIns="0" bIns="0" anchor="ctr">
            <a:noAutofit/>
          </a:bodyPr>
          <a:lstStyle/>
          <a:p>
            <a:pPr algn="l">
              <a:lnSpc>
                <a:spcPct val="92000"/>
              </a:lnSpc>
            </a:pPr>
            <a:r>
              <a:rPr sz="7600" b="1" i="0">
                <a:solidFill>
                  <a:srgbClr val="000000"/>
                </a:solidFill>
                <a:latin typeface="Inter"/>
              </a:rPr>
              <a:t>What an API is, in plain English</a:t>
            </a:r>
          </a:p>
        </p:txBody>
      </p:sp>
      <p:sp>
        <p:nvSpPr>
          <p:cNvPr id="4" name="TextBox 3"/>
          <p:cNvSpPr txBox="1"/>
          <p:nvPr/>
        </p:nvSpPr>
        <p:spPr>
          <a:xfrm>
            <a:off x="457200" y="7223760"/>
            <a:ext cx="10424160" cy="365760"/>
          </a:xfrm>
          <a:prstGeom prst="rect">
            <a:avLst/>
          </a:prstGeom>
          <a:noFill/>
        </p:spPr>
        <p:txBody>
          <a:bodyPr wrap="square" lIns="0" rIns="0" tIns="0" bIns="0" anchor="t">
            <a:noAutofit/>
          </a:bodyPr>
          <a:lstStyle/>
          <a:p>
            <a:pPr algn="l"/>
            <a:r>
              <a:rPr sz="2000" b="0" i="0">
                <a:solidFill>
                  <a:srgbClr val="000000"/>
                </a:solidFill>
                <a:latin typeface="Roboto Mono"/>
              </a:rPr>
              <a:t>10 MIN  ·  4 SLIDES</a:t>
            </a:r>
          </a:p>
        </p:txBody>
      </p:sp>
      <p:sp>
        <p:nvSpPr>
          <p:cNvPr id="5" name="Rectangle 4"/>
          <p:cNvSpPr/>
          <p:nvPr/>
        </p:nvSpPr>
        <p:spPr>
          <a:xfrm>
            <a:off x="11155680" y="2267712"/>
            <a:ext cx="6675120" cy="896112"/>
          </a:xfrm>
          <a:prstGeom prst="rect">
            <a:avLst/>
          </a:prstGeom>
          <a:solidFill>
            <a:srgbClr val="FFFFFF"/>
          </a:solidFill>
          <a:ln w="15875">
            <a:solidFill>
              <a:srgbClr val="000000"/>
            </a:solidFill>
          </a:ln>
        </p:spPr>
        <p:txBody>
          <a:bodyPr rtlCol="0" anchor="ctr"/>
          <a:lstStyle/>
          <a:p>
            <a:pPr algn="ctr"/>
          </a:p>
        </p:txBody>
      </p:sp>
      <p:sp>
        <p:nvSpPr>
          <p:cNvPr id="6" name="TextBox 5"/>
          <p:cNvSpPr txBox="1"/>
          <p:nvPr/>
        </p:nvSpPr>
        <p:spPr>
          <a:xfrm>
            <a:off x="11384280" y="2468880"/>
            <a:ext cx="640080" cy="457200"/>
          </a:xfrm>
          <a:prstGeom prst="rect">
            <a:avLst/>
          </a:prstGeom>
          <a:noFill/>
        </p:spPr>
        <p:txBody>
          <a:bodyPr wrap="square" lIns="0" rIns="0" tIns="0" bIns="0" anchor="ctr">
            <a:noAutofit/>
          </a:bodyPr>
          <a:lstStyle/>
          <a:p>
            <a:pPr algn="l"/>
            <a:r>
              <a:rPr sz="2000" b="0" i="0">
                <a:solidFill>
                  <a:srgbClr val="000000"/>
                </a:solidFill>
                <a:latin typeface="Roboto Mono"/>
              </a:rPr>
              <a:t>01</a:t>
            </a:r>
          </a:p>
        </p:txBody>
      </p:sp>
      <p:sp>
        <p:nvSpPr>
          <p:cNvPr id="7" name="TextBox 6"/>
          <p:cNvSpPr txBox="1"/>
          <p:nvPr/>
        </p:nvSpPr>
        <p:spPr>
          <a:xfrm>
            <a:off x="12115800" y="2395728"/>
            <a:ext cx="4572000" cy="676656"/>
          </a:xfrm>
          <a:prstGeom prst="rect">
            <a:avLst/>
          </a:prstGeom>
          <a:noFill/>
        </p:spPr>
        <p:txBody>
          <a:bodyPr wrap="square" lIns="0" rIns="0" tIns="0" bIns="0" anchor="ctr">
            <a:noAutofit/>
          </a:bodyPr>
          <a:lstStyle/>
          <a:p>
            <a:pPr algn="l"/>
            <a:r>
              <a:rPr sz="2200" b="1" i="0">
                <a:solidFill>
                  <a:srgbClr val="000000"/>
                </a:solidFill>
                <a:latin typeface="Inter"/>
              </a:rPr>
              <a:t>What an API is, in plain English</a:t>
            </a:r>
          </a:p>
        </p:txBody>
      </p:sp>
      <p:sp>
        <p:nvSpPr>
          <p:cNvPr id="8" name="TextBox 7"/>
          <p:cNvSpPr txBox="1"/>
          <p:nvPr/>
        </p:nvSpPr>
        <p:spPr>
          <a:xfrm>
            <a:off x="16642080" y="2468880"/>
            <a:ext cx="1005840" cy="457200"/>
          </a:xfrm>
          <a:prstGeom prst="rect">
            <a:avLst/>
          </a:prstGeom>
          <a:noFill/>
        </p:spPr>
        <p:txBody>
          <a:bodyPr wrap="square" lIns="0" rIns="0" tIns="0" bIns="0" anchor="ctr">
            <a:noAutofit/>
          </a:bodyPr>
          <a:lstStyle/>
          <a:p>
            <a:pPr algn="r"/>
            <a:r>
              <a:rPr sz="1600" b="0" i="0">
                <a:solidFill>
                  <a:srgbClr val="000000"/>
                </a:solidFill>
                <a:latin typeface="Roboto Mono"/>
              </a:rPr>
              <a:t>10 MIN</a:t>
            </a:r>
          </a:p>
        </p:txBody>
      </p:sp>
      <p:sp>
        <p:nvSpPr>
          <p:cNvPr id="9" name="TextBox 8"/>
          <p:cNvSpPr txBox="1"/>
          <p:nvPr/>
        </p:nvSpPr>
        <p:spPr>
          <a:xfrm>
            <a:off x="11384280" y="3547872"/>
            <a:ext cx="640080" cy="457200"/>
          </a:xfrm>
          <a:prstGeom prst="rect">
            <a:avLst/>
          </a:prstGeom>
          <a:noFill/>
        </p:spPr>
        <p:txBody>
          <a:bodyPr wrap="square" lIns="0" rIns="0" tIns="0" bIns="0" anchor="ctr">
            <a:noAutofit/>
          </a:bodyPr>
          <a:lstStyle/>
          <a:p>
            <a:pPr algn="l"/>
            <a:r>
              <a:rPr sz="2000" b="0" i="0">
                <a:solidFill>
                  <a:srgbClr val="5C6410"/>
                </a:solidFill>
                <a:latin typeface="Roboto Mono"/>
              </a:rPr>
              <a:t>02</a:t>
            </a:r>
          </a:p>
        </p:txBody>
      </p:sp>
      <p:sp>
        <p:nvSpPr>
          <p:cNvPr id="10" name="TextBox 9"/>
          <p:cNvSpPr txBox="1"/>
          <p:nvPr/>
        </p:nvSpPr>
        <p:spPr>
          <a:xfrm>
            <a:off x="12115800" y="3474720"/>
            <a:ext cx="4572000" cy="676656"/>
          </a:xfrm>
          <a:prstGeom prst="rect">
            <a:avLst/>
          </a:prstGeom>
          <a:noFill/>
        </p:spPr>
        <p:txBody>
          <a:bodyPr wrap="square" lIns="0" rIns="0" tIns="0" bIns="0" anchor="ctr">
            <a:noAutofit/>
          </a:bodyPr>
          <a:lstStyle/>
          <a:p>
            <a:pPr algn="l"/>
            <a:r>
              <a:rPr sz="2200" b="0" i="0">
                <a:solidFill>
                  <a:srgbClr val="5C6410"/>
                </a:solidFill>
                <a:latin typeface="Inter"/>
              </a:rPr>
              <a:t>How requests and answers work</a:t>
            </a:r>
          </a:p>
        </p:txBody>
      </p:sp>
      <p:sp>
        <p:nvSpPr>
          <p:cNvPr id="11" name="TextBox 10"/>
          <p:cNvSpPr txBox="1"/>
          <p:nvPr/>
        </p:nvSpPr>
        <p:spPr>
          <a:xfrm>
            <a:off x="16642080" y="3547872"/>
            <a:ext cx="1005840" cy="457200"/>
          </a:xfrm>
          <a:prstGeom prst="rect">
            <a:avLst/>
          </a:prstGeom>
          <a:noFill/>
        </p:spPr>
        <p:txBody>
          <a:bodyPr wrap="square" lIns="0" rIns="0" tIns="0" bIns="0" anchor="ctr">
            <a:noAutofit/>
          </a:bodyPr>
          <a:lstStyle/>
          <a:p>
            <a:pPr algn="r"/>
            <a:r>
              <a:rPr sz="1600" b="0" i="0">
                <a:solidFill>
                  <a:srgbClr val="5C6410"/>
                </a:solidFill>
                <a:latin typeface="Roboto Mono"/>
              </a:rPr>
              <a:t>15 MIN</a:t>
            </a:r>
          </a:p>
        </p:txBody>
      </p:sp>
      <p:sp>
        <p:nvSpPr>
          <p:cNvPr id="12" name="TextBox 11"/>
          <p:cNvSpPr txBox="1"/>
          <p:nvPr/>
        </p:nvSpPr>
        <p:spPr>
          <a:xfrm>
            <a:off x="11384280" y="4626864"/>
            <a:ext cx="640080" cy="457200"/>
          </a:xfrm>
          <a:prstGeom prst="rect">
            <a:avLst/>
          </a:prstGeom>
          <a:noFill/>
        </p:spPr>
        <p:txBody>
          <a:bodyPr wrap="square" lIns="0" rIns="0" tIns="0" bIns="0" anchor="ctr">
            <a:noAutofit/>
          </a:bodyPr>
          <a:lstStyle/>
          <a:p>
            <a:pPr algn="l"/>
            <a:r>
              <a:rPr sz="2000" b="0" i="0">
                <a:solidFill>
                  <a:srgbClr val="5C6410"/>
                </a:solidFill>
                <a:latin typeface="Roboto Mono"/>
              </a:rPr>
              <a:t>03</a:t>
            </a:r>
          </a:p>
        </p:txBody>
      </p:sp>
      <p:sp>
        <p:nvSpPr>
          <p:cNvPr id="13" name="TextBox 12"/>
          <p:cNvSpPr txBox="1"/>
          <p:nvPr/>
        </p:nvSpPr>
        <p:spPr>
          <a:xfrm>
            <a:off x="12115800" y="4553712"/>
            <a:ext cx="4572000" cy="676656"/>
          </a:xfrm>
          <a:prstGeom prst="rect">
            <a:avLst/>
          </a:prstGeom>
          <a:noFill/>
        </p:spPr>
        <p:txBody>
          <a:bodyPr wrap="square" lIns="0" rIns="0" tIns="0" bIns="0" anchor="ctr">
            <a:noAutofit/>
          </a:bodyPr>
          <a:lstStyle/>
          <a:p>
            <a:pPr algn="l"/>
            <a:r>
              <a:rPr sz="2200" b="0" i="0">
                <a:solidFill>
                  <a:srgbClr val="5C6410"/>
                </a:solidFill>
                <a:latin typeface="Inter"/>
              </a:rPr>
              <a:t>Getting a customer connected</a:t>
            </a:r>
          </a:p>
        </p:txBody>
      </p:sp>
      <p:sp>
        <p:nvSpPr>
          <p:cNvPr id="14" name="TextBox 13"/>
          <p:cNvSpPr txBox="1"/>
          <p:nvPr/>
        </p:nvSpPr>
        <p:spPr>
          <a:xfrm>
            <a:off x="16642080" y="4626864"/>
            <a:ext cx="1005840" cy="457200"/>
          </a:xfrm>
          <a:prstGeom prst="rect">
            <a:avLst/>
          </a:prstGeom>
          <a:noFill/>
        </p:spPr>
        <p:txBody>
          <a:bodyPr wrap="square" lIns="0" rIns="0" tIns="0" bIns="0" anchor="ctr">
            <a:noAutofit/>
          </a:bodyPr>
          <a:lstStyle/>
          <a:p>
            <a:pPr algn="r"/>
            <a:r>
              <a:rPr sz="1600" b="0" i="0">
                <a:solidFill>
                  <a:srgbClr val="5C6410"/>
                </a:solidFill>
                <a:latin typeface="Roboto Mono"/>
              </a:rPr>
              <a:t>10 MIN</a:t>
            </a:r>
          </a:p>
        </p:txBody>
      </p:sp>
      <p:sp>
        <p:nvSpPr>
          <p:cNvPr id="15" name="TextBox 14"/>
          <p:cNvSpPr txBox="1"/>
          <p:nvPr/>
        </p:nvSpPr>
        <p:spPr>
          <a:xfrm>
            <a:off x="11384280" y="5705855"/>
            <a:ext cx="640080" cy="457200"/>
          </a:xfrm>
          <a:prstGeom prst="rect">
            <a:avLst/>
          </a:prstGeom>
          <a:noFill/>
        </p:spPr>
        <p:txBody>
          <a:bodyPr wrap="square" lIns="0" rIns="0" tIns="0" bIns="0" anchor="ctr">
            <a:noAutofit/>
          </a:bodyPr>
          <a:lstStyle/>
          <a:p>
            <a:pPr algn="l"/>
            <a:r>
              <a:rPr sz="2000" b="0" i="0">
                <a:solidFill>
                  <a:srgbClr val="5C6410"/>
                </a:solidFill>
                <a:latin typeface="Roboto Mono"/>
              </a:rPr>
              <a:t>04</a:t>
            </a:r>
          </a:p>
        </p:txBody>
      </p:sp>
      <p:sp>
        <p:nvSpPr>
          <p:cNvPr id="16" name="TextBox 15"/>
          <p:cNvSpPr txBox="1"/>
          <p:nvPr/>
        </p:nvSpPr>
        <p:spPr>
          <a:xfrm>
            <a:off x="12115800" y="5632703"/>
            <a:ext cx="4572000" cy="676656"/>
          </a:xfrm>
          <a:prstGeom prst="rect">
            <a:avLst/>
          </a:prstGeom>
          <a:noFill/>
        </p:spPr>
        <p:txBody>
          <a:bodyPr wrap="square" lIns="0" rIns="0" tIns="0" bIns="0" anchor="ctr">
            <a:noAutofit/>
          </a:bodyPr>
          <a:lstStyle/>
          <a:p>
            <a:pPr algn="l"/>
            <a:r>
              <a:rPr sz="2200" b="0" i="0">
                <a:solidFill>
                  <a:srgbClr val="5C6410"/>
                </a:solidFill>
                <a:latin typeface="Inter"/>
              </a:rPr>
              <a:t>Hands-on with Postman</a:t>
            </a:r>
          </a:p>
        </p:txBody>
      </p:sp>
      <p:sp>
        <p:nvSpPr>
          <p:cNvPr id="17" name="TextBox 16"/>
          <p:cNvSpPr txBox="1"/>
          <p:nvPr/>
        </p:nvSpPr>
        <p:spPr>
          <a:xfrm>
            <a:off x="16642080" y="5705855"/>
            <a:ext cx="1005840" cy="457200"/>
          </a:xfrm>
          <a:prstGeom prst="rect">
            <a:avLst/>
          </a:prstGeom>
          <a:noFill/>
        </p:spPr>
        <p:txBody>
          <a:bodyPr wrap="square" lIns="0" rIns="0" tIns="0" bIns="0" anchor="ctr">
            <a:noAutofit/>
          </a:bodyPr>
          <a:lstStyle/>
          <a:p>
            <a:pPr algn="r"/>
            <a:r>
              <a:rPr sz="1600" b="0" i="0">
                <a:solidFill>
                  <a:srgbClr val="5C6410"/>
                </a:solidFill>
                <a:latin typeface="Roboto Mono"/>
              </a:rPr>
              <a:t>30 MIN</a:t>
            </a:r>
          </a:p>
        </p:txBody>
      </p:sp>
      <p:sp>
        <p:nvSpPr>
          <p:cNvPr id="18" name="TextBox 17"/>
          <p:cNvSpPr txBox="1"/>
          <p:nvPr/>
        </p:nvSpPr>
        <p:spPr>
          <a:xfrm>
            <a:off x="11384280" y="6784847"/>
            <a:ext cx="640080" cy="457200"/>
          </a:xfrm>
          <a:prstGeom prst="rect">
            <a:avLst/>
          </a:prstGeom>
          <a:noFill/>
        </p:spPr>
        <p:txBody>
          <a:bodyPr wrap="square" lIns="0" rIns="0" tIns="0" bIns="0" anchor="ctr">
            <a:noAutofit/>
          </a:bodyPr>
          <a:lstStyle/>
          <a:p>
            <a:pPr algn="l"/>
            <a:r>
              <a:rPr sz="2000" b="0" i="0">
                <a:solidFill>
                  <a:srgbClr val="5C6410"/>
                </a:solidFill>
                <a:latin typeface="Roboto Mono"/>
              </a:rPr>
              <a:t>05</a:t>
            </a:r>
          </a:p>
        </p:txBody>
      </p:sp>
      <p:sp>
        <p:nvSpPr>
          <p:cNvPr id="19" name="TextBox 18"/>
          <p:cNvSpPr txBox="1"/>
          <p:nvPr/>
        </p:nvSpPr>
        <p:spPr>
          <a:xfrm>
            <a:off x="12115800" y="6711695"/>
            <a:ext cx="4572000" cy="676656"/>
          </a:xfrm>
          <a:prstGeom prst="rect">
            <a:avLst/>
          </a:prstGeom>
          <a:noFill/>
        </p:spPr>
        <p:txBody>
          <a:bodyPr wrap="square" lIns="0" rIns="0" tIns="0" bIns="0" anchor="ctr">
            <a:noAutofit/>
          </a:bodyPr>
          <a:lstStyle/>
          <a:p>
            <a:pPr algn="l"/>
            <a:r>
              <a:rPr sz="2200" b="0" i="0">
                <a:solidFill>
                  <a:srgbClr val="5C6410"/>
                </a:solidFill>
                <a:latin typeface="Inter"/>
              </a:rPr>
              <a:t>Pitching the API and practice</a:t>
            </a:r>
          </a:p>
        </p:txBody>
      </p:sp>
      <p:sp>
        <p:nvSpPr>
          <p:cNvPr id="20" name="TextBox 19"/>
          <p:cNvSpPr txBox="1"/>
          <p:nvPr/>
        </p:nvSpPr>
        <p:spPr>
          <a:xfrm>
            <a:off x="16642080" y="6784847"/>
            <a:ext cx="1005840" cy="457200"/>
          </a:xfrm>
          <a:prstGeom prst="rect">
            <a:avLst/>
          </a:prstGeom>
          <a:noFill/>
        </p:spPr>
        <p:txBody>
          <a:bodyPr wrap="square" lIns="0" rIns="0" tIns="0" bIns="0" anchor="ctr">
            <a:noAutofit/>
          </a:bodyPr>
          <a:lstStyle/>
          <a:p>
            <a:pPr algn="r"/>
            <a:r>
              <a:rPr sz="1600" b="0" i="0">
                <a:solidFill>
                  <a:srgbClr val="5C6410"/>
                </a:solidFill>
                <a:latin typeface="Roboto Mono"/>
              </a:rPr>
              <a:t>10 MIN</a:t>
            </a:r>
          </a:p>
        </p:txBody>
      </p:sp>
      <p:pic>
        <p:nvPicPr>
          <p:cNvPr id="21" name="Picture 20" descr="s5_1.png"/>
          <p:cNvPicPr>
            <a:picLocks noChangeAspect="1"/>
          </p:cNvPicPr>
          <p:nvPr/>
        </p:nvPicPr>
        <p:blipFill>
          <a:blip r:embed="rId2"/>
          <a:stretch>
            <a:fillRect/>
          </a:stretch>
        </p:blipFill>
        <p:spPr>
          <a:xfrm>
            <a:off x="457200" y="9701784"/>
            <a:ext cx="1344168" cy="310896"/>
          </a:xfrm>
          <a:prstGeom prst="rect">
            <a:avLst/>
          </a:prstGeom>
        </p:spPr>
      </p:pic>
      <p:sp>
        <p:nvSpPr>
          <p:cNvPr id="22" name="TextBox 21"/>
          <p:cNvSpPr txBox="1"/>
          <p:nvPr/>
        </p:nvSpPr>
        <p:spPr>
          <a:xfrm>
            <a:off x="15983712" y="9692640"/>
            <a:ext cx="1828800" cy="338328"/>
          </a:xfrm>
          <a:prstGeom prst="rect">
            <a:avLst/>
          </a:prstGeom>
          <a:noFill/>
        </p:spPr>
        <p:txBody>
          <a:bodyPr wrap="square" lIns="0" rIns="0" tIns="0" bIns="0" anchor="t">
            <a:noAutofit/>
          </a:bodyPr>
          <a:lstStyle/>
          <a:p>
            <a:pPr algn="r"/>
            <a:r>
              <a:rPr sz="1800" b="0" i="0">
                <a:solidFill>
                  <a:srgbClr val="000000"/>
                </a:solidFill>
                <a:latin typeface="Roboto Mono"/>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ED"/>
        </a:solidFill>
        <a:effectLst/>
      </p:bgPr>
    </p:bg>
    <p:spTree>
      <p:nvGrpSpPr>
        <p:cNvPr id="1" name=""/>
        <p:cNvGrpSpPr/>
        <p:nvPr/>
      </p:nvGrpSpPr>
      <p:grpSpPr/>
      <p:pic>
        <p:nvPicPr>
          <p:cNvPr id="2" name="Picture 1" descr="s1_0.png"/>
          <p:cNvPicPr>
            <a:picLocks noChangeAspect="1"/>
          </p:cNvPicPr>
          <p:nvPr/>
        </p:nvPicPr>
        <p:blipFill>
          <a:blip r:embed="rId2"/>
          <a:stretch>
            <a:fillRect/>
          </a:stretch>
        </p:blipFill>
        <p:spPr>
          <a:xfrm>
            <a:off x="475488" y="594360"/>
            <a:ext cx="1655064" cy="384048"/>
          </a:xfrm>
          <a:prstGeom prst="rect">
            <a:avLst/>
          </a:prstGeom>
        </p:spPr>
      </p:pic>
      <p:sp>
        <p:nvSpPr>
          <p:cNvPr id="3" name="Rectangle 2"/>
          <p:cNvSpPr/>
          <p:nvPr/>
        </p:nvSpPr>
        <p:spPr>
          <a:xfrm>
            <a:off x="2441448" y="777240"/>
            <a:ext cx="15371064" cy="10972"/>
          </a:xfrm>
          <a:prstGeom prst="rect">
            <a:avLst/>
          </a:prstGeom>
          <a:solidFill>
            <a:srgbClr val="000000"/>
          </a:solidFill>
          <a:ln>
            <a:noFill/>
          </a:ln>
        </p:spPr>
        <p:txBody>
          <a:bodyPr rtlCol="0" anchor="ctr"/>
          <a:lstStyle/>
          <a:p>
            <a:pPr algn="ctr"/>
          </a:p>
        </p:txBody>
      </p:sp>
      <p:sp>
        <p:nvSpPr>
          <p:cNvPr id="4" name="TextBox 3"/>
          <p:cNvSpPr txBox="1"/>
          <p:nvPr/>
        </p:nvSpPr>
        <p:spPr>
          <a:xfrm>
            <a:off x="475488" y="1527048"/>
            <a:ext cx="10972800" cy="365760"/>
          </a:xfrm>
          <a:prstGeom prst="rect">
            <a:avLst/>
          </a:prstGeom>
          <a:noFill/>
        </p:spPr>
        <p:txBody>
          <a:bodyPr wrap="square" lIns="0" rIns="0" tIns="0" bIns="0" anchor="t">
            <a:noAutofit/>
          </a:bodyPr>
          <a:lstStyle/>
          <a:p>
            <a:pPr algn="l"/>
            <a:r>
              <a:rPr sz="1800" b="0" i="0">
                <a:solidFill>
                  <a:srgbClr val="000000"/>
                </a:solidFill>
                <a:latin typeface="Roboto Mono"/>
              </a:rPr>
              <a:t>PART 1 · WHAT AN API IS</a:t>
            </a:r>
          </a:p>
        </p:txBody>
      </p:sp>
      <p:sp>
        <p:nvSpPr>
          <p:cNvPr id="5" name="Title"/>
          <p:cNvSpPr txBox="1"/>
          <p:nvPr/>
        </p:nvSpPr>
        <p:spPr>
          <a:xfrm>
            <a:off x="475488" y="2011680"/>
            <a:ext cx="17337024" cy="868680"/>
          </a:xfrm>
          <a:prstGeom prst="rect">
            <a:avLst/>
          </a:prstGeom>
          <a:noFill/>
        </p:spPr>
        <p:txBody>
          <a:bodyPr wrap="square" lIns="0" rIns="0" tIns="0" bIns="0" anchor="t">
            <a:noAutofit/>
          </a:bodyPr>
          <a:lstStyle/>
          <a:p>
            <a:pPr algn="l">
              <a:lnSpc>
                <a:spcPct val="95000"/>
              </a:lnSpc>
            </a:pPr>
            <a:r>
              <a:rPr sz="4600" b="1" i="0">
                <a:solidFill>
                  <a:srgbClr val="000000"/>
                </a:solidFill>
                <a:latin typeface="Inter"/>
              </a:rPr>
              <a:t>An API lets two systems talk to each other</a:t>
            </a:r>
          </a:p>
        </p:txBody>
      </p:sp>
      <p:sp>
        <p:nvSpPr>
          <p:cNvPr id="6" name="Rectangle 5"/>
          <p:cNvSpPr/>
          <p:nvPr/>
        </p:nvSpPr>
        <p:spPr>
          <a:xfrm>
            <a:off x="475488" y="9189720"/>
            <a:ext cx="17337024" cy="10972"/>
          </a:xfrm>
          <a:prstGeom prst="rect">
            <a:avLst/>
          </a:prstGeom>
          <a:solidFill>
            <a:srgbClr val="000000"/>
          </a:solidFill>
          <a:ln>
            <a:noFill/>
          </a:ln>
        </p:spPr>
        <p:txBody>
          <a:bodyPr rtlCol="0" anchor="ctr"/>
          <a:lstStyle/>
          <a:p>
            <a:pPr algn="ctr"/>
          </a:p>
        </p:txBody>
      </p:sp>
      <p:sp>
        <p:nvSpPr>
          <p:cNvPr id="7" name="TextBox 6"/>
          <p:cNvSpPr txBox="1"/>
          <p:nvPr/>
        </p:nvSpPr>
        <p:spPr>
          <a:xfrm>
            <a:off x="475488" y="9354312"/>
            <a:ext cx="2743200" cy="338328"/>
          </a:xfrm>
          <a:prstGeom prst="rect">
            <a:avLst/>
          </a:prstGeom>
          <a:noFill/>
        </p:spPr>
        <p:txBody>
          <a:bodyPr wrap="square" lIns="0" rIns="0" tIns="0" bIns="0" anchor="t">
            <a:noAutofit/>
          </a:bodyPr>
          <a:lstStyle/>
          <a:p>
            <a:pPr algn="l"/>
            <a:r>
              <a:rPr sz="1800" b="0" i="0">
                <a:solidFill>
                  <a:srgbClr val="000000"/>
                </a:solidFill>
                <a:latin typeface="Roboto Mono"/>
              </a:rPr>
              <a:t>CALIRA.CO</a:t>
            </a:r>
          </a:p>
        </p:txBody>
      </p:sp>
      <p:sp>
        <p:nvSpPr>
          <p:cNvPr id="8" name="TextBox 7"/>
          <p:cNvSpPr txBox="1"/>
          <p:nvPr/>
        </p:nvSpPr>
        <p:spPr>
          <a:xfrm>
            <a:off x="15983712" y="9354312"/>
            <a:ext cx="1828800" cy="338328"/>
          </a:xfrm>
          <a:prstGeom prst="rect">
            <a:avLst/>
          </a:prstGeom>
          <a:noFill/>
        </p:spPr>
        <p:txBody>
          <a:bodyPr wrap="square" lIns="0" rIns="0" tIns="0" bIns="0" anchor="t">
            <a:noAutofit/>
          </a:bodyPr>
          <a:lstStyle/>
          <a:p>
            <a:pPr algn="r"/>
            <a:r>
              <a:rPr sz="1800" b="0" i="0">
                <a:solidFill>
                  <a:srgbClr val="000000"/>
                </a:solidFill>
                <a:latin typeface="Roboto Mono"/>
              </a:rPr>
              <a:t>04</a:t>
            </a:r>
          </a:p>
        </p:txBody>
      </p:sp>
      <p:sp>
        <p:nvSpPr>
          <p:cNvPr id="9" name="Rectangle 8"/>
          <p:cNvSpPr/>
          <p:nvPr/>
        </p:nvSpPr>
        <p:spPr>
          <a:xfrm>
            <a:off x="475488" y="3246120"/>
            <a:ext cx="4480560" cy="2743200"/>
          </a:xfrm>
          <a:prstGeom prst="rect">
            <a:avLst/>
          </a:prstGeom>
          <a:solidFill>
            <a:srgbClr val="FFFFFF"/>
          </a:solidFill>
          <a:ln w="15875">
            <a:solidFill>
              <a:srgbClr val="000000"/>
            </a:solidFill>
          </a:ln>
        </p:spPr>
        <p:txBody>
          <a:bodyPr rtlCol="0" anchor="ctr"/>
          <a:lstStyle/>
          <a:p>
            <a:pPr algn="ctr"/>
          </a:p>
        </p:txBody>
      </p:sp>
      <p:pic>
        <p:nvPicPr>
          <p:cNvPr id="10" name="Picture 9" descr="building.png"/>
          <p:cNvPicPr>
            <a:picLocks noChangeAspect="1"/>
          </p:cNvPicPr>
          <p:nvPr/>
        </p:nvPicPr>
        <p:blipFill>
          <a:blip r:embed="rId3"/>
          <a:stretch>
            <a:fillRect/>
          </a:stretch>
        </p:blipFill>
        <p:spPr>
          <a:xfrm>
            <a:off x="795528" y="3520440"/>
            <a:ext cx="566928" cy="566928"/>
          </a:xfrm>
          <a:prstGeom prst="rect">
            <a:avLst/>
          </a:prstGeom>
        </p:spPr>
      </p:pic>
      <p:sp>
        <p:nvSpPr>
          <p:cNvPr id="11" name="TextBox 10"/>
          <p:cNvSpPr txBox="1"/>
          <p:nvPr/>
        </p:nvSpPr>
        <p:spPr>
          <a:xfrm>
            <a:off x="795528" y="4297680"/>
            <a:ext cx="3931920" cy="457200"/>
          </a:xfrm>
          <a:prstGeom prst="rect">
            <a:avLst/>
          </a:prstGeom>
          <a:noFill/>
        </p:spPr>
        <p:txBody>
          <a:bodyPr wrap="square" lIns="0" rIns="0" tIns="0" bIns="0" anchor="t">
            <a:noAutofit/>
          </a:bodyPr>
          <a:lstStyle/>
          <a:p>
            <a:pPr algn="l"/>
            <a:r>
              <a:rPr sz="2600" b="1" i="0">
                <a:solidFill>
                  <a:srgbClr val="000000"/>
                </a:solidFill>
                <a:latin typeface="Inter"/>
              </a:rPr>
              <a:t>The customer's system</a:t>
            </a:r>
          </a:p>
        </p:txBody>
      </p:sp>
      <p:sp>
        <p:nvSpPr>
          <p:cNvPr id="12" name="TextBox 11"/>
          <p:cNvSpPr txBox="1"/>
          <p:nvPr/>
        </p:nvSpPr>
        <p:spPr>
          <a:xfrm>
            <a:off x="795528" y="4846320"/>
            <a:ext cx="3931920" cy="1097280"/>
          </a:xfrm>
          <a:prstGeom prst="rect">
            <a:avLst/>
          </a:prstGeom>
          <a:noFill/>
        </p:spPr>
        <p:txBody>
          <a:bodyPr wrap="square" lIns="0" rIns="0" tIns="0" bIns="0" anchor="t">
            <a:noAutofit/>
          </a:bodyPr>
          <a:lstStyle/>
          <a:p>
            <a:pPr algn="l"/>
            <a:r>
              <a:rPr sz="1900" b="0" i="0">
                <a:solidFill>
                  <a:srgbClr val="2C2825"/>
                </a:solidFill>
                <a:latin typeface="Inter"/>
              </a:rPr>
              <a:t>Their lab software, a spreadsheet or a reporting tool.</a:t>
            </a:r>
          </a:p>
        </p:txBody>
      </p:sp>
      <p:sp>
        <p:nvSpPr>
          <p:cNvPr id="13" name="TextBox 12"/>
          <p:cNvSpPr txBox="1"/>
          <p:nvPr/>
        </p:nvSpPr>
        <p:spPr>
          <a:xfrm>
            <a:off x="475488" y="6144768"/>
            <a:ext cx="4480560" cy="365760"/>
          </a:xfrm>
          <a:prstGeom prst="rect">
            <a:avLst/>
          </a:prstGeom>
          <a:noFill/>
        </p:spPr>
        <p:txBody>
          <a:bodyPr wrap="square" lIns="0" rIns="0" tIns="0" bIns="0" anchor="t">
            <a:noAutofit/>
          </a:bodyPr>
          <a:lstStyle/>
          <a:p>
            <a:pPr algn="ctr"/>
            <a:r>
              <a:rPr sz="1800" b="0" i="0">
                <a:solidFill>
                  <a:srgbClr val="000000"/>
                </a:solidFill>
                <a:latin typeface="Roboto Mono"/>
              </a:rPr>
              <a:t>= THE DINER</a:t>
            </a:r>
          </a:p>
        </p:txBody>
      </p:sp>
      <p:sp>
        <p:nvSpPr>
          <p:cNvPr id="14" name="Rectangle 13"/>
          <p:cNvSpPr/>
          <p:nvPr/>
        </p:nvSpPr>
        <p:spPr>
          <a:xfrm>
            <a:off x="6903720" y="3246120"/>
            <a:ext cx="4480560" cy="2743200"/>
          </a:xfrm>
          <a:prstGeom prst="rect">
            <a:avLst/>
          </a:prstGeom>
          <a:solidFill>
            <a:srgbClr val="E8FC2E"/>
          </a:solidFill>
          <a:ln w="15875">
            <a:solidFill>
              <a:srgbClr val="000000"/>
            </a:solidFill>
          </a:ln>
        </p:spPr>
        <p:txBody>
          <a:bodyPr rtlCol="0" anchor="ctr"/>
          <a:lstStyle/>
          <a:p>
            <a:pPr algn="ctr"/>
          </a:p>
        </p:txBody>
      </p:sp>
      <p:pic>
        <p:nvPicPr>
          <p:cNvPr id="15" name="Picture 14" descr="plug.png"/>
          <p:cNvPicPr>
            <a:picLocks noChangeAspect="1"/>
          </p:cNvPicPr>
          <p:nvPr/>
        </p:nvPicPr>
        <p:blipFill>
          <a:blip r:embed="rId4"/>
          <a:stretch>
            <a:fillRect/>
          </a:stretch>
        </p:blipFill>
        <p:spPr>
          <a:xfrm>
            <a:off x="7223759" y="3520440"/>
            <a:ext cx="566928" cy="566928"/>
          </a:xfrm>
          <a:prstGeom prst="rect">
            <a:avLst/>
          </a:prstGeom>
        </p:spPr>
      </p:pic>
      <p:sp>
        <p:nvSpPr>
          <p:cNvPr id="16" name="TextBox 15"/>
          <p:cNvSpPr txBox="1"/>
          <p:nvPr/>
        </p:nvSpPr>
        <p:spPr>
          <a:xfrm>
            <a:off x="7223759" y="4297680"/>
            <a:ext cx="3931920" cy="457200"/>
          </a:xfrm>
          <a:prstGeom prst="rect">
            <a:avLst/>
          </a:prstGeom>
          <a:noFill/>
        </p:spPr>
        <p:txBody>
          <a:bodyPr wrap="square" lIns="0" rIns="0" tIns="0" bIns="0" anchor="t">
            <a:noAutofit/>
          </a:bodyPr>
          <a:lstStyle/>
          <a:p>
            <a:pPr algn="l"/>
            <a:r>
              <a:rPr sz="2600" b="1" i="0">
                <a:solidFill>
                  <a:srgbClr val="000000"/>
                </a:solidFill>
                <a:latin typeface="Inter"/>
              </a:rPr>
              <a:t>The Calira API</a:t>
            </a:r>
          </a:p>
        </p:txBody>
      </p:sp>
      <p:sp>
        <p:nvSpPr>
          <p:cNvPr id="17" name="TextBox 16"/>
          <p:cNvSpPr txBox="1"/>
          <p:nvPr/>
        </p:nvSpPr>
        <p:spPr>
          <a:xfrm>
            <a:off x="7223759" y="4846320"/>
            <a:ext cx="3931920" cy="1097280"/>
          </a:xfrm>
          <a:prstGeom prst="rect">
            <a:avLst/>
          </a:prstGeom>
          <a:noFill/>
        </p:spPr>
        <p:txBody>
          <a:bodyPr wrap="square" lIns="0" rIns="0" tIns="0" bIns="0" anchor="t">
            <a:noAutofit/>
          </a:bodyPr>
          <a:lstStyle/>
          <a:p>
            <a:pPr algn="l"/>
            <a:r>
              <a:rPr sz="1900" b="0" i="0">
                <a:solidFill>
                  <a:srgbClr val="2C2825"/>
                </a:solidFill>
                <a:latin typeface="Inter"/>
              </a:rPr>
              <a:t>Takes the question, checks who is asking and fetches the answer.</a:t>
            </a:r>
          </a:p>
        </p:txBody>
      </p:sp>
      <p:sp>
        <p:nvSpPr>
          <p:cNvPr id="18" name="TextBox 17"/>
          <p:cNvSpPr txBox="1"/>
          <p:nvPr/>
        </p:nvSpPr>
        <p:spPr>
          <a:xfrm>
            <a:off x="6903720" y="6144768"/>
            <a:ext cx="4480560" cy="365760"/>
          </a:xfrm>
          <a:prstGeom prst="rect">
            <a:avLst/>
          </a:prstGeom>
          <a:noFill/>
        </p:spPr>
        <p:txBody>
          <a:bodyPr wrap="square" lIns="0" rIns="0" tIns="0" bIns="0" anchor="t">
            <a:noAutofit/>
          </a:bodyPr>
          <a:lstStyle/>
          <a:p>
            <a:pPr algn="ctr"/>
            <a:r>
              <a:rPr sz="1800" b="0" i="0">
                <a:solidFill>
                  <a:srgbClr val="000000"/>
                </a:solidFill>
                <a:latin typeface="Roboto Mono"/>
              </a:rPr>
              <a:t>= THE WAITER</a:t>
            </a:r>
          </a:p>
        </p:txBody>
      </p:sp>
      <p:sp>
        <p:nvSpPr>
          <p:cNvPr id="19" name="Rectangle 18"/>
          <p:cNvSpPr/>
          <p:nvPr/>
        </p:nvSpPr>
        <p:spPr>
          <a:xfrm>
            <a:off x="13331952" y="3246120"/>
            <a:ext cx="4480560" cy="2743200"/>
          </a:xfrm>
          <a:prstGeom prst="rect">
            <a:avLst/>
          </a:prstGeom>
          <a:solidFill>
            <a:srgbClr val="FFFFFF"/>
          </a:solidFill>
          <a:ln w="15875">
            <a:solidFill>
              <a:srgbClr val="000000"/>
            </a:solidFill>
          </a:ln>
        </p:spPr>
        <p:txBody>
          <a:bodyPr rtlCol="0" anchor="ctr"/>
          <a:lstStyle/>
          <a:p>
            <a:pPr algn="ctr"/>
          </a:p>
        </p:txBody>
      </p:sp>
      <p:pic>
        <p:nvPicPr>
          <p:cNvPr id="20" name="Picture 19" descr="database.png"/>
          <p:cNvPicPr>
            <a:picLocks noChangeAspect="1"/>
          </p:cNvPicPr>
          <p:nvPr/>
        </p:nvPicPr>
        <p:blipFill>
          <a:blip r:embed="rId5"/>
          <a:stretch>
            <a:fillRect/>
          </a:stretch>
        </p:blipFill>
        <p:spPr>
          <a:xfrm>
            <a:off x="13651992" y="3520440"/>
            <a:ext cx="566928" cy="566928"/>
          </a:xfrm>
          <a:prstGeom prst="rect">
            <a:avLst/>
          </a:prstGeom>
        </p:spPr>
      </p:pic>
      <p:sp>
        <p:nvSpPr>
          <p:cNvPr id="21" name="TextBox 20"/>
          <p:cNvSpPr txBox="1"/>
          <p:nvPr/>
        </p:nvSpPr>
        <p:spPr>
          <a:xfrm>
            <a:off x="13651992" y="4297680"/>
            <a:ext cx="3931920" cy="457200"/>
          </a:xfrm>
          <a:prstGeom prst="rect">
            <a:avLst/>
          </a:prstGeom>
          <a:noFill/>
        </p:spPr>
        <p:txBody>
          <a:bodyPr wrap="square" lIns="0" rIns="0" tIns="0" bIns="0" anchor="t">
            <a:noAutofit/>
          </a:bodyPr>
          <a:lstStyle/>
          <a:p>
            <a:pPr algn="l"/>
            <a:r>
              <a:rPr sz="2600" b="1" i="0">
                <a:solidFill>
                  <a:srgbClr val="000000"/>
                </a:solidFill>
                <a:latin typeface="Inter"/>
              </a:rPr>
              <a:t>Calira</a:t>
            </a:r>
          </a:p>
        </p:txBody>
      </p:sp>
      <p:sp>
        <p:nvSpPr>
          <p:cNvPr id="22" name="TextBox 21"/>
          <p:cNvSpPr txBox="1"/>
          <p:nvPr/>
        </p:nvSpPr>
        <p:spPr>
          <a:xfrm>
            <a:off x="13651992" y="4846320"/>
            <a:ext cx="3931920" cy="1097280"/>
          </a:xfrm>
          <a:prstGeom prst="rect">
            <a:avLst/>
          </a:prstGeom>
          <a:noFill/>
        </p:spPr>
        <p:txBody>
          <a:bodyPr wrap="square" lIns="0" rIns="0" tIns="0" bIns="0" anchor="t">
            <a:noAutofit/>
          </a:bodyPr>
          <a:lstStyle/>
          <a:p>
            <a:pPr algn="l"/>
            <a:r>
              <a:rPr sz="1900" b="0" i="0">
                <a:solidFill>
                  <a:srgbClr val="2C2825"/>
                </a:solidFill>
                <a:latin typeface="Inter"/>
              </a:rPr>
              <a:t>Equipment, bookings, users and projects all live here.</a:t>
            </a:r>
          </a:p>
        </p:txBody>
      </p:sp>
      <p:sp>
        <p:nvSpPr>
          <p:cNvPr id="23" name="TextBox 22"/>
          <p:cNvSpPr txBox="1"/>
          <p:nvPr/>
        </p:nvSpPr>
        <p:spPr>
          <a:xfrm>
            <a:off x="13331952" y="6144768"/>
            <a:ext cx="4480560" cy="365760"/>
          </a:xfrm>
          <a:prstGeom prst="rect">
            <a:avLst/>
          </a:prstGeom>
          <a:noFill/>
        </p:spPr>
        <p:txBody>
          <a:bodyPr wrap="square" lIns="0" rIns="0" tIns="0" bIns="0" anchor="t">
            <a:noAutofit/>
          </a:bodyPr>
          <a:lstStyle/>
          <a:p>
            <a:pPr algn="ctr"/>
            <a:r>
              <a:rPr sz="1800" b="0" i="0">
                <a:solidFill>
                  <a:srgbClr val="000000"/>
                </a:solidFill>
                <a:latin typeface="Roboto Mono"/>
              </a:rPr>
              <a:t>= THE KITCHEN</a:t>
            </a:r>
          </a:p>
        </p:txBody>
      </p:sp>
      <p:cxnSp>
        <p:nvCxnSpPr>
          <p:cNvPr id="24" name="Connector 23"/>
          <p:cNvCxnSpPr/>
          <p:nvPr/>
        </p:nvCxnSpPr>
        <p:spPr>
          <a:xfrm>
            <a:off x="5029200" y="4343400"/>
            <a:ext cx="1801368" cy="0"/>
          </a:xfrm>
          <a:prstGeom prst="line">
            <a:avLst/>
          </a:prstGeom>
          <a:ln w="31750">
            <a:solidFill>
              <a:srgbClr val="000000"/>
            </a:solidFill>
            <a:tailEnd type="triangle" w="med" len="med"/>
          </a:ln>
        </p:spPr>
      </p:cxnSp>
      <p:sp>
        <p:nvSpPr>
          <p:cNvPr id="25" name="TextBox 24"/>
          <p:cNvSpPr txBox="1"/>
          <p:nvPr/>
        </p:nvSpPr>
        <p:spPr>
          <a:xfrm>
            <a:off x="4956048" y="3840480"/>
            <a:ext cx="1920240" cy="365760"/>
          </a:xfrm>
          <a:prstGeom prst="rect">
            <a:avLst/>
          </a:prstGeom>
          <a:noFill/>
        </p:spPr>
        <p:txBody>
          <a:bodyPr wrap="square" lIns="0" rIns="0" tIns="0" bIns="0" anchor="t">
            <a:noAutofit/>
          </a:bodyPr>
          <a:lstStyle/>
          <a:p>
            <a:pPr algn="ctr"/>
            <a:r>
              <a:rPr sz="1600" b="0" i="0">
                <a:solidFill>
                  <a:srgbClr val="000000"/>
                </a:solidFill>
                <a:latin typeface="Roboto Mono"/>
              </a:rPr>
              <a:t>1 REQUEST</a:t>
            </a:r>
          </a:p>
        </p:txBody>
      </p:sp>
      <p:cxnSp>
        <p:nvCxnSpPr>
          <p:cNvPr id="26" name="Connector 25"/>
          <p:cNvCxnSpPr/>
          <p:nvPr/>
        </p:nvCxnSpPr>
        <p:spPr>
          <a:xfrm>
            <a:off x="11457432" y="4343400"/>
            <a:ext cx="1801368" cy="0"/>
          </a:xfrm>
          <a:prstGeom prst="line">
            <a:avLst/>
          </a:prstGeom>
          <a:ln w="31750">
            <a:solidFill>
              <a:srgbClr val="000000"/>
            </a:solidFill>
            <a:tailEnd type="triangle" w="med" len="med"/>
          </a:ln>
        </p:spPr>
      </p:cxnSp>
      <p:sp>
        <p:nvSpPr>
          <p:cNvPr id="27" name="TextBox 26"/>
          <p:cNvSpPr txBox="1"/>
          <p:nvPr/>
        </p:nvSpPr>
        <p:spPr>
          <a:xfrm>
            <a:off x="11384280" y="3840480"/>
            <a:ext cx="1920240" cy="365760"/>
          </a:xfrm>
          <a:prstGeom prst="rect">
            <a:avLst/>
          </a:prstGeom>
          <a:noFill/>
        </p:spPr>
        <p:txBody>
          <a:bodyPr wrap="square" lIns="0" rIns="0" tIns="0" bIns="0" anchor="t">
            <a:noAutofit/>
          </a:bodyPr>
          <a:lstStyle/>
          <a:p>
            <a:pPr algn="ctr"/>
            <a:r>
              <a:rPr sz="1600" b="0" i="0">
                <a:solidFill>
                  <a:srgbClr val="000000"/>
                </a:solidFill>
                <a:latin typeface="Roboto Mono"/>
              </a:rPr>
              <a:t>1 REQUEST</a:t>
            </a:r>
          </a:p>
        </p:txBody>
      </p:sp>
      <p:cxnSp>
        <p:nvCxnSpPr>
          <p:cNvPr id="28" name="Connector 27"/>
          <p:cNvCxnSpPr/>
          <p:nvPr/>
        </p:nvCxnSpPr>
        <p:spPr>
          <a:xfrm flipH="1">
            <a:off x="5029200" y="5349240"/>
            <a:ext cx="1801368" cy="0"/>
          </a:xfrm>
          <a:prstGeom prst="line">
            <a:avLst/>
          </a:prstGeom>
          <a:ln w="31750">
            <a:solidFill>
              <a:srgbClr val="000000"/>
            </a:solidFill>
            <a:tailEnd type="triangle" w="med" len="med"/>
          </a:ln>
        </p:spPr>
      </p:cxnSp>
      <p:sp>
        <p:nvSpPr>
          <p:cNvPr id="29" name="TextBox 28"/>
          <p:cNvSpPr txBox="1"/>
          <p:nvPr/>
        </p:nvSpPr>
        <p:spPr>
          <a:xfrm>
            <a:off x="4956048" y="5458968"/>
            <a:ext cx="1920240" cy="365760"/>
          </a:xfrm>
          <a:prstGeom prst="rect">
            <a:avLst/>
          </a:prstGeom>
          <a:noFill/>
        </p:spPr>
        <p:txBody>
          <a:bodyPr wrap="square" lIns="0" rIns="0" tIns="0" bIns="0" anchor="t">
            <a:noAutofit/>
          </a:bodyPr>
          <a:lstStyle/>
          <a:p>
            <a:pPr algn="ctr"/>
            <a:r>
              <a:rPr sz="1600" b="0" i="0">
                <a:solidFill>
                  <a:srgbClr val="000000"/>
                </a:solidFill>
                <a:latin typeface="Roboto Mono"/>
              </a:rPr>
              <a:t>2 ANSWER</a:t>
            </a:r>
          </a:p>
        </p:txBody>
      </p:sp>
      <p:cxnSp>
        <p:nvCxnSpPr>
          <p:cNvPr id="30" name="Connector 29"/>
          <p:cNvCxnSpPr/>
          <p:nvPr/>
        </p:nvCxnSpPr>
        <p:spPr>
          <a:xfrm flipH="1">
            <a:off x="11457432" y="5349240"/>
            <a:ext cx="1801368" cy="0"/>
          </a:xfrm>
          <a:prstGeom prst="line">
            <a:avLst/>
          </a:prstGeom>
          <a:ln w="31750">
            <a:solidFill>
              <a:srgbClr val="000000"/>
            </a:solidFill>
            <a:tailEnd type="triangle" w="med" len="med"/>
          </a:ln>
        </p:spPr>
      </p:cxnSp>
      <p:sp>
        <p:nvSpPr>
          <p:cNvPr id="31" name="TextBox 30"/>
          <p:cNvSpPr txBox="1"/>
          <p:nvPr/>
        </p:nvSpPr>
        <p:spPr>
          <a:xfrm>
            <a:off x="11384280" y="5458968"/>
            <a:ext cx="1920240" cy="365760"/>
          </a:xfrm>
          <a:prstGeom prst="rect">
            <a:avLst/>
          </a:prstGeom>
          <a:noFill/>
        </p:spPr>
        <p:txBody>
          <a:bodyPr wrap="square" lIns="0" rIns="0" tIns="0" bIns="0" anchor="t">
            <a:noAutofit/>
          </a:bodyPr>
          <a:lstStyle/>
          <a:p>
            <a:pPr algn="ctr"/>
            <a:r>
              <a:rPr sz="1600" b="0" i="0">
                <a:solidFill>
                  <a:srgbClr val="000000"/>
                </a:solidFill>
                <a:latin typeface="Roboto Mono"/>
              </a:rPr>
              <a:t>2 ANSWER</a:t>
            </a:r>
          </a:p>
        </p:txBody>
      </p:sp>
      <p:sp>
        <p:nvSpPr>
          <p:cNvPr id="32" name="Rectangle 31"/>
          <p:cNvSpPr/>
          <p:nvPr/>
        </p:nvSpPr>
        <p:spPr>
          <a:xfrm>
            <a:off x="475488" y="6995160"/>
            <a:ext cx="17337024" cy="1417320"/>
          </a:xfrm>
          <a:prstGeom prst="rect">
            <a:avLst/>
          </a:prstGeom>
          <a:solidFill>
            <a:srgbClr val="E8FC2E"/>
          </a:solidFill>
          <a:ln w="15875">
            <a:solidFill>
              <a:srgbClr val="000000"/>
            </a:solidFill>
          </a:ln>
        </p:spPr>
        <p:txBody>
          <a:bodyPr rtlCol="0" anchor="ctr"/>
          <a:lstStyle/>
          <a:p>
            <a:pPr algn="ctr"/>
          </a:p>
        </p:txBody>
      </p:sp>
      <p:sp>
        <p:nvSpPr>
          <p:cNvPr id="33" name="TextBox 32"/>
          <p:cNvSpPr txBox="1"/>
          <p:nvPr/>
        </p:nvSpPr>
        <p:spPr>
          <a:xfrm>
            <a:off x="868680" y="6995160"/>
            <a:ext cx="16550640" cy="1417320"/>
          </a:xfrm>
          <a:prstGeom prst="rect">
            <a:avLst/>
          </a:prstGeom>
          <a:noFill/>
        </p:spPr>
        <p:txBody>
          <a:bodyPr wrap="square" lIns="0" rIns="0" tIns="0" bIns="0" anchor="ctr">
            <a:noAutofit/>
          </a:bodyPr>
          <a:lstStyle/>
          <a:p>
            <a:pPr algn="l"/>
            <a:r>
              <a:rPr sz="2600" b="1" i="0">
                <a:solidFill>
                  <a:srgbClr val="000000"/>
                </a:solidFill>
                <a:latin typeface="Inter"/>
              </a:rPr>
              <a:t>No screens, no clicking.</a:t>
            </a:r>
            <a:r>
              <a:rPr sz="2600" b="0" i="0">
                <a:solidFill>
                  <a:srgbClr val="000000"/>
                </a:solidFill>
                <a:latin typeface="Inter"/>
              </a:rPr>
              <a:t> The question and the answer are plain text that one program sends to another.</a:t>
            </a:r>
          </a:p>
        </p:txBody>
      </p:sp>
      <p:sp>
        <p:nvSpPr>
          <p:cNvPr id="34" name="TextBox 33"/>
          <p:cNvSpPr txBox="1"/>
          <p:nvPr/>
        </p:nvSpPr>
        <p:spPr>
          <a:xfrm>
            <a:off x="475488" y="8595360"/>
            <a:ext cx="17337024" cy="365760"/>
          </a:xfrm>
          <a:prstGeom prst="rect">
            <a:avLst/>
          </a:prstGeom>
          <a:noFill/>
        </p:spPr>
        <p:txBody>
          <a:bodyPr wrap="square" lIns="0" rIns="0" tIns="0" bIns="0" anchor="t">
            <a:noAutofit/>
          </a:bodyPr>
          <a:lstStyle/>
          <a:p>
            <a:pPr algn="l"/>
            <a:r>
              <a:rPr sz="1600" b="0" i="0">
                <a:solidFill>
                  <a:srgbClr val="5A574F"/>
                </a:solidFill>
                <a:latin typeface="Roboto Mono"/>
              </a:rPr>
              <a:t>EXAMPLE: "SHOW ME EVERY BOOKING FOR LAB 543"  →  A LIST OF BOOKINGS, AS TEXT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ED"/>
        </a:solidFill>
        <a:effectLst/>
      </p:bgPr>
    </p:bg>
    <p:spTree>
      <p:nvGrpSpPr>
        <p:cNvPr id="1" name=""/>
        <p:cNvGrpSpPr/>
        <p:nvPr/>
      </p:nvGrpSpPr>
      <p:grpSpPr/>
      <p:pic>
        <p:nvPicPr>
          <p:cNvPr id="2" name="Picture 1" descr="s1_0.png"/>
          <p:cNvPicPr>
            <a:picLocks noChangeAspect="1"/>
          </p:cNvPicPr>
          <p:nvPr/>
        </p:nvPicPr>
        <p:blipFill>
          <a:blip r:embed="rId2"/>
          <a:stretch>
            <a:fillRect/>
          </a:stretch>
        </p:blipFill>
        <p:spPr>
          <a:xfrm>
            <a:off x="475488" y="594360"/>
            <a:ext cx="1655064" cy="384048"/>
          </a:xfrm>
          <a:prstGeom prst="rect">
            <a:avLst/>
          </a:prstGeom>
        </p:spPr>
      </p:pic>
      <p:sp>
        <p:nvSpPr>
          <p:cNvPr id="3" name="Rectangle 2"/>
          <p:cNvSpPr/>
          <p:nvPr/>
        </p:nvSpPr>
        <p:spPr>
          <a:xfrm>
            <a:off x="2441448" y="777240"/>
            <a:ext cx="15371064" cy="10972"/>
          </a:xfrm>
          <a:prstGeom prst="rect">
            <a:avLst/>
          </a:prstGeom>
          <a:solidFill>
            <a:srgbClr val="000000"/>
          </a:solidFill>
          <a:ln>
            <a:noFill/>
          </a:ln>
        </p:spPr>
        <p:txBody>
          <a:bodyPr rtlCol="0" anchor="ctr"/>
          <a:lstStyle/>
          <a:p>
            <a:pPr algn="ctr"/>
          </a:p>
        </p:txBody>
      </p:sp>
      <p:sp>
        <p:nvSpPr>
          <p:cNvPr id="4" name="TextBox 3"/>
          <p:cNvSpPr txBox="1"/>
          <p:nvPr/>
        </p:nvSpPr>
        <p:spPr>
          <a:xfrm>
            <a:off x="475488" y="1527048"/>
            <a:ext cx="10972800" cy="365760"/>
          </a:xfrm>
          <a:prstGeom prst="rect">
            <a:avLst/>
          </a:prstGeom>
          <a:noFill/>
        </p:spPr>
        <p:txBody>
          <a:bodyPr wrap="square" lIns="0" rIns="0" tIns="0" bIns="0" anchor="t">
            <a:noAutofit/>
          </a:bodyPr>
          <a:lstStyle/>
          <a:p>
            <a:pPr algn="l"/>
            <a:r>
              <a:rPr sz="1800" b="0" i="0">
                <a:solidFill>
                  <a:srgbClr val="000000"/>
                </a:solidFill>
                <a:latin typeface="Roboto Mono"/>
              </a:rPr>
              <a:t>PART 1 · WHAT AN API IS</a:t>
            </a:r>
          </a:p>
        </p:txBody>
      </p:sp>
      <p:sp>
        <p:nvSpPr>
          <p:cNvPr id="5" name="Title"/>
          <p:cNvSpPr txBox="1"/>
          <p:nvPr/>
        </p:nvSpPr>
        <p:spPr>
          <a:xfrm>
            <a:off x="475488" y="2011680"/>
            <a:ext cx="17337024" cy="868680"/>
          </a:xfrm>
          <a:prstGeom prst="rect">
            <a:avLst/>
          </a:prstGeom>
          <a:noFill/>
        </p:spPr>
        <p:txBody>
          <a:bodyPr wrap="square" lIns="0" rIns="0" tIns="0" bIns="0" anchor="t">
            <a:noAutofit/>
          </a:bodyPr>
          <a:lstStyle/>
          <a:p>
            <a:pPr algn="l">
              <a:lnSpc>
                <a:spcPct val="95000"/>
              </a:lnSpc>
            </a:pPr>
            <a:r>
              <a:rPr sz="4600" b="1" i="0">
                <a:solidFill>
                  <a:srgbClr val="000000"/>
                </a:solidFill>
                <a:latin typeface="Inter"/>
              </a:rPr>
              <a:t>Five words you need to know</a:t>
            </a:r>
          </a:p>
        </p:txBody>
      </p:sp>
      <p:sp>
        <p:nvSpPr>
          <p:cNvPr id="6" name="Rectangle 5"/>
          <p:cNvSpPr/>
          <p:nvPr/>
        </p:nvSpPr>
        <p:spPr>
          <a:xfrm>
            <a:off x="475488" y="9189720"/>
            <a:ext cx="17337024" cy="10972"/>
          </a:xfrm>
          <a:prstGeom prst="rect">
            <a:avLst/>
          </a:prstGeom>
          <a:solidFill>
            <a:srgbClr val="000000"/>
          </a:solidFill>
          <a:ln>
            <a:noFill/>
          </a:ln>
        </p:spPr>
        <p:txBody>
          <a:bodyPr rtlCol="0" anchor="ctr"/>
          <a:lstStyle/>
          <a:p>
            <a:pPr algn="ctr"/>
          </a:p>
        </p:txBody>
      </p:sp>
      <p:sp>
        <p:nvSpPr>
          <p:cNvPr id="7" name="TextBox 6"/>
          <p:cNvSpPr txBox="1"/>
          <p:nvPr/>
        </p:nvSpPr>
        <p:spPr>
          <a:xfrm>
            <a:off x="475488" y="9354312"/>
            <a:ext cx="2743200" cy="338328"/>
          </a:xfrm>
          <a:prstGeom prst="rect">
            <a:avLst/>
          </a:prstGeom>
          <a:noFill/>
        </p:spPr>
        <p:txBody>
          <a:bodyPr wrap="square" lIns="0" rIns="0" tIns="0" bIns="0" anchor="t">
            <a:noAutofit/>
          </a:bodyPr>
          <a:lstStyle/>
          <a:p>
            <a:pPr algn="l"/>
            <a:r>
              <a:rPr sz="1800" b="0" i="0">
                <a:solidFill>
                  <a:srgbClr val="000000"/>
                </a:solidFill>
                <a:latin typeface="Roboto Mono"/>
              </a:rPr>
              <a:t>CALIRA.CO</a:t>
            </a:r>
          </a:p>
        </p:txBody>
      </p:sp>
      <p:sp>
        <p:nvSpPr>
          <p:cNvPr id="8" name="TextBox 7"/>
          <p:cNvSpPr txBox="1"/>
          <p:nvPr/>
        </p:nvSpPr>
        <p:spPr>
          <a:xfrm>
            <a:off x="15983712" y="9354312"/>
            <a:ext cx="1828800" cy="338328"/>
          </a:xfrm>
          <a:prstGeom prst="rect">
            <a:avLst/>
          </a:prstGeom>
          <a:noFill/>
        </p:spPr>
        <p:txBody>
          <a:bodyPr wrap="square" lIns="0" rIns="0" tIns="0" bIns="0" anchor="t">
            <a:noAutofit/>
          </a:bodyPr>
          <a:lstStyle/>
          <a:p>
            <a:pPr algn="r"/>
            <a:r>
              <a:rPr sz="1800" b="0" i="0">
                <a:solidFill>
                  <a:srgbClr val="000000"/>
                </a:solidFill>
                <a:latin typeface="Roboto Mono"/>
              </a:rPr>
              <a:t>05</a:t>
            </a:r>
          </a:p>
        </p:txBody>
      </p:sp>
      <p:sp>
        <p:nvSpPr>
          <p:cNvPr id="9" name="Rectangle 8"/>
          <p:cNvSpPr/>
          <p:nvPr/>
        </p:nvSpPr>
        <p:spPr>
          <a:xfrm>
            <a:off x="475488" y="3154680"/>
            <a:ext cx="17337024" cy="5669280"/>
          </a:xfrm>
          <a:prstGeom prst="rect">
            <a:avLst/>
          </a:prstGeom>
          <a:solidFill>
            <a:srgbClr val="FFFFFF"/>
          </a:solidFill>
          <a:ln w="12700">
            <a:solidFill>
              <a:srgbClr val="000000"/>
            </a:solidFill>
          </a:ln>
        </p:spPr>
        <p:txBody>
          <a:bodyPr rtlCol="0" anchor="ctr"/>
          <a:lstStyle/>
          <a:p>
            <a:pPr algn="ctr"/>
          </a:p>
        </p:txBody>
      </p:sp>
      <p:sp>
        <p:nvSpPr>
          <p:cNvPr id="10" name="TextBox 9"/>
          <p:cNvSpPr txBox="1"/>
          <p:nvPr/>
        </p:nvSpPr>
        <p:spPr>
          <a:xfrm>
            <a:off x="749808" y="3429000"/>
            <a:ext cx="914400" cy="365760"/>
          </a:xfrm>
          <a:prstGeom prst="rect">
            <a:avLst/>
          </a:prstGeom>
          <a:noFill/>
        </p:spPr>
        <p:txBody>
          <a:bodyPr wrap="square" lIns="0" rIns="0" tIns="0" bIns="0" anchor="t">
            <a:noAutofit/>
          </a:bodyPr>
          <a:lstStyle/>
          <a:p>
            <a:pPr algn="l"/>
            <a:r>
              <a:rPr sz="1800" b="0" i="0">
                <a:solidFill>
                  <a:srgbClr val="5A574F"/>
                </a:solidFill>
                <a:latin typeface="Roboto Mono"/>
              </a:rPr>
              <a:t>01</a:t>
            </a:r>
          </a:p>
        </p:txBody>
      </p:sp>
      <p:sp>
        <p:nvSpPr>
          <p:cNvPr id="11" name="TextBox 10"/>
          <p:cNvSpPr txBox="1"/>
          <p:nvPr/>
        </p:nvSpPr>
        <p:spPr>
          <a:xfrm>
            <a:off x="749808" y="3931920"/>
            <a:ext cx="3010204" cy="548640"/>
          </a:xfrm>
          <a:prstGeom prst="rect">
            <a:avLst/>
          </a:prstGeom>
          <a:noFill/>
        </p:spPr>
        <p:txBody>
          <a:bodyPr wrap="square" lIns="0" rIns="0" tIns="0" bIns="0" anchor="t">
            <a:noAutofit/>
          </a:bodyPr>
          <a:lstStyle/>
          <a:p>
            <a:pPr algn="l"/>
            <a:r>
              <a:rPr sz="3400" b="1" i="0">
                <a:solidFill>
                  <a:srgbClr val="000000"/>
                </a:solidFill>
                <a:latin typeface="Inter"/>
              </a:rPr>
              <a:t>Endpoint</a:t>
            </a:r>
          </a:p>
        </p:txBody>
      </p:sp>
      <p:sp>
        <p:nvSpPr>
          <p:cNvPr id="12" name="TextBox 11"/>
          <p:cNvSpPr txBox="1"/>
          <p:nvPr/>
        </p:nvSpPr>
        <p:spPr>
          <a:xfrm>
            <a:off x="749808" y="4800600"/>
            <a:ext cx="2964484" cy="1554480"/>
          </a:xfrm>
          <a:prstGeom prst="rect">
            <a:avLst/>
          </a:prstGeom>
          <a:noFill/>
        </p:spPr>
        <p:txBody>
          <a:bodyPr wrap="square" lIns="0" rIns="0" tIns="0" bIns="0" anchor="t">
            <a:noAutofit/>
          </a:bodyPr>
          <a:lstStyle/>
          <a:p>
            <a:pPr algn="l"/>
            <a:r>
              <a:rPr sz="2200" b="0" i="0">
                <a:solidFill>
                  <a:srgbClr val="2C2825"/>
                </a:solidFill>
                <a:latin typeface="Inter"/>
              </a:rPr>
              <a:t>A web address for one kind of thing.</a:t>
            </a:r>
          </a:p>
        </p:txBody>
      </p:sp>
      <p:sp>
        <p:nvSpPr>
          <p:cNvPr id="13" name="Rectangle 12"/>
          <p:cNvSpPr/>
          <p:nvPr/>
        </p:nvSpPr>
        <p:spPr>
          <a:xfrm>
            <a:off x="749808" y="6492240"/>
            <a:ext cx="2918764" cy="13716"/>
          </a:xfrm>
          <a:prstGeom prst="rect">
            <a:avLst/>
          </a:prstGeom>
          <a:solidFill>
            <a:srgbClr val="D9D9CC"/>
          </a:solidFill>
          <a:ln>
            <a:noFill/>
          </a:ln>
        </p:spPr>
        <p:txBody>
          <a:bodyPr rtlCol="0" anchor="ctr"/>
          <a:lstStyle/>
          <a:p>
            <a:pPr algn="ctr"/>
          </a:p>
        </p:txBody>
      </p:sp>
      <p:sp>
        <p:nvSpPr>
          <p:cNvPr id="14" name="TextBox 13"/>
          <p:cNvSpPr txBox="1"/>
          <p:nvPr/>
        </p:nvSpPr>
        <p:spPr>
          <a:xfrm>
            <a:off x="749808" y="6720840"/>
            <a:ext cx="3010204" cy="365760"/>
          </a:xfrm>
          <a:prstGeom prst="rect">
            <a:avLst/>
          </a:prstGeom>
          <a:noFill/>
        </p:spPr>
        <p:txBody>
          <a:bodyPr wrap="square" lIns="0" rIns="0" tIns="0" bIns="0" anchor="t">
            <a:noAutofit/>
          </a:bodyPr>
          <a:lstStyle/>
          <a:p>
            <a:pPr algn="l"/>
            <a:r>
              <a:rPr sz="1600" b="0" i="0">
                <a:solidFill>
                  <a:srgbClr val="5A574F"/>
                </a:solidFill>
                <a:latin typeface="Roboto Mono"/>
              </a:rPr>
              <a:t>EXAMPLE</a:t>
            </a:r>
          </a:p>
        </p:txBody>
      </p:sp>
      <p:sp>
        <p:nvSpPr>
          <p:cNvPr id="15" name="TextBox 14"/>
          <p:cNvSpPr txBox="1"/>
          <p:nvPr/>
        </p:nvSpPr>
        <p:spPr>
          <a:xfrm>
            <a:off x="749808" y="7132320"/>
            <a:ext cx="2964484" cy="1554480"/>
          </a:xfrm>
          <a:prstGeom prst="rect">
            <a:avLst/>
          </a:prstGeom>
          <a:noFill/>
        </p:spPr>
        <p:txBody>
          <a:bodyPr wrap="square" lIns="0" rIns="0" tIns="0" bIns="0" anchor="t">
            <a:noAutofit/>
          </a:bodyPr>
          <a:lstStyle/>
          <a:p>
            <a:pPr algn="l"/>
            <a:r>
              <a:rPr sz="2100" b="0" i="0">
                <a:solidFill>
                  <a:srgbClr val="000000"/>
                </a:solidFill>
                <a:latin typeface="Inter"/>
              </a:rPr>
              <a:t>/equipment is the address for equipment.</a:t>
            </a:r>
          </a:p>
        </p:txBody>
      </p:sp>
      <p:sp>
        <p:nvSpPr>
          <p:cNvPr id="16" name="Rectangle 15"/>
          <p:cNvSpPr/>
          <p:nvPr/>
        </p:nvSpPr>
        <p:spPr>
          <a:xfrm>
            <a:off x="3942892" y="3172968"/>
            <a:ext cx="10972" cy="5632704"/>
          </a:xfrm>
          <a:prstGeom prst="rect">
            <a:avLst/>
          </a:prstGeom>
          <a:solidFill>
            <a:srgbClr val="000000"/>
          </a:solidFill>
          <a:ln>
            <a:noFill/>
          </a:ln>
        </p:spPr>
        <p:txBody>
          <a:bodyPr rtlCol="0" anchor="ctr"/>
          <a:lstStyle/>
          <a:p>
            <a:pPr algn="ctr"/>
          </a:p>
        </p:txBody>
      </p:sp>
      <p:sp>
        <p:nvSpPr>
          <p:cNvPr id="17" name="TextBox 16"/>
          <p:cNvSpPr txBox="1"/>
          <p:nvPr/>
        </p:nvSpPr>
        <p:spPr>
          <a:xfrm>
            <a:off x="4217212" y="3429000"/>
            <a:ext cx="914400" cy="365760"/>
          </a:xfrm>
          <a:prstGeom prst="rect">
            <a:avLst/>
          </a:prstGeom>
          <a:noFill/>
        </p:spPr>
        <p:txBody>
          <a:bodyPr wrap="square" lIns="0" rIns="0" tIns="0" bIns="0" anchor="t">
            <a:noAutofit/>
          </a:bodyPr>
          <a:lstStyle/>
          <a:p>
            <a:pPr algn="l"/>
            <a:r>
              <a:rPr sz="1800" b="0" i="0">
                <a:solidFill>
                  <a:srgbClr val="5A574F"/>
                </a:solidFill>
                <a:latin typeface="Roboto Mono"/>
              </a:rPr>
              <a:t>02</a:t>
            </a:r>
          </a:p>
        </p:txBody>
      </p:sp>
      <p:sp>
        <p:nvSpPr>
          <p:cNvPr id="18" name="TextBox 17"/>
          <p:cNvSpPr txBox="1"/>
          <p:nvPr/>
        </p:nvSpPr>
        <p:spPr>
          <a:xfrm>
            <a:off x="4217212" y="3931920"/>
            <a:ext cx="3010204" cy="548640"/>
          </a:xfrm>
          <a:prstGeom prst="rect">
            <a:avLst/>
          </a:prstGeom>
          <a:noFill/>
        </p:spPr>
        <p:txBody>
          <a:bodyPr wrap="square" lIns="0" rIns="0" tIns="0" bIns="0" anchor="t">
            <a:noAutofit/>
          </a:bodyPr>
          <a:lstStyle/>
          <a:p>
            <a:pPr algn="l"/>
            <a:r>
              <a:rPr sz="3400" b="1" i="0">
                <a:solidFill>
                  <a:srgbClr val="000000"/>
                </a:solidFill>
                <a:latin typeface="Inter"/>
              </a:rPr>
              <a:t>Request</a:t>
            </a:r>
          </a:p>
        </p:txBody>
      </p:sp>
      <p:sp>
        <p:nvSpPr>
          <p:cNvPr id="19" name="TextBox 18"/>
          <p:cNvSpPr txBox="1"/>
          <p:nvPr/>
        </p:nvSpPr>
        <p:spPr>
          <a:xfrm>
            <a:off x="4217212" y="4800600"/>
            <a:ext cx="2964484" cy="1554480"/>
          </a:xfrm>
          <a:prstGeom prst="rect">
            <a:avLst/>
          </a:prstGeom>
          <a:noFill/>
        </p:spPr>
        <p:txBody>
          <a:bodyPr wrap="square" lIns="0" rIns="0" tIns="0" bIns="0" anchor="t">
            <a:noAutofit/>
          </a:bodyPr>
          <a:lstStyle/>
          <a:p>
            <a:pPr algn="l"/>
            <a:r>
              <a:rPr sz="2200" b="0" i="0">
                <a:solidFill>
                  <a:srgbClr val="2C2825"/>
                </a:solidFill>
                <a:latin typeface="Inter"/>
              </a:rPr>
              <a:t>A question sent to an endpoint.</a:t>
            </a:r>
          </a:p>
        </p:txBody>
      </p:sp>
      <p:sp>
        <p:nvSpPr>
          <p:cNvPr id="20" name="Rectangle 19"/>
          <p:cNvSpPr/>
          <p:nvPr/>
        </p:nvSpPr>
        <p:spPr>
          <a:xfrm>
            <a:off x="4217212" y="6492240"/>
            <a:ext cx="2918764" cy="13716"/>
          </a:xfrm>
          <a:prstGeom prst="rect">
            <a:avLst/>
          </a:prstGeom>
          <a:solidFill>
            <a:srgbClr val="D9D9CC"/>
          </a:solidFill>
          <a:ln>
            <a:noFill/>
          </a:ln>
        </p:spPr>
        <p:txBody>
          <a:bodyPr rtlCol="0" anchor="ctr"/>
          <a:lstStyle/>
          <a:p>
            <a:pPr algn="ctr"/>
          </a:p>
        </p:txBody>
      </p:sp>
      <p:sp>
        <p:nvSpPr>
          <p:cNvPr id="21" name="TextBox 20"/>
          <p:cNvSpPr txBox="1"/>
          <p:nvPr/>
        </p:nvSpPr>
        <p:spPr>
          <a:xfrm>
            <a:off x="4217212" y="6720840"/>
            <a:ext cx="3010204" cy="365760"/>
          </a:xfrm>
          <a:prstGeom prst="rect">
            <a:avLst/>
          </a:prstGeom>
          <a:noFill/>
        </p:spPr>
        <p:txBody>
          <a:bodyPr wrap="square" lIns="0" rIns="0" tIns="0" bIns="0" anchor="t">
            <a:noAutofit/>
          </a:bodyPr>
          <a:lstStyle/>
          <a:p>
            <a:pPr algn="l"/>
            <a:r>
              <a:rPr sz="1600" b="0" i="0">
                <a:solidFill>
                  <a:srgbClr val="5A574F"/>
                </a:solidFill>
                <a:latin typeface="Roboto Mono"/>
              </a:rPr>
              <a:t>EXAMPLE</a:t>
            </a:r>
          </a:p>
        </p:txBody>
      </p:sp>
      <p:sp>
        <p:nvSpPr>
          <p:cNvPr id="22" name="TextBox 21"/>
          <p:cNvSpPr txBox="1"/>
          <p:nvPr/>
        </p:nvSpPr>
        <p:spPr>
          <a:xfrm>
            <a:off x="4217212" y="7132320"/>
            <a:ext cx="2964484" cy="1554480"/>
          </a:xfrm>
          <a:prstGeom prst="rect">
            <a:avLst/>
          </a:prstGeom>
          <a:noFill/>
        </p:spPr>
        <p:txBody>
          <a:bodyPr wrap="square" lIns="0" rIns="0" tIns="0" bIns="0" anchor="t">
            <a:noAutofit/>
          </a:bodyPr>
          <a:lstStyle/>
          <a:p>
            <a:pPr algn="l"/>
            <a:r>
              <a:rPr sz="2100" b="0" i="0">
                <a:solidFill>
                  <a:srgbClr val="000000"/>
                </a:solidFill>
                <a:latin typeface="Inter"/>
              </a:rPr>
              <a:t>"Show me the equipment in Lab 543."</a:t>
            </a:r>
          </a:p>
        </p:txBody>
      </p:sp>
      <p:sp>
        <p:nvSpPr>
          <p:cNvPr id="23" name="Rectangle 22"/>
          <p:cNvSpPr/>
          <p:nvPr/>
        </p:nvSpPr>
        <p:spPr>
          <a:xfrm>
            <a:off x="7410297" y="3172968"/>
            <a:ext cx="10972" cy="5632704"/>
          </a:xfrm>
          <a:prstGeom prst="rect">
            <a:avLst/>
          </a:prstGeom>
          <a:solidFill>
            <a:srgbClr val="000000"/>
          </a:solidFill>
          <a:ln>
            <a:noFill/>
          </a:ln>
        </p:spPr>
        <p:txBody>
          <a:bodyPr rtlCol="0" anchor="ctr"/>
          <a:lstStyle/>
          <a:p>
            <a:pPr algn="ctr"/>
          </a:p>
        </p:txBody>
      </p:sp>
      <p:sp>
        <p:nvSpPr>
          <p:cNvPr id="24" name="TextBox 23"/>
          <p:cNvSpPr txBox="1"/>
          <p:nvPr/>
        </p:nvSpPr>
        <p:spPr>
          <a:xfrm>
            <a:off x="7684617" y="3429000"/>
            <a:ext cx="914400" cy="365760"/>
          </a:xfrm>
          <a:prstGeom prst="rect">
            <a:avLst/>
          </a:prstGeom>
          <a:noFill/>
        </p:spPr>
        <p:txBody>
          <a:bodyPr wrap="square" lIns="0" rIns="0" tIns="0" bIns="0" anchor="t">
            <a:noAutofit/>
          </a:bodyPr>
          <a:lstStyle/>
          <a:p>
            <a:pPr algn="l"/>
            <a:r>
              <a:rPr sz="1800" b="0" i="0">
                <a:solidFill>
                  <a:srgbClr val="5A574F"/>
                </a:solidFill>
                <a:latin typeface="Roboto Mono"/>
              </a:rPr>
              <a:t>03</a:t>
            </a:r>
          </a:p>
        </p:txBody>
      </p:sp>
      <p:sp>
        <p:nvSpPr>
          <p:cNvPr id="25" name="TextBox 24"/>
          <p:cNvSpPr txBox="1"/>
          <p:nvPr/>
        </p:nvSpPr>
        <p:spPr>
          <a:xfrm>
            <a:off x="7684617" y="3931920"/>
            <a:ext cx="3010204" cy="548640"/>
          </a:xfrm>
          <a:prstGeom prst="rect">
            <a:avLst/>
          </a:prstGeom>
          <a:noFill/>
        </p:spPr>
        <p:txBody>
          <a:bodyPr wrap="square" lIns="0" rIns="0" tIns="0" bIns="0" anchor="t">
            <a:noAutofit/>
          </a:bodyPr>
          <a:lstStyle/>
          <a:p>
            <a:pPr algn="l"/>
            <a:r>
              <a:rPr sz="3400" b="1" i="0">
                <a:solidFill>
                  <a:srgbClr val="000000"/>
                </a:solidFill>
                <a:latin typeface="Inter"/>
              </a:rPr>
              <a:t>Response</a:t>
            </a:r>
          </a:p>
        </p:txBody>
      </p:sp>
      <p:sp>
        <p:nvSpPr>
          <p:cNvPr id="26" name="TextBox 25"/>
          <p:cNvSpPr txBox="1"/>
          <p:nvPr/>
        </p:nvSpPr>
        <p:spPr>
          <a:xfrm>
            <a:off x="7684617" y="4800600"/>
            <a:ext cx="2964484" cy="1554480"/>
          </a:xfrm>
          <a:prstGeom prst="rect">
            <a:avLst/>
          </a:prstGeom>
          <a:noFill/>
        </p:spPr>
        <p:txBody>
          <a:bodyPr wrap="square" lIns="0" rIns="0" tIns="0" bIns="0" anchor="t">
            <a:noAutofit/>
          </a:bodyPr>
          <a:lstStyle/>
          <a:p>
            <a:pPr algn="l"/>
            <a:r>
              <a:rPr sz="2200" b="0" i="0">
                <a:solidFill>
                  <a:srgbClr val="2C2825"/>
                </a:solidFill>
                <a:latin typeface="Inter"/>
              </a:rPr>
              <a:t>The answer Calira sends back.</a:t>
            </a:r>
          </a:p>
        </p:txBody>
      </p:sp>
      <p:sp>
        <p:nvSpPr>
          <p:cNvPr id="27" name="Rectangle 26"/>
          <p:cNvSpPr/>
          <p:nvPr/>
        </p:nvSpPr>
        <p:spPr>
          <a:xfrm>
            <a:off x="7684617" y="6492240"/>
            <a:ext cx="2918764" cy="13716"/>
          </a:xfrm>
          <a:prstGeom prst="rect">
            <a:avLst/>
          </a:prstGeom>
          <a:solidFill>
            <a:srgbClr val="D9D9CC"/>
          </a:solidFill>
          <a:ln>
            <a:noFill/>
          </a:ln>
        </p:spPr>
        <p:txBody>
          <a:bodyPr rtlCol="0" anchor="ctr"/>
          <a:lstStyle/>
          <a:p>
            <a:pPr algn="ctr"/>
          </a:p>
        </p:txBody>
      </p:sp>
      <p:sp>
        <p:nvSpPr>
          <p:cNvPr id="28" name="TextBox 27"/>
          <p:cNvSpPr txBox="1"/>
          <p:nvPr/>
        </p:nvSpPr>
        <p:spPr>
          <a:xfrm>
            <a:off x="7684617" y="6720840"/>
            <a:ext cx="3010204" cy="365760"/>
          </a:xfrm>
          <a:prstGeom prst="rect">
            <a:avLst/>
          </a:prstGeom>
          <a:noFill/>
        </p:spPr>
        <p:txBody>
          <a:bodyPr wrap="square" lIns="0" rIns="0" tIns="0" bIns="0" anchor="t">
            <a:noAutofit/>
          </a:bodyPr>
          <a:lstStyle/>
          <a:p>
            <a:pPr algn="l"/>
            <a:r>
              <a:rPr sz="1600" b="0" i="0">
                <a:solidFill>
                  <a:srgbClr val="5A574F"/>
                </a:solidFill>
                <a:latin typeface="Roboto Mono"/>
              </a:rPr>
              <a:t>EXAMPLE</a:t>
            </a:r>
          </a:p>
        </p:txBody>
      </p:sp>
      <p:sp>
        <p:nvSpPr>
          <p:cNvPr id="29" name="TextBox 28"/>
          <p:cNvSpPr txBox="1"/>
          <p:nvPr/>
        </p:nvSpPr>
        <p:spPr>
          <a:xfrm>
            <a:off x="7684617" y="7132320"/>
            <a:ext cx="2964484" cy="1554480"/>
          </a:xfrm>
          <a:prstGeom prst="rect">
            <a:avLst/>
          </a:prstGeom>
          <a:noFill/>
        </p:spPr>
        <p:txBody>
          <a:bodyPr wrap="square" lIns="0" rIns="0" tIns="0" bIns="0" anchor="t">
            <a:noAutofit/>
          </a:bodyPr>
          <a:lstStyle/>
          <a:p>
            <a:pPr algn="l"/>
            <a:r>
              <a:rPr sz="2100" b="0" i="0">
                <a:solidFill>
                  <a:srgbClr val="000000"/>
                </a:solidFill>
                <a:latin typeface="Inter"/>
              </a:rPr>
              <a:t>A list of equipment, written as text.</a:t>
            </a:r>
          </a:p>
        </p:txBody>
      </p:sp>
      <p:sp>
        <p:nvSpPr>
          <p:cNvPr id="30" name="Rectangle 29"/>
          <p:cNvSpPr/>
          <p:nvPr/>
        </p:nvSpPr>
        <p:spPr>
          <a:xfrm>
            <a:off x="10877702" y="3172968"/>
            <a:ext cx="10972" cy="5632704"/>
          </a:xfrm>
          <a:prstGeom prst="rect">
            <a:avLst/>
          </a:prstGeom>
          <a:solidFill>
            <a:srgbClr val="000000"/>
          </a:solidFill>
          <a:ln>
            <a:noFill/>
          </a:ln>
        </p:spPr>
        <p:txBody>
          <a:bodyPr rtlCol="0" anchor="ctr"/>
          <a:lstStyle/>
          <a:p>
            <a:pPr algn="ctr"/>
          </a:p>
        </p:txBody>
      </p:sp>
      <p:sp>
        <p:nvSpPr>
          <p:cNvPr id="31" name="TextBox 30"/>
          <p:cNvSpPr txBox="1"/>
          <p:nvPr/>
        </p:nvSpPr>
        <p:spPr>
          <a:xfrm>
            <a:off x="11152022" y="3429000"/>
            <a:ext cx="914400" cy="365760"/>
          </a:xfrm>
          <a:prstGeom prst="rect">
            <a:avLst/>
          </a:prstGeom>
          <a:noFill/>
        </p:spPr>
        <p:txBody>
          <a:bodyPr wrap="square" lIns="0" rIns="0" tIns="0" bIns="0" anchor="t">
            <a:noAutofit/>
          </a:bodyPr>
          <a:lstStyle/>
          <a:p>
            <a:pPr algn="l"/>
            <a:r>
              <a:rPr sz="1800" b="0" i="0">
                <a:solidFill>
                  <a:srgbClr val="5A574F"/>
                </a:solidFill>
                <a:latin typeface="Roboto Mono"/>
              </a:rPr>
              <a:t>04</a:t>
            </a:r>
          </a:p>
        </p:txBody>
      </p:sp>
      <p:sp>
        <p:nvSpPr>
          <p:cNvPr id="32" name="TextBox 31"/>
          <p:cNvSpPr txBox="1"/>
          <p:nvPr/>
        </p:nvSpPr>
        <p:spPr>
          <a:xfrm>
            <a:off x="11152022" y="3931920"/>
            <a:ext cx="3010204" cy="548640"/>
          </a:xfrm>
          <a:prstGeom prst="rect">
            <a:avLst/>
          </a:prstGeom>
          <a:noFill/>
        </p:spPr>
        <p:txBody>
          <a:bodyPr wrap="square" lIns="0" rIns="0" tIns="0" bIns="0" anchor="t">
            <a:noAutofit/>
          </a:bodyPr>
          <a:lstStyle/>
          <a:p>
            <a:pPr algn="l"/>
            <a:r>
              <a:rPr sz="3400" b="1" i="0">
                <a:solidFill>
                  <a:srgbClr val="000000"/>
                </a:solidFill>
                <a:latin typeface="Inter"/>
              </a:rPr>
              <a:t>JSON</a:t>
            </a:r>
          </a:p>
        </p:txBody>
      </p:sp>
      <p:sp>
        <p:nvSpPr>
          <p:cNvPr id="33" name="TextBox 32"/>
          <p:cNvSpPr txBox="1"/>
          <p:nvPr/>
        </p:nvSpPr>
        <p:spPr>
          <a:xfrm>
            <a:off x="11152022" y="4800600"/>
            <a:ext cx="2964484" cy="1554480"/>
          </a:xfrm>
          <a:prstGeom prst="rect">
            <a:avLst/>
          </a:prstGeom>
          <a:noFill/>
        </p:spPr>
        <p:txBody>
          <a:bodyPr wrap="square" lIns="0" rIns="0" tIns="0" bIns="0" anchor="t">
            <a:noAutofit/>
          </a:bodyPr>
          <a:lstStyle/>
          <a:p>
            <a:pPr algn="l"/>
            <a:r>
              <a:rPr sz="2200" b="0" i="0">
                <a:solidFill>
                  <a:srgbClr val="2C2825"/>
                </a:solidFill>
                <a:latin typeface="Inter"/>
              </a:rPr>
              <a:t>The text format used for both.</a:t>
            </a:r>
          </a:p>
        </p:txBody>
      </p:sp>
      <p:sp>
        <p:nvSpPr>
          <p:cNvPr id="34" name="Rectangle 33"/>
          <p:cNvSpPr/>
          <p:nvPr/>
        </p:nvSpPr>
        <p:spPr>
          <a:xfrm>
            <a:off x="11152022" y="6492240"/>
            <a:ext cx="2918764" cy="13716"/>
          </a:xfrm>
          <a:prstGeom prst="rect">
            <a:avLst/>
          </a:prstGeom>
          <a:solidFill>
            <a:srgbClr val="D9D9CC"/>
          </a:solidFill>
          <a:ln>
            <a:noFill/>
          </a:ln>
        </p:spPr>
        <p:txBody>
          <a:bodyPr rtlCol="0" anchor="ctr"/>
          <a:lstStyle/>
          <a:p>
            <a:pPr algn="ctr"/>
          </a:p>
        </p:txBody>
      </p:sp>
      <p:sp>
        <p:nvSpPr>
          <p:cNvPr id="35" name="TextBox 34"/>
          <p:cNvSpPr txBox="1"/>
          <p:nvPr/>
        </p:nvSpPr>
        <p:spPr>
          <a:xfrm>
            <a:off x="11152022" y="6720840"/>
            <a:ext cx="3010204" cy="365760"/>
          </a:xfrm>
          <a:prstGeom prst="rect">
            <a:avLst/>
          </a:prstGeom>
          <a:noFill/>
        </p:spPr>
        <p:txBody>
          <a:bodyPr wrap="square" lIns="0" rIns="0" tIns="0" bIns="0" anchor="t">
            <a:noAutofit/>
          </a:bodyPr>
          <a:lstStyle/>
          <a:p>
            <a:pPr algn="l"/>
            <a:r>
              <a:rPr sz="1600" b="0" i="0">
                <a:solidFill>
                  <a:srgbClr val="5A574F"/>
                </a:solidFill>
                <a:latin typeface="Roboto Mono"/>
              </a:rPr>
              <a:t>EXAMPLE</a:t>
            </a:r>
          </a:p>
        </p:txBody>
      </p:sp>
      <p:sp>
        <p:nvSpPr>
          <p:cNvPr id="36" name="TextBox 35"/>
          <p:cNvSpPr txBox="1"/>
          <p:nvPr/>
        </p:nvSpPr>
        <p:spPr>
          <a:xfrm>
            <a:off x="11152022" y="7132320"/>
            <a:ext cx="2964484" cy="1554480"/>
          </a:xfrm>
          <a:prstGeom prst="rect">
            <a:avLst/>
          </a:prstGeom>
          <a:noFill/>
        </p:spPr>
        <p:txBody>
          <a:bodyPr wrap="square" lIns="0" rIns="0" tIns="0" bIns="0" anchor="t">
            <a:noAutofit/>
          </a:bodyPr>
          <a:lstStyle/>
          <a:p>
            <a:pPr algn="l"/>
            <a:r>
              <a:rPr sz="2100" b="0" i="0">
                <a:solidFill>
                  <a:srgbClr val="000000"/>
                </a:solidFill>
                <a:latin typeface="Inter"/>
              </a:rPr>
              <a:t>Labelled values, like a form.</a:t>
            </a:r>
          </a:p>
        </p:txBody>
      </p:sp>
      <p:sp>
        <p:nvSpPr>
          <p:cNvPr id="37" name="Rectangle 36"/>
          <p:cNvSpPr/>
          <p:nvPr/>
        </p:nvSpPr>
        <p:spPr>
          <a:xfrm>
            <a:off x="14345107" y="3172968"/>
            <a:ext cx="10972" cy="5632704"/>
          </a:xfrm>
          <a:prstGeom prst="rect">
            <a:avLst/>
          </a:prstGeom>
          <a:solidFill>
            <a:srgbClr val="000000"/>
          </a:solidFill>
          <a:ln>
            <a:noFill/>
          </a:ln>
        </p:spPr>
        <p:txBody>
          <a:bodyPr rtlCol="0" anchor="ctr"/>
          <a:lstStyle/>
          <a:p>
            <a:pPr algn="ctr"/>
          </a:p>
        </p:txBody>
      </p:sp>
      <p:sp>
        <p:nvSpPr>
          <p:cNvPr id="38" name="TextBox 37"/>
          <p:cNvSpPr txBox="1"/>
          <p:nvPr/>
        </p:nvSpPr>
        <p:spPr>
          <a:xfrm>
            <a:off x="14619427" y="3429000"/>
            <a:ext cx="914400" cy="365760"/>
          </a:xfrm>
          <a:prstGeom prst="rect">
            <a:avLst/>
          </a:prstGeom>
          <a:noFill/>
        </p:spPr>
        <p:txBody>
          <a:bodyPr wrap="square" lIns="0" rIns="0" tIns="0" bIns="0" anchor="t">
            <a:noAutofit/>
          </a:bodyPr>
          <a:lstStyle/>
          <a:p>
            <a:pPr algn="l"/>
            <a:r>
              <a:rPr sz="1800" b="0" i="0">
                <a:solidFill>
                  <a:srgbClr val="5A574F"/>
                </a:solidFill>
                <a:latin typeface="Roboto Mono"/>
              </a:rPr>
              <a:t>05</a:t>
            </a:r>
          </a:p>
        </p:txBody>
      </p:sp>
      <p:sp>
        <p:nvSpPr>
          <p:cNvPr id="39" name="TextBox 38"/>
          <p:cNvSpPr txBox="1"/>
          <p:nvPr/>
        </p:nvSpPr>
        <p:spPr>
          <a:xfrm>
            <a:off x="14619427" y="3931920"/>
            <a:ext cx="3010204" cy="548640"/>
          </a:xfrm>
          <a:prstGeom prst="rect">
            <a:avLst/>
          </a:prstGeom>
          <a:noFill/>
        </p:spPr>
        <p:txBody>
          <a:bodyPr wrap="square" lIns="0" rIns="0" tIns="0" bIns="0" anchor="t">
            <a:noAutofit/>
          </a:bodyPr>
          <a:lstStyle/>
          <a:p>
            <a:pPr algn="l"/>
            <a:r>
              <a:rPr sz="3400" b="1" i="0">
                <a:solidFill>
                  <a:srgbClr val="000000"/>
                </a:solidFill>
                <a:latin typeface="Inter"/>
              </a:rPr>
              <a:t>Token</a:t>
            </a:r>
          </a:p>
        </p:txBody>
      </p:sp>
      <p:sp>
        <p:nvSpPr>
          <p:cNvPr id="40" name="TextBox 39"/>
          <p:cNvSpPr txBox="1"/>
          <p:nvPr/>
        </p:nvSpPr>
        <p:spPr>
          <a:xfrm>
            <a:off x="14619427" y="4800600"/>
            <a:ext cx="2964484" cy="1554480"/>
          </a:xfrm>
          <a:prstGeom prst="rect">
            <a:avLst/>
          </a:prstGeom>
          <a:noFill/>
        </p:spPr>
        <p:txBody>
          <a:bodyPr wrap="square" lIns="0" rIns="0" tIns="0" bIns="0" anchor="t">
            <a:noAutofit/>
          </a:bodyPr>
          <a:lstStyle/>
          <a:p>
            <a:pPr algn="l"/>
            <a:r>
              <a:rPr sz="2200" b="0" i="0">
                <a:solidFill>
                  <a:srgbClr val="2C2825"/>
                </a:solidFill>
                <a:latin typeface="Inter"/>
              </a:rPr>
              <a:t>A temporary password.</a:t>
            </a:r>
          </a:p>
        </p:txBody>
      </p:sp>
      <p:sp>
        <p:nvSpPr>
          <p:cNvPr id="41" name="Rectangle 40"/>
          <p:cNvSpPr/>
          <p:nvPr/>
        </p:nvSpPr>
        <p:spPr>
          <a:xfrm>
            <a:off x="14619427" y="6492240"/>
            <a:ext cx="2918764" cy="13716"/>
          </a:xfrm>
          <a:prstGeom prst="rect">
            <a:avLst/>
          </a:prstGeom>
          <a:solidFill>
            <a:srgbClr val="D9D9CC"/>
          </a:solidFill>
          <a:ln>
            <a:noFill/>
          </a:ln>
        </p:spPr>
        <p:txBody>
          <a:bodyPr rtlCol="0" anchor="ctr"/>
          <a:lstStyle/>
          <a:p>
            <a:pPr algn="ctr"/>
          </a:p>
        </p:txBody>
      </p:sp>
      <p:sp>
        <p:nvSpPr>
          <p:cNvPr id="42" name="TextBox 41"/>
          <p:cNvSpPr txBox="1"/>
          <p:nvPr/>
        </p:nvSpPr>
        <p:spPr>
          <a:xfrm>
            <a:off x="14619427" y="6720840"/>
            <a:ext cx="3010204" cy="365760"/>
          </a:xfrm>
          <a:prstGeom prst="rect">
            <a:avLst/>
          </a:prstGeom>
          <a:noFill/>
        </p:spPr>
        <p:txBody>
          <a:bodyPr wrap="square" lIns="0" rIns="0" tIns="0" bIns="0" anchor="t">
            <a:noAutofit/>
          </a:bodyPr>
          <a:lstStyle/>
          <a:p>
            <a:pPr algn="l"/>
            <a:r>
              <a:rPr sz="1600" b="0" i="0">
                <a:solidFill>
                  <a:srgbClr val="5A574F"/>
                </a:solidFill>
                <a:latin typeface="Roboto Mono"/>
              </a:rPr>
              <a:t>EXAMPLE</a:t>
            </a:r>
          </a:p>
        </p:txBody>
      </p:sp>
      <p:sp>
        <p:nvSpPr>
          <p:cNvPr id="43" name="TextBox 42"/>
          <p:cNvSpPr txBox="1"/>
          <p:nvPr/>
        </p:nvSpPr>
        <p:spPr>
          <a:xfrm>
            <a:off x="14619427" y="7132320"/>
            <a:ext cx="2964484" cy="1554480"/>
          </a:xfrm>
          <a:prstGeom prst="rect">
            <a:avLst/>
          </a:prstGeom>
          <a:noFill/>
        </p:spPr>
        <p:txBody>
          <a:bodyPr wrap="square" lIns="0" rIns="0" tIns="0" bIns="0" anchor="t">
            <a:noAutofit/>
          </a:bodyPr>
          <a:lstStyle/>
          <a:p>
            <a:pPr algn="l"/>
            <a:r>
              <a:rPr sz="2100" b="0" i="0">
                <a:solidFill>
                  <a:srgbClr val="000000"/>
                </a:solidFill>
                <a:latin typeface="Inter"/>
              </a:rPr>
              <a:t>Proves who is asking. Lasts about 2 hours.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ED"/>
        </a:solidFill>
        <a:effectLst/>
      </p:bgPr>
    </p:bg>
    <p:spTree>
      <p:nvGrpSpPr>
        <p:cNvPr id="1" name=""/>
        <p:cNvGrpSpPr/>
        <p:nvPr/>
      </p:nvGrpSpPr>
      <p:grpSpPr/>
      <p:pic>
        <p:nvPicPr>
          <p:cNvPr id="2" name="Picture 1" descr="s1_0.png"/>
          <p:cNvPicPr>
            <a:picLocks noChangeAspect="1"/>
          </p:cNvPicPr>
          <p:nvPr/>
        </p:nvPicPr>
        <p:blipFill>
          <a:blip r:embed="rId2"/>
          <a:stretch>
            <a:fillRect/>
          </a:stretch>
        </p:blipFill>
        <p:spPr>
          <a:xfrm>
            <a:off x="475488" y="594360"/>
            <a:ext cx="1655064" cy="384048"/>
          </a:xfrm>
          <a:prstGeom prst="rect">
            <a:avLst/>
          </a:prstGeom>
        </p:spPr>
      </p:pic>
      <p:sp>
        <p:nvSpPr>
          <p:cNvPr id="3" name="Rectangle 2"/>
          <p:cNvSpPr/>
          <p:nvPr/>
        </p:nvSpPr>
        <p:spPr>
          <a:xfrm>
            <a:off x="2441448" y="777240"/>
            <a:ext cx="15371064" cy="10972"/>
          </a:xfrm>
          <a:prstGeom prst="rect">
            <a:avLst/>
          </a:prstGeom>
          <a:solidFill>
            <a:srgbClr val="000000"/>
          </a:solidFill>
          <a:ln>
            <a:noFill/>
          </a:ln>
        </p:spPr>
        <p:txBody>
          <a:bodyPr rtlCol="0" anchor="ctr"/>
          <a:lstStyle/>
          <a:p>
            <a:pPr algn="ctr"/>
          </a:p>
        </p:txBody>
      </p:sp>
      <p:sp>
        <p:nvSpPr>
          <p:cNvPr id="4" name="TextBox 3"/>
          <p:cNvSpPr txBox="1"/>
          <p:nvPr/>
        </p:nvSpPr>
        <p:spPr>
          <a:xfrm>
            <a:off x="475488" y="1527048"/>
            <a:ext cx="10972800" cy="365760"/>
          </a:xfrm>
          <a:prstGeom prst="rect">
            <a:avLst/>
          </a:prstGeom>
          <a:noFill/>
        </p:spPr>
        <p:txBody>
          <a:bodyPr wrap="square" lIns="0" rIns="0" tIns="0" bIns="0" anchor="t">
            <a:noAutofit/>
          </a:bodyPr>
          <a:lstStyle/>
          <a:p>
            <a:pPr algn="l"/>
            <a:r>
              <a:rPr sz="1800" b="0" i="0">
                <a:solidFill>
                  <a:srgbClr val="000000"/>
                </a:solidFill>
                <a:latin typeface="Roboto Mono"/>
              </a:rPr>
              <a:t>PART 1 · WHAT AN API IS</a:t>
            </a:r>
          </a:p>
        </p:txBody>
      </p:sp>
      <p:sp>
        <p:nvSpPr>
          <p:cNvPr id="5" name="Title"/>
          <p:cNvSpPr txBox="1"/>
          <p:nvPr/>
        </p:nvSpPr>
        <p:spPr>
          <a:xfrm>
            <a:off x="475488" y="2011680"/>
            <a:ext cx="17337024" cy="868680"/>
          </a:xfrm>
          <a:prstGeom prst="rect">
            <a:avLst/>
          </a:prstGeom>
          <a:noFill/>
        </p:spPr>
        <p:txBody>
          <a:bodyPr wrap="square" lIns="0" rIns="0" tIns="0" bIns="0" anchor="t">
            <a:noAutofit/>
          </a:bodyPr>
          <a:lstStyle/>
          <a:p>
            <a:pPr algn="l">
              <a:lnSpc>
                <a:spcPct val="95000"/>
              </a:lnSpc>
            </a:pPr>
            <a:r>
              <a:rPr sz="4600" b="1" i="0">
                <a:solidFill>
                  <a:srgbClr val="000000"/>
                </a:solidFill>
                <a:latin typeface="Inter"/>
              </a:rPr>
              <a:t>Every request is an address plus an action</a:t>
            </a:r>
          </a:p>
        </p:txBody>
      </p:sp>
      <p:sp>
        <p:nvSpPr>
          <p:cNvPr id="6" name="Rectangle 5"/>
          <p:cNvSpPr/>
          <p:nvPr/>
        </p:nvSpPr>
        <p:spPr>
          <a:xfrm>
            <a:off x="475488" y="9189720"/>
            <a:ext cx="17337024" cy="10972"/>
          </a:xfrm>
          <a:prstGeom prst="rect">
            <a:avLst/>
          </a:prstGeom>
          <a:solidFill>
            <a:srgbClr val="000000"/>
          </a:solidFill>
          <a:ln>
            <a:noFill/>
          </a:ln>
        </p:spPr>
        <p:txBody>
          <a:bodyPr rtlCol="0" anchor="ctr"/>
          <a:lstStyle/>
          <a:p>
            <a:pPr algn="ctr"/>
          </a:p>
        </p:txBody>
      </p:sp>
      <p:sp>
        <p:nvSpPr>
          <p:cNvPr id="7" name="TextBox 6"/>
          <p:cNvSpPr txBox="1"/>
          <p:nvPr/>
        </p:nvSpPr>
        <p:spPr>
          <a:xfrm>
            <a:off x="475488" y="9354312"/>
            <a:ext cx="2743200" cy="338328"/>
          </a:xfrm>
          <a:prstGeom prst="rect">
            <a:avLst/>
          </a:prstGeom>
          <a:noFill/>
        </p:spPr>
        <p:txBody>
          <a:bodyPr wrap="square" lIns="0" rIns="0" tIns="0" bIns="0" anchor="t">
            <a:noAutofit/>
          </a:bodyPr>
          <a:lstStyle/>
          <a:p>
            <a:pPr algn="l"/>
            <a:r>
              <a:rPr sz="1800" b="0" i="0">
                <a:solidFill>
                  <a:srgbClr val="000000"/>
                </a:solidFill>
                <a:latin typeface="Roboto Mono"/>
              </a:rPr>
              <a:t>CALIRA.CO</a:t>
            </a:r>
          </a:p>
        </p:txBody>
      </p:sp>
      <p:sp>
        <p:nvSpPr>
          <p:cNvPr id="8" name="TextBox 7"/>
          <p:cNvSpPr txBox="1"/>
          <p:nvPr/>
        </p:nvSpPr>
        <p:spPr>
          <a:xfrm>
            <a:off x="15983712" y="9354312"/>
            <a:ext cx="1828800" cy="338328"/>
          </a:xfrm>
          <a:prstGeom prst="rect">
            <a:avLst/>
          </a:prstGeom>
          <a:noFill/>
        </p:spPr>
        <p:txBody>
          <a:bodyPr wrap="square" lIns="0" rIns="0" tIns="0" bIns="0" anchor="t">
            <a:noAutofit/>
          </a:bodyPr>
          <a:lstStyle/>
          <a:p>
            <a:pPr algn="r"/>
            <a:r>
              <a:rPr sz="1800" b="0" i="0">
                <a:solidFill>
                  <a:srgbClr val="000000"/>
                </a:solidFill>
                <a:latin typeface="Roboto Mono"/>
              </a:rPr>
              <a:t>06</a:t>
            </a:r>
          </a:p>
        </p:txBody>
      </p:sp>
      <p:sp>
        <p:nvSpPr>
          <p:cNvPr id="9" name="Rectangle 8"/>
          <p:cNvSpPr/>
          <p:nvPr/>
        </p:nvSpPr>
        <p:spPr>
          <a:xfrm>
            <a:off x="475488" y="3154680"/>
            <a:ext cx="17337024" cy="2788920"/>
          </a:xfrm>
          <a:prstGeom prst="rect">
            <a:avLst/>
          </a:prstGeom>
          <a:solidFill>
            <a:srgbClr val="FFFFFF"/>
          </a:solidFill>
          <a:ln w="12700">
            <a:solidFill>
              <a:srgbClr val="000000"/>
            </a:solidFill>
          </a:ln>
        </p:spPr>
        <p:txBody>
          <a:bodyPr rtlCol="0" anchor="ctr"/>
          <a:lstStyle/>
          <a:p>
            <a:pPr algn="ctr"/>
          </a:p>
        </p:txBody>
      </p:sp>
      <p:sp>
        <p:nvSpPr>
          <p:cNvPr id="10" name="Rectangle 9"/>
          <p:cNvSpPr/>
          <p:nvPr/>
        </p:nvSpPr>
        <p:spPr>
          <a:xfrm>
            <a:off x="1417319" y="3474720"/>
            <a:ext cx="1463040" cy="822960"/>
          </a:xfrm>
          <a:prstGeom prst="rect">
            <a:avLst/>
          </a:prstGeom>
          <a:solidFill>
            <a:srgbClr val="009E00"/>
          </a:solidFill>
          <a:ln w="12700">
            <a:solidFill>
              <a:srgbClr val="000000"/>
            </a:solidFill>
          </a:ln>
        </p:spPr>
        <p:txBody>
          <a:bodyPr rtlCol="0" anchor="ctr"/>
          <a:lstStyle/>
          <a:p>
            <a:pPr algn="ctr"/>
          </a:p>
        </p:txBody>
      </p:sp>
      <p:sp>
        <p:nvSpPr>
          <p:cNvPr id="11" name="TextBox 10"/>
          <p:cNvSpPr txBox="1"/>
          <p:nvPr/>
        </p:nvSpPr>
        <p:spPr>
          <a:xfrm>
            <a:off x="1417319" y="3474720"/>
            <a:ext cx="1463040" cy="822960"/>
          </a:xfrm>
          <a:prstGeom prst="rect">
            <a:avLst/>
          </a:prstGeom>
          <a:noFill/>
        </p:spPr>
        <p:txBody>
          <a:bodyPr wrap="none" lIns="0" rIns="0" tIns="0" bIns="0" anchor="ctr">
            <a:noAutofit/>
          </a:bodyPr>
          <a:lstStyle/>
          <a:p>
            <a:pPr algn="ctr"/>
            <a:r>
              <a:rPr sz="3000" b="1" i="0">
                <a:solidFill>
                  <a:srgbClr val="FFFFFF"/>
                </a:solidFill>
                <a:latin typeface="Roboto Mono"/>
              </a:rPr>
              <a:t>GET</a:t>
            </a:r>
          </a:p>
        </p:txBody>
      </p:sp>
      <p:sp>
        <p:nvSpPr>
          <p:cNvPr id="12" name="Rectangle 11"/>
          <p:cNvSpPr/>
          <p:nvPr/>
        </p:nvSpPr>
        <p:spPr>
          <a:xfrm>
            <a:off x="1600199" y="4297680"/>
            <a:ext cx="13716" cy="320040"/>
          </a:xfrm>
          <a:prstGeom prst="rect">
            <a:avLst/>
          </a:prstGeom>
          <a:solidFill>
            <a:srgbClr val="000000"/>
          </a:solidFill>
          <a:ln>
            <a:noFill/>
          </a:ln>
        </p:spPr>
        <p:txBody>
          <a:bodyPr rtlCol="0" anchor="ctr"/>
          <a:lstStyle/>
          <a:p>
            <a:pPr algn="ctr"/>
          </a:p>
        </p:txBody>
      </p:sp>
      <p:sp>
        <p:nvSpPr>
          <p:cNvPr id="13" name="TextBox 12"/>
          <p:cNvSpPr txBox="1"/>
          <p:nvPr/>
        </p:nvSpPr>
        <p:spPr>
          <a:xfrm>
            <a:off x="1600199" y="4709160"/>
            <a:ext cx="3291840" cy="365760"/>
          </a:xfrm>
          <a:prstGeom prst="rect">
            <a:avLst/>
          </a:prstGeom>
          <a:noFill/>
        </p:spPr>
        <p:txBody>
          <a:bodyPr wrap="square" lIns="0" rIns="0" tIns="0" bIns="0" anchor="t">
            <a:noAutofit/>
          </a:bodyPr>
          <a:lstStyle/>
          <a:p>
            <a:pPr algn="l"/>
            <a:r>
              <a:rPr sz="1600" b="0" i="0">
                <a:solidFill>
                  <a:srgbClr val="000000"/>
                </a:solidFill>
                <a:latin typeface="Roboto Mono"/>
              </a:rPr>
              <a:t>ACTION</a:t>
            </a:r>
          </a:p>
        </p:txBody>
      </p:sp>
      <p:sp>
        <p:nvSpPr>
          <p:cNvPr id="14" name="TextBox 13"/>
          <p:cNvSpPr txBox="1"/>
          <p:nvPr/>
        </p:nvSpPr>
        <p:spPr>
          <a:xfrm>
            <a:off x="1600199" y="5093208"/>
            <a:ext cx="3291840" cy="685800"/>
          </a:xfrm>
          <a:prstGeom prst="rect">
            <a:avLst/>
          </a:prstGeom>
          <a:noFill/>
        </p:spPr>
        <p:txBody>
          <a:bodyPr wrap="square" lIns="0" rIns="0" tIns="0" bIns="0" anchor="t">
            <a:noAutofit/>
          </a:bodyPr>
          <a:lstStyle/>
          <a:p>
            <a:pPr algn="l"/>
            <a:r>
              <a:rPr sz="1900" b="0" i="0">
                <a:solidFill>
                  <a:srgbClr val="2C2825"/>
                </a:solidFill>
                <a:latin typeface="Inter"/>
              </a:rPr>
              <a:t>What to do</a:t>
            </a:r>
          </a:p>
        </p:txBody>
      </p:sp>
      <p:sp>
        <p:nvSpPr>
          <p:cNvPr id="15" name="Rectangle 14"/>
          <p:cNvSpPr/>
          <p:nvPr/>
        </p:nvSpPr>
        <p:spPr>
          <a:xfrm>
            <a:off x="2971799" y="3474720"/>
            <a:ext cx="7772400" cy="822960"/>
          </a:xfrm>
          <a:prstGeom prst="rect">
            <a:avLst/>
          </a:prstGeom>
          <a:solidFill>
            <a:srgbClr val="ECECDF"/>
          </a:solidFill>
          <a:ln w="12700">
            <a:solidFill>
              <a:srgbClr val="000000"/>
            </a:solidFill>
          </a:ln>
        </p:spPr>
        <p:txBody>
          <a:bodyPr rtlCol="0" anchor="ctr"/>
          <a:lstStyle/>
          <a:p>
            <a:pPr algn="ctr"/>
          </a:p>
        </p:txBody>
      </p:sp>
      <p:sp>
        <p:nvSpPr>
          <p:cNvPr id="16" name="TextBox 15"/>
          <p:cNvSpPr txBox="1"/>
          <p:nvPr/>
        </p:nvSpPr>
        <p:spPr>
          <a:xfrm>
            <a:off x="2971799" y="3474720"/>
            <a:ext cx="7772400" cy="822960"/>
          </a:xfrm>
          <a:prstGeom prst="rect">
            <a:avLst/>
          </a:prstGeom>
          <a:noFill/>
        </p:spPr>
        <p:txBody>
          <a:bodyPr wrap="none" lIns="0" rIns="0" tIns="0" bIns="0" anchor="ctr">
            <a:noAutofit/>
          </a:bodyPr>
          <a:lstStyle/>
          <a:p>
            <a:pPr algn="ctr"/>
            <a:r>
              <a:rPr sz="3000" b="1" i="0">
                <a:solidFill>
                  <a:srgbClr val="000000"/>
                </a:solidFill>
                <a:latin typeface="Roboto Mono"/>
              </a:rPr>
              <a:t>https://api.clustermarket.com/v1</a:t>
            </a:r>
          </a:p>
        </p:txBody>
      </p:sp>
      <p:sp>
        <p:nvSpPr>
          <p:cNvPr id="17" name="Rectangle 16"/>
          <p:cNvSpPr/>
          <p:nvPr/>
        </p:nvSpPr>
        <p:spPr>
          <a:xfrm>
            <a:off x="3154679" y="4297680"/>
            <a:ext cx="13716" cy="320040"/>
          </a:xfrm>
          <a:prstGeom prst="rect">
            <a:avLst/>
          </a:prstGeom>
          <a:solidFill>
            <a:srgbClr val="000000"/>
          </a:solidFill>
          <a:ln>
            <a:noFill/>
          </a:ln>
        </p:spPr>
        <p:txBody>
          <a:bodyPr rtlCol="0" anchor="ctr"/>
          <a:lstStyle/>
          <a:p>
            <a:pPr algn="ctr"/>
          </a:p>
        </p:txBody>
      </p:sp>
      <p:sp>
        <p:nvSpPr>
          <p:cNvPr id="18" name="TextBox 17"/>
          <p:cNvSpPr txBox="1"/>
          <p:nvPr/>
        </p:nvSpPr>
        <p:spPr>
          <a:xfrm>
            <a:off x="3154679" y="4709160"/>
            <a:ext cx="3291840" cy="365760"/>
          </a:xfrm>
          <a:prstGeom prst="rect">
            <a:avLst/>
          </a:prstGeom>
          <a:noFill/>
        </p:spPr>
        <p:txBody>
          <a:bodyPr wrap="square" lIns="0" rIns="0" tIns="0" bIns="0" anchor="t">
            <a:noAutofit/>
          </a:bodyPr>
          <a:lstStyle/>
          <a:p>
            <a:pPr algn="l"/>
            <a:r>
              <a:rPr sz="1600" b="0" i="0">
                <a:solidFill>
                  <a:srgbClr val="000000"/>
                </a:solidFill>
                <a:latin typeface="Roboto Mono"/>
              </a:rPr>
              <a:t>BASE ADDRESS</a:t>
            </a:r>
          </a:p>
        </p:txBody>
      </p:sp>
      <p:sp>
        <p:nvSpPr>
          <p:cNvPr id="19" name="TextBox 18"/>
          <p:cNvSpPr txBox="1"/>
          <p:nvPr/>
        </p:nvSpPr>
        <p:spPr>
          <a:xfrm>
            <a:off x="3154679" y="5093208"/>
            <a:ext cx="5486400" cy="685800"/>
          </a:xfrm>
          <a:prstGeom prst="rect">
            <a:avLst/>
          </a:prstGeom>
          <a:noFill/>
        </p:spPr>
        <p:txBody>
          <a:bodyPr wrap="square" lIns="0" rIns="0" tIns="0" bIns="0" anchor="t">
            <a:noAutofit/>
          </a:bodyPr>
          <a:lstStyle/>
          <a:p>
            <a:pPr algn="l"/>
            <a:r>
              <a:rPr sz="1900" b="0" i="0">
                <a:solidFill>
                  <a:srgbClr val="2C2825"/>
                </a:solidFill>
                <a:latin typeface="Inter"/>
              </a:rPr>
              <a:t>Which Calira: live or test</a:t>
            </a:r>
          </a:p>
        </p:txBody>
      </p:sp>
      <p:sp>
        <p:nvSpPr>
          <p:cNvPr id="20" name="Rectangle 19"/>
          <p:cNvSpPr/>
          <p:nvPr/>
        </p:nvSpPr>
        <p:spPr>
          <a:xfrm>
            <a:off x="10835640" y="3474720"/>
            <a:ext cx="2743200" cy="822960"/>
          </a:xfrm>
          <a:prstGeom prst="rect">
            <a:avLst/>
          </a:prstGeom>
          <a:solidFill>
            <a:srgbClr val="E8FC2E"/>
          </a:solidFill>
          <a:ln w="12700">
            <a:solidFill>
              <a:srgbClr val="000000"/>
            </a:solidFill>
          </a:ln>
        </p:spPr>
        <p:txBody>
          <a:bodyPr rtlCol="0" anchor="ctr"/>
          <a:lstStyle/>
          <a:p>
            <a:pPr algn="ctr"/>
          </a:p>
        </p:txBody>
      </p:sp>
      <p:sp>
        <p:nvSpPr>
          <p:cNvPr id="21" name="TextBox 20"/>
          <p:cNvSpPr txBox="1"/>
          <p:nvPr/>
        </p:nvSpPr>
        <p:spPr>
          <a:xfrm>
            <a:off x="10835640" y="3474720"/>
            <a:ext cx="2743200" cy="822960"/>
          </a:xfrm>
          <a:prstGeom prst="rect">
            <a:avLst/>
          </a:prstGeom>
          <a:noFill/>
        </p:spPr>
        <p:txBody>
          <a:bodyPr wrap="none" lIns="0" rIns="0" tIns="0" bIns="0" anchor="ctr">
            <a:noAutofit/>
          </a:bodyPr>
          <a:lstStyle/>
          <a:p>
            <a:pPr algn="ctr"/>
            <a:r>
              <a:rPr sz="3000" b="1" i="0">
                <a:solidFill>
                  <a:srgbClr val="000000"/>
                </a:solidFill>
                <a:latin typeface="Roboto Mono"/>
              </a:rPr>
              <a:t>/equipment</a:t>
            </a:r>
          </a:p>
        </p:txBody>
      </p:sp>
      <p:sp>
        <p:nvSpPr>
          <p:cNvPr id="22" name="Rectangle 21"/>
          <p:cNvSpPr/>
          <p:nvPr/>
        </p:nvSpPr>
        <p:spPr>
          <a:xfrm>
            <a:off x="11018519" y="4297680"/>
            <a:ext cx="13716" cy="320040"/>
          </a:xfrm>
          <a:prstGeom prst="rect">
            <a:avLst/>
          </a:prstGeom>
          <a:solidFill>
            <a:srgbClr val="000000"/>
          </a:solidFill>
          <a:ln>
            <a:noFill/>
          </a:ln>
        </p:spPr>
        <p:txBody>
          <a:bodyPr rtlCol="0" anchor="ctr"/>
          <a:lstStyle/>
          <a:p>
            <a:pPr algn="ctr"/>
          </a:p>
        </p:txBody>
      </p:sp>
      <p:sp>
        <p:nvSpPr>
          <p:cNvPr id="23" name="TextBox 22"/>
          <p:cNvSpPr txBox="1"/>
          <p:nvPr/>
        </p:nvSpPr>
        <p:spPr>
          <a:xfrm>
            <a:off x="11018519" y="4709160"/>
            <a:ext cx="3291840" cy="365760"/>
          </a:xfrm>
          <a:prstGeom prst="rect">
            <a:avLst/>
          </a:prstGeom>
          <a:noFill/>
        </p:spPr>
        <p:txBody>
          <a:bodyPr wrap="square" lIns="0" rIns="0" tIns="0" bIns="0" anchor="t">
            <a:noAutofit/>
          </a:bodyPr>
          <a:lstStyle/>
          <a:p>
            <a:pPr algn="l"/>
            <a:r>
              <a:rPr sz="1600" b="0" i="0">
                <a:solidFill>
                  <a:srgbClr val="000000"/>
                </a:solidFill>
                <a:latin typeface="Roboto Mono"/>
              </a:rPr>
              <a:t>ENDPOINT</a:t>
            </a:r>
          </a:p>
        </p:txBody>
      </p:sp>
      <p:sp>
        <p:nvSpPr>
          <p:cNvPr id="24" name="TextBox 23"/>
          <p:cNvSpPr txBox="1"/>
          <p:nvPr/>
        </p:nvSpPr>
        <p:spPr>
          <a:xfrm>
            <a:off x="11018519" y="5093208"/>
            <a:ext cx="3291840" cy="685800"/>
          </a:xfrm>
          <a:prstGeom prst="rect">
            <a:avLst/>
          </a:prstGeom>
          <a:noFill/>
        </p:spPr>
        <p:txBody>
          <a:bodyPr wrap="square" lIns="0" rIns="0" tIns="0" bIns="0" anchor="t">
            <a:noAutofit/>
          </a:bodyPr>
          <a:lstStyle/>
          <a:p>
            <a:pPr algn="l"/>
            <a:r>
              <a:rPr sz="1900" b="0" i="0">
                <a:solidFill>
                  <a:srgbClr val="2C2825"/>
                </a:solidFill>
                <a:latin typeface="Inter"/>
              </a:rPr>
              <a:t>What kind of thing</a:t>
            </a:r>
          </a:p>
        </p:txBody>
      </p:sp>
      <p:sp>
        <p:nvSpPr>
          <p:cNvPr id="25" name="Rectangle 24"/>
          <p:cNvSpPr/>
          <p:nvPr/>
        </p:nvSpPr>
        <p:spPr>
          <a:xfrm>
            <a:off x="13670280" y="3474720"/>
            <a:ext cx="3200399" cy="822960"/>
          </a:xfrm>
          <a:prstGeom prst="rect">
            <a:avLst/>
          </a:prstGeom>
          <a:solidFill>
            <a:srgbClr val="FFFFFF"/>
          </a:solidFill>
          <a:ln w="12700">
            <a:solidFill>
              <a:srgbClr val="000000"/>
            </a:solidFill>
            <a:prstDash val="dash"/>
          </a:ln>
        </p:spPr>
        <p:txBody>
          <a:bodyPr rtlCol="0" anchor="ctr"/>
          <a:lstStyle/>
          <a:p>
            <a:pPr algn="ctr"/>
          </a:p>
        </p:txBody>
      </p:sp>
      <p:sp>
        <p:nvSpPr>
          <p:cNvPr id="26" name="TextBox 25"/>
          <p:cNvSpPr txBox="1"/>
          <p:nvPr/>
        </p:nvSpPr>
        <p:spPr>
          <a:xfrm>
            <a:off x="13670280" y="3474720"/>
            <a:ext cx="3200399" cy="822960"/>
          </a:xfrm>
          <a:prstGeom prst="rect">
            <a:avLst/>
          </a:prstGeom>
          <a:noFill/>
        </p:spPr>
        <p:txBody>
          <a:bodyPr wrap="none" lIns="0" rIns="0" tIns="0" bIns="0" anchor="ctr">
            <a:noAutofit/>
          </a:bodyPr>
          <a:lstStyle/>
          <a:p>
            <a:pPr algn="ctr"/>
            <a:r>
              <a:rPr sz="3000" b="1" i="0">
                <a:solidFill>
                  <a:srgbClr val="000000"/>
                </a:solidFill>
                <a:latin typeface="Roboto Mono"/>
              </a:rPr>
              <a:t>?account=543</a:t>
            </a:r>
          </a:p>
        </p:txBody>
      </p:sp>
      <p:sp>
        <p:nvSpPr>
          <p:cNvPr id="27" name="Rectangle 26"/>
          <p:cNvSpPr/>
          <p:nvPr/>
        </p:nvSpPr>
        <p:spPr>
          <a:xfrm>
            <a:off x="13853159" y="4297680"/>
            <a:ext cx="13716" cy="320040"/>
          </a:xfrm>
          <a:prstGeom prst="rect">
            <a:avLst/>
          </a:prstGeom>
          <a:solidFill>
            <a:srgbClr val="000000"/>
          </a:solidFill>
          <a:ln>
            <a:noFill/>
          </a:ln>
        </p:spPr>
        <p:txBody>
          <a:bodyPr rtlCol="0" anchor="ctr"/>
          <a:lstStyle/>
          <a:p>
            <a:pPr algn="ctr"/>
          </a:p>
        </p:txBody>
      </p:sp>
      <p:sp>
        <p:nvSpPr>
          <p:cNvPr id="28" name="TextBox 27"/>
          <p:cNvSpPr txBox="1"/>
          <p:nvPr/>
        </p:nvSpPr>
        <p:spPr>
          <a:xfrm>
            <a:off x="13853159" y="4709160"/>
            <a:ext cx="3291840" cy="365760"/>
          </a:xfrm>
          <a:prstGeom prst="rect">
            <a:avLst/>
          </a:prstGeom>
          <a:noFill/>
        </p:spPr>
        <p:txBody>
          <a:bodyPr wrap="square" lIns="0" rIns="0" tIns="0" bIns="0" anchor="t">
            <a:noAutofit/>
          </a:bodyPr>
          <a:lstStyle/>
          <a:p>
            <a:pPr algn="l"/>
            <a:r>
              <a:rPr sz="1600" b="0" i="0">
                <a:solidFill>
                  <a:srgbClr val="000000"/>
                </a:solidFill>
                <a:latin typeface="Roboto Mono"/>
              </a:rPr>
              <a:t>FILTER (OPTIONAL)</a:t>
            </a:r>
          </a:p>
        </p:txBody>
      </p:sp>
      <p:sp>
        <p:nvSpPr>
          <p:cNvPr id="29" name="TextBox 28"/>
          <p:cNvSpPr txBox="1"/>
          <p:nvPr/>
        </p:nvSpPr>
        <p:spPr>
          <a:xfrm>
            <a:off x="13853159" y="5093208"/>
            <a:ext cx="3291840" cy="685800"/>
          </a:xfrm>
          <a:prstGeom prst="rect">
            <a:avLst/>
          </a:prstGeom>
          <a:noFill/>
        </p:spPr>
        <p:txBody>
          <a:bodyPr wrap="square" lIns="0" rIns="0" tIns="0" bIns="0" anchor="t">
            <a:noAutofit/>
          </a:bodyPr>
          <a:lstStyle/>
          <a:p>
            <a:pPr algn="l"/>
            <a:r>
              <a:rPr sz="1900" b="0" i="0">
                <a:solidFill>
                  <a:srgbClr val="2C2825"/>
                </a:solidFill>
                <a:latin typeface="Inter"/>
              </a:rPr>
              <a:t>Narrow it down, e.g. one lab</a:t>
            </a:r>
          </a:p>
        </p:txBody>
      </p:sp>
      <p:sp>
        <p:nvSpPr>
          <p:cNvPr id="30" name="Rectangle 29"/>
          <p:cNvSpPr/>
          <p:nvPr/>
        </p:nvSpPr>
        <p:spPr>
          <a:xfrm>
            <a:off x="475488" y="6172200"/>
            <a:ext cx="8558784" cy="2743200"/>
          </a:xfrm>
          <a:prstGeom prst="rect">
            <a:avLst/>
          </a:prstGeom>
          <a:solidFill>
            <a:srgbClr val="FFFFFF"/>
          </a:solidFill>
          <a:ln w="12700">
            <a:solidFill>
              <a:srgbClr val="000000"/>
            </a:solidFill>
          </a:ln>
        </p:spPr>
        <p:txBody>
          <a:bodyPr rtlCol="0" anchor="ctr"/>
          <a:lstStyle/>
          <a:p>
            <a:pPr algn="ctr"/>
          </a:p>
        </p:txBody>
      </p:sp>
      <p:pic>
        <p:nvPicPr>
          <p:cNvPr id="31" name="Picture 30" descr="key.png"/>
          <p:cNvPicPr>
            <a:picLocks noChangeAspect="1"/>
          </p:cNvPicPr>
          <p:nvPr/>
        </p:nvPicPr>
        <p:blipFill>
          <a:blip r:embed="rId3"/>
          <a:stretch>
            <a:fillRect/>
          </a:stretch>
        </p:blipFill>
        <p:spPr>
          <a:xfrm>
            <a:off x="795528" y="6446520"/>
            <a:ext cx="566928" cy="566928"/>
          </a:xfrm>
          <a:prstGeom prst="rect">
            <a:avLst/>
          </a:prstGeom>
        </p:spPr>
      </p:pic>
      <p:sp>
        <p:nvSpPr>
          <p:cNvPr id="32" name="TextBox 31"/>
          <p:cNvSpPr txBox="1"/>
          <p:nvPr/>
        </p:nvSpPr>
        <p:spPr>
          <a:xfrm>
            <a:off x="1618488" y="6492240"/>
            <a:ext cx="7315200" cy="365760"/>
          </a:xfrm>
          <a:prstGeom prst="rect">
            <a:avLst/>
          </a:prstGeom>
          <a:noFill/>
        </p:spPr>
        <p:txBody>
          <a:bodyPr wrap="square" lIns="0" rIns="0" tIns="0" bIns="0" anchor="t">
            <a:noAutofit/>
          </a:bodyPr>
          <a:lstStyle/>
          <a:p>
            <a:pPr algn="l"/>
            <a:r>
              <a:rPr sz="1600" b="0" i="0">
                <a:solidFill>
                  <a:srgbClr val="5A574F"/>
                </a:solidFill>
                <a:latin typeface="Roboto Mono"/>
              </a:rPr>
              <a:t>SENT WITH EVERY REQUEST</a:t>
            </a:r>
          </a:p>
        </p:txBody>
      </p:sp>
      <p:sp>
        <p:nvSpPr>
          <p:cNvPr id="33" name="TextBox 32"/>
          <p:cNvSpPr txBox="1"/>
          <p:nvPr/>
        </p:nvSpPr>
        <p:spPr>
          <a:xfrm>
            <a:off x="1618488" y="6858000"/>
            <a:ext cx="7132320" cy="548640"/>
          </a:xfrm>
          <a:prstGeom prst="rect">
            <a:avLst/>
          </a:prstGeom>
          <a:noFill/>
        </p:spPr>
        <p:txBody>
          <a:bodyPr wrap="square" lIns="0" rIns="0" tIns="0" bIns="0" anchor="t">
            <a:noAutofit/>
          </a:bodyPr>
          <a:lstStyle/>
          <a:p>
            <a:pPr algn="l"/>
            <a:r>
              <a:rPr sz="2800" b="1" i="0">
                <a:solidFill>
                  <a:srgbClr val="000000"/>
                </a:solidFill>
                <a:latin typeface="Inter"/>
              </a:rPr>
              <a:t>Your token</a:t>
            </a:r>
          </a:p>
        </p:txBody>
      </p:sp>
      <p:sp>
        <p:nvSpPr>
          <p:cNvPr id="34" name="TextBox 33"/>
          <p:cNvSpPr txBox="1"/>
          <p:nvPr/>
        </p:nvSpPr>
        <p:spPr>
          <a:xfrm>
            <a:off x="795528" y="7680960"/>
            <a:ext cx="7955279" cy="1097280"/>
          </a:xfrm>
          <a:prstGeom prst="rect">
            <a:avLst/>
          </a:prstGeom>
          <a:noFill/>
        </p:spPr>
        <p:txBody>
          <a:bodyPr wrap="square" lIns="0" rIns="0" tIns="0" bIns="0" anchor="t">
            <a:noAutofit/>
          </a:bodyPr>
          <a:lstStyle/>
          <a:p>
            <a:pPr algn="l"/>
            <a:r>
              <a:rPr sz="2000" b="0" i="0">
                <a:solidFill>
                  <a:srgbClr val="2C2825"/>
                </a:solidFill>
                <a:latin typeface="Inter"/>
              </a:rPr>
              <a:t>A temporary password that proves who you are. Postman adds it for you.</a:t>
            </a:r>
          </a:p>
        </p:txBody>
      </p:sp>
      <p:sp>
        <p:nvSpPr>
          <p:cNvPr id="35" name="Rectangle 34"/>
          <p:cNvSpPr/>
          <p:nvPr/>
        </p:nvSpPr>
        <p:spPr>
          <a:xfrm>
            <a:off x="9253728" y="6172200"/>
            <a:ext cx="8558784" cy="2743200"/>
          </a:xfrm>
          <a:prstGeom prst="rect">
            <a:avLst/>
          </a:prstGeom>
          <a:solidFill>
            <a:srgbClr val="FFFFFF"/>
          </a:solidFill>
          <a:ln w="12700">
            <a:solidFill>
              <a:srgbClr val="000000"/>
            </a:solidFill>
          </a:ln>
        </p:spPr>
        <p:txBody>
          <a:bodyPr rtlCol="0" anchor="ctr"/>
          <a:lstStyle/>
          <a:p>
            <a:pPr algn="ctr"/>
          </a:p>
        </p:txBody>
      </p:sp>
      <p:pic>
        <p:nvPicPr>
          <p:cNvPr id="36" name="Picture 35" descr="json.png"/>
          <p:cNvPicPr>
            <a:picLocks noChangeAspect="1"/>
          </p:cNvPicPr>
          <p:nvPr/>
        </p:nvPicPr>
        <p:blipFill>
          <a:blip r:embed="rId4"/>
          <a:stretch>
            <a:fillRect/>
          </a:stretch>
        </p:blipFill>
        <p:spPr>
          <a:xfrm>
            <a:off x="9573767" y="6446520"/>
            <a:ext cx="566928" cy="566928"/>
          </a:xfrm>
          <a:prstGeom prst="rect">
            <a:avLst/>
          </a:prstGeom>
        </p:spPr>
      </p:pic>
      <p:sp>
        <p:nvSpPr>
          <p:cNvPr id="37" name="TextBox 36"/>
          <p:cNvSpPr txBox="1"/>
          <p:nvPr/>
        </p:nvSpPr>
        <p:spPr>
          <a:xfrm>
            <a:off x="10396728" y="6492240"/>
            <a:ext cx="7315200" cy="365760"/>
          </a:xfrm>
          <a:prstGeom prst="rect">
            <a:avLst/>
          </a:prstGeom>
          <a:noFill/>
        </p:spPr>
        <p:txBody>
          <a:bodyPr wrap="square" lIns="0" rIns="0" tIns="0" bIns="0" anchor="t">
            <a:noAutofit/>
          </a:bodyPr>
          <a:lstStyle/>
          <a:p>
            <a:pPr algn="l"/>
            <a:r>
              <a:rPr sz="1600" b="0" i="0">
                <a:solidFill>
                  <a:srgbClr val="5A574F"/>
                </a:solidFill>
                <a:latin typeface="Roboto Mono"/>
              </a:rPr>
              <a:t>ONLY WHEN CREATING OR CHANGING</a:t>
            </a:r>
          </a:p>
        </p:txBody>
      </p:sp>
      <p:sp>
        <p:nvSpPr>
          <p:cNvPr id="38" name="TextBox 37"/>
          <p:cNvSpPr txBox="1"/>
          <p:nvPr/>
        </p:nvSpPr>
        <p:spPr>
          <a:xfrm>
            <a:off x="10396728" y="6858000"/>
            <a:ext cx="7132320" cy="548640"/>
          </a:xfrm>
          <a:prstGeom prst="rect">
            <a:avLst/>
          </a:prstGeom>
          <a:noFill/>
        </p:spPr>
        <p:txBody>
          <a:bodyPr wrap="square" lIns="0" rIns="0" tIns="0" bIns="0" anchor="t">
            <a:noAutofit/>
          </a:bodyPr>
          <a:lstStyle/>
          <a:p>
            <a:pPr algn="l"/>
            <a:r>
              <a:rPr sz="2800" b="1" i="0">
                <a:solidFill>
                  <a:srgbClr val="000000"/>
                </a:solidFill>
                <a:latin typeface="Inter"/>
              </a:rPr>
              <a:t>A JSON body</a:t>
            </a:r>
          </a:p>
        </p:txBody>
      </p:sp>
      <p:sp>
        <p:nvSpPr>
          <p:cNvPr id="39" name="TextBox 38"/>
          <p:cNvSpPr txBox="1"/>
          <p:nvPr/>
        </p:nvSpPr>
        <p:spPr>
          <a:xfrm>
            <a:off x="9573767" y="7680960"/>
            <a:ext cx="7955279" cy="1097280"/>
          </a:xfrm>
          <a:prstGeom prst="rect">
            <a:avLst/>
          </a:prstGeom>
          <a:noFill/>
        </p:spPr>
        <p:txBody>
          <a:bodyPr wrap="square" lIns="0" rIns="0" tIns="0" bIns="0" anchor="t">
            <a:noAutofit/>
          </a:bodyPr>
          <a:lstStyle/>
          <a:p>
            <a:pPr algn="l"/>
            <a:r>
              <a:rPr sz="2000" b="0" i="0">
                <a:solidFill>
                  <a:srgbClr val="2C2825"/>
                </a:solidFill>
                <a:latin typeface="Inter"/>
              </a:rPr>
              <a:t>The details of what to create or change, such as the equipment and times for a booking.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ED"/>
        </a:solidFill>
        <a:effectLst/>
      </p:bgPr>
    </p:bg>
    <p:spTree>
      <p:nvGrpSpPr>
        <p:cNvPr id="1" name=""/>
        <p:cNvGrpSpPr/>
        <p:nvPr/>
      </p:nvGrpSpPr>
      <p:grpSpPr/>
      <p:pic>
        <p:nvPicPr>
          <p:cNvPr id="2" name="Picture 1" descr="s1_0.png"/>
          <p:cNvPicPr>
            <a:picLocks noChangeAspect="1"/>
          </p:cNvPicPr>
          <p:nvPr/>
        </p:nvPicPr>
        <p:blipFill>
          <a:blip r:embed="rId2"/>
          <a:stretch>
            <a:fillRect/>
          </a:stretch>
        </p:blipFill>
        <p:spPr>
          <a:xfrm>
            <a:off x="475488" y="594360"/>
            <a:ext cx="1655064" cy="384048"/>
          </a:xfrm>
          <a:prstGeom prst="rect">
            <a:avLst/>
          </a:prstGeom>
        </p:spPr>
      </p:pic>
      <p:sp>
        <p:nvSpPr>
          <p:cNvPr id="3" name="Rectangle 2"/>
          <p:cNvSpPr/>
          <p:nvPr/>
        </p:nvSpPr>
        <p:spPr>
          <a:xfrm>
            <a:off x="2441448" y="777240"/>
            <a:ext cx="15371064" cy="10972"/>
          </a:xfrm>
          <a:prstGeom prst="rect">
            <a:avLst/>
          </a:prstGeom>
          <a:solidFill>
            <a:srgbClr val="000000"/>
          </a:solidFill>
          <a:ln>
            <a:noFill/>
          </a:ln>
        </p:spPr>
        <p:txBody>
          <a:bodyPr rtlCol="0" anchor="ctr"/>
          <a:lstStyle/>
          <a:p>
            <a:pPr algn="ctr"/>
          </a:p>
        </p:txBody>
      </p:sp>
      <p:sp>
        <p:nvSpPr>
          <p:cNvPr id="4" name="TextBox 3"/>
          <p:cNvSpPr txBox="1"/>
          <p:nvPr/>
        </p:nvSpPr>
        <p:spPr>
          <a:xfrm>
            <a:off x="475488" y="1527048"/>
            <a:ext cx="10972800" cy="365760"/>
          </a:xfrm>
          <a:prstGeom prst="rect">
            <a:avLst/>
          </a:prstGeom>
          <a:noFill/>
        </p:spPr>
        <p:txBody>
          <a:bodyPr wrap="square" lIns="0" rIns="0" tIns="0" bIns="0" anchor="t">
            <a:noAutofit/>
          </a:bodyPr>
          <a:lstStyle/>
          <a:p>
            <a:pPr algn="l"/>
            <a:r>
              <a:rPr sz="1800" b="0" i="0">
                <a:solidFill>
                  <a:srgbClr val="000000"/>
                </a:solidFill>
                <a:latin typeface="Roboto Mono"/>
              </a:rPr>
              <a:t>PART 1 · WHAT AN API IS</a:t>
            </a:r>
          </a:p>
        </p:txBody>
      </p:sp>
      <p:sp>
        <p:nvSpPr>
          <p:cNvPr id="5" name="Title"/>
          <p:cNvSpPr txBox="1"/>
          <p:nvPr/>
        </p:nvSpPr>
        <p:spPr>
          <a:xfrm>
            <a:off x="475488" y="2011680"/>
            <a:ext cx="17337024" cy="868680"/>
          </a:xfrm>
          <a:prstGeom prst="rect">
            <a:avLst/>
          </a:prstGeom>
          <a:noFill/>
        </p:spPr>
        <p:txBody>
          <a:bodyPr wrap="square" lIns="0" rIns="0" tIns="0" bIns="0" anchor="t">
            <a:noAutofit/>
          </a:bodyPr>
          <a:lstStyle/>
          <a:p>
            <a:pPr algn="l">
              <a:lnSpc>
                <a:spcPct val="95000"/>
              </a:lnSpc>
            </a:pPr>
            <a:r>
              <a:rPr sz="4600" b="1" i="0">
                <a:solidFill>
                  <a:srgbClr val="000000"/>
                </a:solidFill>
                <a:latin typeface="Inter"/>
              </a:rPr>
              <a:t>What the Calira API can do today</a:t>
            </a:r>
          </a:p>
        </p:txBody>
      </p:sp>
      <p:sp>
        <p:nvSpPr>
          <p:cNvPr id="6" name="Rectangle 5"/>
          <p:cNvSpPr/>
          <p:nvPr/>
        </p:nvSpPr>
        <p:spPr>
          <a:xfrm>
            <a:off x="475488" y="9189720"/>
            <a:ext cx="17337024" cy="10972"/>
          </a:xfrm>
          <a:prstGeom prst="rect">
            <a:avLst/>
          </a:prstGeom>
          <a:solidFill>
            <a:srgbClr val="000000"/>
          </a:solidFill>
          <a:ln>
            <a:noFill/>
          </a:ln>
        </p:spPr>
        <p:txBody>
          <a:bodyPr rtlCol="0" anchor="ctr"/>
          <a:lstStyle/>
          <a:p>
            <a:pPr algn="ctr"/>
          </a:p>
        </p:txBody>
      </p:sp>
      <p:sp>
        <p:nvSpPr>
          <p:cNvPr id="7" name="TextBox 6"/>
          <p:cNvSpPr txBox="1"/>
          <p:nvPr/>
        </p:nvSpPr>
        <p:spPr>
          <a:xfrm>
            <a:off x="475488" y="9354312"/>
            <a:ext cx="2743200" cy="338328"/>
          </a:xfrm>
          <a:prstGeom prst="rect">
            <a:avLst/>
          </a:prstGeom>
          <a:noFill/>
        </p:spPr>
        <p:txBody>
          <a:bodyPr wrap="square" lIns="0" rIns="0" tIns="0" bIns="0" anchor="t">
            <a:noAutofit/>
          </a:bodyPr>
          <a:lstStyle/>
          <a:p>
            <a:pPr algn="l"/>
            <a:r>
              <a:rPr sz="1800" b="0" i="0">
                <a:solidFill>
                  <a:srgbClr val="000000"/>
                </a:solidFill>
                <a:latin typeface="Roboto Mono"/>
              </a:rPr>
              <a:t>CALIRA.CO</a:t>
            </a:r>
          </a:p>
        </p:txBody>
      </p:sp>
      <p:sp>
        <p:nvSpPr>
          <p:cNvPr id="8" name="TextBox 7"/>
          <p:cNvSpPr txBox="1"/>
          <p:nvPr/>
        </p:nvSpPr>
        <p:spPr>
          <a:xfrm>
            <a:off x="15983712" y="9354312"/>
            <a:ext cx="1828800" cy="338328"/>
          </a:xfrm>
          <a:prstGeom prst="rect">
            <a:avLst/>
          </a:prstGeom>
          <a:noFill/>
        </p:spPr>
        <p:txBody>
          <a:bodyPr wrap="square" lIns="0" rIns="0" tIns="0" bIns="0" anchor="t">
            <a:noAutofit/>
          </a:bodyPr>
          <a:lstStyle/>
          <a:p>
            <a:pPr algn="r"/>
            <a:r>
              <a:rPr sz="1800" b="0" i="0">
                <a:solidFill>
                  <a:srgbClr val="000000"/>
                </a:solidFill>
                <a:latin typeface="Roboto Mono"/>
              </a:rPr>
              <a:t>07</a:t>
            </a:r>
          </a:p>
        </p:txBody>
      </p:sp>
      <p:sp>
        <p:nvSpPr>
          <p:cNvPr id="9" name="Rectangle 8"/>
          <p:cNvSpPr/>
          <p:nvPr/>
        </p:nvSpPr>
        <p:spPr>
          <a:xfrm>
            <a:off x="475488" y="3154680"/>
            <a:ext cx="17337024" cy="5074920"/>
          </a:xfrm>
          <a:prstGeom prst="rect">
            <a:avLst/>
          </a:prstGeom>
          <a:solidFill>
            <a:srgbClr val="FFFFFF"/>
          </a:solidFill>
          <a:ln w="12700">
            <a:solidFill>
              <a:srgbClr val="000000"/>
            </a:solidFill>
          </a:ln>
        </p:spPr>
        <p:txBody>
          <a:bodyPr rtlCol="0" anchor="ctr"/>
          <a:lstStyle/>
          <a:p>
            <a:pPr algn="ctr"/>
          </a:p>
        </p:txBody>
      </p:sp>
      <p:pic>
        <p:nvPicPr>
          <p:cNvPr id="10" name="Picture 9" descr="book.png"/>
          <p:cNvPicPr>
            <a:picLocks noChangeAspect="1"/>
          </p:cNvPicPr>
          <p:nvPr/>
        </p:nvPicPr>
        <p:blipFill>
          <a:blip r:embed="rId3"/>
          <a:stretch>
            <a:fillRect/>
          </a:stretch>
        </p:blipFill>
        <p:spPr>
          <a:xfrm>
            <a:off x="795528" y="3429000"/>
            <a:ext cx="530352" cy="530352"/>
          </a:xfrm>
          <a:prstGeom prst="rect">
            <a:avLst/>
          </a:prstGeom>
        </p:spPr>
      </p:pic>
      <p:sp>
        <p:nvSpPr>
          <p:cNvPr id="11" name="TextBox 10"/>
          <p:cNvSpPr txBox="1"/>
          <p:nvPr/>
        </p:nvSpPr>
        <p:spPr>
          <a:xfrm>
            <a:off x="795528" y="4069080"/>
            <a:ext cx="5230368" cy="457200"/>
          </a:xfrm>
          <a:prstGeom prst="rect">
            <a:avLst/>
          </a:prstGeom>
          <a:noFill/>
        </p:spPr>
        <p:txBody>
          <a:bodyPr wrap="square" lIns="0" rIns="0" tIns="0" bIns="0" anchor="t">
            <a:noAutofit/>
          </a:bodyPr>
          <a:lstStyle/>
          <a:p>
            <a:pPr algn="l"/>
            <a:r>
              <a:rPr sz="2400" b="1" i="0">
                <a:solidFill>
                  <a:srgbClr val="000000"/>
                </a:solidFill>
                <a:latin typeface="Inter"/>
              </a:rPr>
              <a:t>Read lab information</a:t>
            </a:r>
          </a:p>
        </p:txBody>
      </p:sp>
      <p:sp>
        <p:nvSpPr>
          <p:cNvPr id="12" name="TextBox 11"/>
          <p:cNvSpPr txBox="1"/>
          <p:nvPr/>
        </p:nvSpPr>
        <p:spPr>
          <a:xfrm>
            <a:off x="795528" y="4526280"/>
            <a:ext cx="5184648" cy="1097280"/>
          </a:xfrm>
          <a:prstGeom prst="rect">
            <a:avLst/>
          </a:prstGeom>
          <a:noFill/>
        </p:spPr>
        <p:txBody>
          <a:bodyPr wrap="square" lIns="0" rIns="0" tIns="0" bIns="0" anchor="t">
            <a:noAutofit/>
          </a:bodyPr>
          <a:lstStyle/>
          <a:p>
            <a:pPr algn="l"/>
            <a:r>
              <a:rPr sz="1900" b="0" i="0">
                <a:solidFill>
                  <a:srgbClr val="2C2825"/>
                </a:solidFill>
                <a:latin typeface="Inter"/>
              </a:rPr>
              <a:t>Labs and departments, projects and funding codes, groups, and the people in each lab.</a:t>
            </a:r>
          </a:p>
        </p:txBody>
      </p:sp>
      <p:sp>
        <p:nvSpPr>
          <p:cNvPr id="13" name="Rectangle 12"/>
          <p:cNvSpPr/>
          <p:nvPr/>
        </p:nvSpPr>
        <p:spPr>
          <a:xfrm>
            <a:off x="6254496" y="3172968"/>
            <a:ext cx="10972" cy="5029200"/>
          </a:xfrm>
          <a:prstGeom prst="rect">
            <a:avLst/>
          </a:prstGeom>
          <a:solidFill>
            <a:srgbClr val="000000"/>
          </a:solidFill>
          <a:ln>
            <a:noFill/>
          </a:ln>
        </p:spPr>
        <p:txBody>
          <a:bodyPr rtlCol="0" anchor="ctr"/>
          <a:lstStyle/>
          <a:p>
            <a:pPr algn="ctr"/>
          </a:p>
        </p:txBody>
      </p:sp>
      <p:pic>
        <p:nvPicPr>
          <p:cNvPr id="14" name="Picture 13" descr="scope.png"/>
          <p:cNvPicPr>
            <a:picLocks noChangeAspect="1"/>
          </p:cNvPicPr>
          <p:nvPr/>
        </p:nvPicPr>
        <p:blipFill>
          <a:blip r:embed="rId4"/>
          <a:stretch>
            <a:fillRect/>
          </a:stretch>
        </p:blipFill>
        <p:spPr>
          <a:xfrm>
            <a:off x="6574536" y="3429000"/>
            <a:ext cx="530352" cy="530352"/>
          </a:xfrm>
          <a:prstGeom prst="rect">
            <a:avLst/>
          </a:prstGeom>
        </p:spPr>
      </p:pic>
      <p:sp>
        <p:nvSpPr>
          <p:cNvPr id="15" name="TextBox 14"/>
          <p:cNvSpPr txBox="1"/>
          <p:nvPr/>
        </p:nvSpPr>
        <p:spPr>
          <a:xfrm>
            <a:off x="6574536" y="4069080"/>
            <a:ext cx="5230368" cy="457200"/>
          </a:xfrm>
          <a:prstGeom prst="rect">
            <a:avLst/>
          </a:prstGeom>
          <a:noFill/>
        </p:spPr>
        <p:txBody>
          <a:bodyPr wrap="square" lIns="0" rIns="0" tIns="0" bIns="0" anchor="t">
            <a:noAutofit/>
          </a:bodyPr>
          <a:lstStyle/>
          <a:p>
            <a:pPr algn="l"/>
            <a:r>
              <a:rPr sz="2400" b="1" i="0">
                <a:solidFill>
                  <a:srgbClr val="000000"/>
                </a:solidFill>
                <a:latin typeface="Inter"/>
              </a:rPr>
              <a:t>Read equipment</a:t>
            </a:r>
          </a:p>
        </p:txBody>
      </p:sp>
      <p:sp>
        <p:nvSpPr>
          <p:cNvPr id="16" name="TextBox 15"/>
          <p:cNvSpPr txBox="1"/>
          <p:nvPr/>
        </p:nvSpPr>
        <p:spPr>
          <a:xfrm>
            <a:off x="6574536" y="4526280"/>
            <a:ext cx="5184648" cy="1097280"/>
          </a:xfrm>
          <a:prstGeom prst="rect">
            <a:avLst/>
          </a:prstGeom>
          <a:noFill/>
        </p:spPr>
        <p:txBody>
          <a:bodyPr wrap="square" lIns="0" rIns="0" tIns="0" bIns="0" anchor="t">
            <a:noAutofit/>
          </a:bodyPr>
          <a:lstStyle/>
          <a:p>
            <a:pPr algn="l"/>
            <a:r>
              <a:rPr sz="1900" b="0" i="0">
                <a:solidFill>
                  <a:srgbClr val="2C2825"/>
                </a:solidFill>
                <a:latin typeface="Inter"/>
              </a:rPr>
              <a:t>Equipment details, who can use it, its add-ons and contacts, and every booking on it.</a:t>
            </a:r>
          </a:p>
        </p:txBody>
      </p:sp>
      <p:sp>
        <p:nvSpPr>
          <p:cNvPr id="17" name="Rectangle 16"/>
          <p:cNvSpPr/>
          <p:nvPr/>
        </p:nvSpPr>
        <p:spPr>
          <a:xfrm>
            <a:off x="12033504" y="3172968"/>
            <a:ext cx="10972" cy="5029200"/>
          </a:xfrm>
          <a:prstGeom prst="rect">
            <a:avLst/>
          </a:prstGeom>
          <a:solidFill>
            <a:srgbClr val="000000"/>
          </a:solidFill>
          <a:ln>
            <a:noFill/>
          </a:ln>
        </p:spPr>
        <p:txBody>
          <a:bodyPr rtlCol="0" anchor="ctr"/>
          <a:lstStyle/>
          <a:p>
            <a:pPr algn="ctr"/>
          </a:p>
        </p:txBody>
      </p:sp>
      <p:pic>
        <p:nvPicPr>
          <p:cNvPr id="18" name="Picture 17" descr="cal.png"/>
          <p:cNvPicPr>
            <a:picLocks noChangeAspect="1"/>
          </p:cNvPicPr>
          <p:nvPr/>
        </p:nvPicPr>
        <p:blipFill>
          <a:blip r:embed="rId5"/>
          <a:stretch>
            <a:fillRect/>
          </a:stretch>
        </p:blipFill>
        <p:spPr>
          <a:xfrm>
            <a:off x="12353544" y="3429000"/>
            <a:ext cx="530352" cy="530352"/>
          </a:xfrm>
          <a:prstGeom prst="rect">
            <a:avLst/>
          </a:prstGeom>
        </p:spPr>
      </p:pic>
      <p:sp>
        <p:nvSpPr>
          <p:cNvPr id="19" name="TextBox 18"/>
          <p:cNvSpPr txBox="1"/>
          <p:nvPr/>
        </p:nvSpPr>
        <p:spPr>
          <a:xfrm>
            <a:off x="12353544" y="4069080"/>
            <a:ext cx="5230368" cy="457200"/>
          </a:xfrm>
          <a:prstGeom prst="rect">
            <a:avLst/>
          </a:prstGeom>
          <a:noFill/>
        </p:spPr>
        <p:txBody>
          <a:bodyPr wrap="square" lIns="0" rIns="0" tIns="0" bIns="0" anchor="t">
            <a:noAutofit/>
          </a:bodyPr>
          <a:lstStyle/>
          <a:p>
            <a:pPr algn="l"/>
            <a:r>
              <a:rPr sz="2400" b="1" i="0">
                <a:solidFill>
                  <a:srgbClr val="000000"/>
                </a:solidFill>
                <a:latin typeface="Inter"/>
              </a:rPr>
              <a:t>Read bookings</a:t>
            </a:r>
          </a:p>
        </p:txBody>
      </p:sp>
      <p:sp>
        <p:nvSpPr>
          <p:cNvPr id="20" name="TextBox 19"/>
          <p:cNvSpPr txBox="1"/>
          <p:nvPr/>
        </p:nvSpPr>
        <p:spPr>
          <a:xfrm>
            <a:off x="12353544" y="4526280"/>
            <a:ext cx="5184648" cy="1097280"/>
          </a:xfrm>
          <a:prstGeom prst="rect">
            <a:avLst/>
          </a:prstGeom>
          <a:noFill/>
        </p:spPr>
        <p:txBody>
          <a:bodyPr wrap="square" lIns="0" rIns="0" tIns="0" bIns="0" anchor="t">
            <a:noAutofit/>
          </a:bodyPr>
          <a:lstStyle/>
          <a:p>
            <a:pPr algn="l"/>
            <a:r>
              <a:rPr sz="1900" b="0" i="0">
                <a:solidFill>
                  <a:srgbClr val="2C2825"/>
                </a:solidFill>
                <a:latin typeface="Inter"/>
              </a:rPr>
              <a:t>All bookings, one booking in full, and the answers given on booking forms.</a:t>
            </a:r>
          </a:p>
        </p:txBody>
      </p:sp>
      <p:sp>
        <p:nvSpPr>
          <p:cNvPr id="21" name="Rectangle 20"/>
          <p:cNvSpPr/>
          <p:nvPr/>
        </p:nvSpPr>
        <p:spPr>
          <a:xfrm>
            <a:off x="475488" y="5692140"/>
            <a:ext cx="5779008" cy="10972"/>
          </a:xfrm>
          <a:prstGeom prst="rect">
            <a:avLst/>
          </a:prstGeom>
          <a:solidFill>
            <a:srgbClr val="000000"/>
          </a:solidFill>
          <a:ln>
            <a:noFill/>
          </a:ln>
        </p:spPr>
        <p:txBody>
          <a:bodyPr rtlCol="0" anchor="ctr"/>
          <a:lstStyle/>
          <a:p>
            <a:pPr algn="ctr"/>
          </a:p>
        </p:txBody>
      </p:sp>
      <p:pic>
        <p:nvPicPr>
          <p:cNvPr id="22" name="Picture 21" descr="plus.png"/>
          <p:cNvPicPr>
            <a:picLocks noChangeAspect="1"/>
          </p:cNvPicPr>
          <p:nvPr/>
        </p:nvPicPr>
        <p:blipFill>
          <a:blip r:embed="rId6"/>
          <a:stretch>
            <a:fillRect/>
          </a:stretch>
        </p:blipFill>
        <p:spPr>
          <a:xfrm>
            <a:off x="795528" y="5966459"/>
            <a:ext cx="530352" cy="530352"/>
          </a:xfrm>
          <a:prstGeom prst="rect">
            <a:avLst/>
          </a:prstGeom>
        </p:spPr>
      </p:pic>
      <p:sp>
        <p:nvSpPr>
          <p:cNvPr id="23" name="TextBox 22"/>
          <p:cNvSpPr txBox="1"/>
          <p:nvPr/>
        </p:nvSpPr>
        <p:spPr>
          <a:xfrm>
            <a:off x="795528" y="6606540"/>
            <a:ext cx="5230368" cy="457200"/>
          </a:xfrm>
          <a:prstGeom prst="rect">
            <a:avLst/>
          </a:prstGeom>
          <a:noFill/>
        </p:spPr>
        <p:txBody>
          <a:bodyPr wrap="square" lIns="0" rIns="0" tIns="0" bIns="0" anchor="t">
            <a:noAutofit/>
          </a:bodyPr>
          <a:lstStyle/>
          <a:p>
            <a:pPr algn="l"/>
            <a:r>
              <a:rPr sz="2400" b="1" i="0">
                <a:solidFill>
                  <a:srgbClr val="000000"/>
                </a:solidFill>
                <a:latin typeface="Inter"/>
              </a:rPr>
              <a:t>Create and update equipment</a:t>
            </a:r>
          </a:p>
        </p:txBody>
      </p:sp>
      <p:sp>
        <p:nvSpPr>
          <p:cNvPr id="24" name="TextBox 23"/>
          <p:cNvSpPr txBox="1"/>
          <p:nvPr/>
        </p:nvSpPr>
        <p:spPr>
          <a:xfrm>
            <a:off x="795528" y="7063740"/>
            <a:ext cx="5184648" cy="1097280"/>
          </a:xfrm>
          <a:prstGeom prst="rect">
            <a:avLst/>
          </a:prstGeom>
          <a:noFill/>
        </p:spPr>
        <p:txBody>
          <a:bodyPr wrap="square" lIns="0" rIns="0" tIns="0" bIns="0" anchor="t">
            <a:noAutofit/>
          </a:bodyPr>
          <a:lstStyle/>
          <a:p>
            <a:pPr algn="l"/>
            <a:r>
              <a:rPr sz="1900" b="0" i="0">
                <a:solidFill>
                  <a:srgbClr val="2C2825"/>
                </a:solidFill>
                <a:latin typeface="Inter"/>
              </a:rPr>
              <a:t>Add new equipment with photos and documents, and edit what is already there.</a:t>
            </a:r>
          </a:p>
        </p:txBody>
      </p:sp>
      <p:sp>
        <p:nvSpPr>
          <p:cNvPr id="25" name="Rectangle 24"/>
          <p:cNvSpPr/>
          <p:nvPr/>
        </p:nvSpPr>
        <p:spPr>
          <a:xfrm>
            <a:off x="6254496" y="3172968"/>
            <a:ext cx="10972" cy="5029200"/>
          </a:xfrm>
          <a:prstGeom prst="rect">
            <a:avLst/>
          </a:prstGeom>
          <a:solidFill>
            <a:srgbClr val="000000"/>
          </a:solidFill>
          <a:ln>
            <a:noFill/>
          </a:ln>
        </p:spPr>
        <p:txBody>
          <a:bodyPr rtlCol="0" anchor="ctr"/>
          <a:lstStyle/>
          <a:p>
            <a:pPr algn="ctr"/>
          </a:p>
        </p:txBody>
      </p:sp>
      <p:sp>
        <p:nvSpPr>
          <p:cNvPr id="26" name="Rectangle 25"/>
          <p:cNvSpPr/>
          <p:nvPr/>
        </p:nvSpPr>
        <p:spPr>
          <a:xfrm>
            <a:off x="6254496" y="5692140"/>
            <a:ext cx="5779008" cy="10972"/>
          </a:xfrm>
          <a:prstGeom prst="rect">
            <a:avLst/>
          </a:prstGeom>
          <a:solidFill>
            <a:srgbClr val="000000"/>
          </a:solidFill>
          <a:ln>
            <a:noFill/>
          </a:ln>
        </p:spPr>
        <p:txBody>
          <a:bodyPr rtlCol="0" anchor="ctr"/>
          <a:lstStyle/>
          <a:p>
            <a:pPr algn="ctr"/>
          </a:p>
        </p:txBody>
      </p:sp>
      <p:pic>
        <p:nvPicPr>
          <p:cNvPr id="27" name="Picture 26" descr="pencil.png"/>
          <p:cNvPicPr>
            <a:picLocks noChangeAspect="1"/>
          </p:cNvPicPr>
          <p:nvPr/>
        </p:nvPicPr>
        <p:blipFill>
          <a:blip r:embed="rId7"/>
          <a:stretch>
            <a:fillRect/>
          </a:stretch>
        </p:blipFill>
        <p:spPr>
          <a:xfrm>
            <a:off x="6574536" y="5966459"/>
            <a:ext cx="530352" cy="530352"/>
          </a:xfrm>
          <a:prstGeom prst="rect">
            <a:avLst/>
          </a:prstGeom>
        </p:spPr>
      </p:pic>
      <p:sp>
        <p:nvSpPr>
          <p:cNvPr id="28" name="TextBox 27"/>
          <p:cNvSpPr txBox="1"/>
          <p:nvPr/>
        </p:nvSpPr>
        <p:spPr>
          <a:xfrm>
            <a:off x="6574536" y="6606540"/>
            <a:ext cx="5230368" cy="457200"/>
          </a:xfrm>
          <a:prstGeom prst="rect">
            <a:avLst/>
          </a:prstGeom>
          <a:noFill/>
        </p:spPr>
        <p:txBody>
          <a:bodyPr wrap="square" lIns="0" rIns="0" tIns="0" bIns="0" anchor="t">
            <a:noAutofit/>
          </a:bodyPr>
          <a:lstStyle/>
          <a:p>
            <a:pPr algn="l"/>
            <a:r>
              <a:rPr sz="2400" b="1" i="0">
                <a:solidFill>
                  <a:srgbClr val="000000"/>
                </a:solidFill>
                <a:latin typeface="Inter"/>
              </a:rPr>
              <a:t>Create and update bookings</a:t>
            </a:r>
          </a:p>
        </p:txBody>
      </p:sp>
      <p:sp>
        <p:nvSpPr>
          <p:cNvPr id="29" name="TextBox 28"/>
          <p:cNvSpPr txBox="1"/>
          <p:nvPr/>
        </p:nvSpPr>
        <p:spPr>
          <a:xfrm>
            <a:off x="6574536" y="7063740"/>
            <a:ext cx="5184648" cy="1097280"/>
          </a:xfrm>
          <a:prstGeom prst="rect">
            <a:avLst/>
          </a:prstGeom>
          <a:noFill/>
        </p:spPr>
        <p:txBody>
          <a:bodyPr wrap="square" lIns="0" rIns="0" tIns="0" bIns="0" anchor="t">
            <a:noAutofit/>
          </a:bodyPr>
          <a:lstStyle/>
          <a:p>
            <a:pPr algn="l"/>
            <a:r>
              <a:rPr sz="1900" b="0" i="0">
                <a:solidFill>
                  <a:srgbClr val="2C2825"/>
                </a:solidFill>
                <a:latin typeface="Inter"/>
              </a:rPr>
              <a:t>Find free time, create a booking, then change its times, projects or add-ons.</a:t>
            </a:r>
          </a:p>
        </p:txBody>
      </p:sp>
      <p:sp>
        <p:nvSpPr>
          <p:cNvPr id="30" name="Rectangle 29"/>
          <p:cNvSpPr/>
          <p:nvPr/>
        </p:nvSpPr>
        <p:spPr>
          <a:xfrm>
            <a:off x="12033504" y="3172968"/>
            <a:ext cx="10972" cy="5029200"/>
          </a:xfrm>
          <a:prstGeom prst="rect">
            <a:avLst/>
          </a:prstGeom>
          <a:solidFill>
            <a:srgbClr val="000000"/>
          </a:solidFill>
          <a:ln>
            <a:noFill/>
          </a:ln>
        </p:spPr>
        <p:txBody>
          <a:bodyPr rtlCol="0" anchor="ctr"/>
          <a:lstStyle/>
          <a:p>
            <a:pPr algn="ctr"/>
          </a:p>
        </p:txBody>
      </p:sp>
      <p:sp>
        <p:nvSpPr>
          <p:cNvPr id="31" name="Rectangle 30"/>
          <p:cNvSpPr/>
          <p:nvPr/>
        </p:nvSpPr>
        <p:spPr>
          <a:xfrm>
            <a:off x="12033504" y="5692140"/>
            <a:ext cx="5779008" cy="10972"/>
          </a:xfrm>
          <a:prstGeom prst="rect">
            <a:avLst/>
          </a:prstGeom>
          <a:solidFill>
            <a:srgbClr val="000000"/>
          </a:solidFill>
          <a:ln>
            <a:noFill/>
          </a:ln>
        </p:spPr>
        <p:txBody>
          <a:bodyPr rtlCol="0" anchor="ctr"/>
          <a:lstStyle/>
          <a:p>
            <a:pPr algn="ctr"/>
          </a:p>
        </p:txBody>
      </p:sp>
      <p:pic>
        <p:nvPicPr>
          <p:cNvPr id="32" name="Picture 31" descr="note.png"/>
          <p:cNvPicPr>
            <a:picLocks noChangeAspect="1"/>
          </p:cNvPicPr>
          <p:nvPr/>
        </p:nvPicPr>
        <p:blipFill>
          <a:blip r:embed="rId8"/>
          <a:stretch>
            <a:fillRect/>
          </a:stretch>
        </p:blipFill>
        <p:spPr>
          <a:xfrm>
            <a:off x="12353544" y="5966459"/>
            <a:ext cx="530352" cy="530352"/>
          </a:xfrm>
          <a:prstGeom prst="rect">
            <a:avLst/>
          </a:prstGeom>
        </p:spPr>
      </p:pic>
      <p:sp>
        <p:nvSpPr>
          <p:cNvPr id="33" name="TextBox 32"/>
          <p:cNvSpPr txBox="1"/>
          <p:nvPr/>
        </p:nvSpPr>
        <p:spPr>
          <a:xfrm>
            <a:off x="12353544" y="6606540"/>
            <a:ext cx="5230368" cy="457200"/>
          </a:xfrm>
          <a:prstGeom prst="rect">
            <a:avLst/>
          </a:prstGeom>
          <a:noFill/>
        </p:spPr>
        <p:txBody>
          <a:bodyPr wrap="square" lIns="0" rIns="0" tIns="0" bIns="0" anchor="t">
            <a:noAutofit/>
          </a:bodyPr>
          <a:lstStyle/>
          <a:p>
            <a:pPr algn="l"/>
            <a:r>
              <a:rPr sz="2400" b="1" i="0">
                <a:solidFill>
                  <a:srgbClr val="000000"/>
                </a:solidFill>
                <a:latin typeface="Inter"/>
              </a:rPr>
              <a:t>Notes, files and invitations</a:t>
            </a:r>
          </a:p>
        </p:txBody>
      </p:sp>
      <p:sp>
        <p:nvSpPr>
          <p:cNvPr id="34" name="TextBox 33"/>
          <p:cNvSpPr txBox="1"/>
          <p:nvPr/>
        </p:nvSpPr>
        <p:spPr>
          <a:xfrm>
            <a:off x="12353544" y="7063740"/>
            <a:ext cx="5184648" cy="1097280"/>
          </a:xfrm>
          <a:prstGeom prst="rect">
            <a:avLst/>
          </a:prstGeom>
          <a:noFill/>
        </p:spPr>
        <p:txBody>
          <a:bodyPr wrap="square" lIns="0" rIns="0" tIns="0" bIns="0" anchor="t">
            <a:noAutofit/>
          </a:bodyPr>
          <a:lstStyle/>
          <a:p>
            <a:pPr algn="l"/>
            <a:r>
              <a:rPr sz="1900" b="0" i="0">
                <a:solidFill>
                  <a:srgbClr val="2C2825"/>
                </a:solidFill>
                <a:latin typeface="Inter"/>
              </a:rPr>
              <a:t>Add notes to a booking with files attached, and accept or decline group invitations.</a:t>
            </a:r>
          </a:p>
        </p:txBody>
      </p:sp>
      <p:sp>
        <p:nvSpPr>
          <p:cNvPr id="35" name="TextBox 34"/>
          <p:cNvSpPr txBox="1"/>
          <p:nvPr/>
        </p:nvSpPr>
        <p:spPr>
          <a:xfrm>
            <a:off x="475488" y="8412480"/>
            <a:ext cx="17337024" cy="365760"/>
          </a:xfrm>
          <a:prstGeom prst="rect">
            <a:avLst/>
          </a:prstGeom>
          <a:noFill/>
        </p:spPr>
        <p:txBody>
          <a:bodyPr wrap="square" lIns="0" rIns="0" tIns="0" bIns="0" anchor="t">
            <a:noAutofit/>
          </a:bodyPr>
          <a:lstStyle/>
          <a:p>
            <a:pPr algn="l"/>
            <a:r>
              <a:rPr sz="1600" b="0" i="0">
                <a:solidFill>
                  <a:srgbClr val="5A574F"/>
                </a:solidFill>
                <a:latin typeface="Roboto Mono"/>
              </a:rPr>
              <a:t>26 ENDPOINTS  ·  READING NEEDS 'READ' PERMISSIONS  ·  CHANGING THINGS NEEDS 'WRITE' PERMISSIONS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E8FC2E"/>
        </a:solidFill>
        <a:effectLst/>
      </p:bgPr>
    </p:bg>
    <p:spTree>
      <p:nvGrpSpPr>
        <p:cNvPr id="1" name=""/>
        <p:cNvGrpSpPr/>
        <p:nvPr/>
      </p:nvGrpSpPr>
      <p:grpSpPr/>
      <p:sp>
        <p:nvSpPr>
          <p:cNvPr id="2" name="Rounded Rectangle 1"/>
          <p:cNvSpPr/>
          <p:nvPr/>
        </p:nvSpPr>
        <p:spPr>
          <a:xfrm>
            <a:off x="457200" y="457200"/>
            <a:ext cx="2743200" cy="475488"/>
          </a:xfrm>
          <a:prstGeom prst="roundRect">
            <a:avLst>
              <a:gd name="adj" fmla="val 50000"/>
            </a:avLst>
          </a:prstGeom>
          <a:solidFill>
            <a:srgbClr val="FFFFFF"/>
          </a:solidFill>
          <a:ln w="12700">
            <a:solidFill>
              <a:srgbClr val="000000"/>
            </a:solidFill>
          </a:ln>
        </p:spPr>
        <p:txBody>
          <a:bodyPr rtlCol="0" anchor="ctr" wrap="none" lIns="0" rIns="0" tIns="0" bIns="0">
            <a:noAutofit/>
          </a:bodyPr>
          <a:lstStyle/>
          <a:p>
            <a:pPr algn="ctr"/>
            <a:r>
              <a:rPr sz="1600" b="1" i="0">
                <a:solidFill>
                  <a:srgbClr val="000000"/>
                </a:solidFill>
                <a:latin typeface="Roboto Mono"/>
              </a:rPr>
              <a:t>PART 2 OF 5</a:t>
            </a:r>
          </a:p>
        </p:txBody>
      </p:sp>
      <p:sp>
        <p:nvSpPr>
          <p:cNvPr id="3" name="Title"/>
          <p:cNvSpPr txBox="1"/>
          <p:nvPr/>
        </p:nvSpPr>
        <p:spPr>
          <a:xfrm>
            <a:off x="457200" y="2194560"/>
            <a:ext cx="10241280" cy="4754880"/>
          </a:xfrm>
          <a:prstGeom prst="rect">
            <a:avLst/>
          </a:prstGeom>
          <a:noFill/>
        </p:spPr>
        <p:txBody>
          <a:bodyPr wrap="square" lIns="0" rIns="0" tIns="0" bIns="0" anchor="ctr">
            <a:noAutofit/>
          </a:bodyPr>
          <a:lstStyle/>
          <a:p>
            <a:pPr algn="l">
              <a:lnSpc>
                <a:spcPct val="92000"/>
              </a:lnSpc>
            </a:pPr>
            <a:r>
              <a:rPr sz="7600" b="1" i="0">
                <a:solidFill>
                  <a:srgbClr val="000000"/>
                </a:solidFill>
                <a:latin typeface="Inter"/>
              </a:rPr>
              <a:t>How requests and answers work</a:t>
            </a:r>
          </a:p>
        </p:txBody>
      </p:sp>
      <p:sp>
        <p:nvSpPr>
          <p:cNvPr id="4" name="TextBox 3"/>
          <p:cNvSpPr txBox="1"/>
          <p:nvPr/>
        </p:nvSpPr>
        <p:spPr>
          <a:xfrm>
            <a:off x="457200" y="7223760"/>
            <a:ext cx="10424160" cy="365760"/>
          </a:xfrm>
          <a:prstGeom prst="rect">
            <a:avLst/>
          </a:prstGeom>
          <a:noFill/>
        </p:spPr>
        <p:txBody>
          <a:bodyPr wrap="square" lIns="0" rIns="0" tIns="0" bIns="0" anchor="t">
            <a:noAutofit/>
          </a:bodyPr>
          <a:lstStyle/>
          <a:p>
            <a:pPr algn="l"/>
            <a:r>
              <a:rPr sz="2000" b="0" i="0">
                <a:solidFill>
                  <a:srgbClr val="000000"/>
                </a:solidFill>
                <a:latin typeface="Roboto Mono"/>
              </a:rPr>
              <a:t>15 MIN  ·  6 SLIDES</a:t>
            </a:r>
          </a:p>
        </p:txBody>
      </p:sp>
      <p:sp>
        <p:nvSpPr>
          <p:cNvPr id="5" name="TextBox 4"/>
          <p:cNvSpPr txBox="1"/>
          <p:nvPr/>
        </p:nvSpPr>
        <p:spPr>
          <a:xfrm>
            <a:off x="11384280" y="2468880"/>
            <a:ext cx="640080" cy="457200"/>
          </a:xfrm>
          <a:prstGeom prst="rect">
            <a:avLst/>
          </a:prstGeom>
          <a:noFill/>
        </p:spPr>
        <p:txBody>
          <a:bodyPr wrap="square" lIns="0" rIns="0" tIns="0" bIns="0" anchor="ctr">
            <a:noAutofit/>
          </a:bodyPr>
          <a:lstStyle/>
          <a:p>
            <a:pPr algn="l"/>
            <a:r>
              <a:rPr sz="2000" b="0" i="0">
                <a:solidFill>
                  <a:srgbClr val="5C6410"/>
                </a:solidFill>
                <a:latin typeface="Roboto Mono"/>
              </a:rPr>
              <a:t>01</a:t>
            </a:r>
          </a:p>
        </p:txBody>
      </p:sp>
      <p:sp>
        <p:nvSpPr>
          <p:cNvPr id="6" name="TextBox 5"/>
          <p:cNvSpPr txBox="1"/>
          <p:nvPr/>
        </p:nvSpPr>
        <p:spPr>
          <a:xfrm>
            <a:off x="12115800" y="2395728"/>
            <a:ext cx="4572000" cy="676656"/>
          </a:xfrm>
          <a:prstGeom prst="rect">
            <a:avLst/>
          </a:prstGeom>
          <a:noFill/>
        </p:spPr>
        <p:txBody>
          <a:bodyPr wrap="square" lIns="0" rIns="0" tIns="0" bIns="0" anchor="ctr">
            <a:noAutofit/>
          </a:bodyPr>
          <a:lstStyle/>
          <a:p>
            <a:pPr algn="l"/>
            <a:r>
              <a:rPr sz="2200" b="0" i="0">
                <a:solidFill>
                  <a:srgbClr val="5C6410"/>
                </a:solidFill>
                <a:latin typeface="Inter"/>
              </a:rPr>
              <a:t>What an API is, in plain English</a:t>
            </a:r>
          </a:p>
        </p:txBody>
      </p:sp>
      <p:sp>
        <p:nvSpPr>
          <p:cNvPr id="7" name="TextBox 6"/>
          <p:cNvSpPr txBox="1"/>
          <p:nvPr/>
        </p:nvSpPr>
        <p:spPr>
          <a:xfrm>
            <a:off x="16642080" y="2468880"/>
            <a:ext cx="1005840" cy="457200"/>
          </a:xfrm>
          <a:prstGeom prst="rect">
            <a:avLst/>
          </a:prstGeom>
          <a:noFill/>
        </p:spPr>
        <p:txBody>
          <a:bodyPr wrap="square" lIns="0" rIns="0" tIns="0" bIns="0" anchor="ctr">
            <a:noAutofit/>
          </a:bodyPr>
          <a:lstStyle/>
          <a:p>
            <a:pPr algn="r"/>
            <a:r>
              <a:rPr sz="1600" b="0" i="0">
                <a:solidFill>
                  <a:srgbClr val="5C6410"/>
                </a:solidFill>
                <a:latin typeface="Roboto Mono"/>
              </a:rPr>
              <a:t>10 MIN</a:t>
            </a:r>
          </a:p>
        </p:txBody>
      </p:sp>
      <p:sp>
        <p:nvSpPr>
          <p:cNvPr id="8" name="Rectangle 7"/>
          <p:cNvSpPr/>
          <p:nvPr/>
        </p:nvSpPr>
        <p:spPr>
          <a:xfrm>
            <a:off x="11155680" y="3346704"/>
            <a:ext cx="6675120" cy="896112"/>
          </a:xfrm>
          <a:prstGeom prst="rect">
            <a:avLst/>
          </a:prstGeom>
          <a:solidFill>
            <a:srgbClr val="FFFFFF"/>
          </a:solidFill>
          <a:ln w="15875">
            <a:solidFill>
              <a:srgbClr val="000000"/>
            </a:solidFill>
          </a:ln>
        </p:spPr>
        <p:txBody>
          <a:bodyPr rtlCol="0" anchor="ctr"/>
          <a:lstStyle/>
          <a:p>
            <a:pPr algn="ctr"/>
          </a:p>
        </p:txBody>
      </p:sp>
      <p:sp>
        <p:nvSpPr>
          <p:cNvPr id="9" name="TextBox 8"/>
          <p:cNvSpPr txBox="1"/>
          <p:nvPr/>
        </p:nvSpPr>
        <p:spPr>
          <a:xfrm>
            <a:off x="11384280" y="3547872"/>
            <a:ext cx="640080" cy="457200"/>
          </a:xfrm>
          <a:prstGeom prst="rect">
            <a:avLst/>
          </a:prstGeom>
          <a:noFill/>
        </p:spPr>
        <p:txBody>
          <a:bodyPr wrap="square" lIns="0" rIns="0" tIns="0" bIns="0" anchor="ctr">
            <a:noAutofit/>
          </a:bodyPr>
          <a:lstStyle/>
          <a:p>
            <a:pPr algn="l"/>
            <a:r>
              <a:rPr sz="2000" b="0" i="0">
                <a:solidFill>
                  <a:srgbClr val="000000"/>
                </a:solidFill>
                <a:latin typeface="Roboto Mono"/>
              </a:rPr>
              <a:t>02</a:t>
            </a:r>
          </a:p>
        </p:txBody>
      </p:sp>
      <p:sp>
        <p:nvSpPr>
          <p:cNvPr id="10" name="TextBox 9"/>
          <p:cNvSpPr txBox="1"/>
          <p:nvPr/>
        </p:nvSpPr>
        <p:spPr>
          <a:xfrm>
            <a:off x="12115800" y="3474720"/>
            <a:ext cx="4572000" cy="676656"/>
          </a:xfrm>
          <a:prstGeom prst="rect">
            <a:avLst/>
          </a:prstGeom>
          <a:noFill/>
        </p:spPr>
        <p:txBody>
          <a:bodyPr wrap="square" lIns="0" rIns="0" tIns="0" bIns="0" anchor="ctr">
            <a:noAutofit/>
          </a:bodyPr>
          <a:lstStyle/>
          <a:p>
            <a:pPr algn="l"/>
            <a:r>
              <a:rPr sz="2200" b="1" i="0">
                <a:solidFill>
                  <a:srgbClr val="000000"/>
                </a:solidFill>
                <a:latin typeface="Inter"/>
              </a:rPr>
              <a:t>How requests and answers work</a:t>
            </a:r>
          </a:p>
        </p:txBody>
      </p:sp>
      <p:sp>
        <p:nvSpPr>
          <p:cNvPr id="11" name="TextBox 10"/>
          <p:cNvSpPr txBox="1"/>
          <p:nvPr/>
        </p:nvSpPr>
        <p:spPr>
          <a:xfrm>
            <a:off x="16642080" y="3547872"/>
            <a:ext cx="1005840" cy="457200"/>
          </a:xfrm>
          <a:prstGeom prst="rect">
            <a:avLst/>
          </a:prstGeom>
          <a:noFill/>
        </p:spPr>
        <p:txBody>
          <a:bodyPr wrap="square" lIns="0" rIns="0" tIns="0" bIns="0" anchor="ctr">
            <a:noAutofit/>
          </a:bodyPr>
          <a:lstStyle/>
          <a:p>
            <a:pPr algn="r"/>
            <a:r>
              <a:rPr sz="1600" b="0" i="0">
                <a:solidFill>
                  <a:srgbClr val="000000"/>
                </a:solidFill>
                <a:latin typeface="Roboto Mono"/>
              </a:rPr>
              <a:t>15 MIN</a:t>
            </a:r>
          </a:p>
        </p:txBody>
      </p:sp>
      <p:sp>
        <p:nvSpPr>
          <p:cNvPr id="12" name="TextBox 11"/>
          <p:cNvSpPr txBox="1"/>
          <p:nvPr/>
        </p:nvSpPr>
        <p:spPr>
          <a:xfrm>
            <a:off x="11384280" y="4626864"/>
            <a:ext cx="640080" cy="457200"/>
          </a:xfrm>
          <a:prstGeom prst="rect">
            <a:avLst/>
          </a:prstGeom>
          <a:noFill/>
        </p:spPr>
        <p:txBody>
          <a:bodyPr wrap="square" lIns="0" rIns="0" tIns="0" bIns="0" anchor="ctr">
            <a:noAutofit/>
          </a:bodyPr>
          <a:lstStyle/>
          <a:p>
            <a:pPr algn="l"/>
            <a:r>
              <a:rPr sz="2000" b="0" i="0">
                <a:solidFill>
                  <a:srgbClr val="5C6410"/>
                </a:solidFill>
                <a:latin typeface="Roboto Mono"/>
              </a:rPr>
              <a:t>03</a:t>
            </a:r>
          </a:p>
        </p:txBody>
      </p:sp>
      <p:sp>
        <p:nvSpPr>
          <p:cNvPr id="13" name="TextBox 12"/>
          <p:cNvSpPr txBox="1"/>
          <p:nvPr/>
        </p:nvSpPr>
        <p:spPr>
          <a:xfrm>
            <a:off x="12115800" y="4553712"/>
            <a:ext cx="4572000" cy="676656"/>
          </a:xfrm>
          <a:prstGeom prst="rect">
            <a:avLst/>
          </a:prstGeom>
          <a:noFill/>
        </p:spPr>
        <p:txBody>
          <a:bodyPr wrap="square" lIns="0" rIns="0" tIns="0" bIns="0" anchor="ctr">
            <a:noAutofit/>
          </a:bodyPr>
          <a:lstStyle/>
          <a:p>
            <a:pPr algn="l"/>
            <a:r>
              <a:rPr sz="2200" b="0" i="0">
                <a:solidFill>
                  <a:srgbClr val="5C6410"/>
                </a:solidFill>
                <a:latin typeface="Inter"/>
              </a:rPr>
              <a:t>Getting a customer connected</a:t>
            </a:r>
          </a:p>
        </p:txBody>
      </p:sp>
      <p:sp>
        <p:nvSpPr>
          <p:cNvPr id="14" name="TextBox 13"/>
          <p:cNvSpPr txBox="1"/>
          <p:nvPr/>
        </p:nvSpPr>
        <p:spPr>
          <a:xfrm>
            <a:off x="16642080" y="4626864"/>
            <a:ext cx="1005840" cy="457200"/>
          </a:xfrm>
          <a:prstGeom prst="rect">
            <a:avLst/>
          </a:prstGeom>
          <a:noFill/>
        </p:spPr>
        <p:txBody>
          <a:bodyPr wrap="square" lIns="0" rIns="0" tIns="0" bIns="0" anchor="ctr">
            <a:noAutofit/>
          </a:bodyPr>
          <a:lstStyle/>
          <a:p>
            <a:pPr algn="r"/>
            <a:r>
              <a:rPr sz="1600" b="0" i="0">
                <a:solidFill>
                  <a:srgbClr val="5C6410"/>
                </a:solidFill>
                <a:latin typeface="Roboto Mono"/>
              </a:rPr>
              <a:t>10 MIN</a:t>
            </a:r>
          </a:p>
        </p:txBody>
      </p:sp>
      <p:sp>
        <p:nvSpPr>
          <p:cNvPr id="15" name="TextBox 14"/>
          <p:cNvSpPr txBox="1"/>
          <p:nvPr/>
        </p:nvSpPr>
        <p:spPr>
          <a:xfrm>
            <a:off x="11384280" y="5705855"/>
            <a:ext cx="640080" cy="457200"/>
          </a:xfrm>
          <a:prstGeom prst="rect">
            <a:avLst/>
          </a:prstGeom>
          <a:noFill/>
        </p:spPr>
        <p:txBody>
          <a:bodyPr wrap="square" lIns="0" rIns="0" tIns="0" bIns="0" anchor="ctr">
            <a:noAutofit/>
          </a:bodyPr>
          <a:lstStyle/>
          <a:p>
            <a:pPr algn="l"/>
            <a:r>
              <a:rPr sz="2000" b="0" i="0">
                <a:solidFill>
                  <a:srgbClr val="5C6410"/>
                </a:solidFill>
                <a:latin typeface="Roboto Mono"/>
              </a:rPr>
              <a:t>04</a:t>
            </a:r>
          </a:p>
        </p:txBody>
      </p:sp>
      <p:sp>
        <p:nvSpPr>
          <p:cNvPr id="16" name="TextBox 15"/>
          <p:cNvSpPr txBox="1"/>
          <p:nvPr/>
        </p:nvSpPr>
        <p:spPr>
          <a:xfrm>
            <a:off x="12115800" y="5632703"/>
            <a:ext cx="4572000" cy="676656"/>
          </a:xfrm>
          <a:prstGeom prst="rect">
            <a:avLst/>
          </a:prstGeom>
          <a:noFill/>
        </p:spPr>
        <p:txBody>
          <a:bodyPr wrap="square" lIns="0" rIns="0" tIns="0" bIns="0" anchor="ctr">
            <a:noAutofit/>
          </a:bodyPr>
          <a:lstStyle/>
          <a:p>
            <a:pPr algn="l"/>
            <a:r>
              <a:rPr sz="2200" b="0" i="0">
                <a:solidFill>
                  <a:srgbClr val="5C6410"/>
                </a:solidFill>
                <a:latin typeface="Inter"/>
              </a:rPr>
              <a:t>Hands-on with Postman</a:t>
            </a:r>
          </a:p>
        </p:txBody>
      </p:sp>
      <p:sp>
        <p:nvSpPr>
          <p:cNvPr id="17" name="TextBox 16"/>
          <p:cNvSpPr txBox="1"/>
          <p:nvPr/>
        </p:nvSpPr>
        <p:spPr>
          <a:xfrm>
            <a:off x="16642080" y="5705855"/>
            <a:ext cx="1005840" cy="457200"/>
          </a:xfrm>
          <a:prstGeom prst="rect">
            <a:avLst/>
          </a:prstGeom>
          <a:noFill/>
        </p:spPr>
        <p:txBody>
          <a:bodyPr wrap="square" lIns="0" rIns="0" tIns="0" bIns="0" anchor="ctr">
            <a:noAutofit/>
          </a:bodyPr>
          <a:lstStyle/>
          <a:p>
            <a:pPr algn="r"/>
            <a:r>
              <a:rPr sz="1600" b="0" i="0">
                <a:solidFill>
                  <a:srgbClr val="5C6410"/>
                </a:solidFill>
                <a:latin typeface="Roboto Mono"/>
              </a:rPr>
              <a:t>30 MIN</a:t>
            </a:r>
          </a:p>
        </p:txBody>
      </p:sp>
      <p:sp>
        <p:nvSpPr>
          <p:cNvPr id="18" name="TextBox 17"/>
          <p:cNvSpPr txBox="1"/>
          <p:nvPr/>
        </p:nvSpPr>
        <p:spPr>
          <a:xfrm>
            <a:off x="11384280" y="6784847"/>
            <a:ext cx="640080" cy="457200"/>
          </a:xfrm>
          <a:prstGeom prst="rect">
            <a:avLst/>
          </a:prstGeom>
          <a:noFill/>
        </p:spPr>
        <p:txBody>
          <a:bodyPr wrap="square" lIns="0" rIns="0" tIns="0" bIns="0" anchor="ctr">
            <a:noAutofit/>
          </a:bodyPr>
          <a:lstStyle/>
          <a:p>
            <a:pPr algn="l"/>
            <a:r>
              <a:rPr sz="2000" b="0" i="0">
                <a:solidFill>
                  <a:srgbClr val="5C6410"/>
                </a:solidFill>
                <a:latin typeface="Roboto Mono"/>
              </a:rPr>
              <a:t>05</a:t>
            </a:r>
          </a:p>
        </p:txBody>
      </p:sp>
      <p:sp>
        <p:nvSpPr>
          <p:cNvPr id="19" name="TextBox 18"/>
          <p:cNvSpPr txBox="1"/>
          <p:nvPr/>
        </p:nvSpPr>
        <p:spPr>
          <a:xfrm>
            <a:off x="12115800" y="6711695"/>
            <a:ext cx="4572000" cy="676656"/>
          </a:xfrm>
          <a:prstGeom prst="rect">
            <a:avLst/>
          </a:prstGeom>
          <a:noFill/>
        </p:spPr>
        <p:txBody>
          <a:bodyPr wrap="square" lIns="0" rIns="0" tIns="0" bIns="0" anchor="ctr">
            <a:noAutofit/>
          </a:bodyPr>
          <a:lstStyle/>
          <a:p>
            <a:pPr algn="l"/>
            <a:r>
              <a:rPr sz="2200" b="0" i="0">
                <a:solidFill>
                  <a:srgbClr val="5C6410"/>
                </a:solidFill>
                <a:latin typeface="Inter"/>
              </a:rPr>
              <a:t>Pitching the API and practice</a:t>
            </a:r>
          </a:p>
        </p:txBody>
      </p:sp>
      <p:sp>
        <p:nvSpPr>
          <p:cNvPr id="20" name="TextBox 19"/>
          <p:cNvSpPr txBox="1"/>
          <p:nvPr/>
        </p:nvSpPr>
        <p:spPr>
          <a:xfrm>
            <a:off x="16642080" y="6784847"/>
            <a:ext cx="1005840" cy="457200"/>
          </a:xfrm>
          <a:prstGeom prst="rect">
            <a:avLst/>
          </a:prstGeom>
          <a:noFill/>
        </p:spPr>
        <p:txBody>
          <a:bodyPr wrap="square" lIns="0" rIns="0" tIns="0" bIns="0" anchor="ctr">
            <a:noAutofit/>
          </a:bodyPr>
          <a:lstStyle/>
          <a:p>
            <a:pPr algn="r"/>
            <a:r>
              <a:rPr sz="1600" b="0" i="0">
                <a:solidFill>
                  <a:srgbClr val="5C6410"/>
                </a:solidFill>
                <a:latin typeface="Roboto Mono"/>
              </a:rPr>
              <a:t>10 MIN</a:t>
            </a:r>
          </a:p>
        </p:txBody>
      </p:sp>
      <p:pic>
        <p:nvPicPr>
          <p:cNvPr id="21" name="Picture 20" descr="s5_1.png"/>
          <p:cNvPicPr>
            <a:picLocks noChangeAspect="1"/>
          </p:cNvPicPr>
          <p:nvPr/>
        </p:nvPicPr>
        <p:blipFill>
          <a:blip r:embed="rId2"/>
          <a:stretch>
            <a:fillRect/>
          </a:stretch>
        </p:blipFill>
        <p:spPr>
          <a:xfrm>
            <a:off x="457200" y="9701784"/>
            <a:ext cx="1344168" cy="310896"/>
          </a:xfrm>
          <a:prstGeom prst="rect">
            <a:avLst/>
          </a:prstGeom>
        </p:spPr>
      </p:pic>
      <p:sp>
        <p:nvSpPr>
          <p:cNvPr id="22" name="TextBox 21"/>
          <p:cNvSpPr txBox="1"/>
          <p:nvPr/>
        </p:nvSpPr>
        <p:spPr>
          <a:xfrm>
            <a:off x="15983712" y="9692640"/>
            <a:ext cx="1828800" cy="338328"/>
          </a:xfrm>
          <a:prstGeom prst="rect">
            <a:avLst/>
          </a:prstGeom>
          <a:noFill/>
        </p:spPr>
        <p:txBody>
          <a:bodyPr wrap="square" lIns="0" rIns="0" tIns="0" bIns="0" anchor="t">
            <a:noAutofit/>
          </a:bodyPr>
          <a:lstStyle/>
          <a:p>
            <a:pPr algn="r"/>
            <a:r>
              <a:rPr sz="1800" b="0" i="0">
                <a:solidFill>
                  <a:srgbClr val="000000"/>
                </a:solidFill>
                <a:latin typeface="Roboto Mono"/>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ED"/>
        </a:solidFill>
        <a:effectLst/>
      </p:bgPr>
    </p:bg>
    <p:spTree>
      <p:nvGrpSpPr>
        <p:cNvPr id="1" name=""/>
        <p:cNvGrpSpPr/>
        <p:nvPr/>
      </p:nvGrpSpPr>
      <p:grpSpPr/>
      <p:pic>
        <p:nvPicPr>
          <p:cNvPr id="2" name="Picture 1" descr="s1_0.png"/>
          <p:cNvPicPr>
            <a:picLocks noChangeAspect="1"/>
          </p:cNvPicPr>
          <p:nvPr/>
        </p:nvPicPr>
        <p:blipFill>
          <a:blip r:embed="rId2"/>
          <a:stretch>
            <a:fillRect/>
          </a:stretch>
        </p:blipFill>
        <p:spPr>
          <a:xfrm>
            <a:off x="475488" y="594360"/>
            <a:ext cx="1655064" cy="384048"/>
          </a:xfrm>
          <a:prstGeom prst="rect">
            <a:avLst/>
          </a:prstGeom>
        </p:spPr>
      </p:pic>
      <p:sp>
        <p:nvSpPr>
          <p:cNvPr id="3" name="Rectangle 2"/>
          <p:cNvSpPr/>
          <p:nvPr/>
        </p:nvSpPr>
        <p:spPr>
          <a:xfrm>
            <a:off x="2441448" y="777240"/>
            <a:ext cx="15371064" cy="10972"/>
          </a:xfrm>
          <a:prstGeom prst="rect">
            <a:avLst/>
          </a:prstGeom>
          <a:solidFill>
            <a:srgbClr val="000000"/>
          </a:solidFill>
          <a:ln>
            <a:noFill/>
          </a:ln>
        </p:spPr>
        <p:txBody>
          <a:bodyPr rtlCol="0" anchor="ctr"/>
          <a:lstStyle/>
          <a:p>
            <a:pPr algn="ctr"/>
          </a:p>
        </p:txBody>
      </p:sp>
      <p:sp>
        <p:nvSpPr>
          <p:cNvPr id="4" name="TextBox 3"/>
          <p:cNvSpPr txBox="1"/>
          <p:nvPr/>
        </p:nvSpPr>
        <p:spPr>
          <a:xfrm>
            <a:off x="475488" y="1527048"/>
            <a:ext cx="10972800" cy="365760"/>
          </a:xfrm>
          <a:prstGeom prst="rect">
            <a:avLst/>
          </a:prstGeom>
          <a:noFill/>
        </p:spPr>
        <p:txBody>
          <a:bodyPr wrap="square" lIns="0" rIns="0" tIns="0" bIns="0" anchor="t">
            <a:noAutofit/>
          </a:bodyPr>
          <a:lstStyle/>
          <a:p>
            <a:pPr algn="l"/>
            <a:r>
              <a:rPr sz="1800" b="0" i="0">
                <a:solidFill>
                  <a:srgbClr val="000000"/>
                </a:solidFill>
                <a:latin typeface="Roboto Mono"/>
              </a:rPr>
              <a:t>PART 2 · REQUESTS AND ANSWERS</a:t>
            </a:r>
          </a:p>
        </p:txBody>
      </p:sp>
      <p:sp>
        <p:nvSpPr>
          <p:cNvPr id="5" name="Title"/>
          <p:cNvSpPr txBox="1"/>
          <p:nvPr/>
        </p:nvSpPr>
        <p:spPr>
          <a:xfrm>
            <a:off x="475488" y="2011680"/>
            <a:ext cx="17337024" cy="868680"/>
          </a:xfrm>
          <a:prstGeom prst="rect">
            <a:avLst/>
          </a:prstGeom>
          <a:noFill/>
        </p:spPr>
        <p:txBody>
          <a:bodyPr wrap="square" lIns="0" rIns="0" tIns="0" bIns="0" anchor="t">
            <a:noAutofit/>
          </a:bodyPr>
          <a:lstStyle/>
          <a:p>
            <a:pPr algn="l">
              <a:lnSpc>
                <a:spcPct val="95000"/>
              </a:lnSpc>
            </a:pPr>
            <a:r>
              <a:rPr sz="4600" b="1" i="0">
                <a:solidFill>
                  <a:srgbClr val="000000"/>
                </a:solidFill>
                <a:latin typeface="Inter"/>
              </a:rPr>
              <a:t>Three actions cover almost everything</a:t>
            </a:r>
          </a:p>
        </p:txBody>
      </p:sp>
      <p:sp>
        <p:nvSpPr>
          <p:cNvPr id="6" name="Rectangle 5"/>
          <p:cNvSpPr/>
          <p:nvPr/>
        </p:nvSpPr>
        <p:spPr>
          <a:xfrm>
            <a:off x="475488" y="9189720"/>
            <a:ext cx="17337024" cy="10972"/>
          </a:xfrm>
          <a:prstGeom prst="rect">
            <a:avLst/>
          </a:prstGeom>
          <a:solidFill>
            <a:srgbClr val="000000"/>
          </a:solidFill>
          <a:ln>
            <a:noFill/>
          </a:ln>
        </p:spPr>
        <p:txBody>
          <a:bodyPr rtlCol="0" anchor="ctr"/>
          <a:lstStyle/>
          <a:p>
            <a:pPr algn="ctr"/>
          </a:p>
        </p:txBody>
      </p:sp>
      <p:sp>
        <p:nvSpPr>
          <p:cNvPr id="7" name="TextBox 6"/>
          <p:cNvSpPr txBox="1"/>
          <p:nvPr/>
        </p:nvSpPr>
        <p:spPr>
          <a:xfrm>
            <a:off x="475488" y="9354312"/>
            <a:ext cx="2743200" cy="338328"/>
          </a:xfrm>
          <a:prstGeom prst="rect">
            <a:avLst/>
          </a:prstGeom>
          <a:noFill/>
        </p:spPr>
        <p:txBody>
          <a:bodyPr wrap="square" lIns="0" rIns="0" tIns="0" bIns="0" anchor="t">
            <a:noAutofit/>
          </a:bodyPr>
          <a:lstStyle/>
          <a:p>
            <a:pPr algn="l"/>
            <a:r>
              <a:rPr sz="1800" b="0" i="0">
                <a:solidFill>
                  <a:srgbClr val="000000"/>
                </a:solidFill>
                <a:latin typeface="Roboto Mono"/>
              </a:rPr>
              <a:t>CALIRA.CO</a:t>
            </a:r>
          </a:p>
        </p:txBody>
      </p:sp>
      <p:sp>
        <p:nvSpPr>
          <p:cNvPr id="8" name="TextBox 7"/>
          <p:cNvSpPr txBox="1"/>
          <p:nvPr/>
        </p:nvSpPr>
        <p:spPr>
          <a:xfrm>
            <a:off x="15983712" y="9354312"/>
            <a:ext cx="1828800" cy="338328"/>
          </a:xfrm>
          <a:prstGeom prst="rect">
            <a:avLst/>
          </a:prstGeom>
          <a:noFill/>
        </p:spPr>
        <p:txBody>
          <a:bodyPr wrap="square" lIns="0" rIns="0" tIns="0" bIns="0" anchor="t">
            <a:noAutofit/>
          </a:bodyPr>
          <a:lstStyle/>
          <a:p>
            <a:pPr algn="r"/>
            <a:r>
              <a:rPr sz="1800" b="0" i="0">
                <a:solidFill>
                  <a:srgbClr val="000000"/>
                </a:solidFill>
                <a:latin typeface="Roboto Mono"/>
              </a:rPr>
              <a:t>09</a:t>
            </a:r>
          </a:p>
        </p:txBody>
      </p:sp>
      <p:sp>
        <p:nvSpPr>
          <p:cNvPr id="9" name="Rectangle 8"/>
          <p:cNvSpPr/>
          <p:nvPr/>
        </p:nvSpPr>
        <p:spPr>
          <a:xfrm>
            <a:off x="475488" y="3154680"/>
            <a:ext cx="17337024" cy="1481328"/>
          </a:xfrm>
          <a:prstGeom prst="rect">
            <a:avLst/>
          </a:prstGeom>
          <a:solidFill>
            <a:srgbClr val="FFFFFF"/>
          </a:solidFill>
          <a:ln w="12700">
            <a:solidFill>
              <a:srgbClr val="000000"/>
            </a:solidFill>
          </a:ln>
        </p:spPr>
        <p:txBody>
          <a:bodyPr rtlCol="0" anchor="ctr"/>
          <a:lstStyle/>
          <a:p>
            <a:pPr algn="ctr"/>
          </a:p>
        </p:txBody>
      </p:sp>
      <p:sp>
        <p:nvSpPr>
          <p:cNvPr id="10" name="Rectangle 9"/>
          <p:cNvSpPr/>
          <p:nvPr/>
        </p:nvSpPr>
        <p:spPr>
          <a:xfrm>
            <a:off x="731520" y="3392424"/>
            <a:ext cx="2743200" cy="1005840"/>
          </a:xfrm>
          <a:prstGeom prst="rect">
            <a:avLst/>
          </a:prstGeom>
          <a:solidFill>
            <a:srgbClr val="009E00"/>
          </a:solidFill>
          <a:ln>
            <a:noFill/>
          </a:ln>
        </p:spPr>
        <p:txBody>
          <a:bodyPr rtlCol="0" anchor="ctr"/>
          <a:lstStyle/>
          <a:p>
            <a:pPr algn="ctr"/>
          </a:p>
        </p:txBody>
      </p:sp>
      <p:sp>
        <p:nvSpPr>
          <p:cNvPr id="11" name="TextBox 10"/>
          <p:cNvSpPr txBox="1"/>
          <p:nvPr/>
        </p:nvSpPr>
        <p:spPr>
          <a:xfrm>
            <a:off x="731520" y="3392424"/>
            <a:ext cx="2743200" cy="1005840"/>
          </a:xfrm>
          <a:prstGeom prst="rect">
            <a:avLst/>
          </a:prstGeom>
          <a:noFill/>
        </p:spPr>
        <p:txBody>
          <a:bodyPr wrap="none" lIns="0" rIns="0" tIns="0" bIns="0" anchor="ctr">
            <a:noAutofit/>
          </a:bodyPr>
          <a:lstStyle/>
          <a:p>
            <a:pPr algn="ctr"/>
            <a:r>
              <a:rPr sz="5600" b="1" i="0">
                <a:solidFill>
                  <a:srgbClr val="FFFFFF"/>
                </a:solidFill>
                <a:latin typeface="Special Gothic Condensed One"/>
              </a:rPr>
              <a:t>GET</a:t>
            </a:r>
          </a:p>
        </p:txBody>
      </p:sp>
      <p:sp>
        <p:nvSpPr>
          <p:cNvPr id="12" name="TextBox 11"/>
          <p:cNvSpPr txBox="1"/>
          <p:nvPr/>
        </p:nvSpPr>
        <p:spPr>
          <a:xfrm>
            <a:off x="3840480" y="3392424"/>
            <a:ext cx="6400800" cy="457200"/>
          </a:xfrm>
          <a:prstGeom prst="rect">
            <a:avLst/>
          </a:prstGeom>
          <a:noFill/>
        </p:spPr>
        <p:txBody>
          <a:bodyPr wrap="square" lIns="0" rIns="0" tIns="0" bIns="0" anchor="t">
            <a:noAutofit/>
          </a:bodyPr>
          <a:lstStyle/>
          <a:p>
            <a:pPr algn="l"/>
            <a:r>
              <a:rPr sz="2600" b="1" i="0">
                <a:solidFill>
                  <a:srgbClr val="000000"/>
                </a:solidFill>
                <a:latin typeface="Inter"/>
              </a:rPr>
              <a:t>Read something</a:t>
            </a:r>
          </a:p>
        </p:txBody>
      </p:sp>
      <p:sp>
        <p:nvSpPr>
          <p:cNvPr id="13" name="TextBox 12"/>
          <p:cNvSpPr txBox="1"/>
          <p:nvPr/>
        </p:nvSpPr>
        <p:spPr>
          <a:xfrm>
            <a:off x="3840480" y="3886200"/>
            <a:ext cx="6309360" cy="640080"/>
          </a:xfrm>
          <a:prstGeom prst="rect">
            <a:avLst/>
          </a:prstGeom>
          <a:noFill/>
        </p:spPr>
        <p:txBody>
          <a:bodyPr wrap="square" lIns="0" rIns="0" tIns="0" bIns="0" anchor="t">
            <a:noAutofit/>
          </a:bodyPr>
          <a:lstStyle/>
          <a:p>
            <a:pPr algn="l"/>
            <a:r>
              <a:rPr sz="1900" b="0" i="0">
                <a:solidFill>
                  <a:srgbClr val="2C2825"/>
                </a:solidFill>
                <a:latin typeface="Inter"/>
              </a:rPr>
              <a:t>Like opening a web page. Nothing changes.</a:t>
            </a:r>
          </a:p>
        </p:txBody>
      </p:sp>
      <p:sp>
        <p:nvSpPr>
          <p:cNvPr id="14" name="Rectangle 13"/>
          <p:cNvSpPr/>
          <p:nvPr/>
        </p:nvSpPr>
        <p:spPr>
          <a:xfrm>
            <a:off x="10515600" y="3246120"/>
            <a:ext cx="10972" cy="1298448"/>
          </a:xfrm>
          <a:prstGeom prst="rect">
            <a:avLst/>
          </a:prstGeom>
          <a:solidFill>
            <a:srgbClr val="000000"/>
          </a:solidFill>
          <a:ln>
            <a:noFill/>
          </a:ln>
        </p:spPr>
        <p:txBody>
          <a:bodyPr rtlCol="0" anchor="ctr"/>
          <a:lstStyle/>
          <a:p>
            <a:pPr algn="ctr"/>
          </a:p>
        </p:txBody>
      </p:sp>
      <p:sp>
        <p:nvSpPr>
          <p:cNvPr id="15" name="TextBox 14"/>
          <p:cNvSpPr txBox="1"/>
          <p:nvPr/>
        </p:nvSpPr>
        <p:spPr>
          <a:xfrm>
            <a:off x="10835640" y="3355848"/>
            <a:ext cx="2743200" cy="320040"/>
          </a:xfrm>
          <a:prstGeom prst="rect">
            <a:avLst/>
          </a:prstGeom>
          <a:noFill/>
        </p:spPr>
        <p:txBody>
          <a:bodyPr wrap="square" lIns="0" rIns="0" tIns="0" bIns="0" anchor="t">
            <a:noAutofit/>
          </a:bodyPr>
          <a:lstStyle/>
          <a:p>
            <a:pPr algn="l"/>
            <a:r>
              <a:rPr sz="1400" b="0" i="0">
                <a:solidFill>
                  <a:srgbClr val="5A574F"/>
                </a:solidFill>
                <a:latin typeface="Roboto Mono"/>
              </a:rPr>
              <a:t>EXAMPLE</a:t>
            </a:r>
          </a:p>
        </p:txBody>
      </p:sp>
      <p:sp>
        <p:nvSpPr>
          <p:cNvPr id="16" name="TextBox 15"/>
          <p:cNvSpPr txBox="1"/>
          <p:nvPr/>
        </p:nvSpPr>
        <p:spPr>
          <a:xfrm>
            <a:off x="10835640" y="3657600"/>
            <a:ext cx="6766560" cy="457200"/>
          </a:xfrm>
          <a:prstGeom prst="rect">
            <a:avLst/>
          </a:prstGeom>
          <a:noFill/>
        </p:spPr>
        <p:txBody>
          <a:bodyPr wrap="square" lIns="0" rIns="0" tIns="0" bIns="0" anchor="t">
            <a:noAutofit/>
          </a:bodyPr>
          <a:lstStyle/>
          <a:p>
            <a:pPr algn="l"/>
            <a:r>
              <a:rPr sz="2400" b="1" i="0">
                <a:solidFill>
                  <a:srgbClr val="000000"/>
                </a:solidFill>
                <a:latin typeface="Roboto Mono"/>
              </a:rPr>
              <a:t>GET /equipment</a:t>
            </a:r>
          </a:p>
        </p:txBody>
      </p:sp>
      <p:sp>
        <p:nvSpPr>
          <p:cNvPr id="17" name="TextBox 16"/>
          <p:cNvSpPr txBox="1"/>
          <p:nvPr/>
        </p:nvSpPr>
        <p:spPr>
          <a:xfrm>
            <a:off x="10835640" y="4123944"/>
            <a:ext cx="6766560" cy="411480"/>
          </a:xfrm>
          <a:prstGeom prst="rect">
            <a:avLst/>
          </a:prstGeom>
          <a:noFill/>
        </p:spPr>
        <p:txBody>
          <a:bodyPr wrap="square" lIns="0" rIns="0" tIns="0" bIns="0" anchor="t">
            <a:noAutofit/>
          </a:bodyPr>
          <a:lstStyle/>
          <a:p>
            <a:pPr algn="l"/>
            <a:r>
              <a:rPr sz="1900" b="0" i="0">
                <a:solidFill>
                  <a:srgbClr val="2C2825"/>
                </a:solidFill>
                <a:latin typeface="Inter"/>
              </a:rPr>
              <a:t>List the equipment in a lab</a:t>
            </a:r>
          </a:p>
        </p:txBody>
      </p:sp>
      <p:sp>
        <p:nvSpPr>
          <p:cNvPr id="18" name="Rectangle 17"/>
          <p:cNvSpPr/>
          <p:nvPr/>
        </p:nvSpPr>
        <p:spPr>
          <a:xfrm>
            <a:off x="475488" y="4800600"/>
            <a:ext cx="17337024" cy="1481328"/>
          </a:xfrm>
          <a:prstGeom prst="rect">
            <a:avLst/>
          </a:prstGeom>
          <a:solidFill>
            <a:srgbClr val="FFFFFF"/>
          </a:solidFill>
          <a:ln w="12700">
            <a:solidFill>
              <a:srgbClr val="000000"/>
            </a:solidFill>
          </a:ln>
        </p:spPr>
        <p:txBody>
          <a:bodyPr rtlCol="0" anchor="ctr"/>
          <a:lstStyle/>
          <a:p>
            <a:pPr algn="ctr"/>
          </a:p>
        </p:txBody>
      </p:sp>
      <p:sp>
        <p:nvSpPr>
          <p:cNvPr id="19" name="Rectangle 18"/>
          <p:cNvSpPr/>
          <p:nvPr/>
        </p:nvSpPr>
        <p:spPr>
          <a:xfrm>
            <a:off x="731520" y="5038344"/>
            <a:ext cx="2743200" cy="1005840"/>
          </a:xfrm>
          <a:prstGeom prst="rect">
            <a:avLst/>
          </a:prstGeom>
          <a:solidFill>
            <a:srgbClr val="D9730D"/>
          </a:solidFill>
          <a:ln>
            <a:noFill/>
          </a:ln>
        </p:spPr>
        <p:txBody>
          <a:bodyPr rtlCol="0" anchor="ctr"/>
          <a:lstStyle/>
          <a:p>
            <a:pPr algn="ctr"/>
          </a:p>
        </p:txBody>
      </p:sp>
      <p:sp>
        <p:nvSpPr>
          <p:cNvPr id="20" name="TextBox 19"/>
          <p:cNvSpPr txBox="1"/>
          <p:nvPr/>
        </p:nvSpPr>
        <p:spPr>
          <a:xfrm>
            <a:off x="731520" y="5038344"/>
            <a:ext cx="2743200" cy="1005840"/>
          </a:xfrm>
          <a:prstGeom prst="rect">
            <a:avLst/>
          </a:prstGeom>
          <a:noFill/>
        </p:spPr>
        <p:txBody>
          <a:bodyPr wrap="none" lIns="0" rIns="0" tIns="0" bIns="0" anchor="ctr">
            <a:noAutofit/>
          </a:bodyPr>
          <a:lstStyle/>
          <a:p>
            <a:pPr algn="ctr"/>
            <a:r>
              <a:rPr sz="5600" b="1" i="0">
                <a:solidFill>
                  <a:srgbClr val="FFFFFF"/>
                </a:solidFill>
                <a:latin typeface="Special Gothic Condensed One"/>
              </a:rPr>
              <a:t>POST</a:t>
            </a:r>
          </a:p>
        </p:txBody>
      </p:sp>
      <p:sp>
        <p:nvSpPr>
          <p:cNvPr id="21" name="TextBox 20"/>
          <p:cNvSpPr txBox="1"/>
          <p:nvPr/>
        </p:nvSpPr>
        <p:spPr>
          <a:xfrm>
            <a:off x="3840480" y="5038344"/>
            <a:ext cx="6400800" cy="457200"/>
          </a:xfrm>
          <a:prstGeom prst="rect">
            <a:avLst/>
          </a:prstGeom>
          <a:noFill/>
        </p:spPr>
        <p:txBody>
          <a:bodyPr wrap="square" lIns="0" rIns="0" tIns="0" bIns="0" anchor="t">
            <a:noAutofit/>
          </a:bodyPr>
          <a:lstStyle/>
          <a:p>
            <a:pPr algn="l"/>
            <a:r>
              <a:rPr sz="2600" b="1" i="0">
                <a:solidFill>
                  <a:srgbClr val="000000"/>
                </a:solidFill>
                <a:latin typeface="Inter"/>
              </a:rPr>
              <a:t>Create something</a:t>
            </a:r>
          </a:p>
        </p:txBody>
      </p:sp>
      <p:sp>
        <p:nvSpPr>
          <p:cNvPr id="22" name="TextBox 21"/>
          <p:cNvSpPr txBox="1"/>
          <p:nvPr/>
        </p:nvSpPr>
        <p:spPr>
          <a:xfrm>
            <a:off x="3840480" y="5532120"/>
            <a:ext cx="6309360" cy="640080"/>
          </a:xfrm>
          <a:prstGeom prst="rect">
            <a:avLst/>
          </a:prstGeom>
          <a:noFill/>
        </p:spPr>
        <p:txBody>
          <a:bodyPr wrap="square" lIns="0" rIns="0" tIns="0" bIns="0" anchor="t">
            <a:noAutofit/>
          </a:bodyPr>
          <a:lstStyle/>
          <a:p>
            <a:pPr algn="l"/>
            <a:r>
              <a:rPr sz="1900" b="0" i="0">
                <a:solidFill>
                  <a:srgbClr val="2C2825"/>
                </a:solidFill>
                <a:latin typeface="Inter"/>
              </a:rPr>
              <a:t>Like submitting a form. Something new appears.</a:t>
            </a:r>
          </a:p>
        </p:txBody>
      </p:sp>
      <p:sp>
        <p:nvSpPr>
          <p:cNvPr id="23" name="Rectangle 22"/>
          <p:cNvSpPr/>
          <p:nvPr/>
        </p:nvSpPr>
        <p:spPr>
          <a:xfrm>
            <a:off x="10515600" y="4892040"/>
            <a:ext cx="10972" cy="1298448"/>
          </a:xfrm>
          <a:prstGeom prst="rect">
            <a:avLst/>
          </a:prstGeom>
          <a:solidFill>
            <a:srgbClr val="000000"/>
          </a:solidFill>
          <a:ln>
            <a:noFill/>
          </a:ln>
        </p:spPr>
        <p:txBody>
          <a:bodyPr rtlCol="0" anchor="ctr"/>
          <a:lstStyle/>
          <a:p>
            <a:pPr algn="ctr"/>
          </a:p>
        </p:txBody>
      </p:sp>
      <p:sp>
        <p:nvSpPr>
          <p:cNvPr id="24" name="TextBox 23"/>
          <p:cNvSpPr txBox="1"/>
          <p:nvPr/>
        </p:nvSpPr>
        <p:spPr>
          <a:xfrm>
            <a:off x="10835640" y="5001768"/>
            <a:ext cx="2743200" cy="320040"/>
          </a:xfrm>
          <a:prstGeom prst="rect">
            <a:avLst/>
          </a:prstGeom>
          <a:noFill/>
        </p:spPr>
        <p:txBody>
          <a:bodyPr wrap="square" lIns="0" rIns="0" tIns="0" bIns="0" anchor="t">
            <a:noAutofit/>
          </a:bodyPr>
          <a:lstStyle/>
          <a:p>
            <a:pPr algn="l"/>
            <a:r>
              <a:rPr sz="1400" b="0" i="0">
                <a:solidFill>
                  <a:srgbClr val="5A574F"/>
                </a:solidFill>
                <a:latin typeface="Roboto Mono"/>
              </a:rPr>
              <a:t>EXAMPLE</a:t>
            </a:r>
          </a:p>
        </p:txBody>
      </p:sp>
      <p:sp>
        <p:nvSpPr>
          <p:cNvPr id="25" name="TextBox 24"/>
          <p:cNvSpPr txBox="1"/>
          <p:nvPr/>
        </p:nvSpPr>
        <p:spPr>
          <a:xfrm>
            <a:off x="10835640" y="5303520"/>
            <a:ext cx="6766560" cy="457200"/>
          </a:xfrm>
          <a:prstGeom prst="rect">
            <a:avLst/>
          </a:prstGeom>
          <a:noFill/>
        </p:spPr>
        <p:txBody>
          <a:bodyPr wrap="square" lIns="0" rIns="0" tIns="0" bIns="0" anchor="t">
            <a:noAutofit/>
          </a:bodyPr>
          <a:lstStyle/>
          <a:p>
            <a:pPr algn="l"/>
            <a:r>
              <a:rPr sz="2400" b="1" i="0">
                <a:solidFill>
                  <a:srgbClr val="000000"/>
                </a:solidFill>
                <a:latin typeface="Roboto Mono"/>
              </a:rPr>
              <a:t>POST /bookings</a:t>
            </a:r>
          </a:p>
        </p:txBody>
      </p:sp>
      <p:sp>
        <p:nvSpPr>
          <p:cNvPr id="26" name="TextBox 25"/>
          <p:cNvSpPr txBox="1"/>
          <p:nvPr/>
        </p:nvSpPr>
        <p:spPr>
          <a:xfrm>
            <a:off x="10835640" y="5769864"/>
            <a:ext cx="6766560" cy="411480"/>
          </a:xfrm>
          <a:prstGeom prst="rect">
            <a:avLst/>
          </a:prstGeom>
          <a:noFill/>
        </p:spPr>
        <p:txBody>
          <a:bodyPr wrap="square" lIns="0" rIns="0" tIns="0" bIns="0" anchor="t">
            <a:noAutofit/>
          </a:bodyPr>
          <a:lstStyle/>
          <a:p>
            <a:pPr algn="l"/>
            <a:r>
              <a:rPr sz="1900" b="0" i="0">
                <a:solidFill>
                  <a:srgbClr val="2C2825"/>
                </a:solidFill>
                <a:latin typeface="Inter"/>
              </a:rPr>
              <a:t>Create a new booking</a:t>
            </a:r>
          </a:p>
        </p:txBody>
      </p:sp>
      <p:sp>
        <p:nvSpPr>
          <p:cNvPr id="27" name="Rectangle 26"/>
          <p:cNvSpPr/>
          <p:nvPr/>
        </p:nvSpPr>
        <p:spPr>
          <a:xfrm>
            <a:off x="475488" y="6446520"/>
            <a:ext cx="17337024" cy="1481328"/>
          </a:xfrm>
          <a:prstGeom prst="rect">
            <a:avLst/>
          </a:prstGeom>
          <a:solidFill>
            <a:srgbClr val="FFFFFF"/>
          </a:solidFill>
          <a:ln w="12700">
            <a:solidFill>
              <a:srgbClr val="000000"/>
            </a:solidFill>
          </a:ln>
        </p:spPr>
        <p:txBody>
          <a:bodyPr rtlCol="0" anchor="ctr"/>
          <a:lstStyle/>
          <a:p>
            <a:pPr algn="ctr"/>
          </a:p>
        </p:txBody>
      </p:sp>
      <p:sp>
        <p:nvSpPr>
          <p:cNvPr id="28" name="Rectangle 27"/>
          <p:cNvSpPr/>
          <p:nvPr/>
        </p:nvSpPr>
        <p:spPr>
          <a:xfrm>
            <a:off x="731520" y="6684264"/>
            <a:ext cx="2743200" cy="1005840"/>
          </a:xfrm>
          <a:prstGeom prst="rect">
            <a:avLst/>
          </a:prstGeom>
          <a:solidFill>
            <a:srgbClr val="7B4BD6"/>
          </a:solidFill>
          <a:ln>
            <a:noFill/>
          </a:ln>
        </p:spPr>
        <p:txBody>
          <a:bodyPr rtlCol="0" anchor="ctr"/>
          <a:lstStyle/>
          <a:p>
            <a:pPr algn="ctr"/>
          </a:p>
        </p:txBody>
      </p:sp>
      <p:sp>
        <p:nvSpPr>
          <p:cNvPr id="29" name="TextBox 28"/>
          <p:cNvSpPr txBox="1"/>
          <p:nvPr/>
        </p:nvSpPr>
        <p:spPr>
          <a:xfrm>
            <a:off x="731520" y="6684264"/>
            <a:ext cx="2743200" cy="1005840"/>
          </a:xfrm>
          <a:prstGeom prst="rect">
            <a:avLst/>
          </a:prstGeom>
          <a:noFill/>
        </p:spPr>
        <p:txBody>
          <a:bodyPr wrap="none" lIns="0" rIns="0" tIns="0" bIns="0" anchor="ctr">
            <a:noAutofit/>
          </a:bodyPr>
          <a:lstStyle/>
          <a:p>
            <a:pPr algn="ctr"/>
            <a:r>
              <a:rPr sz="5600" b="1" i="0">
                <a:solidFill>
                  <a:srgbClr val="FFFFFF"/>
                </a:solidFill>
                <a:latin typeface="Special Gothic Condensed One"/>
              </a:rPr>
              <a:t>PATCH</a:t>
            </a:r>
          </a:p>
        </p:txBody>
      </p:sp>
      <p:sp>
        <p:nvSpPr>
          <p:cNvPr id="30" name="TextBox 29"/>
          <p:cNvSpPr txBox="1"/>
          <p:nvPr/>
        </p:nvSpPr>
        <p:spPr>
          <a:xfrm>
            <a:off x="3840480" y="6684264"/>
            <a:ext cx="6400800" cy="457200"/>
          </a:xfrm>
          <a:prstGeom prst="rect">
            <a:avLst/>
          </a:prstGeom>
          <a:noFill/>
        </p:spPr>
        <p:txBody>
          <a:bodyPr wrap="square" lIns="0" rIns="0" tIns="0" bIns="0" anchor="t">
            <a:noAutofit/>
          </a:bodyPr>
          <a:lstStyle/>
          <a:p>
            <a:pPr algn="l"/>
            <a:r>
              <a:rPr sz="2600" b="1" i="0">
                <a:solidFill>
                  <a:srgbClr val="000000"/>
                </a:solidFill>
                <a:latin typeface="Inter"/>
              </a:rPr>
              <a:t>Change something</a:t>
            </a:r>
          </a:p>
        </p:txBody>
      </p:sp>
      <p:sp>
        <p:nvSpPr>
          <p:cNvPr id="31" name="TextBox 30"/>
          <p:cNvSpPr txBox="1"/>
          <p:nvPr/>
        </p:nvSpPr>
        <p:spPr>
          <a:xfrm>
            <a:off x="3840480" y="7178040"/>
            <a:ext cx="6309360" cy="640080"/>
          </a:xfrm>
          <a:prstGeom prst="rect">
            <a:avLst/>
          </a:prstGeom>
          <a:noFill/>
        </p:spPr>
        <p:txBody>
          <a:bodyPr wrap="square" lIns="0" rIns="0" tIns="0" bIns="0" anchor="t">
            <a:noAutofit/>
          </a:bodyPr>
          <a:lstStyle/>
          <a:p>
            <a:pPr algn="l"/>
            <a:r>
              <a:rPr sz="1900" b="0" i="0">
                <a:solidFill>
                  <a:srgbClr val="2C2825"/>
                </a:solidFill>
                <a:latin typeface="Inter"/>
              </a:rPr>
              <a:t>Like editing one cell. Only what you send changes.</a:t>
            </a:r>
          </a:p>
        </p:txBody>
      </p:sp>
      <p:sp>
        <p:nvSpPr>
          <p:cNvPr id="32" name="Rectangle 31"/>
          <p:cNvSpPr/>
          <p:nvPr/>
        </p:nvSpPr>
        <p:spPr>
          <a:xfrm>
            <a:off x="10515600" y="6537959"/>
            <a:ext cx="10972" cy="1298448"/>
          </a:xfrm>
          <a:prstGeom prst="rect">
            <a:avLst/>
          </a:prstGeom>
          <a:solidFill>
            <a:srgbClr val="000000"/>
          </a:solidFill>
          <a:ln>
            <a:noFill/>
          </a:ln>
        </p:spPr>
        <p:txBody>
          <a:bodyPr rtlCol="0" anchor="ctr"/>
          <a:lstStyle/>
          <a:p>
            <a:pPr algn="ctr"/>
          </a:p>
        </p:txBody>
      </p:sp>
      <p:sp>
        <p:nvSpPr>
          <p:cNvPr id="33" name="TextBox 32"/>
          <p:cNvSpPr txBox="1"/>
          <p:nvPr/>
        </p:nvSpPr>
        <p:spPr>
          <a:xfrm>
            <a:off x="10835640" y="6647688"/>
            <a:ext cx="2743200" cy="320040"/>
          </a:xfrm>
          <a:prstGeom prst="rect">
            <a:avLst/>
          </a:prstGeom>
          <a:noFill/>
        </p:spPr>
        <p:txBody>
          <a:bodyPr wrap="square" lIns="0" rIns="0" tIns="0" bIns="0" anchor="t">
            <a:noAutofit/>
          </a:bodyPr>
          <a:lstStyle/>
          <a:p>
            <a:pPr algn="l"/>
            <a:r>
              <a:rPr sz="1400" b="0" i="0">
                <a:solidFill>
                  <a:srgbClr val="5A574F"/>
                </a:solidFill>
                <a:latin typeface="Roboto Mono"/>
              </a:rPr>
              <a:t>EXAMPLE</a:t>
            </a:r>
          </a:p>
        </p:txBody>
      </p:sp>
      <p:sp>
        <p:nvSpPr>
          <p:cNvPr id="34" name="TextBox 33"/>
          <p:cNvSpPr txBox="1"/>
          <p:nvPr/>
        </p:nvSpPr>
        <p:spPr>
          <a:xfrm>
            <a:off x="10835640" y="6949440"/>
            <a:ext cx="6766560" cy="457200"/>
          </a:xfrm>
          <a:prstGeom prst="rect">
            <a:avLst/>
          </a:prstGeom>
          <a:noFill/>
        </p:spPr>
        <p:txBody>
          <a:bodyPr wrap="square" lIns="0" rIns="0" tIns="0" bIns="0" anchor="t">
            <a:noAutofit/>
          </a:bodyPr>
          <a:lstStyle/>
          <a:p>
            <a:pPr algn="l"/>
            <a:r>
              <a:rPr sz="2400" b="1" i="0">
                <a:solidFill>
                  <a:srgbClr val="000000"/>
                </a:solidFill>
                <a:latin typeface="Roboto Mono"/>
              </a:rPr>
              <a:t>PATCH /bookings/777</a:t>
            </a:r>
          </a:p>
        </p:txBody>
      </p:sp>
      <p:sp>
        <p:nvSpPr>
          <p:cNvPr id="35" name="TextBox 34"/>
          <p:cNvSpPr txBox="1"/>
          <p:nvPr/>
        </p:nvSpPr>
        <p:spPr>
          <a:xfrm>
            <a:off x="10835640" y="7415783"/>
            <a:ext cx="6766560" cy="411480"/>
          </a:xfrm>
          <a:prstGeom prst="rect">
            <a:avLst/>
          </a:prstGeom>
          <a:noFill/>
        </p:spPr>
        <p:txBody>
          <a:bodyPr wrap="square" lIns="0" rIns="0" tIns="0" bIns="0" anchor="t">
            <a:noAutofit/>
          </a:bodyPr>
          <a:lstStyle/>
          <a:p>
            <a:pPr algn="l"/>
            <a:r>
              <a:rPr sz="1900" b="0" i="0">
                <a:solidFill>
                  <a:srgbClr val="2C2825"/>
                </a:solidFill>
                <a:latin typeface="Inter"/>
              </a:rPr>
              <a:t>Change an existing booking</a:t>
            </a:r>
          </a:p>
        </p:txBody>
      </p:sp>
      <p:sp>
        <p:nvSpPr>
          <p:cNvPr id="36" name="Rounded Rectangle 35"/>
          <p:cNvSpPr/>
          <p:nvPr/>
        </p:nvSpPr>
        <p:spPr>
          <a:xfrm>
            <a:off x="475488" y="8202168"/>
            <a:ext cx="2286000" cy="420624"/>
          </a:xfrm>
          <a:prstGeom prst="roundRect">
            <a:avLst>
              <a:gd name="adj" fmla="val 20000"/>
            </a:avLst>
          </a:prstGeom>
          <a:solidFill>
            <a:srgbClr val="D9D9CC"/>
          </a:solidFill>
          <a:ln>
            <a:noFill/>
          </a:ln>
        </p:spPr>
        <p:txBody>
          <a:bodyPr rtlCol="0" anchor="ctr" wrap="none" lIns="0" rIns="0" tIns="0" bIns="0">
            <a:noAutofit/>
          </a:bodyPr>
          <a:lstStyle/>
          <a:p>
            <a:pPr algn="ctr"/>
            <a:r>
              <a:rPr sz="1400" b="1" i="0">
                <a:solidFill>
                  <a:srgbClr val="000000"/>
                </a:solidFill>
                <a:latin typeface="Roboto Mono"/>
              </a:rPr>
              <a:t>ALSO EXISTS</a:t>
            </a:r>
          </a:p>
        </p:txBody>
      </p:sp>
      <p:sp>
        <p:nvSpPr>
          <p:cNvPr id="37" name="TextBox 36"/>
          <p:cNvSpPr txBox="1"/>
          <p:nvPr/>
        </p:nvSpPr>
        <p:spPr>
          <a:xfrm>
            <a:off x="3017520" y="8156448"/>
            <a:ext cx="14767559" cy="777240"/>
          </a:xfrm>
          <a:prstGeom prst="rect">
            <a:avLst/>
          </a:prstGeom>
          <a:noFill/>
        </p:spPr>
        <p:txBody>
          <a:bodyPr wrap="square" lIns="0" rIns="0" tIns="0" bIns="0" anchor="t">
            <a:noAutofit/>
          </a:bodyPr>
          <a:lstStyle/>
          <a:p>
            <a:pPr algn="l"/>
            <a:r>
              <a:rPr sz="1900" b="0" i="0">
                <a:solidFill>
                  <a:srgbClr val="2C2825"/>
                </a:solidFill>
                <a:latin typeface="Inter"/>
              </a:rPr>
              <a:t>PUT replaces a whole record and DELETE removes one. Calira's API does not offer either today, so bookings are still cancelled in the app.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ED"/>
        </a:solidFill>
        <a:effectLst/>
      </p:bgPr>
    </p:bg>
    <p:spTree>
      <p:nvGrpSpPr>
        <p:cNvPr id="1" name=""/>
        <p:cNvGrpSpPr/>
        <p:nvPr/>
      </p:nvGrpSpPr>
      <p:grpSpPr/>
      <p:pic>
        <p:nvPicPr>
          <p:cNvPr id="2" name="Picture 1" descr="s1_0.png"/>
          <p:cNvPicPr>
            <a:picLocks noChangeAspect="1"/>
          </p:cNvPicPr>
          <p:nvPr/>
        </p:nvPicPr>
        <p:blipFill>
          <a:blip r:embed="rId2"/>
          <a:stretch>
            <a:fillRect/>
          </a:stretch>
        </p:blipFill>
        <p:spPr>
          <a:xfrm>
            <a:off x="475488" y="594360"/>
            <a:ext cx="1655064" cy="384048"/>
          </a:xfrm>
          <a:prstGeom prst="rect">
            <a:avLst/>
          </a:prstGeom>
        </p:spPr>
      </p:pic>
      <p:sp>
        <p:nvSpPr>
          <p:cNvPr id="3" name="Rectangle 2"/>
          <p:cNvSpPr/>
          <p:nvPr/>
        </p:nvSpPr>
        <p:spPr>
          <a:xfrm>
            <a:off x="2441448" y="777240"/>
            <a:ext cx="15371064" cy="10972"/>
          </a:xfrm>
          <a:prstGeom prst="rect">
            <a:avLst/>
          </a:prstGeom>
          <a:solidFill>
            <a:srgbClr val="000000"/>
          </a:solidFill>
          <a:ln>
            <a:noFill/>
          </a:ln>
        </p:spPr>
        <p:txBody>
          <a:bodyPr rtlCol="0" anchor="ctr"/>
          <a:lstStyle/>
          <a:p>
            <a:pPr algn="ctr"/>
          </a:p>
        </p:txBody>
      </p:sp>
      <p:sp>
        <p:nvSpPr>
          <p:cNvPr id="4" name="TextBox 3"/>
          <p:cNvSpPr txBox="1"/>
          <p:nvPr/>
        </p:nvSpPr>
        <p:spPr>
          <a:xfrm>
            <a:off x="475488" y="1527048"/>
            <a:ext cx="10972800" cy="365760"/>
          </a:xfrm>
          <a:prstGeom prst="rect">
            <a:avLst/>
          </a:prstGeom>
          <a:noFill/>
        </p:spPr>
        <p:txBody>
          <a:bodyPr wrap="square" lIns="0" rIns="0" tIns="0" bIns="0" anchor="t">
            <a:noAutofit/>
          </a:bodyPr>
          <a:lstStyle/>
          <a:p>
            <a:pPr algn="l"/>
            <a:r>
              <a:rPr sz="1800" b="0" i="0">
                <a:solidFill>
                  <a:srgbClr val="000000"/>
                </a:solidFill>
                <a:latin typeface="Roboto Mono"/>
              </a:rPr>
              <a:t>PART 2 · REQUESTS AND ANSWERS</a:t>
            </a:r>
          </a:p>
        </p:txBody>
      </p:sp>
      <p:sp>
        <p:nvSpPr>
          <p:cNvPr id="5" name="Title"/>
          <p:cNvSpPr txBox="1"/>
          <p:nvPr/>
        </p:nvSpPr>
        <p:spPr>
          <a:xfrm>
            <a:off x="475488" y="2011680"/>
            <a:ext cx="17337024" cy="868680"/>
          </a:xfrm>
          <a:prstGeom prst="rect">
            <a:avLst/>
          </a:prstGeom>
          <a:noFill/>
        </p:spPr>
        <p:txBody>
          <a:bodyPr wrap="square" lIns="0" rIns="0" tIns="0" bIns="0" anchor="t">
            <a:noAutofit/>
          </a:bodyPr>
          <a:lstStyle/>
          <a:p>
            <a:pPr algn="l">
              <a:lnSpc>
                <a:spcPct val="95000"/>
              </a:lnSpc>
            </a:pPr>
            <a:r>
              <a:rPr sz="4600" b="1" i="0">
                <a:solidFill>
                  <a:srgbClr val="000000"/>
                </a:solidFill>
                <a:latin typeface="Inter"/>
              </a:rPr>
              <a:t>Every answer starts with a number</a:t>
            </a:r>
          </a:p>
        </p:txBody>
      </p:sp>
      <p:sp>
        <p:nvSpPr>
          <p:cNvPr id="6" name="Rectangle 5"/>
          <p:cNvSpPr/>
          <p:nvPr/>
        </p:nvSpPr>
        <p:spPr>
          <a:xfrm>
            <a:off x="475488" y="9189720"/>
            <a:ext cx="17337024" cy="10972"/>
          </a:xfrm>
          <a:prstGeom prst="rect">
            <a:avLst/>
          </a:prstGeom>
          <a:solidFill>
            <a:srgbClr val="000000"/>
          </a:solidFill>
          <a:ln>
            <a:noFill/>
          </a:ln>
        </p:spPr>
        <p:txBody>
          <a:bodyPr rtlCol="0" anchor="ctr"/>
          <a:lstStyle/>
          <a:p>
            <a:pPr algn="ctr"/>
          </a:p>
        </p:txBody>
      </p:sp>
      <p:sp>
        <p:nvSpPr>
          <p:cNvPr id="7" name="TextBox 6"/>
          <p:cNvSpPr txBox="1"/>
          <p:nvPr/>
        </p:nvSpPr>
        <p:spPr>
          <a:xfrm>
            <a:off x="475488" y="9354312"/>
            <a:ext cx="2743200" cy="338328"/>
          </a:xfrm>
          <a:prstGeom prst="rect">
            <a:avLst/>
          </a:prstGeom>
          <a:noFill/>
        </p:spPr>
        <p:txBody>
          <a:bodyPr wrap="square" lIns="0" rIns="0" tIns="0" bIns="0" anchor="t">
            <a:noAutofit/>
          </a:bodyPr>
          <a:lstStyle/>
          <a:p>
            <a:pPr algn="l"/>
            <a:r>
              <a:rPr sz="1800" b="0" i="0">
                <a:solidFill>
                  <a:srgbClr val="000000"/>
                </a:solidFill>
                <a:latin typeface="Roboto Mono"/>
              </a:rPr>
              <a:t>CALIRA.CO</a:t>
            </a:r>
          </a:p>
        </p:txBody>
      </p:sp>
      <p:sp>
        <p:nvSpPr>
          <p:cNvPr id="8" name="TextBox 7"/>
          <p:cNvSpPr txBox="1"/>
          <p:nvPr/>
        </p:nvSpPr>
        <p:spPr>
          <a:xfrm>
            <a:off x="15983712" y="9354312"/>
            <a:ext cx="1828800" cy="338328"/>
          </a:xfrm>
          <a:prstGeom prst="rect">
            <a:avLst/>
          </a:prstGeom>
          <a:noFill/>
        </p:spPr>
        <p:txBody>
          <a:bodyPr wrap="square" lIns="0" rIns="0" tIns="0" bIns="0" anchor="t">
            <a:noAutofit/>
          </a:bodyPr>
          <a:lstStyle/>
          <a:p>
            <a:pPr algn="r"/>
            <a:r>
              <a:rPr sz="1800" b="0" i="0">
                <a:solidFill>
                  <a:srgbClr val="000000"/>
                </a:solidFill>
                <a:latin typeface="Roboto Mono"/>
              </a:rPr>
              <a:t>10</a:t>
            </a:r>
          </a:p>
        </p:txBody>
      </p:sp>
      <p:sp>
        <p:nvSpPr>
          <p:cNvPr id="9" name="TextBox 8"/>
          <p:cNvSpPr txBox="1"/>
          <p:nvPr/>
        </p:nvSpPr>
        <p:spPr>
          <a:xfrm>
            <a:off x="658368" y="3108960"/>
            <a:ext cx="2743200" cy="365760"/>
          </a:xfrm>
          <a:prstGeom prst="rect">
            <a:avLst/>
          </a:prstGeom>
          <a:noFill/>
        </p:spPr>
        <p:txBody>
          <a:bodyPr wrap="square" lIns="0" rIns="0" tIns="0" bIns="0" anchor="t">
            <a:noAutofit/>
          </a:bodyPr>
          <a:lstStyle/>
          <a:p>
            <a:pPr algn="l"/>
            <a:r>
              <a:rPr sz="1400" b="0" i="0">
                <a:solidFill>
                  <a:srgbClr val="5A574F"/>
                </a:solidFill>
                <a:latin typeface="Roboto Mono"/>
              </a:rPr>
              <a:t>CODE</a:t>
            </a:r>
          </a:p>
        </p:txBody>
      </p:sp>
      <p:sp>
        <p:nvSpPr>
          <p:cNvPr id="10" name="TextBox 9"/>
          <p:cNvSpPr txBox="1"/>
          <p:nvPr/>
        </p:nvSpPr>
        <p:spPr>
          <a:xfrm>
            <a:off x="2743200" y="3108960"/>
            <a:ext cx="5486400" cy="365760"/>
          </a:xfrm>
          <a:prstGeom prst="rect">
            <a:avLst/>
          </a:prstGeom>
          <a:noFill/>
        </p:spPr>
        <p:txBody>
          <a:bodyPr wrap="square" lIns="0" rIns="0" tIns="0" bIns="0" anchor="t">
            <a:noAutofit/>
          </a:bodyPr>
          <a:lstStyle/>
          <a:p>
            <a:pPr algn="l"/>
            <a:r>
              <a:rPr sz="1400" b="0" i="0">
                <a:solidFill>
                  <a:srgbClr val="5A574F"/>
                </a:solidFill>
                <a:latin typeface="Roboto Mono"/>
              </a:rPr>
              <a:t>WHAT IT MEANS</a:t>
            </a:r>
          </a:p>
        </p:txBody>
      </p:sp>
      <p:sp>
        <p:nvSpPr>
          <p:cNvPr id="11" name="TextBox 10"/>
          <p:cNvSpPr txBox="1"/>
          <p:nvPr/>
        </p:nvSpPr>
        <p:spPr>
          <a:xfrm>
            <a:off x="8778240" y="3108960"/>
            <a:ext cx="5486400" cy="365760"/>
          </a:xfrm>
          <a:prstGeom prst="rect">
            <a:avLst/>
          </a:prstGeom>
          <a:noFill/>
        </p:spPr>
        <p:txBody>
          <a:bodyPr wrap="square" lIns="0" rIns="0" tIns="0" bIns="0" anchor="t">
            <a:noAutofit/>
          </a:bodyPr>
          <a:lstStyle/>
          <a:p>
            <a:pPr algn="l"/>
            <a:r>
              <a:rPr sz="1400" b="0" i="0">
                <a:solidFill>
                  <a:srgbClr val="5A574F"/>
                </a:solidFill>
                <a:latin typeface="Roboto Mono"/>
              </a:rPr>
              <a:t>WHAT TO DO</a:t>
            </a:r>
          </a:p>
        </p:txBody>
      </p:sp>
      <p:sp>
        <p:nvSpPr>
          <p:cNvPr id="12" name="Rectangle 11"/>
          <p:cNvSpPr/>
          <p:nvPr/>
        </p:nvSpPr>
        <p:spPr>
          <a:xfrm>
            <a:off x="475488" y="3520440"/>
            <a:ext cx="17337024" cy="13716"/>
          </a:xfrm>
          <a:prstGeom prst="rect">
            <a:avLst/>
          </a:prstGeom>
          <a:solidFill>
            <a:srgbClr val="D9D9CC"/>
          </a:solidFill>
          <a:ln>
            <a:noFill/>
          </a:ln>
        </p:spPr>
        <p:txBody>
          <a:bodyPr rtlCol="0" anchor="ctr"/>
          <a:lstStyle/>
          <a:p>
            <a:pPr algn="ctr"/>
          </a:p>
        </p:txBody>
      </p:sp>
      <p:sp>
        <p:nvSpPr>
          <p:cNvPr id="13" name="Rounded Rectangle 12"/>
          <p:cNvSpPr/>
          <p:nvPr/>
        </p:nvSpPr>
        <p:spPr>
          <a:xfrm>
            <a:off x="566928" y="3648456"/>
            <a:ext cx="1828800" cy="512064"/>
          </a:xfrm>
          <a:prstGeom prst="roundRect">
            <a:avLst>
              <a:gd name="adj" fmla="val 20000"/>
            </a:avLst>
          </a:prstGeom>
          <a:solidFill>
            <a:srgbClr val="E2F5E2"/>
          </a:solidFill>
          <a:ln w="12700">
            <a:solidFill>
              <a:srgbClr val="009E00"/>
            </a:solidFill>
          </a:ln>
        </p:spPr>
        <p:txBody>
          <a:bodyPr rtlCol="0" anchor="ctr" wrap="none" lIns="0" rIns="0" tIns="0" bIns="0">
            <a:noAutofit/>
          </a:bodyPr>
          <a:lstStyle/>
          <a:p>
            <a:pPr algn="ctr"/>
            <a:r>
              <a:rPr sz="2200" b="1" i="0">
                <a:solidFill>
                  <a:srgbClr val="009E00"/>
                </a:solidFill>
                <a:latin typeface="Roboto Mono"/>
              </a:rPr>
              <a:t>200 / 201</a:t>
            </a:r>
          </a:p>
        </p:txBody>
      </p:sp>
      <p:sp>
        <p:nvSpPr>
          <p:cNvPr id="14" name="TextBox 13"/>
          <p:cNvSpPr txBox="1"/>
          <p:nvPr/>
        </p:nvSpPr>
        <p:spPr>
          <a:xfrm>
            <a:off x="2743200" y="3611880"/>
            <a:ext cx="5852160" cy="640080"/>
          </a:xfrm>
          <a:prstGeom prst="rect">
            <a:avLst/>
          </a:prstGeom>
          <a:noFill/>
        </p:spPr>
        <p:txBody>
          <a:bodyPr wrap="square" lIns="0" rIns="0" tIns="0" bIns="0" anchor="ctr">
            <a:noAutofit/>
          </a:bodyPr>
          <a:lstStyle/>
          <a:p>
            <a:pPr algn="l"/>
            <a:r>
              <a:rPr sz="2200" b="1" i="0">
                <a:solidFill>
                  <a:srgbClr val="000000"/>
                </a:solidFill>
                <a:latin typeface="Inter"/>
              </a:rPr>
              <a:t>It worked</a:t>
            </a:r>
          </a:p>
        </p:txBody>
      </p:sp>
      <p:sp>
        <p:nvSpPr>
          <p:cNvPr id="15" name="TextBox 14"/>
          <p:cNvSpPr txBox="1"/>
          <p:nvPr/>
        </p:nvSpPr>
        <p:spPr>
          <a:xfrm>
            <a:off x="8778240" y="3611880"/>
            <a:ext cx="8961120" cy="640080"/>
          </a:xfrm>
          <a:prstGeom prst="rect">
            <a:avLst/>
          </a:prstGeom>
          <a:noFill/>
        </p:spPr>
        <p:txBody>
          <a:bodyPr wrap="square" lIns="0" rIns="0" tIns="0" bIns="0" anchor="ctr">
            <a:noAutofit/>
          </a:bodyPr>
          <a:lstStyle/>
          <a:p>
            <a:pPr algn="l"/>
            <a:r>
              <a:rPr sz="1900" b="0" i="0">
                <a:solidFill>
                  <a:srgbClr val="2C2825"/>
                </a:solidFill>
                <a:latin typeface="Inter"/>
              </a:rPr>
              <a:t>200 means done and 201 means created. Read the response.</a:t>
            </a:r>
          </a:p>
        </p:txBody>
      </p:sp>
      <p:sp>
        <p:nvSpPr>
          <p:cNvPr id="16" name="Rectangle 15"/>
          <p:cNvSpPr/>
          <p:nvPr/>
        </p:nvSpPr>
        <p:spPr>
          <a:xfrm>
            <a:off x="475488" y="4270248"/>
            <a:ext cx="17337024" cy="13716"/>
          </a:xfrm>
          <a:prstGeom prst="rect">
            <a:avLst/>
          </a:prstGeom>
          <a:solidFill>
            <a:srgbClr val="D9D9CC"/>
          </a:solidFill>
          <a:ln>
            <a:noFill/>
          </a:ln>
        </p:spPr>
        <p:txBody>
          <a:bodyPr rtlCol="0" anchor="ctr"/>
          <a:lstStyle/>
          <a:p>
            <a:pPr algn="ctr"/>
          </a:p>
        </p:txBody>
      </p:sp>
      <p:sp>
        <p:nvSpPr>
          <p:cNvPr id="17" name="Rounded Rectangle 16"/>
          <p:cNvSpPr/>
          <p:nvPr/>
        </p:nvSpPr>
        <p:spPr>
          <a:xfrm>
            <a:off x="566928" y="4398264"/>
            <a:ext cx="1828800" cy="512064"/>
          </a:xfrm>
          <a:prstGeom prst="roundRect">
            <a:avLst>
              <a:gd name="adj" fmla="val 20000"/>
            </a:avLst>
          </a:prstGeom>
          <a:solidFill>
            <a:srgbClr val="FBE3E3"/>
          </a:solidFill>
          <a:ln w="12700">
            <a:solidFill>
              <a:srgbClr val="C62828"/>
            </a:solidFill>
          </a:ln>
        </p:spPr>
        <p:txBody>
          <a:bodyPr rtlCol="0" anchor="ctr" wrap="none" lIns="0" rIns="0" tIns="0" bIns="0">
            <a:noAutofit/>
          </a:bodyPr>
          <a:lstStyle/>
          <a:p>
            <a:pPr algn="ctr"/>
            <a:r>
              <a:rPr sz="2200" b="1" i="0">
                <a:solidFill>
                  <a:srgbClr val="C62828"/>
                </a:solidFill>
                <a:latin typeface="Roboto Mono"/>
              </a:rPr>
              <a:t>401</a:t>
            </a:r>
          </a:p>
        </p:txBody>
      </p:sp>
      <p:sp>
        <p:nvSpPr>
          <p:cNvPr id="18" name="TextBox 17"/>
          <p:cNvSpPr txBox="1"/>
          <p:nvPr/>
        </p:nvSpPr>
        <p:spPr>
          <a:xfrm>
            <a:off x="2743200" y="4361688"/>
            <a:ext cx="5852160" cy="640080"/>
          </a:xfrm>
          <a:prstGeom prst="rect">
            <a:avLst/>
          </a:prstGeom>
          <a:noFill/>
        </p:spPr>
        <p:txBody>
          <a:bodyPr wrap="square" lIns="0" rIns="0" tIns="0" bIns="0" anchor="ctr">
            <a:noAutofit/>
          </a:bodyPr>
          <a:lstStyle/>
          <a:p>
            <a:pPr algn="l"/>
            <a:r>
              <a:rPr sz="2200" b="1" i="0">
                <a:solidFill>
                  <a:srgbClr val="000000"/>
                </a:solidFill>
                <a:latin typeface="Inter"/>
              </a:rPr>
              <a:t>Calira doesn't know who is asking</a:t>
            </a:r>
          </a:p>
        </p:txBody>
      </p:sp>
      <p:sp>
        <p:nvSpPr>
          <p:cNvPr id="19" name="TextBox 18"/>
          <p:cNvSpPr txBox="1"/>
          <p:nvPr/>
        </p:nvSpPr>
        <p:spPr>
          <a:xfrm>
            <a:off x="8778240" y="4361688"/>
            <a:ext cx="8961120" cy="640080"/>
          </a:xfrm>
          <a:prstGeom prst="rect">
            <a:avLst/>
          </a:prstGeom>
          <a:noFill/>
        </p:spPr>
        <p:txBody>
          <a:bodyPr wrap="square" lIns="0" rIns="0" tIns="0" bIns="0" anchor="ctr">
            <a:noAutofit/>
          </a:bodyPr>
          <a:lstStyle/>
          <a:p>
            <a:pPr algn="l"/>
            <a:r>
              <a:rPr sz="1900" b="0" i="0">
                <a:solidFill>
                  <a:srgbClr val="2C2825"/>
                </a:solidFill>
                <a:latin typeface="Inter"/>
              </a:rPr>
              <a:t>Your token is missing or has expired. Get a new one.</a:t>
            </a:r>
          </a:p>
        </p:txBody>
      </p:sp>
      <p:sp>
        <p:nvSpPr>
          <p:cNvPr id="20" name="Rectangle 19"/>
          <p:cNvSpPr/>
          <p:nvPr/>
        </p:nvSpPr>
        <p:spPr>
          <a:xfrm>
            <a:off x="475488" y="5020056"/>
            <a:ext cx="17337024" cy="13716"/>
          </a:xfrm>
          <a:prstGeom prst="rect">
            <a:avLst/>
          </a:prstGeom>
          <a:solidFill>
            <a:srgbClr val="D9D9CC"/>
          </a:solidFill>
          <a:ln>
            <a:noFill/>
          </a:ln>
        </p:spPr>
        <p:txBody>
          <a:bodyPr rtlCol="0" anchor="ctr"/>
          <a:lstStyle/>
          <a:p>
            <a:pPr algn="ctr"/>
          </a:p>
        </p:txBody>
      </p:sp>
      <p:sp>
        <p:nvSpPr>
          <p:cNvPr id="21" name="Rounded Rectangle 20"/>
          <p:cNvSpPr/>
          <p:nvPr/>
        </p:nvSpPr>
        <p:spPr>
          <a:xfrm>
            <a:off x="566928" y="5148072"/>
            <a:ext cx="1828800" cy="512064"/>
          </a:xfrm>
          <a:prstGeom prst="roundRect">
            <a:avLst>
              <a:gd name="adj" fmla="val 20000"/>
            </a:avLst>
          </a:prstGeom>
          <a:solidFill>
            <a:srgbClr val="FBE3E3"/>
          </a:solidFill>
          <a:ln w="12700">
            <a:solidFill>
              <a:srgbClr val="C62828"/>
            </a:solidFill>
          </a:ln>
        </p:spPr>
        <p:txBody>
          <a:bodyPr rtlCol="0" anchor="ctr" wrap="none" lIns="0" rIns="0" tIns="0" bIns="0">
            <a:noAutofit/>
          </a:bodyPr>
          <a:lstStyle/>
          <a:p>
            <a:pPr algn="ctr"/>
            <a:r>
              <a:rPr sz="2200" b="1" i="0">
                <a:solidFill>
                  <a:srgbClr val="C62828"/>
                </a:solidFill>
                <a:latin typeface="Roboto Mono"/>
              </a:rPr>
              <a:t>403</a:t>
            </a:r>
          </a:p>
        </p:txBody>
      </p:sp>
      <p:sp>
        <p:nvSpPr>
          <p:cNvPr id="22" name="TextBox 21"/>
          <p:cNvSpPr txBox="1"/>
          <p:nvPr/>
        </p:nvSpPr>
        <p:spPr>
          <a:xfrm>
            <a:off x="2743200" y="5111496"/>
            <a:ext cx="5852160" cy="640080"/>
          </a:xfrm>
          <a:prstGeom prst="rect">
            <a:avLst/>
          </a:prstGeom>
          <a:noFill/>
        </p:spPr>
        <p:txBody>
          <a:bodyPr wrap="square" lIns="0" rIns="0" tIns="0" bIns="0" anchor="ctr">
            <a:noAutofit/>
          </a:bodyPr>
          <a:lstStyle/>
          <a:p>
            <a:pPr algn="l"/>
            <a:r>
              <a:rPr sz="2200" b="1" i="0">
                <a:solidFill>
                  <a:srgbClr val="000000"/>
                </a:solidFill>
                <a:latin typeface="Inter"/>
              </a:rPr>
              <a:t>Calira knows you, but says no</a:t>
            </a:r>
          </a:p>
        </p:txBody>
      </p:sp>
      <p:sp>
        <p:nvSpPr>
          <p:cNvPr id="23" name="TextBox 22"/>
          <p:cNvSpPr txBox="1"/>
          <p:nvPr/>
        </p:nvSpPr>
        <p:spPr>
          <a:xfrm>
            <a:off x="8778240" y="5111496"/>
            <a:ext cx="8961120" cy="640080"/>
          </a:xfrm>
          <a:prstGeom prst="rect">
            <a:avLst/>
          </a:prstGeom>
          <a:noFill/>
        </p:spPr>
        <p:txBody>
          <a:bodyPr wrap="square" lIns="0" rIns="0" tIns="0" bIns="0" anchor="ctr">
            <a:noAutofit/>
          </a:bodyPr>
          <a:lstStyle/>
          <a:p>
            <a:pPr algn="l"/>
            <a:r>
              <a:rPr sz="1900" b="0" i="0">
                <a:solidFill>
                  <a:srgbClr val="2C2825"/>
                </a:solidFill>
                <a:latin typeface="Inter"/>
              </a:rPr>
              <a:t>App not approved yet, a permission is missing, or a booking rule (such as a clash) stopped it.</a:t>
            </a:r>
          </a:p>
        </p:txBody>
      </p:sp>
      <p:sp>
        <p:nvSpPr>
          <p:cNvPr id="24" name="Rectangle 23"/>
          <p:cNvSpPr/>
          <p:nvPr/>
        </p:nvSpPr>
        <p:spPr>
          <a:xfrm>
            <a:off x="475488" y="5769864"/>
            <a:ext cx="17337024" cy="13716"/>
          </a:xfrm>
          <a:prstGeom prst="rect">
            <a:avLst/>
          </a:prstGeom>
          <a:solidFill>
            <a:srgbClr val="D9D9CC"/>
          </a:solidFill>
          <a:ln>
            <a:noFill/>
          </a:ln>
        </p:spPr>
        <p:txBody>
          <a:bodyPr rtlCol="0" anchor="ctr"/>
          <a:lstStyle/>
          <a:p>
            <a:pPr algn="ctr"/>
          </a:p>
        </p:txBody>
      </p:sp>
      <p:sp>
        <p:nvSpPr>
          <p:cNvPr id="25" name="Rounded Rectangle 24"/>
          <p:cNvSpPr/>
          <p:nvPr/>
        </p:nvSpPr>
        <p:spPr>
          <a:xfrm>
            <a:off x="566928" y="5897880"/>
            <a:ext cx="1828800" cy="512064"/>
          </a:xfrm>
          <a:prstGeom prst="roundRect">
            <a:avLst>
              <a:gd name="adj" fmla="val 20000"/>
            </a:avLst>
          </a:prstGeom>
          <a:solidFill>
            <a:srgbClr val="FBE3E3"/>
          </a:solidFill>
          <a:ln w="12700">
            <a:solidFill>
              <a:srgbClr val="C62828"/>
            </a:solidFill>
          </a:ln>
        </p:spPr>
        <p:txBody>
          <a:bodyPr rtlCol="0" anchor="ctr" wrap="none" lIns="0" rIns="0" tIns="0" bIns="0">
            <a:noAutofit/>
          </a:bodyPr>
          <a:lstStyle/>
          <a:p>
            <a:pPr algn="ctr"/>
            <a:r>
              <a:rPr sz="2200" b="1" i="0">
                <a:solidFill>
                  <a:srgbClr val="C62828"/>
                </a:solidFill>
                <a:latin typeface="Roboto Mono"/>
              </a:rPr>
              <a:t>404</a:t>
            </a:r>
          </a:p>
        </p:txBody>
      </p:sp>
      <p:sp>
        <p:nvSpPr>
          <p:cNvPr id="26" name="TextBox 25"/>
          <p:cNvSpPr txBox="1"/>
          <p:nvPr/>
        </p:nvSpPr>
        <p:spPr>
          <a:xfrm>
            <a:off x="2743200" y="5861304"/>
            <a:ext cx="5852160" cy="640080"/>
          </a:xfrm>
          <a:prstGeom prst="rect">
            <a:avLst/>
          </a:prstGeom>
          <a:noFill/>
        </p:spPr>
        <p:txBody>
          <a:bodyPr wrap="square" lIns="0" rIns="0" tIns="0" bIns="0" anchor="ctr">
            <a:noAutofit/>
          </a:bodyPr>
          <a:lstStyle/>
          <a:p>
            <a:pPr algn="l"/>
            <a:r>
              <a:rPr sz="2200" b="1" i="0">
                <a:solidFill>
                  <a:srgbClr val="000000"/>
                </a:solidFill>
                <a:latin typeface="Inter"/>
              </a:rPr>
              <a:t>It can't find that</a:t>
            </a:r>
          </a:p>
        </p:txBody>
      </p:sp>
      <p:sp>
        <p:nvSpPr>
          <p:cNvPr id="27" name="TextBox 26"/>
          <p:cNvSpPr txBox="1"/>
          <p:nvPr/>
        </p:nvSpPr>
        <p:spPr>
          <a:xfrm>
            <a:off x="8778240" y="5861304"/>
            <a:ext cx="8961120" cy="640080"/>
          </a:xfrm>
          <a:prstGeom prst="rect">
            <a:avLst/>
          </a:prstGeom>
          <a:noFill/>
        </p:spPr>
        <p:txBody>
          <a:bodyPr wrap="square" lIns="0" rIns="0" tIns="0" bIns="0" anchor="ctr">
            <a:noAutofit/>
          </a:bodyPr>
          <a:lstStyle/>
          <a:p>
            <a:pPr algn="l"/>
            <a:r>
              <a:rPr sz="1900" b="0" i="0">
                <a:solidFill>
                  <a:srgbClr val="2C2825"/>
                </a:solidFill>
                <a:latin typeface="Inter"/>
              </a:rPr>
              <a:t>Wrong ID, or it belongs to a lab you have not authorised.</a:t>
            </a:r>
          </a:p>
        </p:txBody>
      </p:sp>
      <p:sp>
        <p:nvSpPr>
          <p:cNvPr id="28" name="Rectangle 27"/>
          <p:cNvSpPr/>
          <p:nvPr/>
        </p:nvSpPr>
        <p:spPr>
          <a:xfrm>
            <a:off x="475488" y="6519672"/>
            <a:ext cx="17337024" cy="13716"/>
          </a:xfrm>
          <a:prstGeom prst="rect">
            <a:avLst/>
          </a:prstGeom>
          <a:solidFill>
            <a:srgbClr val="D9D9CC"/>
          </a:solidFill>
          <a:ln>
            <a:noFill/>
          </a:ln>
        </p:spPr>
        <p:txBody>
          <a:bodyPr rtlCol="0" anchor="ctr"/>
          <a:lstStyle/>
          <a:p>
            <a:pPr algn="ctr"/>
          </a:p>
        </p:txBody>
      </p:sp>
      <p:sp>
        <p:nvSpPr>
          <p:cNvPr id="29" name="Rounded Rectangle 28"/>
          <p:cNvSpPr/>
          <p:nvPr/>
        </p:nvSpPr>
        <p:spPr>
          <a:xfrm>
            <a:off x="566928" y="6647688"/>
            <a:ext cx="1828800" cy="512064"/>
          </a:xfrm>
          <a:prstGeom prst="roundRect">
            <a:avLst>
              <a:gd name="adj" fmla="val 20000"/>
            </a:avLst>
          </a:prstGeom>
          <a:solidFill>
            <a:srgbClr val="FBE3E3"/>
          </a:solidFill>
          <a:ln w="12700">
            <a:solidFill>
              <a:srgbClr val="C62828"/>
            </a:solidFill>
          </a:ln>
        </p:spPr>
        <p:txBody>
          <a:bodyPr rtlCol="0" anchor="ctr" wrap="none" lIns="0" rIns="0" tIns="0" bIns="0">
            <a:noAutofit/>
          </a:bodyPr>
          <a:lstStyle/>
          <a:p>
            <a:pPr algn="ctr"/>
            <a:r>
              <a:rPr sz="2200" b="1" i="0">
                <a:solidFill>
                  <a:srgbClr val="C62828"/>
                </a:solidFill>
                <a:latin typeface="Roboto Mono"/>
              </a:rPr>
              <a:t>422</a:t>
            </a:r>
          </a:p>
        </p:txBody>
      </p:sp>
      <p:sp>
        <p:nvSpPr>
          <p:cNvPr id="30" name="TextBox 29"/>
          <p:cNvSpPr txBox="1"/>
          <p:nvPr/>
        </p:nvSpPr>
        <p:spPr>
          <a:xfrm>
            <a:off x="2743200" y="6611112"/>
            <a:ext cx="5852160" cy="640080"/>
          </a:xfrm>
          <a:prstGeom prst="rect">
            <a:avLst/>
          </a:prstGeom>
          <a:noFill/>
        </p:spPr>
        <p:txBody>
          <a:bodyPr wrap="square" lIns="0" rIns="0" tIns="0" bIns="0" anchor="ctr">
            <a:noAutofit/>
          </a:bodyPr>
          <a:lstStyle/>
          <a:p>
            <a:pPr algn="l"/>
            <a:r>
              <a:rPr sz="2200" b="1" i="0">
                <a:solidFill>
                  <a:srgbClr val="000000"/>
                </a:solidFill>
                <a:latin typeface="Inter"/>
              </a:rPr>
              <a:t>Something in your data is wrong</a:t>
            </a:r>
          </a:p>
        </p:txBody>
      </p:sp>
      <p:sp>
        <p:nvSpPr>
          <p:cNvPr id="31" name="TextBox 30"/>
          <p:cNvSpPr txBox="1"/>
          <p:nvPr/>
        </p:nvSpPr>
        <p:spPr>
          <a:xfrm>
            <a:off x="8778240" y="6611112"/>
            <a:ext cx="8961120" cy="640080"/>
          </a:xfrm>
          <a:prstGeom prst="rect">
            <a:avLst/>
          </a:prstGeom>
          <a:noFill/>
        </p:spPr>
        <p:txBody>
          <a:bodyPr wrap="square" lIns="0" rIns="0" tIns="0" bIns="0" anchor="ctr">
            <a:noAutofit/>
          </a:bodyPr>
          <a:lstStyle/>
          <a:p>
            <a:pPr algn="l"/>
            <a:r>
              <a:rPr sz="1900" b="0" i="0">
                <a:solidFill>
                  <a:srgbClr val="2C2825"/>
                </a:solidFill>
                <a:latin typeface="Inter"/>
              </a:rPr>
              <a:t>Read the message: it names the field to fix.</a:t>
            </a:r>
          </a:p>
        </p:txBody>
      </p:sp>
      <p:sp>
        <p:nvSpPr>
          <p:cNvPr id="32" name="Rectangle 31"/>
          <p:cNvSpPr/>
          <p:nvPr/>
        </p:nvSpPr>
        <p:spPr>
          <a:xfrm>
            <a:off x="475488" y="7269480"/>
            <a:ext cx="17337024" cy="13716"/>
          </a:xfrm>
          <a:prstGeom prst="rect">
            <a:avLst/>
          </a:prstGeom>
          <a:solidFill>
            <a:srgbClr val="D9D9CC"/>
          </a:solidFill>
          <a:ln>
            <a:noFill/>
          </a:ln>
        </p:spPr>
        <p:txBody>
          <a:bodyPr rtlCol="0" anchor="ctr"/>
          <a:lstStyle/>
          <a:p>
            <a:pPr algn="ctr"/>
          </a:p>
        </p:txBody>
      </p:sp>
      <p:sp>
        <p:nvSpPr>
          <p:cNvPr id="33" name="Rounded Rectangle 32"/>
          <p:cNvSpPr/>
          <p:nvPr/>
        </p:nvSpPr>
        <p:spPr>
          <a:xfrm>
            <a:off x="566928" y="7397496"/>
            <a:ext cx="1828800" cy="512064"/>
          </a:xfrm>
          <a:prstGeom prst="roundRect">
            <a:avLst>
              <a:gd name="adj" fmla="val 20000"/>
            </a:avLst>
          </a:prstGeom>
          <a:solidFill>
            <a:srgbClr val="FBE3E3"/>
          </a:solidFill>
          <a:ln w="12700">
            <a:solidFill>
              <a:srgbClr val="C62828"/>
            </a:solidFill>
          </a:ln>
        </p:spPr>
        <p:txBody>
          <a:bodyPr rtlCol="0" anchor="ctr" wrap="none" lIns="0" rIns="0" tIns="0" bIns="0">
            <a:noAutofit/>
          </a:bodyPr>
          <a:lstStyle/>
          <a:p>
            <a:pPr algn="ctr"/>
            <a:r>
              <a:rPr sz="2200" b="1" i="0">
                <a:solidFill>
                  <a:srgbClr val="C62828"/>
                </a:solidFill>
                <a:latin typeface="Roboto Mono"/>
              </a:rPr>
              <a:t>429</a:t>
            </a:r>
          </a:p>
        </p:txBody>
      </p:sp>
      <p:sp>
        <p:nvSpPr>
          <p:cNvPr id="34" name="TextBox 33"/>
          <p:cNvSpPr txBox="1"/>
          <p:nvPr/>
        </p:nvSpPr>
        <p:spPr>
          <a:xfrm>
            <a:off x="2743200" y="7360920"/>
            <a:ext cx="5852160" cy="640080"/>
          </a:xfrm>
          <a:prstGeom prst="rect">
            <a:avLst/>
          </a:prstGeom>
          <a:noFill/>
        </p:spPr>
        <p:txBody>
          <a:bodyPr wrap="square" lIns="0" rIns="0" tIns="0" bIns="0" anchor="ctr">
            <a:noAutofit/>
          </a:bodyPr>
          <a:lstStyle/>
          <a:p>
            <a:pPr algn="l"/>
            <a:r>
              <a:rPr sz="2200" b="1" i="0">
                <a:solidFill>
                  <a:srgbClr val="000000"/>
                </a:solidFill>
                <a:latin typeface="Inter"/>
              </a:rPr>
              <a:t>Too many requests</a:t>
            </a:r>
          </a:p>
        </p:txBody>
      </p:sp>
      <p:sp>
        <p:nvSpPr>
          <p:cNvPr id="35" name="TextBox 34"/>
          <p:cNvSpPr txBox="1"/>
          <p:nvPr/>
        </p:nvSpPr>
        <p:spPr>
          <a:xfrm>
            <a:off x="8778240" y="7360920"/>
            <a:ext cx="8961120" cy="640080"/>
          </a:xfrm>
          <a:prstGeom prst="rect">
            <a:avLst/>
          </a:prstGeom>
          <a:noFill/>
        </p:spPr>
        <p:txBody>
          <a:bodyPr wrap="square" lIns="0" rIns="0" tIns="0" bIns="0" anchor="ctr">
            <a:noAutofit/>
          </a:bodyPr>
          <a:lstStyle/>
          <a:p>
            <a:pPr algn="l"/>
            <a:r>
              <a:rPr sz="1900" b="0" i="0">
                <a:solidFill>
                  <a:srgbClr val="2C2825"/>
                </a:solidFill>
                <a:latin typeface="Inter"/>
              </a:rPr>
              <a:t>Wait a minute. The limit is 30 changes per minute.</a:t>
            </a:r>
          </a:p>
        </p:txBody>
      </p:sp>
      <p:sp>
        <p:nvSpPr>
          <p:cNvPr id="36" name="Rectangle 35"/>
          <p:cNvSpPr/>
          <p:nvPr/>
        </p:nvSpPr>
        <p:spPr>
          <a:xfrm>
            <a:off x="475488" y="8019288"/>
            <a:ext cx="17337024" cy="13716"/>
          </a:xfrm>
          <a:prstGeom prst="rect">
            <a:avLst/>
          </a:prstGeom>
          <a:solidFill>
            <a:srgbClr val="D9D9CC"/>
          </a:solidFill>
          <a:ln>
            <a:noFill/>
          </a:ln>
        </p:spPr>
        <p:txBody>
          <a:bodyPr rtlCol="0" anchor="ctr"/>
          <a:lstStyle/>
          <a:p>
            <a:pPr algn="ctr"/>
          </a:p>
        </p:txBody>
      </p:sp>
      <p:sp>
        <p:nvSpPr>
          <p:cNvPr id="37" name="Rounded Rectangle 36"/>
          <p:cNvSpPr/>
          <p:nvPr/>
        </p:nvSpPr>
        <p:spPr>
          <a:xfrm>
            <a:off x="566928" y="8147304"/>
            <a:ext cx="1828800" cy="512064"/>
          </a:xfrm>
          <a:prstGeom prst="roundRect">
            <a:avLst>
              <a:gd name="adj" fmla="val 20000"/>
            </a:avLst>
          </a:prstGeom>
          <a:solidFill>
            <a:srgbClr val="ECECDF"/>
          </a:solidFill>
          <a:ln w="12700">
            <a:solidFill>
              <a:srgbClr val="5A574F"/>
            </a:solidFill>
          </a:ln>
        </p:spPr>
        <p:txBody>
          <a:bodyPr rtlCol="0" anchor="ctr" wrap="none" lIns="0" rIns="0" tIns="0" bIns="0">
            <a:noAutofit/>
          </a:bodyPr>
          <a:lstStyle/>
          <a:p>
            <a:pPr algn="ctr"/>
            <a:r>
              <a:rPr sz="2200" b="1" i="0">
                <a:solidFill>
                  <a:srgbClr val="5A574F"/>
                </a:solidFill>
                <a:latin typeface="Roboto Mono"/>
              </a:rPr>
              <a:t>500</a:t>
            </a:r>
          </a:p>
        </p:txBody>
      </p:sp>
      <p:sp>
        <p:nvSpPr>
          <p:cNvPr id="38" name="TextBox 37"/>
          <p:cNvSpPr txBox="1"/>
          <p:nvPr/>
        </p:nvSpPr>
        <p:spPr>
          <a:xfrm>
            <a:off x="2743200" y="8110728"/>
            <a:ext cx="5852160" cy="640080"/>
          </a:xfrm>
          <a:prstGeom prst="rect">
            <a:avLst/>
          </a:prstGeom>
          <a:noFill/>
        </p:spPr>
        <p:txBody>
          <a:bodyPr wrap="square" lIns="0" rIns="0" tIns="0" bIns="0" anchor="ctr">
            <a:noAutofit/>
          </a:bodyPr>
          <a:lstStyle/>
          <a:p>
            <a:pPr algn="l"/>
            <a:r>
              <a:rPr sz="2200" b="1" i="0">
                <a:solidFill>
                  <a:srgbClr val="000000"/>
                </a:solidFill>
                <a:latin typeface="Inter"/>
              </a:rPr>
              <a:t>A problem at our end</a:t>
            </a:r>
          </a:p>
        </p:txBody>
      </p:sp>
      <p:sp>
        <p:nvSpPr>
          <p:cNvPr id="39" name="TextBox 38"/>
          <p:cNvSpPr txBox="1"/>
          <p:nvPr/>
        </p:nvSpPr>
        <p:spPr>
          <a:xfrm>
            <a:off x="8778240" y="8110728"/>
            <a:ext cx="8961120" cy="640080"/>
          </a:xfrm>
          <a:prstGeom prst="rect">
            <a:avLst/>
          </a:prstGeom>
          <a:noFill/>
        </p:spPr>
        <p:txBody>
          <a:bodyPr wrap="square" lIns="0" rIns="0" tIns="0" bIns="0" anchor="ctr">
            <a:noAutofit/>
          </a:bodyPr>
          <a:lstStyle/>
          <a:p>
            <a:pPr algn="l"/>
            <a:r>
              <a:rPr sz="1900" b="0" i="0">
                <a:solidFill>
                  <a:srgbClr val="2C2825"/>
                </a:solidFill>
                <a:latin typeface="Inter"/>
              </a:rPr>
              <a:t>Try again shortly. If it keeps happening, tell Product.</a:t>
            </a:r>
          </a:p>
        </p:txBody>
      </p:sp>
      <p:sp>
        <p:nvSpPr>
          <p:cNvPr id="40" name="Rectangle 39"/>
          <p:cNvSpPr/>
          <p:nvPr/>
        </p:nvSpPr>
        <p:spPr>
          <a:xfrm>
            <a:off x="475488" y="8769096"/>
            <a:ext cx="17337024" cy="13716"/>
          </a:xfrm>
          <a:prstGeom prst="rect">
            <a:avLst/>
          </a:prstGeom>
          <a:solidFill>
            <a:srgbClr val="D9D9CC"/>
          </a:solidFill>
          <a:ln>
            <a:noFill/>
          </a:ln>
        </p:spPr>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ED"/>
        </a:solidFill>
        <a:effectLst/>
      </p:bgPr>
    </p:bg>
    <p:spTree>
      <p:nvGrpSpPr>
        <p:cNvPr id="1" name=""/>
        <p:cNvGrpSpPr/>
        <p:nvPr/>
      </p:nvGrpSpPr>
      <p:grpSpPr/>
      <p:pic>
        <p:nvPicPr>
          <p:cNvPr id="2" name="Picture 1" descr="s1_0.png"/>
          <p:cNvPicPr>
            <a:picLocks noChangeAspect="1"/>
          </p:cNvPicPr>
          <p:nvPr/>
        </p:nvPicPr>
        <p:blipFill>
          <a:blip r:embed="rId2"/>
          <a:stretch>
            <a:fillRect/>
          </a:stretch>
        </p:blipFill>
        <p:spPr>
          <a:xfrm>
            <a:off x="475488" y="594360"/>
            <a:ext cx="1655064" cy="384048"/>
          </a:xfrm>
          <a:prstGeom prst="rect">
            <a:avLst/>
          </a:prstGeom>
        </p:spPr>
      </p:pic>
      <p:sp>
        <p:nvSpPr>
          <p:cNvPr id="3" name="Rectangle 2"/>
          <p:cNvSpPr/>
          <p:nvPr/>
        </p:nvSpPr>
        <p:spPr>
          <a:xfrm>
            <a:off x="2441448" y="777240"/>
            <a:ext cx="15371064" cy="10972"/>
          </a:xfrm>
          <a:prstGeom prst="rect">
            <a:avLst/>
          </a:prstGeom>
          <a:solidFill>
            <a:srgbClr val="000000"/>
          </a:solidFill>
          <a:ln>
            <a:noFill/>
          </a:ln>
        </p:spPr>
        <p:txBody>
          <a:bodyPr rtlCol="0" anchor="ctr"/>
          <a:lstStyle/>
          <a:p>
            <a:pPr algn="ctr"/>
          </a:p>
        </p:txBody>
      </p:sp>
      <p:sp>
        <p:nvSpPr>
          <p:cNvPr id="4" name="TextBox 3"/>
          <p:cNvSpPr txBox="1"/>
          <p:nvPr/>
        </p:nvSpPr>
        <p:spPr>
          <a:xfrm>
            <a:off x="475488" y="1527048"/>
            <a:ext cx="10972800" cy="365760"/>
          </a:xfrm>
          <a:prstGeom prst="rect">
            <a:avLst/>
          </a:prstGeom>
          <a:noFill/>
        </p:spPr>
        <p:txBody>
          <a:bodyPr wrap="square" lIns="0" rIns="0" tIns="0" bIns="0" anchor="t">
            <a:noAutofit/>
          </a:bodyPr>
          <a:lstStyle/>
          <a:p>
            <a:pPr algn="l"/>
            <a:r>
              <a:rPr sz="1800" b="0" i="0">
                <a:solidFill>
                  <a:srgbClr val="000000"/>
                </a:solidFill>
                <a:latin typeface="Roboto Mono"/>
              </a:rPr>
              <a:t>PART 2 · REQUESTS AND ANSWERS</a:t>
            </a:r>
          </a:p>
        </p:txBody>
      </p:sp>
      <p:sp>
        <p:nvSpPr>
          <p:cNvPr id="5" name="Title"/>
          <p:cNvSpPr txBox="1"/>
          <p:nvPr/>
        </p:nvSpPr>
        <p:spPr>
          <a:xfrm>
            <a:off x="475488" y="2011680"/>
            <a:ext cx="17337024" cy="868680"/>
          </a:xfrm>
          <a:prstGeom prst="rect">
            <a:avLst/>
          </a:prstGeom>
          <a:noFill/>
        </p:spPr>
        <p:txBody>
          <a:bodyPr wrap="square" lIns="0" rIns="0" tIns="0" bIns="0" anchor="t">
            <a:noAutofit/>
          </a:bodyPr>
          <a:lstStyle/>
          <a:p>
            <a:pPr algn="l">
              <a:lnSpc>
                <a:spcPct val="95000"/>
              </a:lnSpc>
            </a:pPr>
            <a:r>
              <a:rPr sz="4600" b="1" i="0">
                <a:solidFill>
                  <a:srgbClr val="000000"/>
                </a:solidFill>
                <a:latin typeface="Inter"/>
              </a:rPr>
              <a:t>JSON is a form written as text</a:t>
            </a:r>
          </a:p>
        </p:txBody>
      </p:sp>
      <p:sp>
        <p:nvSpPr>
          <p:cNvPr id="6" name="Rectangle 5"/>
          <p:cNvSpPr/>
          <p:nvPr/>
        </p:nvSpPr>
        <p:spPr>
          <a:xfrm>
            <a:off x="475488" y="9189720"/>
            <a:ext cx="17337024" cy="10972"/>
          </a:xfrm>
          <a:prstGeom prst="rect">
            <a:avLst/>
          </a:prstGeom>
          <a:solidFill>
            <a:srgbClr val="000000"/>
          </a:solidFill>
          <a:ln>
            <a:noFill/>
          </a:ln>
        </p:spPr>
        <p:txBody>
          <a:bodyPr rtlCol="0" anchor="ctr"/>
          <a:lstStyle/>
          <a:p>
            <a:pPr algn="ctr"/>
          </a:p>
        </p:txBody>
      </p:sp>
      <p:sp>
        <p:nvSpPr>
          <p:cNvPr id="7" name="TextBox 6"/>
          <p:cNvSpPr txBox="1"/>
          <p:nvPr/>
        </p:nvSpPr>
        <p:spPr>
          <a:xfrm>
            <a:off x="475488" y="9354312"/>
            <a:ext cx="2743200" cy="338328"/>
          </a:xfrm>
          <a:prstGeom prst="rect">
            <a:avLst/>
          </a:prstGeom>
          <a:noFill/>
        </p:spPr>
        <p:txBody>
          <a:bodyPr wrap="square" lIns="0" rIns="0" tIns="0" bIns="0" anchor="t">
            <a:noAutofit/>
          </a:bodyPr>
          <a:lstStyle/>
          <a:p>
            <a:pPr algn="l"/>
            <a:r>
              <a:rPr sz="1800" b="0" i="0">
                <a:solidFill>
                  <a:srgbClr val="000000"/>
                </a:solidFill>
                <a:latin typeface="Roboto Mono"/>
              </a:rPr>
              <a:t>CALIRA.CO</a:t>
            </a:r>
          </a:p>
        </p:txBody>
      </p:sp>
      <p:sp>
        <p:nvSpPr>
          <p:cNvPr id="8" name="TextBox 7"/>
          <p:cNvSpPr txBox="1"/>
          <p:nvPr/>
        </p:nvSpPr>
        <p:spPr>
          <a:xfrm>
            <a:off x="15983712" y="9354312"/>
            <a:ext cx="1828800" cy="338328"/>
          </a:xfrm>
          <a:prstGeom prst="rect">
            <a:avLst/>
          </a:prstGeom>
          <a:noFill/>
        </p:spPr>
        <p:txBody>
          <a:bodyPr wrap="square" lIns="0" rIns="0" tIns="0" bIns="0" anchor="t">
            <a:noAutofit/>
          </a:bodyPr>
          <a:lstStyle/>
          <a:p>
            <a:pPr algn="r"/>
            <a:r>
              <a:rPr sz="1800" b="0" i="0">
                <a:solidFill>
                  <a:srgbClr val="000000"/>
                </a:solidFill>
                <a:latin typeface="Roboto Mono"/>
              </a:rPr>
              <a:t>11</a:t>
            </a:r>
          </a:p>
        </p:txBody>
      </p:sp>
      <p:sp>
        <p:nvSpPr>
          <p:cNvPr id="9" name="Rectangle 8"/>
          <p:cNvSpPr/>
          <p:nvPr/>
        </p:nvSpPr>
        <p:spPr>
          <a:xfrm>
            <a:off x="475488" y="3154680"/>
            <a:ext cx="7315200" cy="4846320"/>
          </a:xfrm>
          <a:prstGeom prst="rect">
            <a:avLst/>
          </a:prstGeom>
          <a:solidFill>
            <a:srgbClr val="FFFFFF"/>
          </a:solidFill>
          <a:ln w="12700">
            <a:solidFill>
              <a:srgbClr val="000000"/>
            </a:solidFill>
          </a:ln>
        </p:spPr>
        <p:txBody>
          <a:bodyPr rtlCol="0" anchor="ctr"/>
          <a:lstStyle/>
          <a:p>
            <a:pPr algn="ctr"/>
          </a:p>
        </p:txBody>
      </p:sp>
      <p:sp>
        <p:nvSpPr>
          <p:cNvPr id="10" name="TextBox 9"/>
          <p:cNvSpPr txBox="1"/>
          <p:nvPr/>
        </p:nvSpPr>
        <p:spPr>
          <a:xfrm>
            <a:off x="822960" y="3410712"/>
            <a:ext cx="5486400" cy="365760"/>
          </a:xfrm>
          <a:prstGeom prst="rect">
            <a:avLst/>
          </a:prstGeom>
          <a:noFill/>
        </p:spPr>
        <p:txBody>
          <a:bodyPr wrap="square" lIns="0" rIns="0" tIns="0" bIns="0" anchor="t">
            <a:noAutofit/>
          </a:bodyPr>
          <a:lstStyle/>
          <a:p>
            <a:pPr algn="l"/>
            <a:r>
              <a:rPr sz="1600" b="0" i="0">
                <a:solidFill>
                  <a:srgbClr val="5A574F"/>
                </a:solidFill>
                <a:latin typeface="Roboto Mono"/>
              </a:rPr>
              <a:t>WHAT A PERSON SEES</a:t>
            </a:r>
          </a:p>
        </p:txBody>
      </p:sp>
      <p:sp>
        <p:nvSpPr>
          <p:cNvPr id="11" name="TextBox 10"/>
          <p:cNvSpPr txBox="1"/>
          <p:nvPr/>
        </p:nvSpPr>
        <p:spPr>
          <a:xfrm>
            <a:off x="822960" y="3840480"/>
            <a:ext cx="6400800" cy="457200"/>
          </a:xfrm>
          <a:prstGeom prst="rect">
            <a:avLst/>
          </a:prstGeom>
          <a:noFill/>
        </p:spPr>
        <p:txBody>
          <a:bodyPr wrap="square" lIns="0" rIns="0" tIns="0" bIns="0" anchor="t">
            <a:noAutofit/>
          </a:bodyPr>
          <a:lstStyle/>
          <a:p>
            <a:pPr algn="l"/>
            <a:r>
              <a:rPr sz="2800" b="1" i="0">
                <a:solidFill>
                  <a:srgbClr val="000000"/>
                </a:solidFill>
                <a:latin typeface="Inter"/>
              </a:rPr>
              <a:t>New booking</a:t>
            </a:r>
          </a:p>
        </p:txBody>
      </p:sp>
      <p:sp>
        <p:nvSpPr>
          <p:cNvPr id="12" name="TextBox 11"/>
          <p:cNvSpPr txBox="1"/>
          <p:nvPr/>
        </p:nvSpPr>
        <p:spPr>
          <a:xfrm>
            <a:off x="822960" y="4526280"/>
            <a:ext cx="6583680" cy="274320"/>
          </a:xfrm>
          <a:prstGeom prst="rect">
            <a:avLst/>
          </a:prstGeom>
          <a:noFill/>
        </p:spPr>
        <p:txBody>
          <a:bodyPr wrap="square" lIns="0" rIns="0" tIns="0" bIns="0" anchor="t">
            <a:noAutofit/>
          </a:bodyPr>
          <a:lstStyle/>
          <a:p>
            <a:pPr algn="l"/>
            <a:r>
              <a:rPr sz="1600" b="0" i="0">
                <a:solidFill>
                  <a:srgbClr val="5A574F"/>
                </a:solidFill>
                <a:latin typeface="Inter"/>
              </a:rPr>
              <a:t>Equipment ID</a:t>
            </a:r>
          </a:p>
        </p:txBody>
      </p:sp>
      <p:sp>
        <p:nvSpPr>
          <p:cNvPr id="13" name="Rectangle 12"/>
          <p:cNvSpPr/>
          <p:nvPr/>
        </p:nvSpPr>
        <p:spPr>
          <a:xfrm>
            <a:off x="822960" y="4818888"/>
            <a:ext cx="6583680" cy="420624"/>
          </a:xfrm>
          <a:prstGeom prst="rect">
            <a:avLst/>
          </a:prstGeom>
          <a:solidFill>
            <a:srgbClr val="FFFFFF"/>
          </a:solidFill>
          <a:ln w="12700">
            <a:solidFill>
              <a:srgbClr val="000000"/>
            </a:solidFill>
          </a:ln>
        </p:spPr>
        <p:txBody>
          <a:bodyPr rtlCol="0" anchor="ctr"/>
          <a:lstStyle/>
          <a:p>
            <a:pPr algn="ctr"/>
          </a:p>
        </p:txBody>
      </p:sp>
      <p:sp>
        <p:nvSpPr>
          <p:cNvPr id="14" name="TextBox 13"/>
          <p:cNvSpPr txBox="1"/>
          <p:nvPr/>
        </p:nvSpPr>
        <p:spPr>
          <a:xfrm>
            <a:off x="950976" y="4818888"/>
            <a:ext cx="6327648" cy="420624"/>
          </a:xfrm>
          <a:prstGeom prst="rect">
            <a:avLst/>
          </a:prstGeom>
          <a:noFill/>
        </p:spPr>
        <p:txBody>
          <a:bodyPr wrap="none" lIns="0" rIns="0" tIns="0" bIns="0" anchor="ctr">
            <a:noAutofit/>
          </a:bodyPr>
          <a:lstStyle/>
          <a:p>
            <a:pPr algn="l"/>
            <a:r>
              <a:rPr sz="2000" b="0" i="0">
                <a:solidFill>
                  <a:srgbClr val="2C2825"/>
                </a:solidFill>
                <a:highlight>
                  <a:srgbClr val="E8FC2E"/>
                </a:highlight>
                <a:latin typeface="Inter"/>
              </a:rPr>
              <a:t>492</a:t>
            </a:r>
          </a:p>
        </p:txBody>
      </p:sp>
      <p:sp>
        <p:nvSpPr>
          <p:cNvPr id="15" name="TextBox 14"/>
          <p:cNvSpPr txBox="1"/>
          <p:nvPr/>
        </p:nvSpPr>
        <p:spPr>
          <a:xfrm>
            <a:off x="822960" y="5440680"/>
            <a:ext cx="6583680" cy="274320"/>
          </a:xfrm>
          <a:prstGeom prst="rect">
            <a:avLst/>
          </a:prstGeom>
          <a:noFill/>
        </p:spPr>
        <p:txBody>
          <a:bodyPr wrap="square" lIns="0" rIns="0" tIns="0" bIns="0" anchor="t">
            <a:noAutofit/>
          </a:bodyPr>
          <a:lstStyle/>
          <a:p>
            <a:pPr algn="l"/>
            <a:r>
              <a:rPr sz="1600" b="0" i="0">
                <a:solidFill>
                  <a:srgbClr val="5A574F"/>
                </a:solidFill>
                <a:latin typeface="Inter"/>
              </a:rPr>
              <a:t>Start</a:t>
            </a:r>
          </a:p>
        </p:txBody>
      </p:sp>
      <p:sp>
        <p:nvSpPr>
          <p:cNvPr id="16" name="Rectangle 15"/>
          <p:cNvSpPr/>
          <p:nvPr/>
        </p:nvSpPr>
        <p:spPr>
          <a:xfrm>
            <a:off x="822960" y="5733288"/>
            <a:ext cx="6583680" cy="420624"/>
          </a:xfrm>
          <a:prstGeom prst="rect">
            <a:avLst/>
          </a:prstGeom>
          <a:solidFill>
            <a:srgbClr val="FFFFFF"/>
          </a:solidFill>
          <a:ln w="12700">
            <a:solidFill>
              <a:srgbClr val="000000"/>
            </a:solidFill>
          </a:ln>
        </p:spPr>
        <p:txBody>
          <a:bodyPr rtlCol="0" anchor="ctr"/>
          <a:lstStyle/>
          <a:p>
            <a:pPr algn="ctr"/>
          </a:p>
        </p:txBody>
      </p:sp>
      <p:sp>
        <p:nvSpPr>
          <p:cNvPr id="17" name="TextBox 16"/>
          <p:cNvSpPr txBox="1"/>
          <p:nvPr/>
        </p:nvSpPr>
        <p:spPr>
          <a:xfrm>
            <a:off x="950976" y="5733288"/>
            <a:ext cx="6327648" cy="420624"/>
          </a:xfrm>
          <a:prstGeom prst="rect">
            <a:avLst/>
          </a:prstGeom>
          <a:noFill/>
        </p:spPr>
        <p:txBody>
          <a:bodyPr wrap="none" lIns="0" rIns="0" tIns="0" bIns="0" anchor="ctr">
            <a:noAutofit/>
          </a:bodyPr>
          <a:lstStyle/>
          <a:p>
            <a:pPr algn="l"/>
            <a:r>
              <a:rPr sz="2000" b="0" i="0">
                <a:solidFill>
                  <a:srgbClr val="2C2825"/>
                </a:solidFill>
                <a:highlight>
                  <a:srgbClr val="E8FC2E"/>
                </a:highlight>
                <a:latin typeface="Inter"/>
              </a:rPr>
              <a:t>15 Oct 2026, 10:00</a:t>
            </a:r>
          </a:p>
        </p:txBody>
      </p:sp>
      <p:sp>
        <p:nvSpPr>
          <p:cNvPr id="18" name="TextBox 17"/>
          <p:cNvSpPr txBox="1"/>
          <p:nvPr/>
        </p:nvSpPr>
        <p:spPr>
          <a:xfrm>
            <a:off x="822960" y="6355080"/>
            <a:ext cx="6583680" cy="274320"/>
          </a:xfrm>
          <a:prstGeom prst="rect">
            <a:avLst/>
          </a:prstGeom>
          <a:noFill/>
        </p:spPr>
        <p:txBody>
          <a:bodyPr wrap="square" lIns="0" rIns="0" tIns="0" bIns="0" anchor="t">
            <a:noAutofit/>
          </a:bodyPr>
          <a:lstStyle/>
          <a:p>
            <a:pPr algn="l"/>
            <a:r>
              <a:rPr sz="1600" b="0" i="0">
                <a:solidFill>
                  <a:srgbClr val="5A574F"/>
                </a:solidFill>
                <a:latin typeface="Inter"/>
              </a:rPr>
              <a:t>End</a:t>
            </a:r>
          </a:p>
        </p:txBody>
      </p:sp>
      <p:sp>
        <p:nvSpPr>
          <p:cNvPr id="19" name="Rectangle 18"/>
          <p:cNvSpPr/>
          <p:nvPr/>
        </p:nvSpPr>
        <p:spPr>
          <a:xfrm>
            <a:off x="822960" y="6647688"/>
            <a:ext cx="6583680" cy="420624"/>
          </a:xfrm>
          <a:prstGeom prst="rect">
            <a:avLst/>
          </a:prstGeom>
          <a:solidFill>
            <a:srgbClr val="FFFFFF"/>
          </a:solidFill>
          <a:ln w="12700">
            <a:solidFill>
              <a:srgbClr val="000000"/>
            </a:solidFill>
          </a:ln>
        </p:spPr>
        <p:txBody>
          <a:bodyPr rtlCol="0" anchor="ctr"/>
          <a:lstStyle/>
          <a:p>
            <a:pPr algn="ctr"/>
          </a:p>
        </p:txBody>
      </p:sp>
      <p:sp>
        <p:nvSpPr>
          <p:cNvPr id="20" name="TextBox 19"/>
          <p:cNvSpPr txBox="1"/>
          <p:nvPr/>
        </p:nvSpPr>
        <p:spPr>
          <a:xfrm>
            <a:off x="950976" y="6647688"/>
            <a:ext cx="6327648" cy="420624"/>
          </a:xfrm>
          <a:prstGeom prst="rect">
            <a:avLst/>
          </a:prstGeom>
          <a:noFill/>
        </p:spPr>
        <p:txBody>
          <a:bodyPr wrap="none" lIns="0" rIns="0" tIns="0" bIns="0" anchor="ctr">
            <a:noAutofit/>
          </a:bodyPr>
          <a:lstStyle/>
          <a:p>
            <a:pPr algn="l"/>
            <a:r>
              <a:rPr sz="2000" b="0" i="0">
                <a:solidFill>
                  <a:srgbClr val="2C2825"/>
                </a:solidFill>
                <a:highlight>
                  <a:srgbClr val="E8FC2E"/>
                </a:highlight>
                <a:latin typeface="Inter"/>
              </a:rPr>
              <a:t>15 Oct 2026, 11:00</a:t>
            </a:r>
          </a:p>
        </p:txBody>
      </p:sp>
      <p:sp>
        <p:nvSpPr>
          <p:cNvPr id="21" name="Rounded Rectangle 20"/>
          <p:cNvSpPr/>
          <p:nvPr/>
        </p:nvSpPr>
        <p:spPr>
          <a:xfrm>
            <a:off x="822960" y="7223760"/>
            <a:ext cx="2011680" cy="502920"/>
          </a:xfrm>
          <a:prstGeom prst="roundRect">
            <a:avLst>
              <a:gd name="adj" fmla="val 20000"/>
            </a:avLst>
          </a:prstGeom>
          <a:solidFill>
            <a:srgbClr val="000000"/>
          </a:solidFill>
          <a:ln>
            <a:noFill/>
          </a:ln>
        </p:spPr>
        <p:txBody>
          <a:bodyPr rtlCol="0" anchor="ctr" wrap="none" lIns="0" rIns="0" tIns="0" bIns="0">
            <a:noAutofit/>
          </a:bodyPr>
          <a:lstStyle/>
          <a:p>
            <a:pPr algn="ctr"/>
            <a:r>
              <a:rPr sz="1800" b="1" i="0">
                <a:solidFill>
                  <a:srgbClr val="FFFFFF"/>
                </a:solidFill>
                <a:latin typeface="Inter"/>
              </a:rPr>
              <a:t>Book</a:t>
            </a:r>
          </a:p>
        </p:txBody>
      </p:sp>
      <p:cxnSp>
        <p:nvCxnSpPr>
          <p:cNvPr id="22" name="Connector 21"/>
          <p:cNvCxnSpPr/>
          <p:nvPr/>
        </p:nvCxnSpPr>
        <p:spPr>
          <a:xfrm>
            <a:off x="7909560" y="5577840"/>
            <a:ext cx="1234440" cy="0"/>
          </a:xfrm>
          <a:prstGeom prst="line">
            <a:avLst/>
          </a:prstGeom>
          <a:ln w="31750">
            <a:solidFill>
              <a:srgbClr val="000000"/>
            </a:solidFill>
            <a:tailEnd type="triangle" w="med" len="med"/>
          </a:ln>
        </p:spPr>
      </p:cxnSp>
      <p:sp>
        <p:nvSpPr>
          <p:cNvPr id="23" name="TextBox 22"/>
          <p:cNvSpPr txBox="1"/>
          <p:nvPr/>
        </p:nvSpPr>
        <p:spPr>
          <a:xfrm>
            <a:off x="7635240" y="5806440"/>
            <a:ext cx="1828800" cy="640080"/>
          </a:xfrm>
          <a:prstGeom prst="rect">
            <a:avLst/>
          </a:prstGeom>
          <a:noFill/>
        </p:spPr>
        <p:txBody>
          <a:bodyPr wrap="square" lIns="0" rIns="0" tIns="0" bIns="0" anchor="t">
            <a:noAutofit/>
          </a:bodyPr>
          <a:lstStyle/>
          <a:p>
            <a:pPr algn="ctr"/>
            <a:r>
              <a:rPr sz="1400" b="0" i="0">
                <a:solidFill>
                  <a:srgbClr val="5A574F"/>
                </a:solidFill>
                <a:latin typeface="Roboto Mono"/>
              </a:rPr>
              <a:t>SAME</a:t>
            </a:r>
          </a:p>
          <a:p>
            <a:pPr algn="ctr"/>
            <a:r>
              <a:rPr sz="1400" b="0" i="0">
                <a:solidFill>
                  <a:srgbClr val="5A574F"/>
                </a:solidFill>
                <a:latin typeface="Roboto Mono"/>
              </a:rPr>
              <a:t>FACTS</a:t>
            </a:r>
          </a:p>
        </p:txBody>
      </p:sp>
      <p:sp>
        <p:nvSpPr>
          <p:cNvPr id="24" name="Rectangle 23"/>
          <p:cNvSpPr/>
          <p:nvPr/>
        </p:nvSpPr>
        <p:spPr>
          <a:xfrm>
            <a:off x="9326880" y="3154680"/>
            <a:ext cx="8485632" cy="4846320"/>
          </a:xfrm>
          <a:prstGeom prst="rect">
            <a:avLst/>
          </a:prstGeom>
          <a:solidFill>
            <a:srgbClr val="FFFFFF"/>
          </a:solidFill>
          <a:ln w="12700">
            <a:solidFill>
              <a:srgbClr val="000000"/>
            </a:solidFill>
          </a:ln>
        </p:spPr>
        <p:txBody>
          <a:bodyPr rtlCol="0" anchor="ctr"/>
          <a:lstStyle/>
          <a:p>
            <a:pPr algn="ctr"/>
          </a:p>
        </p:txBody>
      </p:sp>
      <p:sp>
        <p:nvSpPr>
          <p:cNvPr id="25" name="TextBox 24"/>
          <p:cNvSpPr txBox="1"/>
          <p:nvPr/>
        </p:nvSpPr>
        <p:spPr>
          <a:xfrm>
            <a:off x="9692640" y="3410712"/>
            <a:ext cx="7315200" cy="365760"/>
          </a:xfrm>
          <a:prstGeom prst="rect">
            <a:avLst/>
          </a:prstGeom>
          <a:noFill/>
        </p:spPr>
        <p:txBody>
          <a:bodyPr wrap="square" lIns="0" rIns="0" tIns="0" bIns="0" anchor="t">
            <a:noAutofit/>
          </a:bodyPr>
          <a:lstStyle/>
          <a:p>
            <a:pPr algn="l"/>
            <a:r>
              <a:rPr sz="1600" b="0" i="0">
                <a:solidFill>
                  <a:srgbClr val="5A574F"/>
                </a:solidFill>
                <a:latin typeface="Roboto Mono"/>
              </a:rPr>
              <a:t>WHAT A COMPUTER READS (JSON)</a:t>
            </a:r>
          </a:p>
        </p:txBody>
      </p:sp>
      <p:sp>
        <p:nvSpPr>
          <p:cNvPr id="26" name="TextBox 25"/>
          <p:cNvSpPr txBox="1"/>
          <p:nvPr/>
        </p:nvSpPr>
        <p:spPr>
          <a:xfrm>
            <a:off x="9692640" y="3931920"/>
            <a:ext cx="8577072" cy="713232"/>
          </a:xfrm>
          <a:prstGeom prst="rect">
            <a:avLst/>
          </a:prstGeom>
          <a:noFill/>
        </p:spPr>
        <p:txBody>
          <a:bodyPr wrap="none" lIns="0" rIns="0" tIns="0" bIns="0" anchor="t">
            <a:noAutofit/>
          </a:bodyPr>
          <a:lstStyle/>
          <a:p>
            <a:pPr algn="l"/>
            <a:r>
              <a:rPr sz="2400" b="0" i="0">
                <a:solidFill>
                  <a:srgbClr val="000000"/>
                </a:solidFill>
                <a:latin typeface="Roboto Mono"/>
              </a:rPr>
              <a:t>{</a:t>
            </a:r>
          </a:p>
        </p:txBody>
      </p:sp>
      <p:sp>
        <p:nvSpPr>
          <p:cNvPr id="27" name="TextBox 26"/>
          <p:cNvSpPr txBox="1"/>
          <p:nvPr/>
        </p:nvSpPr>
        <p:spPr>
          <a:xfrm>
            <a:off x="9692640" y="4645152"/>
            <a:ext cx="8577072" cy="713232"/>
          </a:xfrm>
          <a:prstGeom prst="rect">
            <a:avLst/>
          </a:prstGeom>
          <a:noFill/>
        </p:spPr>
        <p:txBody>
          <a:bodyPr wrap="none" lIns="0" rIns="0" tIns="0" bIns="0" anchor="t">
            <a:noAutofit/>
          </a:bodyPr>
          <a:lstStyle/>
          <a:p>
            <a:pPr algn="l"/>
            <a:r>
              <a:rPr sz="2400" b="0" i="0">
                <a:solidFill>
                  <a:srgbClr val="000000"/>
                </a:solidFill>
                <a:latin typeface="Roboto Mono"/>
              </a:rPr>
              <a:t>  "equipment_id": </a:t>
            </a:r>
            <a:r>
              <a:rPr sz="2400" b="0" i="0">
                <a:solidFill>
                  <a:srgbClr val="000000"/>
                </a:solidFill>
                <a:highlight>
                  <a:srgbClr val="E8FC2E"/>
                </a:highlight>
                <a:latin typeface="Roboto Mono"/>
              </a:rPr>
              <a:t>492</a:t>
            </a:r>
            <a:r>
              <a:rPr sz="2400" b="0" i="0">
                <a:solidFill>
                  <a:srgbClr val="000000"/>
                </a:solidFill>
                <a:latin typeface="Roboto Mono"/>
              </a:rPr>
              <a:t>,</a:t>
            </a:r>
          </a:p>
        </p:txBody>
      </p:sp>
      <p:sp>
        <p:nvSpPr>
          <p:cNvPr id="28" name="TextBox 27"/>
          <p:cNvSpPr txBox="1"/>
          <p:nvPr/>
        </p:nvSpPr>
        <p:spPr>
          <a:xfrm>
            <a:off x="9692640" y="5358383"/>
            <a:ext cx="8577072" cy="713232"/>
          </a:xfrm>
          <a:prstGeom prst="rect">
            <a:avLst/>
          </a:prstGeom>
          <a:noFill/>
        </p:spPr>
        <p:txBody>
          <a:bodyPr wrap="none" lIns="0" rIns="0" tIns="0" bIns="0" anchor="t">
            <a:noAutofit/>
          </a:bodyPr>
          <a:lstStyle/>
          <a:p>
            <a:pPr algn="l"/>
            <a:r>
              <a:rPr sz="2400" b="0" i="0">
                <a:solidFill>
                  <a:srgbClr val="000000"/>
                </a:solidFill>
                <a:latin typeface="Roboto Mono"/>
              </a:rPr>
              <a:t>  "start_time": </a:t>
            </a:r>
            <a:r>
              <a:rPr sz="2400" b="0" i="0">
                <a:solidFill>
                  <a:srgbClr val="000000"/>
                </a:solidFill>
                <a:highlight>
                  <a:srgbClr val="E8FC2E"/>
                </a:highlight>
                <a:latin typeface="Roboto Mono"/>
              </a:rPr>
              <a:t>"2026-10-15T10:00:00Z"</a:t>
            </a:r>
            <a:r>
              <a:rPr sz="2400" b="0" i="0">
                <a:solidFill>
                  <a:srgbClr val="000000"/>
                </a:solidFill>
                <a:latin typeface="Roboto Mono"/>
              </a:rPr>
              <a:t>,</a:t>
            </a:r>
          </a:p>
        </p:txBody>
      </p:sp>
      <p:sp>
        <p:nvSpPr>
          <p:cNvPr id="29" name="TextBox 28"/>
          <p:cNvSpPr txBox="1"/>
          <p:nvPr/>
        </p:nvSpPr>
        <p:spPr>
          <a:xfrm>
            <a:off x="9692640" y="6071616"/>
            <a:ext cx="8577072" cy="713232"/>
          </a:xfrm>
          <a:prstGeom prst="rect">
            <a:avLst/>
          </a:prstGeom>
          <a:noFill/>
        </p:spPr>
        <p:txBody>
          <a:bodyPr wrap="none" lIns="0" rIns="0" tIns="0" bIns="0" anchor="t">
            <a:noAutofit/>
          </a:bodyPr>
          <a:lstStyle/>
          <a:p>
            <a:pPr algn="l"/>
            <a:r>
              <a:rPr sz="2400" b="0" i="0">
                <a:solidFill>
                  <a:srgbClr val="000000"/>
                </a:solidFill>
                <a:latin typeface="Roboto Mono"/>
              </a:rPr>
              <a:t>  "end_time": </a:t>
            </a:r>
            <a:r>
              <a:rPr sz="2400" b="0" i="0">
                <a:solidFill>
                  <a:srgbClr val="000000"/>
                </a:solidFill>
                <a:highlight>
                  <a:srgbClr val="E8FC2E"/>
                </a:highlight>
                <a:latin typeface="Roboto Mono"/>
              </a:rPr>
              <a:t>"2026-10-15T11:00:00Z"</a:t>
            </a:r>
          </a:p>
        </p:txBody>
      </p:sp>
      <p:sp>
        <p:nvSpPr>
          <p:cNvPr id="30" name="TextBox 29"/>
          <p:cNvSpPr txBox="1"/>
          <p:nvPr/>
        </p:nvSpPr>
        <p:spPr>
          <a:xfrm>
            <a:off x="9692640" y="6784848"/>
            <a:ext cx="8577072" cy="713232"/>
          </a:xfrm>
          <a:prstGeom prst="rect">
            <a:avLst/>
          </a:prstGeom>
          <a:noFill/>
        </p:spPr>
        <p:txBody>
          <a:bodyPr wrap="none" lIns="0" rIns="0" tIns="0" bIns="0" anchor="t">
            <a:noAutofit/>
          </a:bodyPr>
          <a:lstStyle/>
          <a:p>
            <a:pPr algn="l"/>
            <a:r>
              <a:rPr sz="2400" b="0" i="0">
                <a:solidFill>
                  <a:srgbClr val="000000"/>
                </a:solidFill>
                <a:latin typeface="Roboto Mono"/>
              </a:rPr>
              <a:t>}</a:t>
            </a:r>
          </a:p>
        </p:txBody>
      </p:sp>
      <p:sp>
        <p:nvSpPr>
          <p:cNvPr id="31" name="TextBox 30"/>
          <p:cNvSpPr txBox="1"/>
          <p:nvPr/>
        </p:nvSpPr>
        <p:spPr>
          <a:xfrm>
            <a:off x="475488" y="8229600"/>
            <a:ext cx="17337024" cy="731520"/>
          </a:xfrm>
          <a:prstGeom prst="rect">
            <a:avLst/>
          </a:prstGeom>
          <a:noFill/>
        </p:spPr>
        <p:txBody>
          <a:bodyPr wrap="square" lIns="0" rIns="0" tIns="0" bIns="0" anchor="t">
            <a:noAutofit/>
          </a:bodyPr>
          <a:lstStyle/>
          <a:p>
            <a:pPr algn="l"/>
            <a:r>
              <a:rPr sz="2200" b="0" i="0">
                <a:solidFill>
                  <a:srgbClr val="000000"/>
                </a:solidFill>
                <a:latin typeface="Inter"/>
              </a:rPr>
              <a:t>Each line is a </a:t>
            </a:r>
            <a:r>
              <a:rPr sz="2200" b="1" i="0">
                <a:solidFill>
                  <a:srgbClr val="000000"/>
                </a:solidFill>
                <a:latin typeface="Inter"/>
              </a:rPr>
              <a:t>label</a:t>
            </a:r>
            <a:r>
              <a:rPr sz="2200" b="0" i="0">
                <a:solidFill>
                  <a:srgbClr val="000000"/>
                </a:solidFill>
                <a:latin typeface="Inter"/>
              </a:rPr>
              <a:t> and a </a:t>
            </a:r>
            <a:r>
              <a:rPr sz="2200" b="1" i="0">
                <a:solidFill>
                  <a:srgbClr val="000000"/>
                </a:solidFill>
                <a:latin typeface="Inter"/>
              </a:rPr>
              <a:t>value</a:t>
            </a:r>
            <a:r>
              <a:rPr sz="2200" b="0" i="0">
                <a:solidFill>
                  <a:srgbClr val="000000"/>
                </a:solidFill>
                <a:latin typeface="Inter"/>
              </a:rPr>
              <a:t>. If you can fill in a form, you can edit JSON.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ED"/>
        </a:solidFill>
        <a:effectLst/>
      </p:bgPr>
    </p:bg>
    <p:spTree>
      <p:nvGrpSpPr>
        <p:cNvPr id="1" name=""/>
        <p:cNvGrpSpPr/>
        <p:nvPr/>
      </p:nvGrpSpPr>
      <p:grpSpPr/>
      <p:pic>
        <p:nvPicPr>
          <p:cNvPr id="2" name="Picture 1" descr="s1_0.png"/>
          <p:cNvPicPr>
            <a:picLocks noChangeAspect="1"/>
          </p:cNvPicPr>
          <p:nvPr/>
        </p:nvPicPr>
        <p:blipFill>
          <a:blip r:embed="rId2"/>
          <a:stretch>
            <a:fillRect/>
          </a:stretch>
        </p:blipFill>
        <p:spPr>
          <a:xfrm>
            <a:off x="475488" y="594360"/>
            <a:ext cx="1655064" cy="384048"/>
          </a:xfrm>
          <a:prstGeom prst="rect">
            <a:avLst/>
          </a:prstGeom>
        </p:spPr>
      </p:pic>
      <p:sp>
        <p:nvSpPr>
          <p:cNvPr id="3" name="Rectangle 2"/>
          <p:cNvSpPr/>
          <p:nvPr/>
        </p:nvSpPr>
        <p:spPr>
          <a:xfrm>
            <a:off x="2441448" y="777240"/>
            <a:ext cx="15371064" cy="10972"/>
          </a:xfrm>
          <a:prstGeom prst="rect">
            <a:avLst/>
          </a:prstGeom>
          <a:solidFill>
            <a:srgbClr val="000000"/>
          </a:solidFill>
          <a:ln>
            <a:noFill/>
          </a:ln>
        </p:spPr>
        <p:txBody>
          <a:bodyPr rtlCol="0" anchor="ctr"/>
          <a:lstStyle/>
          <a:p>
            <a:pPr algn="ctr"/>
          </a:p>
        </p:txBody>
      </p:sp>
      <p:sp>
        <p:nvSpPr>
          <p:cNvPr id="4" name="TextBox 3"/>
          <p:cNvSpPr txBox="1"/>
          <p:nvPr/>
        </p:nvSpPr>
        <p:spPr>
          <a:xfrm>
            <a:off x="475488" y="1527048"/>
            <a:ext cx="10972800" cy="365760"/>
          </a:xfrm>
          <a:prstGeom prst="rect">
            <a:avLst/>
          </a:prstGeom>
          <a:noFill/>
        </p:spPr>
        <p:txBody>
          <a:bodyPr wrap="square" lIns="0" rIns="0" tIns="0" bIns="0" anchor="t">
            <a:noAutofit/>
          </a:bodyPr>
          <a:lstStyle/>
          <a:p>
            <a:pPr algn="l"/>
            <a:r>
              <a:rPr sz="1800" b="0" i="0">
                <a:solidFill>
                  <a:srgbClr val="000000"/>
                </a:solidFill>
                <a:latin typeface="Roboto Mono"/>
              </a:rPr>
              <a:t>PART 2 · REQUESTS AND ANSWERS</a:t>
            </a:r>
          </a:p>
        </p:txBody>
      </p:sp>
      <p:sp>
        <p:nvSpPr>
          <p:cNvPr id="5" name="Title"/>
          <p:cNvSpPr txBox="1"/>
          <p:nvPr/>
        </p:nvSpPr>
        <p:spPr>
          <a:xfrm>
            <a:off x="475488" y="2011680"/>
            <a:ext cx="17337024" cy="868680"/>
          </a:xfrm>
          <a:prstGeom prst="rect">
            <a:avLst/>
          </a:prstGeom>
          <a:noFill/>
        </p:spPr>
        <p:txBody>
          <a:bodyPr wrap="square" lIns="0" rIns="0" tIns="0" bIns="0" anchor="t">
            <a:noAutofit/>
          </a:bodyPr>
          <a:lstStyle/>
          <a:p>
            <a:pPr algn="l">
              <a:lnSpc>
                <a:spcPct val="95000"/>
              </a:lnSpc>
            </a:pPr>
            <a:r>
              <a:rPr sz="4600" b="1" i="0">
                <a:solidFill>
                  <a:srgbClr val="000000"/>
                </a:solidFill>
                <a:latin typeface="Inter"/>
              </a:rPr>
              <a:t>Reading JSON: five symbols</a:t>
            </a:r>
          </a:p>
        </p:txBody>
      </p:sp>
      <p:sp>
        <p:nvSpPr>
          <p:cNvPr id="6" name="Rectangle 5"/>
          <p:cNvSpPr/>
          <p:nvPr/>
        </p:nvSpPr>
        <p:spPr>
          <a:xfrm>
            <a:off x="475488" y="9189720"/>
            <a:ext cx="17337024" cy="10972"/>
          </a:xfrm>
          <a:prstGeom prst="rect">
            <a:avLst/>
          </a:prstGeom>
          <a:solidFill>
            <a:srgbClr val="000000"/>
          </a:solidFill>
          <a:ln>
            <a:noFill/>
          </a:ln>
        </p:spPr>
        <p:txBody>
          <a:bodyPr rtlCol="0" anchor="ctr"/>
          <a:lstStyle/>
          <a:p>
            <a:pPr algn="ctr"/>
          </a:p>
        </p:txBody>
      </p:sp>
      <p:sp>
        <p:nvSpPr>
          <p:cNvPr id="7" name="TextBox 6"/>
          <p:cNvSpPr txBox="1"/>
          <p:nvPr/>
        </p:nvSpPr>
        <p:spPr>
          <a:xfrm>
            <a:off x="475488" y="9354312"/>
            <a:ext cx="2743200" cy="338328"/>
          </a:xfrm>
          <a:prstGeom prst="rect">
            <a:avLst/>
          </a:prstGeom>
          <a:noFill/>
        </p:spPr>
        <p:txBody>
          <a:bodyPr wrap="square" lIns="0" rIns="0" tIns="0" bIns="0" anchor="t">
            <a:noAutofit/>
          </a:bodyPr>
          <a:lstStyle/>
          <a:p>
            <a:pPr algn="l"/>
            <a:r>
              <a:rPr sz="1800" b="0" i="0">
                <a:solidFill>
                  <a:srgbClr val="000000"/>
                </a:solidFill>
                <a:latin typeface="Roboto Mono"/>
              </a:rPr>
              <a:t>CALIRA.CO</a:t>
            </a:r>
          </a:p>
        </p:txBody>
      </p:sp>
      <p:sp>
        <p:nvSpPr>
          <p:cNvPr id="8" name="TextBox 7"/>
          <p:cNvSpPr txBox="1"/>
          <p:nvPr/>
        </p:nvSpPr>
        <p:spPr>
          <a:xfrm>
            <a:off x="15983712" y="9354312"/>
            <a:ext cx="1828800" cy="338328"/>
          </a:xfrm>
          <a:prstGeom prst="rect">
            <a:avLst/>
          </a:prstGeom>
          <a:noFill/>
        </p:spPr>
        <p:txBody>
          <a:bodyPr wrap="square" lIns="0" rIns="0" tIns="0" bIns="0" anchor="t">
            <a:noAutofit/>
          </a:bodyPr>
          <a:lstStyle/>
          <a:p>
            <a:pPr algn="r"/>
            <a:r>
              <a:rPr sz="1800" b="0" i="0">
                <a:solidFill>
                  <a:srgbClr val="000000"/>
                </a:solidFill>
                <a:latin typeface="Roboto Mono"/>
              </a:rPr>
              <a:t>12</a:t>
            </a:r>
          </a:p>
        </p:txBody>
      </p:sp>
      <p:sp>
        <p:nvSpPr>
          <p:cNvPr id="9" name="Rectangle 8"/>
          <p:cNvSpPr/>
          <p:nvPr/>
        </p:nvSpPr>
        <p:spPr>
          <a:xfrm>
            <a:off x="475488" y="3154680"/>
            <a:ext cx="8869680" cy="5120640"/>
          </a:xfrm>
          <a:prstGeom prst="rect">
            <a:avLst/>
          </a:prstGeom>
          <a:solidFill>
            <a:srgbClr val="FFFFFF"/>
          </a:solidFill>
          <a:ln w="12700">
            <a:solidFill>
              <a:srgbClr val="000000"/>
            </a:solidFill>
          </a:ln>
        </p:spPr>
        <p:txBody>
          <a:bodyPr rtlCol="0" anchor="ctr"/>
          <a:lstStyle/>
          <a:p>
            <a:pPr algn="ctr"/>
          </a:p>
        </p:txBody>
      </p:sp>
      <p:sp>
        <p:nvSpPr>
          <p:cNvPr id="10" name="TextBox 9"/>
          <p:cNvSpPr txBox="1"/>
          <p:nvPr/>
        </p:nvSpPr>
        <p:spPr>
          <a:xfrm>
            <a:off x="1325880" y="3520440"/>
            <a:ext cx="10972800" cy="676656"/>
          </a:xfrm>
          <a:prstGeom prst="rect">
            <a:avLst/>
          </a:prstGeom>
          <a:noFill/>
        </p:spPr>
        <p:txBody>
          <a:bodyPr wrap="none" lIns="0" rIns="0" tIns="0" bIns="0" anchor="t">
            <a:noAutofit/>
          </a:bodyPr>
          <a:lstStyle/>
          <a:p>
            <a:pPr algn="l"/>
            <a:r>
              <a:rPr sz="2400" b="0" i="0">
                <a:solidFill>
                  <a:srgbClr val="000000"/>
                </a:solidFill>
                <a:latin typeface="Roboto Mono"/>
              </a:rPr>
              <a:t>{</a:t>
            </a:r>
          </a:p>
        </p:txBody>
      </p:sp>
      <p:sp>
        <p:nvSpPr>
          <p:cNvPr id="11" name="TextBox 10"/>
          <p:cNvSpPr txBox="1"/>
          <p:nvPr/>
        </p:nvSpPr>
        <p:spPr>
          <a:xfrm>
            <a:off x="1325880" y="4197096"/>
            <a:ext cx="10972800" cy="676656"/>
          </a:xfrm>
          <a:prstGeom prst="rect">
            <a:avLst/>
          </a:prstGeom>
          <a:noFill/>
        </p:spPr>
        <p:txBody>
          <a:bodyPr wrap="none" lIns="0" rIns="0" tIns="0" bIns="0" anchor="t">
            <a:noAutofit/>
          </a:bodyPr>
          <a:lstStyle/>
          <a:p>
            <a:pPr algn="l"/>
            <a:r>
              <a:rPr sz="2400" b="0" i="0">
                <a:solidFill>
                  <a:srgbClr val="000000"/>
                </a:solidFill>
                <a:latin typeface="Roboto Mono"/>
              </a:rPr>
              <a:t>  "id": 492,</a:t>
            </a:r>
          </a:p>
        </p:txBody>
      </p:sp>
      <p:sp>
        <p:nvSpPr>
          <p:cNvPr id="12" name="TextBox 11"/>
          <p:cNvSpPr txBox="1"/>
          <p:nvPr/>
        </p:nvSpPr>
        <p:spPr>
          <a:xfrm>
            <a:off x="1325880" y="4873752"/>
            <a:ext cx="10972800" cy="676656"/>
          </a:xfrm>
          <a:prstGeom prst="rect">
            <a:avLst/>
          </a:prstGeom>
          <a:noFill/>
        </p:spPr>
        <p:txBody>
          <a:bodyPr wrap="none" lIns="0" rIns="0" tIns="0" bIns="0" anchor="t">
            <a:noAutofit/>
          </a:bodyPr>
          <a:lstStyle/>
          <a:p>
            <a:pPr algn="l"/>
            <a:r>
              <a:rPr sz="2400" b="0" i="0">
                <a:solidFill>
                  <a:srgbClr val="000000"/>
                </a:solidFill>
                <a:latin typeface="Roboto Mono"/>
              </a:rPr>
              <a:t>  "name": "Confocal microscope",</a:t>
            </a:r>
          </a:p>
        </p:txBody>
      </p:sp>
      <p:sp>
        <p:nvSpPr>
          <p:cNvPr id="13" name="TextBox 12"/>
          <p:cNvSpPr txBox="1"/>
          <p:nvPr/>
        </p:nvSpPr>
        <p:spPr>
          <a:xfrm>
            <a:off x="1325880" y="5550408"/>
            <a:ext cx="10972800" cy="676656"/>
          </a:xfrm>
          <a:prstGeom prst="rect">
            <a:avLst/>
          </a:prstGeom>
          <a:noFill/>
        </p:spPr>
        <p:txBody>
          <a:bodyPr wrap="none" lIns="0" rIns="0" tIns="0" bIns="0" anchor="t">
            <a:noAutofit/>
          </a:bodyPr>
          <a:lstStyle/>
          <a:p>
            <a:pPr algn="l"/>
            <a:r>
              <a:rPr sz="2400" b="0" i="0">
                <a:solidFill>
                  <a:srgbClr val="000000"/>
                </a:solidFill>
                <a:latin typeface="Roboto Mono"/>
              </a:rPr>
              <a:t>  "lab": { "id": 543 },</a:t>
            </a:r>
          </a:p>
        </p:txBody>
      </p:sp>
      <p:sp>
        <p:nvSpPr>
          <p:cNvPr id="14" name="TextBox 13"/>
          <p:cNvSpPr txBox="1"/>
          <p:nvPr/>
        </p:nvSpPr>
        <p:spPr>
          <a:xfrm>
            <a:off x="1325880" y="6227064"/>
            <a:ext cx="10972800" cy="676656"/>
          </a:xfrm>
          <a:prstGeom prst="rect">
            <a:avLst/>
          </a:prstGeom>
          <a:noFill/>
        </p:spPr>
        <p:txBody>
          <a:bodyPr wrap="none" lIns="0" rIns="0" tIns="0" bIns="0" anchor="t">
            <a:noAutofit/>
          </a:bodyPr>
          <a:lstStyle/>
          <a:p>
            <a:pPr algn="l"/>
            <a:r>
              <a:rPr sz="2400" b="0" i="0">
                <a:solidFill>
                  <a:srgbClr val="000000"/>
                </a:solidFill>
                <a:latin typeface="Roboto Mono"/>
              </a:rPr>
              <a:t>  "contacts": ["Sam", "Priya"],</a:t>
            </a:r>
          </a:p>
        </p:txBody>
      </p:sp>
      <p:sp>
        <p:nvSpPr>
          <p:cNvPr id="15" name="TextBox 14"/>
          <p:cNvSpPr txBox="1"/>
          <p:nvPr/>
        </p:nvSpPr>
        <p:spPr>
          <a:xfrm>
            <a:off x="1325880" y="6903720"/>
            <a:ext cx="10972800" cy="676656"/>
          </a:xfrm>
          <a:prstGeom prst="rect">
            <a:avLst/>
          </a:prstGeom>
          <a:noFill/>
        </p:spPr>
        <p:txBody>
          <a:bodyPr wrap="none" lIns="0" rIns="0" tIns="0" bIns="0" anchor="t">
            <a:noAutofit/>
          </a:bodyPr>
          <a:lstStyle/>
          <a:p>
            <a:pPr algn="l"/>
            <a:r>
              <a:rPr sz="2400" b="0" i="0">
                <a:solidFill>
                  <a:srgbClr val="000000"/>
                </a:solidFill>
                <a:latin typeface="Roboto Mono"/>
              </a:rPr>
              <a:t>  "available": true</a:t>
            </a:r>
          </a:p>
        </p:txBody>
      </p:sp>
      <p:sp>
        <p:nvSpPr>
          <p:cNvPr id="16" name="TextBox 15"/>
          <p:cNvSpPr txBox="1"/>
          <p:nvPr/>
        </p:nvSpPr>
        <p:spPr>
          <a:xfrm>
            <a:off x="1325880" y="7580375"/>
            <a:ext cx="10972800" cy="676656"/>
          </a:xfrm>
          <a:prstGeom prst="rect">
            <a:avLst/>
          </a:prstGeom>
          <a:noFill/>
        </p:spPr>
        <p:txBody>
          <a:bodyPr wrap="none" lIns="0" rIns="0" tIns="0" bIns="0" anchor="t">
            <a:noAutofit/>
          </a:bodyPr>
          <a:lstStyle/>
          <a:p>
            <a:pPr algn="l"/>
            <a:r>
              <a:rPr sz="2400" b="0" i="0">
                <a:solidFill>
                  <a:srgbClr val="000000"/>
                </a:solidFill>
                <a:latin typeface="Roboto Mono"/>
              </a:rPr>
              <a:t>}</a:t>
            </a:r>
          </a:p>
        </p:txBody>
      </p:sp>
      <p:sp>
        <p:nvSpPr>
          <p:cNvPr id="17" name="Oval 16"/>
          <p:cNvSpPr/>
          <p:nvPr/>
        </p:nvSpPr>
        <p:spPr>
          <a:xfrm>
            <a:off x="731520" y="3557016"/>
            <a:ext cx="420624" cy="420624"/>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1</a:t>
            </a:r>
          </a:p>
        </p:txBody>
      </p:sp>
      <p:sp>
        <p:nvSpPr>
          <p:cNvPr id="18" name="Oval 17"/>
          <p:cNvSpPr/>
          <p:nvPr/>
        </p:nvSpPr>
        <p:spPr>
          <a:xfrm>
            <a:off x="731520" y="4233672"/>
            <a:ext cx="420624" cy="420624"/>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2</a:t>
            </a:r>
          </a:p>
        </p:txBody>
      </p:sp>
      <p:sp>
        <p:nvSpPr>
          <p:cNvPr id="19" name="Oval 18"/>
          <p:cNvSpPr/>
          <p:nvPr/>
        </p:nvSpPr>
        <p:spPr>
          <a:xfrm>
            <a:off x="731520" y="4910328"/>
            <a:ext cx="420624" cy="420624"/>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3</a:t>
            </a:r>
          </a:p>
        </p:txBody>
      </p:sp>
      <p:sp>
        <p:nvSpPr>
          <p:cNvPr id="20" name="Oval 19"/>
          <p:cNvSpPr/>
          <p:nvPr/>
        </p:nvSpPr>
        <p:spPr>
          <a:xfrm>
            <a:off x="731520" y="6263640"/>
            <a:ext cx="420624" cy="420624"/>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4</a:t>
            </a:r>
          </a:p>
        </p:txBody>
      </p:sp>
      <p:sp>
        <p:nvSpPr>
          <p:cNvPr id="21" name="Oval 20"/>
          <p:cNvSpPr/>
          <p:nvPr/>
        </p:nvSpPr>
        <p:spPr>
          <a:xfrm>
            <a:off x="731520" y="6940296"/>
            <a:ext cx="420624" cy="420624"/>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5</a:t>
            </a:r>
          </a:p>
        </p:txBody>
      </p:sp>
      <p:sp>
        <p:nvSpPr>
          <p:cNvPr id="22" name="Oval 21"/>
          <p:cNvSpPr/>
          <p:nvPr/>
        </p:nvSpPr>
        <p:spPr>
          <a:xfrm>
            <a:off x="9646920" y="3264408"/>
            <a:ext cx="420624" cy="420624"/>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1</a:t>
            </a:r>
          </a:p>
        </p:txBody>
      </p:sp>
      <p:sp>
        <p:nvSpPr>
          <p:cNvPr id="23" name="TextBox 22"/>
          <p:cNvSpPr txBox="1"/>
          <p:nvPr/>
        </p:nvSpPr>
        <p:spPr>
          <a:xfrm>
            <a:off x="10287000" y="3227832"/>
            <a:ext cx="2743200" cy="457200"/>
          </a:xfrm>
          <a:prstGeom prst="rect">
            <a:avLst/>
          </a:prstGeom>
          <a:noFill/>
        </p:spPr>
        <p:txBody>
          <a:bodyPr wrap="square" lIns="0" rIns="0" tIns="0" bIns="0" anchor="t">
            <a:noAutofit/>
          </a:bodyPr>
          <a:lstStyle/>
          <a:p>
            <a:pPr algn="l"/>
            <a:r>
              <a:rPr sz="2800" b="1" i="0">
                <a:solidFill>
                  <a:srgbClr val="000000"/>
                </a:solidFill>
                <a:latin typeface="Roboto Mono"/>
              </a:rPr>
              <a:t>{ }</a:t>
            </a:r>
          </a:p>
        </p:txBody>
      </p:sp>
      <p:sp>
        <p:nvSpPr>
          <p:cNvPr id="24" name="TextBox 23"/>
          <p:cNvSpPr txBox="1"/>
          <p:nvPr/>
        </p:nvSpPr>
        <p:spPr>
          <a:xfrm>
            <a:off x="10287000" y="3721608"/>
            <a:ext cx="7498079" cy="822960"/>
          </a:xfrm>
          <a:prstGeom prst="rect">
            <a:avLst/>
          </a:prstGeom>
          <a:noFill/>
        </p:spPr>
        <p:txBody>
          <a:bodyPr wrap="square" lIns="0" rIns="0" tIns="0" bIns="0" anchor="t">
            <a:noAutofit/>
          </a:bodyPr>
          <a:lstStyle/>
          <a:p>
            <a:pPr algn="l"/>
            <a:r>
              <a:rPr sz="1900" b="0" i="0">
                <a:solidFill>
                  <a:srgbClr val="2C2825"/>
                </a:solidFill>
                <a:latin typeface="Inter"/>
              </a:rPr>
              <a:t>Curly brackets wrap one thing, such as one piece of equipment. They can sit inside each other.</a:t>
            </a:r>
          </a:p>
        </p:txBody>
      </p:sp>
      <p:sp>
        <p:nvSpPr>
          <p:cNvPr id="25" name="Oval 24"/>
          <p:cNvSpPr/>
          <p:nvPr/>
        </p:nvSpPr>
        <p:spPr>
          <a:xfrm>
            <a:off x="9646920" y="4434840"/>
            <a:ext cx="420624" cy="420624"/>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2</a:t>
            </a:r>
          </a:p>
        </p:txBody>
      </p:sp>
      <p:sp>
        <p:nvSpPr>
          <p:cNvPr id="26" name="TextBox 25"/>
          <p:cNvSpPr txBox="1"/>
          <p:nvPr/>
        </p:nvSpPr>
        <p:spPr>
          <a:xfrm>
            <a:off x="10287000" y="4398264"/>
            <a:ext cx="2743200" cy="457200"/>
          </a:xfrm>
          <a:prstGeom prst="rect">
            <a:avLst/>
          </a:prstGeom>
          <a:noFill/>
        </p:spPr>
        <p:txBody>
          <a:bodyPr wrap="square" lIns="0" rIns="0" tIns="0" bIns="0" anchor="t">
            <a:noAutofit/>
          </a:bodyPr>
          <a:lstStyle/>
          <a:p>
            <a:pPr algn="l"/>
            <a:r>
              <a:rPr sz="2800" b="1" i="0">
                <a:solidFill>
                  <a:srgbClr val="000000"/>
                </a:solidFill>
                <a:latin typeface="Roboto Mono"/>
              </a:rPr>
              <a:t>"label":</a:t>
            </a:r>
          </a:p>
        </p:txBody>
      </p:sp>
      <p:sp>
        <p:nvSpPr>
          <p:cNvPr id="27" name="TextBox 26"/>
          <p:cNvSpPr txBox="1"/>
          <p:nvPr/>
        </p:nvSpPr>
        <p:spPr>
          <a:xfrm>
            <a:off x="10287000" y="4892040"/>
            <a:ext cx="7498079" cy="822960"/>
          </a:xfrm>
          <a:prstGeom prst="rect">
            <a:avLst/>
          </a:prstGeom>
          <a:noFill/>
        </p:spPr>
        <p:txBody>
          <a:bodyPr wrap="square" lIns="0" rIns="0" tIns="0" bIns="0" anchor="t">
            <a:noAutofit/>
          </a:bodyPr>
          <a:lstStyle/>
          <a:p>
            <a:pPr algn="l"/>
            <a:r>
              <a:rPr sz="1900" b="0" i="0">
                <a:solidFill>
                  <a:srgbClr val="2C2825"/>
                </a:solidFill>
                <a:latin typeface="Inter"/>
              </a:rPr>
              <a:t>Every fact has a label, then a colon, then its value.</a:t>
            </a:r>
          </a:p>
        </p:txBody>
      </p:sp>
      <p:sp>
        <p:nvSpPr>
          <p:cNvPr id="28" name="Oval 27"/>
          <p:cNvSpPr/>
          <p:nvPr/>
        </p:nvSpPr>
        <p:spPr>
          <a:xfrm>
            <a:off x="9646920" y="5605272"/>
            <a:ext cx="420624" cy="420624"/>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3</a:t>
            </a:r>
          </a:p>
        </p:txBody>
      </p:sp>
      <p:sp>
        <p:nvSpPr>
          <p:cNvPr id="29" name="TextBox 28"/>
          <p:cNvSpPr txBox="1"/>
          <p:nvPr/>
        </p:nvSpPr>
        <p:spPr>
          <a:xfrm>
            <a:off x="10287000" y="5568696"/>
            <a:ext cx="2743200" cy="457200"/>
          </a:xfrm>
          <a:prstGeom prst="rect">
            <a:avLst/>
          </a:prstGeom>
          <a:noFill/>
        </p:spPr>
        <p:txBody>
          <a:bodyPr wrap="square" lIns="0" rIns="0" tIns="0" bIns="0" anchor="t">
            <a:noAutofit/>
          </a:bodyPr>
          <a:lstStyle/>
          <a:p>
            <a:pPr algn="l"/>
            <a:r>
              <a:rPr sz="2800" b="1" i="0">
                <a:solidFill>
                  <a:srgbClr val="000000"/>
                </a:solidFill>
                <a:latin typeface="Roboto Mono"/>
              </a:rPr>
              <a:t>"text"</a:t>
            </a:r>
          </a:p>
        </p:txBody>
      </p:sp>
      <p:sp>
        <p:nvSpPr>
          <p:cNvPr id="30" name="TextBox 29"/>
          <p:cNvSpPr txBox="1"/>
          <p:nvPr/>
        </p:nvSpPr>
        <p:spPr>
          <a:xfrm>
            <a:off x="10287000" y="6062472"/>
            <a:ext cx="7498079" cy="822960"/>
          </a:xfrm>
          <a:prstGeom prst="rect">
            <a:avLst/>
          </a:prstGeom>
          <a:noFill/>
        </p:spPr>
        <p:txBody>
          <a:bodyPr wrap="square" lIns="0" rIns="0" tIns="0" bIns="0" anchor="t">
            <a:noAutofit/>
          </a:bodyPr>
          <a:lstStyle/>
          <a:p>
            <a:pPr algn="l"/>
            <a:r>
              <a:rPr sz="1900" b="0" i="0">
                <a:solidFill>
                  <a:srgbClr val="2C2825"/>
                </a:solidFill>
                <a:latin typeface="Inter"/>
              </a:rPr>
              <a:t>Words and dates go inside quotes. Numbers and true / false do not.</a:t>
            </a:r>
          </a:p>
        </p:txBody>
      </p:sp>
      <p:sp>
        <p:nvSpPr>
          <p:cNvPr id="31" name="Oval 30"/>
          <p:cNvSpPr/>
          <p:nvPr/>
        </p:nvSpPr>
        <p:spPr>
          <a:xfrm>
            <a:off x="9646920" y="6775704"/>
            <a:ext cx="420624" cy="420624"/>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4</a:t>
            </a:r>
          </a:p>
        </p:txBody>
      </p:sp>
      <p:sp>
        <p:nvSpPr>
          <p:cNvPr id="32" name="TextBox 31"/>
          <p:cNvSpPr txBox="1"/>
          <p:nvPr/>
        </p:nvSpPr>
        <p:spPr>
          <a:xfrm>
            <a:off x="10287000" y="6739128"/>
            <a:ext cx="2743200" cy="457200"/>
          </a:xfrm>
          <a:prstGeom prst="rect">
            <a:avLst/>
          </a:prstGeom>
          <a:noFill/>
        </p:spPr>
        <p:txBody>
          <a:bodyPr wrap="square" lIns="0" rIns="0" tIns="0" bIns="0" anchor="t">
            <a:noAutofit/>
          </a:bodyPr>
          <a:lstStyle/>
          <a:p>
            <a:pPr algn="l"/>
            <a:r>
              <a:rPr sz="2800" b="1" i="0">
                <a:solidFill>
                  <a:srgbClr val="000000"/>
                </a:solidFill>
                <a:latin typeface="Roboto Mono"/>
              </a:rPr>
              <a:t>[ ]</a:t>
            </a:r>
          </a:p>
        </p:txBody>
      </p:sp>
      <p:sp>
        <p:nvSpPr>
          <p:cNvPr id="33" name="TextBox 32"/>
          <p:cNvSpPr txBox="1"/>
          <p:nvPr/>
        </p:nvSpPr>
        <p:spPr>
          <a:xfrm>
            <a:off x="10287000" y="7232904"/>
            <a:ext cx="7498079" cy="822960"/>
          </a:xfrm>
          <a:prstGeom prst="rect">
            <a:avLst/>
          </a:prstGeom>
          <a:noFill/>
        </p:spPr>
        <p:txBody>
          <a:bodyPr wrap="square" lIns="0" rIns="0" tIns="0" bIns="0" anchor="t">
            <a:noAutofit/>
          </a:bodyPr>
          <a:lstStyle/>
          <a:p>
            <a:pPr algn="l"/>
            <a:r>
              <a:rPr sz="1900" b="0" i="0">
                <a:solidFill>
                  <a:srgbClr val="2C2825"/>
                </a:solidFill>
                <a:latin typeface="Inter"/>
              </a:rPr>
              <a:t>Square brackets hold a list of several things.</a:t>
            </a:r>
          </a:p>
        </p:txBody>
      </p:sp>
      <p:sp>
        <p:nvSpPr>
          <p:cNvPr id="34" name="Oval 33"/>
          <p:cNvSpPr/>
          <p:nvPr/>
        </p:nvSpPr>
        <p:spPr>
          <a:xfrm>
            <a:off x="9646920" y="7946136"/>
            <a:ext cx="420624" cy="420624"/>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5</a:t>
            </a:r>
          </a:p>
        </p:txBody>
      </p:sp>
      <p:sp>
        <p:nvSpPr>
          <p:cNvPr id="35" name="TextBox 34"/>
          <p:cNvSpPr txBox="1"/>
          <p:nvPr/>
        </p:nvSpPr>
        <p:spPr>
          <a:xfrm>
            <a:off x="10287000" y="7909560"/>
            <a:ext cx="2743200" cy="457200"/>
          </a:xfrm>
          <a:prstGeom prst="rect">
            <a:avLst/>
          </a:prstGeom>
          <a:noFill/>
        </p:spPr>
        <p:txBody>
          <a:bodyPr wrap="square" lIns="0" rIns="0" tIns="0" bIns="0" anchor="t">
            <a:noAutofit/>
          </a:bodyPr>
          <a:lstStyle/>
          <a:p>
            <a:pPr algn="l"/>
            <a:r>
              <a:rPr sz="2800" b="1" i="0">
                <a:solidFill>
                  <a:srgbClr val="000000"/>
                </a:solidFill>
                <a:latin typeface="Roboto Mono"/>
              </a:rPr>
              <a:t>,</a:t>
            </a:r>
          </a:p>
        </p:txBody>
      </p:sp>
      <p:sp>
        <p:nvSpPr>
          <p:cNvPr id="36" name="TextBox 35"/>
          <p:cNvSpPr txBox="1"/>
          <p:nvPr/>
        </p:nvSpPr>
        <p:spPr>
          <a:xfrm>
            <a:off x="10287000" y="8403336"/>
            <a:ext cx="7498079" cy="822960"/>
          </a:xfrm>
          <a:prstGeom prst="rect">
            <a:avLst/>
          </a:prstGeom>
          <a:noFill/>
        </p:spPr>
        <p:txBody>
          <a:bodyPr wrap="square" lIns="0" rIns="0" tIns="0" bIns="0" anchor="t">
            <a:noAutofit/>
          </a:bodyPr>
          <a:lstStyle/>
          <a:p>
            <a:pPr algn="l"/>
            <a:r>
              <a:rPr sz="1900" b="0" i="0">
                <a:solidFill>
                  <a:srgbClr val="2C2825"/>
                </a:solidFill>
                <a:latin typeface="Inter"/>
              </a:rPr>
              <a:t>A comma separates items, but there is none after the last 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ED"/>
        </a:solidFill>
        <a:effectLst/>
      </p:bgPr>
    </p:bg>
    <p:spTree>
      <p:nvGrpSpPr>
        <p:cNvPr id="1" name=""/>
        <p:cNvGrpSpPr/>
        <p:nvPr/>
      </p:nvGrpSpPr>
      <p:grpSpPr/>
      <p:pic>
        <p:nvPicPr>
          <p:cNvPr id="2" name="Picture 1" descr="s1_0.png"/>
          <p:cNvPicPr>
            <a:picLocks noChangeAspect="1"/>
          </p:cNvPicPr>
          <p:nvPr/>
        </p:nvPicPr>
        <p:blipFill>
          <a:blip r:embed="rId2"/>
          <a:stretch>
            <a:fillRect/>
          </a:stretch>
        </p:blipFill>
        <p:spPr>
          <a:xfrm>
            <a:off x="475488" y="594360"/>
            <a:ext cx="1655064" cy="384048"/>
          </a:xfrm>
          <a:prstGeom prst="rect">
            <a:avLst/>
          </a:prstGeom>
        </p:spPr>
      </p:pic>
      <p:sp>
        <p:nvSpPr>
          <p:cNvPr id="3" name="Rectangle 2"/>
          <p:cNvSpPr/>
          <p:nvPr/>
        </p:nvSpPr>
        <p:spPr>
          <a:xfrm>
            <a:off x="2441448" y="777240"/>
            <a:ext cx="15371064" cy="10972"/>
          </a:xfrm>
          <a:prstGeom prst="rect">
            <a:avLst/>
          </a:prstGeom>
          <a:solidFill>
            <a:srgbClr val="000000"/>
          </a:solidFill>
          <a:ln>
            <a:noFill/>
          </a:ln>
        </p:spPr>
        <p:txBody>
          <a:bodyPr rtlCol="0" anchor="ctr"/>
          <a:lstStyle/>
          <a:p>
            <a:pPr algn="ctr"/>
          </a:p>
        </p:txBody>
      </p:sp>
      <p:sp>
        <p:nvSpPr>
          <p:cNvPr id="4" name="TextBox 3"/>
          <p:cNvSpPr txBox="1"/>
          <p:nvPr/>
        </p:nvSpPr>
        <p:spPr>
          <a:xfrm>
            <a:off x="475488" y="1527048"/>
            <a:ext cx="10972800" cy="365760"/>
          </a:xfrm>
          <a:prstGeom prst="rect">
            <a:avLst/>
          </a:prstGeom>
          <a:noFill/>
        </p:spPr>
        <p:txBody>
          <a:bodyPr wrap="square" lIns="0" rIns="0" tIns="0" bIns="0" anchor="t">
            <a:noAutofit/>
          </a:bodyPr>
          <a:lstStyle/>
          <a:p>
            <a:pPr algn="l"/>
            <a:r>
              <a:rPr sz="1800" b="0" i="0">
                <a:solidFill>
                  <a:srgbClr val="000000"/>
                </a:solidFill>
                <a:latin typeface="Roboto Mono"/>
              </a:rPr>
              <a:t>PART 2 · REQUESTS AND ANSWERS</a:t>
            </a:r>
          </a:p>
        </p:txBody>
      </p:sp>
      <p:sp>
        <p:nvSpPr>
          <p:cNvPr id="5" name="Title"/>
          <p:cNvSpPr txBox="1"/>
          <p:nvPr/>
        </p:nvSpPr>
        <p:spPr>
          <a:xfrm>
            <a:off x="475488" y="2011680"/>
            <a:ext cx="17337024" cy="868680"/>
          </a:xfrm>
          <a:prstGeom prst="rect">
            <a:avLst/>
          </a:prstGeom>
          <a:noFill/>
        </p:spPr>
        <p:txBody>
          <a:bodyPr wrap="square" lIns="0" rIns="0" tIns="0" bIns="0" anchor="t">
            <a:noAutofit/>
          </a:bodyPr>
          <a:lstStyle/>
          <a:p>
            <a:pPr algn="l">
              <a:lnSpc>
                <a:spcPct val="95000"/>
              </a:lnSpc>
            </a:pPr>
            <a:r>
              <a:rPr sz="4600" b="1" i="0">
                <a:solidFill>
                  <a:srgbClr val="000000"/>
                </a:solidFill>
                <a:latin typeface="Inter"/>
              </a:rPr>
              <a:t>Editing JSON without breaking it</a:t>
            </a:r>
          </a:p>
        </p:txBody>
      </p:sp>
      <p:sp>
        <p:nvSpPr>
          <p:cNvPr id="6" name="Rectangle 5"/>
          <p:cNvSpPr/>
          <p:nvPr/>
        </p:nvSpPr>
        <p:spPr>
          <a:xfrm>
            <a:off x="475488" y="9189720"/>
            <a:ext cx="17337024" cy="10972"/>
          </a:xfrm>
          <a:prstGeom prst="rect">
            <a:avLst/>
          </a:prstGeom>
          <a:solidFill>
            <a:srgbClr val="000000"/>
          </a:solidFill>
          <a:ln>
            <a:noFill/>
          </a:ln>
        </p:spPr>
        <p:txBody>
          <a:bodyPr rtlCol="0" anchor="ctr"/>
          <a:lstStyle/>
          <a:p>
            <a:pPr algn="ctr"/>
          </a:p>
        </p:txBody>
      </p:sp>
      <p:sp>
        <p:nvSpPr>
          <p:cNvPr id="7" name="TextBox 6"/>
          <p:cNvSpPr txBox="1"/>
          <p:nvPr/>
        </p:nvSpPr>
        <p:spPr>
          <a:xfrm>
            <a:off x="475488" y="9354312"/>
            <a:ext cx="2743200" cy="338328"/>
          </a:xfrm>
          <a:prstGeom prst="rect">
            <a:avLst/>
          </a:prstGeom>
          <a:noFill/>
        </p:spPr>
        <p:txBody>
          <a:bodyPr wrap="square" lIns="0" rIns="0" tIns="0" bIns="0" anchor="t">
            <a:noAutofit/>
          </a:bodyPr>
          <a:lstStyle/>
          <a:p>
            <a:pPr algn="l"/>
            <a:r>
              <a:rPr sz="1800" b="0" i="0">
                <a:solidFill>
                  <a:srgbClr val="000000"/>
                </a:solidFill>
                <a:latin typeface="Roboto Mono"/>
              </a:rPr>
              <a:t>CALIRA.CO</a:t>
            </a:r>
          </a:p>
        </p:txBody>
      </p:sp>
      <p:sp>
        <p:nvSpPr>
          <p:cNvPr id="8" name="TextBox 7"/>
          <p:cNvSpPr txBox="1"/>
          <p:nvPr/>
        </p:nvSpPr>
        <p:spPr>
          <a:xfrm>
            <a:off x="15983712" y="9354312"/>
            <a:ext cx="1828800" cy="338328"/>
          </a:xfrm>
          <a:prstGeom prst="rect">
            <a:avLst/>
          </a:prstGeom>
          <a:noFill/>
        </p:spPr>
        <p:txBody>
          <a:bodyPr wrap="square" lIns="0" rIns="0" tIns="0" bIns="0" anchor="t">
            <a:noAutofit/>
          </a:bodyPr>
          <a:lstStyle/>
          <a:p>
            <a:pPr algn="r"/>
            <a:r>
              <a:rPr sz="1800" b="0" i="0">
                <a:solidFill>
                  <a:srgbClr val="000000"/>
                </a:solidFill>
                <a:latin typeface="Roboto Mono"/>
              </a:rPr>
              <a:t>13</a:t>
            </a:r>
          </a:p>
        </p:txBody>
      </p:sp>
      <p:sp>
        <p:nvSpPr>
          <p:cNvPr id="9" name="Rectangle 8"/>
          <p:cNvSpPr/>
          <p:nvPr/>
        </p:nvSpPr>
        <p:spPr>
          <a:xfrm>
            <a:off x="475488" y="3154680"/>
            <a:ext cx="5440680" cy="4846320"/>
          </a:xfrm>
          <a:prstGeom prst="rect">
            <a:avLst/>
          </a:prstGeom>
          <a:solidFill>
            <a:srgbClr val="FFFFFF"/>
          </a:solidFill>
          <a:ln w="12700">
            <a:solidFill>
              <a:srgbClr val="000000"/>
            </a:solidFill>
          </a:ln>
        </p:spPr>
        <p:txBody>
          <a:bodyPr rtlCol="0" anchor="ctr"/>
          <a:lstStyle/>
          <a:p>
            <a:pPr algn="ctr"/>
          </a:p>
        </p:txBody>
      </p:sp>
      <p:sp>
        <p:nvSpPr>
          <p:cNvPr id="10" name="TextBox 9"/>
          <p:cNvSpPr txBox="1"/>
          <p:nvPr/>
        </p:nvSpPr>
        <p:spPr>
          <a:xfrm>
            <a:off x="795528" y="3429000"/>
            <a:ext cx="5440680" cy="365760"/>
          </a:xfrm>
          <a:prstGeom prst="rect">
            <a:avLst/>
          </a:prstGeom>
          <a:noFill/>
        </p:spPr>
        <p:txBody>
          <a:bodyPr wrap="square" lIns="0" rIns="0" tIns="0" bIns="0" anchor="t">
            <a:noAutofit/>
          </a:bodyPr>
          <a:lstStyle/>
          <a:p>
            <a:pPr algn="l"/>
            <a:r>
              <a:rPr sz="1600" b="0" i="0">
                <a:solidFill>
                  <a:srgbClr val="009E00"/>
                </a:solidFill>
                <a:latin typeface="Roboto Mono"/>
              </a:rPr>
              <a:t>SAFE TO CHANGE</a:t>
            </a:r>
          </a:p>
        </p:txBody>
      </p:sp>
      <p:pic>
        <p:nvPicPr>
          <p:cNvPr id="11" name="Picture 10" descr="check.png"/>
          <p:cNvPicPr>
            <a:picLocks noChangeAspect="1"/>
          </p:cNvPicPr>
          <p:nvPr/>
        </p:nvPicPr>
        <p:blipFill>
          <a:blip r:embed="rId3"/>
          <a:stretch>
            <a:fillRect/>
          </a:stretch>
        </p:blipFill>
        <p:spPr>
          <a:xfrm>
            <a:off x="795528" y="4087368"/>
            <a:ext cx="365760" cy="365760"/>
          </a:xfrm>
          <a:prstGeom prst="rect">
            <a:avLst/>
          </a:prstGeom>
        </p:spPr>
      </p:pic>
      <p:sp>
        <p:nvSpPr>
          <p:cNvPr id="12" name="TextBox 11"/>
          <p:cNvSpPr txBox="1"/>
          <p:nvPr/>
        </p:nvSpPr>
        <p:spPr>
          <a:xfrm>
            <a:off x="1389888" y="4069080"/>
            <a:ext cx="4251960" cy="914400"/>
          </a:xfrm>
          <a:prstGeom prst="rect">
            <a:avLst/>
          </a:prstGeom>
          <a:noFill/>
        </p:spPr>
        <p:txBody>
          <a:bodyPr wrap="square" lIns="0" rIns="0" tIns="0" bIns="0" anchor="t">
            <a:noAutofit/>
          </a:bodyPr>
          <a:lstStyle/>
          <a:p>
            <a:pPr algn="l"/>
            <a:r>
              <a:rPr sz="2000" b="0" i="0">
                <a:solidFill>
                  <a:srgbClr val="000000"/>
                </a:solidFill>
                <a:latin typeface="Inter"/>
              </a:rPr>
              <a:t>The value after the colon</a:t>
            </a:r>
          </a:p>
        </p:txBody>
      </p:sp>
      <p:pic>
        <p:nvPicPr>
          <p:cNvPr id="13" name="Picture 12" descr="check.png"/>
          <p:cNvPicPr>
            <a:picLocks noChangeAspect="1"/>
          </p:cNvPicPr>
          <p:nvPr/>
        </p:nvPicPr>
        <p:blipFill>
          <a:blip r:embed="rId3"/>
          <a:stretch>
            <a:fillRect/>
          </a:stretch>
        </p:blipFill>
        <p:spPr>
          <a:xfrm>
            <a:off x="795528" y="5047488"/>
            <a:ext cx="365760" cy="365760"/>
          </a:xfrm>
          <a:prstGeom prst="rect">
            <a:avLst/>
          </a:prstGeom>
        </p:spPr>
      </p:pic>
      <p:sp>
        <p:nvSpPr>
          <p:cNvPr id="14" name="TextBox 13"/>
          <p:cNvSpPr txBox="1"/>
          <p:nvPr/>
        </p:nvSpPr>
        <p:spPr>
          <a:xfrm>
            <a:off x="1389888" y="5029200"/>
            <a:ext cx="4251960" cy="914400"/>
          </a:xfrm>
          <a:prstGeom prst="rect">
            <a:avLst/>
          </a:prstGeom>
          <a:noFill/>
        </p:spPr>
        <p:txBody>
          <a:bodyPr wrap="square" lIns="0" rIns="0" tIns="0" bIns="0" anchor="t">
            <a:noAutofit/>
          </a:bodyPr>
          <a:lstStyle/>
          <a:p>
            <a:pPr algn="l"/>
            <a:r>
              <a:rPr sz="2000" b="0" i="0">
                <a:solidFill>
                  <a:srgbClr val="000000"/>
                </a:solidFill>
                <a:latin typeface="Inter"/>
              </a:rPr>
              <a:t>Numbers, such as an ID</a:t>
            </a:r>
          </a:p>
        </p:txBody>
      </p:sp>
      <p:pic>
        <p:nvPicPr>
          <p:cNvPr id="15" name="Picture 14" descr="check.png"/>
          <p:cNvPicPr>
            <a:picLocks noChangeAspect="1"/>
          </p:cNvPicPr>
          <p:nvPr/>
        </p:nvPicPr>
        <p:blipFill>
          <a:blip r:embed="rId3"/>
          <a:stretch>
            <a:fillRect/>
          </a:stretch>
        </p:blipFill>
        <p:spPr>
          <a:xfrm>
            <a:off x="795528" y="6007607"/>
            <a:ext cx="365760" cy="365760"/>
          </a:xfrm>
          <a:prstGeom prst="rect">
            <a:avLst/>
          </a:prstGeom>
        </p:spPr>
      </p:pic>
      <p:sp>
        <p:nvSpPr>
          <p:cNvPr id="16" name="TextBox 15"/>
          <p:cNvSpPr txBox="1"/>
          <p:nvPr/>
        </p:nvSpPr>
        <p:spPr>
          <a:xfrm>
            <a:off x="1389888" y="5989320"/>
            <a:ext cx="4251960" cy="914400"/>
          </a:xfrm>
          <a:prstGeom prst="rect">
            <a:avLst/>
          </a:prstGeom>
          <a:noFill/>
        </p:spPr>
        <p:txBody>
          <a:bodyPr wrap="square" lIns="0" rIns="0" tIns="0" bIns="0" anchor="t">
            <a:noAutofit/>
          </a:bodyPr>
          <a:lstStyle/>
          <a:p>
            <a:pPr algn="l"/>
            <a:r>
              <a:rPr sz="2000" b="0" i="0">
                <a:solidFill>
                  <a:srgbClr val="000000"/>
                </a:solidFill>
                <a:latin typeface="Inter"/>
              </a:rPr>
              <a:t>Dates, keeping the same shape</a:t>
            </a:r>
          </a:p>
        </p:txBody>
      </p:sp>
      <p:pic>
        <p:nvPicPr>
          <p:cNvPr id="17" name="Picture 16" descr="check.png"/>
          <p:cNvPicPr>
            <a:picLocks noChangeAspect="1"/>
          </p:cNvPicPr>
          <p:nvPr/>
        </p:nvPicPr>
        <p:blipFill>
          <a:blip r:embed="rId3"/>
          <a:stretch>
            <a:fillRect/>
          </a:stretch>
        </p:blipFill>
        <p:spPr>
          <a:xfrm>
            <a:off x="795528" y="6967727"/>
            <a:ext cx="365760" cy="365760"/>
          </a:xfrm>
          <a:prstGeom prst="rect">
            <a:avLst/>
          </a:prstGeom>
        </p:spPr>
      </p:pic>
      <p:sp>
        <p:nvSpPr>
          <p:cNvPr id="18" name="TextBox 17"/>
          <p:cNvSpPr txBox="1"/>
          <p:nvPr/>
        </p:nvSpPr>
        <p:spPr>
          <a:xfrm>
            <a:off x="1389888" y="6949440"/>
            <a:ext cx="4251960" cy="914400"/>
          </a:xfrm>
          <a:prstGeom prst="rect">
            <a:avLst/>
          </a:prstGeom>
          <a:noFill/>
        </p:spPr>
        <p:txBody>
          <a:bodyPr wrap="square" lIns="0" rIns="0" tIns="0" bIns="0" anchor="t">
            <a:noAutofit/>
          </a:bodyPr>
          <a:lstStyle/>
          <a:p>
            <a:pPr algn="l"/>
            <a:r>
              <a:rPr sz="2000" b="0" i="0">
                <a:solidFill>
                  <a:srgbClr val="000000"/>
                </a:solidFill>
                <a:latin typeface="Inter"/>
              </a:rPr>
              <a:t>Replace a {{variable}} with a real value</a:t>
            </a:r>
          </a:p>
        </p:txBody>
      </p:sp>
      <p:sp>
        <p:nvSpPr>
          <p:cNvPr id="19" name="Rectangle 18"/>
          <p:cNvSpPr/>
          <p:nvPr/>
        </p:nvSpPr>
        <p:spPr>
          <a:xfrm>
            <a:off x="6080760" y="3154680"/>
            <a:ext cx="5440680" cy="4846320"/>
          </a:xfrm>
          <a:prstGeom prst="rect">
            <a:avLst/>
          </a:prstGeom>
          <a:solidFill>
            <a:srgbClr val="FFFFFF"/>
          </a:solidFill>
          <a:ln w="12700">
            <a:solidFill>
              <a:srgbClr val="000000"/>
            </a:solidFill>
          </a:ln>
        </p:spPr>
        <p:txBody>
          <a:bodyPr rtlCol="0" anchor="ctr"/>
          <a:lstStyle/>
          <a:p>
            <a:pPr algn="ctr"/>
          </a:p>
        </p:txBody>
      </p:sp>
      <p:sp>
        <p:nvSpPr>
          <p:cNvPr id="20" name="TextBox 19"/>
          <p:cNvSpPr txBox="1"/>
          <p:nvPr/>
        </p:nvSpPr>
        <p:spPr>
          <a:xfrm>
            <a:off x="6400800" y="3429000"/>
            <a:ext cx="5440680" cy="365760"/>
          </a:xfrm>
          <a:prstGeom prst="rect">
            <a:avLst/>
          </a:prstGeom>
          <a:noFill/>
        </p:spPr>
        <p:txBody>
          <a:bodyPr wrap="square" lIns="0" rIns="0" tIns="0" bIns="0" anchor="t">
            <a:noAutofit/>
          </a:bodyPr>
          <a:lstStyle/>
          <a:p>
            <a:pPr algn="l"/>
            <a:r>
              <a:rPr sz="1600" b="0" i="0">
                <a:solidFill>
                  <a:srgbClr val="C62828"/>
                </a:solidFill>
                <a:latin typeface="Roboto Mono"/>
              </a:rPr>
              <a:t>LEAVE ALONE</a:t>
            </a:r>
          </a:p>
        </p:txBody>
      </p:sp>
      <p:pic>
        <p:nvPicPr>
          <p:cNvPr id="21" name="Picture 20" descr="x.png"/>
          <p:cNvPicPr>
            <a:picLocks noChangeAspect="1"/>
          </p:cNvPicPr>
          <p:nvPr/>
        </p:nvPicPr>
        <p:blipFill>
          <a:blip r:embed="rId4"/>
          <a:stretch>
            <a:fillRect/>
          </a:stretch>
        </p:blipFill>
        <p:spPr>
          <a:xfrm>
            <a:off x="6400800" y="4087368"/>
            <a:ext cx="365760" cy="365760"/>
          </a:xfrm>
          <a:prstGeom prst="rect">
            <a:avLst/>
          </a:prstGeom>
        </p:spPr>
      </p:pic>
      <p:sp>
        <p:nvSpPr>
          <p:cNvPr id="22" name="TextBox 21"/>
          <p:cNvSpPr txBox="1"/>
          <p:nvPr/>
        </p:nvSpPr>
        <p:spPr>
          <a:xfrm>
            <a:off x="6995160" y="4069080"/>
            <a:ext cx="4251960" cy="914400"/>
          </a:xfrm>
          <a:prstGeom prst="rect">
            <a:avLst/>
          </a:prstGeom>
          <a:noFill/>
        </p:spPr>
        <p:txBody>
          <a:bodyPr wrap="square" lIns="0" rIns="0" tIns="0" bIns="0" anchor="t">
            <a:noAutofit/>
          </a:bodyPr>
          <a:lstStyle/>
          <a:p>
            <a:pPr algn="l"/>
            <a:r>
              <a:rPr sz="2000" b="0" i="0">
                <a:solidFill>
                  <a:srgbClr val="000000"/>
                </a:solidFill>
                <a:latin typeface="Inter"/>
              </a:rPr>
              <a:t>Quotes, colons, commas and brackets</a:t>
            </a:r>
          </a:p>
        </p:txBody>
      </p:sp>
      <p:pic>
        <p:nvPicPr>
          <p:cNvPr id="23" name="Picture 22" descr="x.png"/>
          <p:cNvPicPr>
            <a:picLocks noChangeAspect="1"/>
          </p:cNvPicPr>
          <p:nvPr/>
        </p:nvPicPr>
        <p:blipFill>
          <a:blip r:embed="rId4"/>
          <a:stretch>
            <a:fillRect/>
          </a:stretch>
        </p:blipFill>
        <p:spPr>
          <a:xfrm>
            <a:off x="6400800" y="5047488"/>
            <a:ext cx="365760" cy="365760"/>
          </a:xfrm>
          <a:prstGeom prst="rect">
            <a:avLst/>
          </a:prstGeom>
        </p:spPr>
      </p:pic>
      <p:sp>
        <p:nvSpPr>
          <p:cNvPr id="24" name="TextBox 23"/>
          <p:cNvSpPr txBox="1"/>
          <p:nvPr/>
        </p:nvSpPr>
        <p:spPr>
          <a:xfrm>
            <a:off x="6995160" y="5029200"/>
            <a:ext cx="4251960" cy="914400"/>
          </a:xfrm>
          <a:prstGeom prst="rect">
            <a:avLst/>
          </a:prstGeom>
          <a:noFill/>
        </p:spPr>
        <p:txBody>
          <a:bodyPr wrap="square" lIns="0" rIns="0" tIns="0" bIns="0" anchor="t">
            <a:noAutofit/>
          </a:bodyPr>
          <a:lstStyle/>
          <a:p>
            <a:pPr algn="l"/>
            <a:r>
              <a:rPr sz="2000" b="0" i="0">
                <a:solidFill>
                  <a:srgbClr val="000000"/>
                </a:solidFill>
                <a:latin typeface="Inter"/>
              </a:rPr>
              <a:t>The labels on the left</a:t>
            </a:r>
          </a:p>
        </p:txBody>
      </p:sp>
      <p:pic>
        <p:nvPicPr>
          <p:cNvPr id="25" name="Picture 24" descr="x.png"/>
          <p:cNvPicPr>
            <a:picLocks noChangeAspect="1"/>
          </p:cNvPicPr>
          <p:nvPr/>
        </p:nvPicPr>
        <p:blipFill>
          <a:blip r:embed="rId4"/>
          <a:stretch>
            <a:fillRect/>
          </a:stretch>
        </p:blipFill>
        <p:spPr>
          <a:xfrm>
            <a:off x="6400800" y="6007607"/>
            <a:ext cx="365760" cy="365760"/>
          </a:xfrm>
          <a:prstGeom prst="rect">
            <a:avLst/>
          </a:prstGeom>
        </p:spPr>
      </p:pic>
      <p:sp>
        <p:nvSpPr>
          <p:cNvPr id="26" name="TextBox 25"/>
          <p:cNvSpPr txBox="1"/>
          <p:nvPr/>
        </p:nvSpPr>
        <p:spPr>
          <a:xfrm>
            <a:off x="6995160" y="5989320"/>
            <a:ext cx="4251960" cy="914400"/>
          </a:xfrm>
          <a:prstGeom prst="rect">
            <a:avLst/>
          </a:prstGeom>
          <a:noFill/>
        </p:spPr>
        <p:txBody>
          <a:bodyPr wrap="square" lIns="0" rIns="0" tIns="0" bIns="0" anchor="t">
            <a:noAutofit/>
          </a:bodyPr>
          <a:lstStyle/>
          <a:p>
            <a:pPr algn="l"/>
            <a:r>
              <a:rPr sz="2000" b="0" i="0">
                <a:solidFill>
                  <a:srgbClr val="000000"/>
                </a:solidFill>
                <a:latin typeface="Inter"/>
              </a:rPr>
              <a:t>A comma after the last item</a:t>
            </a:r>
          </a:p>
        </p:txBody>
      </p:sp>
      <p:pic>
        <p:nvPicPr>
          <p:cNvPr id="27" name="Picture 26" descr="x.png"/>
          <p:cNvPicPr>
            <a:picLocks noChangeAspect="1"/>
          </p:cNvPicPr>
          <p:nvPr/>
        </p:nvPicPr>
        <p:blipFill>
          <a:blip r:embed="rId4"/>
          <a:stretch>
            <a:fillRect/>
          </a:stretch>
        </p:blipFill>
        <p:spPr>
          <a:xfrm>
            <a:off x="6400800" y="6967727"/>
            <a:ext cx="365760" cy="365760"/>
          </a:xfrm>
          <a:prstGeom prst="rect">
            <a:avLst/>
          </a:prstGeom>
        </p:spPr>
      </p:pic>
      <p:sp>
        <p:nvSpPr>
          <p:cNvPr id="28" name="TextBox 27"/>
          <p:cNvSpPr txBox="1"/>
          <p:nvPr/>
        </p:nvSpPr>
        <p:spPr>
          <a:xfrm>
            <a:off x="6995160" y="6949440"/>
            <a:ext cx="4251960" cy="914400"/>
          </a:xfrm>
          <a:prstGeom prst="rect">
            <a:avLst/>
          </a:prstGeom>
          <a:noFill/>
        </p:spPr>
        <p:txBody>
          <a:bodyPr wrap="square" lIns="0" rIns="0" tIns="0" bIns="0" anchor="t">
            <a:noAutofit/>
          </a:bodyPr>
          <a:lstStyle/>
          <a:p>
            <a:pPr algn="l"/>
            <a:r>
              <a:rPr sz="2000" b="0" i="0">
                <a:solidFill>
                  <a:srgbClr val="000000"/>
                </a:solidFill>
                <a:latin typeface="Inter"/>
              </a:rPr>
              <a:t>Curly quotes pasted from Word or email</a:t>
            </a:r>
          </a:p>
        </p:txBody>
      </p:sp>
      <p:sp>
        <p:nvSpPr>
          <p:cNvPr id="29" name="Rectangle 28"/>
          <p:cNvSpPr/>
          <p:nvPr/>
        </p:nvSpPr>
        <p:spPr>
          <a:xfrm>
            <a:off x="11704320" y="3154680"/>
            <a:ext cx="6108192" cy="4846320"/>
          </a:xfrm>
          <a:prstGeom prst="rect">
            <a:avLst/>
          </a:prstGeom>
          <a:solidFill>
            <a:srgbClr val="FFFFFF"/>
          </a:solidFill>
          <a:ln w="12700">
            <a:solidFill>
              <a:srgbClr val="000000"/>
            </a:solidFill>
          </a:ln>
        </p:spPr>
        <p:txBody>
          <a:bodyPr rtlCol="0" anchor="ctr"/>
          <a:lstStyle/>
          <a:p>
            <a:pPr algn="ctr"/>
          </a:p>
        </p:txBody>
      </p:sp>
      <p:sp>
        <p:nvSpPr>
          <p:cNvPr id="30" name="TextBox 29"/>
          <p:cNvSpPr txBox="1"/>
          <p:nvPr/>
        </p:nvSpPr>
        <p:spPr>
          <a:xfrm>
            <a:off x="11978640" y="3429000"/>
            <a:ext cx="5486400" cy="365760"/>
          </a:xfrm>
          <a:prstGeom prst="rect">
            <a:avLst/>
          </a:prstGeom>
          <a:noFill/>
        </p:spPr>
        <p:txBody>
          <a:bodyPr wrap="square" lIns="0" rIns="0" tIns="0" bIns="0" anchor="t">
            <a:noAutofit/>
          </a:bodyPr>
          <a:lstStyle/>
          <a:p>
            <a:pPr algn="l"/>
            <a:r>
              <a:rPr sz="1600" b="0" i="0">
                <a:solidFill>
                  <a:srgbClr val="5A574F"/>
                </a:solidFill>
                <a:latin typeface="Roboto Mono"/>
              </a:rPr>
              <a:t>SPOT THE MISTAKES</a:t>
            </a:r>
          </a:p>
        </p:txBody>
      </p:sp>
      <p:sp>
        <p:nvSpPr>
          <p:cNvPr id="31" name="TextBox 30"/>
          <p:cNvSpPr txBox="1"/>
          <p:nvPr/>
        </p:nvSpPr>
        <p:spPr>
          <a:xfrm>
            <a:off x="11978640" y="3931920"/>
            <a:ext cx="6291072" cy="502920"/>
          </a:xfrm>
          <a:prstGeom prst="rect">
            <a:avLst/>
          </a:prstGeom>
          <a:noFill/>
        </p:spPr>
        <p:txBody>
          <a:bodyPr wrap="none" lIns="0" rIns="0" tIns="0" bIns="0" anchor="t">
            <a:noAutofit/>
          </a:bodyPr>
          <a:lstStyle/>
          <a:p>
            <a:pPr algn="l"/>
            <a:r>
              <a:rPr sz="1700" b="0" i="0">
                <a:solidFill>
                  <a:srgbClr val="000000"/>
                </a:solidFill>
                <a:latin typeface="Roboto Mono"/>
              </a:rPr>
              <a:t>{</a:t>
            </a:r>
          </a:p>
        </p:txBody>
      </p:sp>
      <p:sp>
        <p:nvSpPr>
          <p:cNvPr id="32" name="TextBox 31"/>
          <p:cNvSpPr txBox="1"/>
          <p:nvPr/>
        </p:nvSpPr>
        <p:spPr>
          <a:xfrm>
            <a:off x="11978640" y="4434840"/>
            <a:ext cx="6291072" cy="502920"/>
          </a:xfrm>
          <a:prstGeom prst="rect">
            <a:avLst/>
          </a:prstGeom>
          <a:noFill/>
        </p:spPr>
        <p:txBody>
          <a:bodyPr wrap="none" lIns="0" rIns="0" tIns="0" bIns="0" anchor="t">
            <a:noAutofit/>
          </a:bodyPr>
          <a:lstStyle/>
          <a:p>
            <a:pPr algn="l"/>
            <a:r>
              <a:rPr sz="1700" b="0" i="0">
                <a:solidFill>
                  <a:srgbClr val="000000"/>
                </a:solidFill>
                <a:latin typeface="Roboto Mono"/>
              </a:rPr>
              <a:t>  "equipment_id": </a:t>
            </a:r>
            <a:r>
              <a:rPr sz="1700" b="0" i="0">
                <a:solidFill>
                  <a:srgbClr val="000000"/>
                </a:solidFill>
                <a:highlight>
                  <a:srgbClr val="FFC9C9"/>
                </a:highlight>
                <a:latin typeface="Roboto Mono"/>
              </a:rPr>
              <a:t>492</a:t>
            </a:r>
          </a:p>
        </p:txBody>
      </p:sp>
      <p:sp>
        <p:nvSpPr>
          <p:cNvPr id="33" name="TextBox 32"/>
          <p:cNvSpPr txBox="1"/>
          <p:nvPr/>
        </p:nvSpPr>
        <p:spPr>
          <a:xfrm>
            <a:off x="11978640" y="4937760"/>
            <a:ext cx="6291072" cy="502920"/>
          </a:xfrm>
          <a:prstGeom prst="rect">
            <a:avLst/>
          </a:prstGeom>
          <a:noFill/>
        </p:spPr>
        <p:txBody>
          <a:bodyPr wrap="none" lIns="0" rIns="0" tIns="0" bIns="0" anchor="t">
            <a:noAutofit/>
          </a:bodyPr>
          <a:lstStyle/>
          <a:p>
            <a:pPr algn="l"/>
            <a:r>
              <a:rPr sz="1700" b="0" i="0">
                <a:solidFill>
                  <a:srgbClr val="000000"/>
                </a:solidFill>
                <a:latin typeface="Roboto Mono"/>
              </a:rPr>
              <a:t>  "start_time": </a:t>
            </a:r>
            <a:r>
              <a:rPr sz="1700" b="0" i="0">
                <a:solidFill>
                  <a:srgbClr val="000000"/>
                </a:solidFill>
                <a:highlight>
                  <a:srgbClr val="FFC9C9"/>
                </a:highlight>
                <a:latin typeface="Roboto Mono"/>
              </a:rPr>
              <a:t>“</a:t>
            </a:r>
            <a:r>
              <a:rPr sz="1700" b="0" i="0">
                <a:solidFill>
                  <a:srgbClr val="000000"/>
                </a:solidFill>
                <a:latin typeface="Roboto Mono"/>
              </a:rPr>
              <a:t>2026-10-15T10:00:00Z</a:t>
            </a:r>
            <a:r>
              <a:rPr sz="1700" b="0" i="0">
                <a:solidFill>
                  <a:srgbClr val="000000"/>
                </a:solidFill>
                <a:highlight>
                  <a:srgbClr val="FFC9C9"/>
                </a:highlight>
                <a:latin typeface="Roboto Mono"/>
              </a:rPr>
              <a:t>”</a:t>
            </a:r>
            <a:r>
              <a:rPr sz="1700" b="0" i="0">
                <a:solidFill>
                  <a:srgbClr val="000000"/>
                </a:solidFill>
                <a:latin typeface="Roboto Mono"/>
              </a:rPr>
              <a:t>,</a:t>
            </a:r>
          </a:p>
        </p:txBody>
      </p:sp>
      <p:sp>
        <p:nvSpPr>
          <p:cNvPr id="34" name="TextBox 33"/>
          <p:cNvSpPr txBox="1"/>
          <p:nvPr/>
        </p:nvSpPr>
        <p:spPr>
          <a:xfrm>
            <a:off x="11978640" y="5440680"/>
            <a:ext cx="6291072" cy="502920"/>
          </a:xfrm>
          <a:prstGeom prst="rect">
            <a:avLst/>
          </a:prstGeom>
          <a:noFill/>
        </p:spPr>
        <p:txBody>
          <a:bodyPr wrap="none" lIns="0" rIns="0" tIns="0" bIns="0" anchor="t">
            <a:noAutofit/>
          </a:bodyPr>
          <a:lstStyle/>
          <a:p>
            <a:pPr algn="l"/>
            <a:r>
              <a:rPr sz="1700" b="0" i="0">
                <a:solidFill>
                  <a:srgbClr val="000000"/>
                </a:solidFill>
                <a:latin typeface="Roboto Mono"/>
              </a:rPr>
              <a:t>  "end_time": "2026-10-15T11:00:00Z"</a:t>
            </a:r>
            <a:r>
              <a:rPr sz="1700" b="0" i="0">
                <a:solidFill>
                  <a:srgbClr val="000000"/>
                </a:solidFill>
                <a:highlight>
                  <a:srgbClr val="FFC9C9"/>
                </a:highlight>
                <a:latin typeface="Roboto Mono"/>
              </a:rPr>
              <a:t>,</a:t>
            </a:r>
          </a:p>
        </p:txBody>
      </p:sp>
      <p:sp>
        <p:nvSpPr>
          <p:cNvPr id="35" name="TextBox 34"/>
          <p:cNvSpPr txBox="1"/>
          <p:nvPr/>
        </p:nvSpPr>
        <p:spPr>
          <a:xfrm>
            <a:off x="11978640" y="5943600"/>
            <a:ext cx="6291072" cy="502920"/>
          </a:xfrm>
          <a:prstGeom prst="rect">
            <a:avLst/>
          </a:prstGeom>
          <a:noFill/>
        </p:spPr>
        <p:txBody>
          <a:bodyPr wrap="none" lIns="0" rIns="0" tIns="0" bIns="0" anchor="t">
            <a:noAutofit/>
          </a:bodyPr>
          <a:lstStyle/>
          <a:p>
            <a:pPr algn="l"/>
            <a:r>
              <a:rPr sz="1700" b="0" i="0">
                <a:solidFill>
                  <a:srgbClr val="000000"/>
                </a:solidFill>
                <a:latin typeface="Roboto Mono"/>
              </a:rPr>
              <a:t>}</a:t>
            </a:r>
          </a:p>
        </p:txBody>
      </p:sp>
      <p:sp>
        <p:nvSpPr>
          <p:cNvPr id="36" name="Oval 35"/>
          <p:cNvSpPr/>
          <p:nvPr/>
        </p:nvSpPr>
        <p:spPr>
          <a:xfrm>
            <a:off x="11978640" y="6629400"/>
            <a:ext cx="347472" cy="347472"/>
          </a:xfrm>
          <a:prstGeom prst="ellipse">
            <a:avLst/>
          </a:prstGeom>
          <a:solidFill>
            <a:srgbClr val="FFC9C9"/>
          </a:solidFill>
          <a:ln w="12700">
            <a:solidFill>
              <a:srgbClr val="000000"/>
            </a:solidFill>
          </a:ln>
        </p:spPr>
        <p:txBody>
          <a:bodyPr rtlCol="0" anchor="ctr" wrap="none" lIns="0" rIns="0" tIns="0" bIns="0">
            <a:noAutofit/>
          </a:bodyPr>
          <a:lstStyle/>
          <a:p>
            <a:pPr algn="ctr"/>
            <a:r>
              <a:rPr sz="1400" b="1" i="0">
                <a:solidFill>
                  <a:srgbClr val="000000"/>
                </a:solidFill>
                <a:latin typeface="Inter"/>
              </a:rPr>
              <a:t>1</a:t>
            </a:r>
          </a:p>
        </p:txBody>
      </p:sp>
      <p:sp>
        <p:nvSpPr>
          <p:cNvPr id="37" name="TextBox 36"/>
          <p:cNvSpPr txBox="1"/>
          <p:nvPr/>
        </p:nvSpPr>
        <p:spPr>
          <a:xfrm>
            <a:off x="12481560" y="6629400"/>
            <a:ext cx="5212080" cy="347472"/>
          </a:xfrm>
          <a:prstGeom prst="rect">
            <a:avLst/>
          </a:prstGeom>
          <a:noFill/>
        </p:spPr>
        <p:txBody>
          <a:bodyPr wrap="square" lIns="0" rIns="0" tIns="0" bIns="0" anchor="ctr">
            <a:noAutofit/>
          </a:bodyPr>
          <a:lstStyle/>
          <a:p>
            <a:pPr algn="l"/>
            <a:r>
              <a:rPr sz="1800" b="0" i="0">
                <a:solidFill>
                  <a:srgbClr val="000000"/>
                </a:solidFill>
                <a:latin typeface="Inter"/>
              </a:rPr>
              <a:t>No comma after 492</a:t>
            </a:r>
          </a:p>
        </p:txBody>
      </p:sp>
      <p:sp>
        <p:nvSpPr>
          <p:cNvPr id="38" name="Oval 37"/>
          <p:cNvSpPr/>
          <p:nvPr/>
        </p:nvSpPr>
        <p:spPr>
          <a:xfrm>
            <a:off x="11978640" y="7086600"/>
            <a:ext cx="347472" cy="347472"/>
          </a:xfrm>
          <a:prstGeom prst="ellipse">
            <a:avLst/>
          </a:prstGeom>
          <a:solidFill>
            <a:srgbClr val="FFC9C9"/>
          </a:solidFill>
          <a:ln w="12700">
            <a:solidFill>
              <a:srgbClr val="000000"/>
            </a:solidFill>
          </a:ln>
        </p:spPr>
        <p:txBody>
          <a:bodyPr rtlCol="0" anchor="ctr" wrap="none" lIns="0" rIns="0" tIns="0" bIns="0">
            <a:noAutofit/>
          </a:bodyPr>
          <a:lstStyle/>
          <a:p>
            <a:pPr algn="ctr"/>
            <a:r>
              <a:rPr sz="1400" b="1" i="0">
                <a:solidFill>
                  <a:srgbClr val="000000"/>
                </a:solidFill>
                <a:latin typeface="Inter"/>
              </a:rPr>
              <a:t>2</a:t>
            </a:r>
          </a:p>
        </p:txBody>
      </p:sp>
      <p:sp>
        <p:nvSpPr>
          <p:cNvPr id="39" name="TextBox 38"/>
          <p:cNvSpPr txBox="1"/>
          <p:nvPr/>
        </p:nvSpPr>
        <p:spPr>
          <a:xfrm>
            <a:off x="12481560" y="7086600"/>
            <a:ext cx="5212080" cy="347472"/>
          </a:xfrm>
          <a:prstGeom prst="rect">
            <a:avLst/>
          </a:prstGeom>
          <a:noFill/>
        </p:spPr>
        <p:txBody>
          <a:bodyPr wrap="square" lIns="0" rIns="0" tIns="0" bIns="0" anchor="ctr">
            <a:noAutofit/>
          </a:bodyPr>
          <a:lstStyle/>
          <a:p>
            <a:pPr algn="l"/>
            <a:r>
              <a:rPr sz="1800" b="0" i="0">
                <a:solidFill>
                  <a:srgbClr val="000000"/>
                </a:solidFill>
                <a:latin typeface="Inter"/>
              </a:rPr>
              <a:t>Curly quotes</a:t>
            </a:r>
          </a:p>
        </p:txBody>
      </p:sp>
      <p:sp>
        <p:nvSpPr>
          <p:cNvPr id="40" name="Oval 39"/>
          <p:cNvSpPr/>
          <p:nvPr/>
        </p:nvSpPr>
        <p:spPr>
          <a:xfrm>
            <a:off x="11978640" y="7543800"/>
            <a:ext cx="347472" cy="347472"/>
          </a:xfrm>
          <a:prstGeom prst="ellipse">
            <a:avLst/>
          </a:prstGeom>
          <a:solidFill>
            <a:srgbClr val="FFC9C9"/>
          </a:solidFill>
          <a:ln w="12700">
            <a:solidFill>
              <a:srgbClr val="000000"/>
            </a:solidFill>
          </a:ln>
        </p:spPr>
        <p:txBody>
          <a:bodyPr rtlCol="0" anchor="ctr" wrap="none" lIns="0" rIns="0" tIns="0" bIns="0">
            <a:noAutofit/>
          </a:bodyPr>
          <a:lstStyle/>
          <a:p>
            <a:pPr algn="ctr"/>
            <a:r>
              <a:rPr sz="1400" b="1" i="0">
                <a:solidFill>
                  <a:srgbClr val="000000"/>
                </a:solidFill>
                <a:latin typeface="Inter"/>
              </a:rPr>
              <a:t>3</a:t>
            </a:r>
          </a:p>
        </p:txBody>
      </p:sp>
      <p:sp>
        <p:nvSpPr>
          <p:cNvPr id="41" name="TextBox 40"/>
          <p:cNvSpPr txBox="1"/>
          <p:nvPr/>
        </p:nvSpPr>
        <p:spPr>
          <a:xfrm>
            <a:off x="12481560" y="7543800"/>
            <a:ext cx="5212080" cy="347472"/>
          </a:xfrm>
          <a:prstGeom prst="rect">
            <a:avLst/>
          </a:prstGeom>
          <a:noFill/>
        </p:spPr>
        <p:txBody>
          <a:bodyPr wrap="square" lIns="0" rIns="0" tIns="0" bIns="0" anchor="ctr">
            <a:noAutofit/>
          </a:bodyPr>
          <a:lstStyle/>
          <a:p>
            <a:pPr algn="l"/>
            <a:r>
              <a:rPr sz="1800" b="0" i="0">
                <a:solidFill>
                  <a:srgbClr val="000000"/>
                </a:solidFill>
                <a:latin typeface="Inter"/>
              </a:rPr>
              <a:t>Comma after the last item</a:t>
            </a:r>
          </a:p>
        </p:txBody>
      </p:sp>
      <p:sp>
        <p:nvSpPr>
          <p:cNvPr id="42" name="Rectangle 41"/>
          <p:cNvSpPr/>
          <p:nvPr/>
        </p:nvSpPr>
        <p:spPr>
          <a:xfrm>
            <a:off x="475488" y="8183879"/>
            <a:ext cx="17337024" cy="731520"/>
          </a:xfrm>
          <a:prstGeom prst="rect">
            <a:avLst/>
          </a:prstGeom>
          <a:solidFill>
            <a:srgbClr val="E8FC2E"/>
          </a:solidFill>
          <a:ln w="12700">
            <a:solidFill>
              <a:srgbClr val="000000"/>
            </a:solidFill>
          </a:ln>
        </p:spPr>
        <p:txBody>
          <a:bodyPr rtlCol="0" anchor="ctr"/>
          <a:lstStyle/>
          <a:p>
            <a:pPr algn="ctr"/>
          </a:p>
        </p:txBody>
      </p:sp>
      <p:sp>
        <p:nvSpPr>
          <p:cNvPr id="43" name="TextBox 42"/>
          <p:cNvSpPr txBox="1"/>
          <p:nvPr/>
        </p:nvSpPr>
        <p:spPr>
          <a:xfrm>
            <a:off x="777240" y="8183879"/>
            <a:ext cx="16733520" cy="731520"/>
          </a:xfrm>
          <a:prstGeom prst="rect">
            <a:avLst/>
          </a:prstGeom>
          <a:noFill/>
        </p:spPr>
        <p:txBody>
          <a:bodyPr wrap="square" lIns="0" rIns="0" tIns="0" bIns="0" anchor="ctr">
            <a:noAutofit/>
          </a:bodyPr>
          <a:lstStyle/>
          <a:p>
            <a:pPr algn="l"/>
            <a:r>
              <a:rPr sz="2100" b="0" i="0">
                <a:solidFill>
                  <a:srgbClr val="000000"/>
                </a:solidFill>
                <a:latin typeface="Inter"/>
              </a:rPr>
              <a:t>Postman </a:t>
            </a:r>
            <a:r>
              <a:rPr sz="2100" b="1" i="0">
                <a:solidFill>
                  <a:srgbClr val="000000"/>
                </a:solidFill>
                <a:latin typeface="Inter"/>
              </a:rPr>
              <a:t>underlines JSON mistakes in red</a:t>
            </a:r>
            <a:r>
              <a:rPr sz="2100" b="0" i="0">
                <a:solidFill>
                  <a:srgbClr val="000000"/>
                </a:solidFill>
                <a:latin typeface="Inter"/>
              </a:rPr>
              <a:t> and has a </a:t>
            </a:r>
            <a:r>
              <a:rPr sz="2100" b="1" i="0">
                <a:solidFill>
                  <a:srgbClr val="000000"/>
                </a:solidFill>
                <a:latin typeface="Inter"/>
              </a:rPr>
              <a:t>Beautify</a:t>
            </a:r>
            <a:r>
              <a:rPr sz="2100" b="0" i="0">
                <a:solidFill>
                  <a:srgbClr val="000000"/>
                </a:solidFill>
                <a:latin typeface="Inter"/>
              </a:rPr>
              <a:t> button that tidies the layout.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ED"/>
        </a:solidFill>
        <a:effectLst/>
      </p:bgPr>
    </p:bg>
    <p:spTree>
      <p:nvGrpSpPr>
        <p:cNvPr id="1" name=""/>
        <p:cNvGrpSpPr/>
        <p:nvPr/>
      </p:nvGrpSpPr>
      <p:grpSpPr/>
      <p:pic>
        <p:nvPicPr>
          <p:cNvPr id="2" name="Picture 1" descr="s1_0.png"/>
          <p:cNvPicPr>
            <a:picLocks noChangeAspect="1"/>
          </p:cNvPicPr>
          <p:nvPr/>
        </p:nvPicPr>
        <p:blipFill>
          <a:blip r:embed="rId2"/>
          <a:stretch>
            <a:fillRect/>
          </a:stretch>
        </p:blipFill>
        <p:spPr>
          <a:xfrm>
            <a:off x="475488" y="594360"/>
            <a:ext cx="1655064" cy="384048"/>
          </a:xfrm>
          <a:prstGeom prst="rect">
            <a:avLst/>
          </a:prstGeom>
        </p:spPr>
      </p:pic>
      <p:sp>
        <p:nvSpPr>
          <p:cNvPr id="3" name="Rectangle 2"/>
          <p:cNvSpPr/>
          <p:nvPr/>
        </p:nvSpPr>
        <p:spPr>
          <a:xfrm>
            <a:off x="2441448" y="777240"/>
            <a:ext cx="15371064" cy="10972"/>
          </a:xfrm>
          <a:prstGeom prst="rect">
            <a:avLst/>
          </a:prstGeom>
          <a:solidFill>
            <a:srgbClr val="000000"/>
          </a:solidFill>
          <a:ln>
            <a:noFill/>
          </a:ln>
        </p:spPr>
        <p:txBody>
          <a:bodyPr rtlCol="0" anchor="ctr"/>
          <a:lstStyle/>
          <a:p>
            <a:pPr algn="ctr"/>
          </a:p>
        </p:txBody>
      </p:sp>
      <p:sp>
        <p:nvSpPr>
          <p:cNvPr id="4" name="TextBox 3"/>
          <p:cNvSpPr txBox="1"/>
          <p:nvPr/>
        </p:nvSpPr>
        <p:spPr>
          <a:xfrm>
            <a:off x="475488" y="1527048"/>
            <a:ext cx="10972800" cy="365760"/>
          </a:xfrm>
          <a:prstGeom prst="rect">
            <a:avLst/>
          </a:prstGeom>
          <a:noFill/>
        </p:spPr>
        <p:txBody>
          <a:bodyPr wrap="square" lIns="0" rIns="0" tIns="0" bIns="0" anchor="t">
            <a:noAutofit/>
          </a:bodyPr>
          <a:lstStyle/>
          <a:p>
            <a:pPr algn="l"/>
            <a:r>
              <a:rPr sz="1800" b="0" i="0">
                <a:solidFill>
                  <a:srgbClr val="000000"/>
                </a:solidFill>
                <a:latin typeface="Roboto Mono"/>
              </a:rPr>
              <a:t>PART 2 · REQUESTS AND ANSWERS</a:t>
            </a:r>
          </a:p>
        </p:txBody>
      </p:sp>
      <p:sp>
        <p:nvSpPr>
          <p:cNvPr id="5" name="Title"/>
          <p:cNvSpPr txBox="1"/>
          <p:nvPr/>
        </p:nvSpPr>
        <p:spPr>
          <a:xfrm>
            <a:off x="475488" y="2011680"/>
            <a:ext cx="17337024" cy="868680"/>
          </a:xfrm>
          <a:prstGeom prst="rect">
            <a:avLst/>
          </a:prstGeom>
          <a:noFill/>
        </p:spPr>
        <p:txBody>
          <a:bodyPr wrap="square" lIns="0" rIns="0" tIns="0" bIns="0" anchor="t">
            <a:noAutofit/>
          </a:bodyPr>
          <a:lstStyle/>
          <a:p>
            <a:pPr algn="l">
              <a:lnSpc>
                <a:spcPct val="95000"/>
              </a:lnSpc>
            </a:pPr>
            <a:r>
              <a:rPr sz="4600" b="1" i="0">
                <a:solidFill>
                  <a:srgbClr val="000000"/>
                </a:solidFill>
                <a:latin typeface="Inter"/>
              </a:rPr>
              <a:t>Example: asking Calira to book equipment</a:t>
            </a:r>
          </a:p>
        </p:txBody>
      </p:sp>
      <p:sp>
        <p:nvSpPr>
          <p:cNvPr id="6" name="Rectangle 5"/>
          <p:cNvSpPr/>
          <p:nvPr/>
        </p:nvSpPr>
        <p:spPr>
          <a:xfrm>
            <a:off x="475488" y="9189720"/>
            <a:ext cx="17337024" cy="10972"/>
          </a:xfrm>
          <a:prstGeom prst="rect">
            <a:avLst/>
          </a:prstGeom>
          <a:solidFill>
            <a:srgbClr val="000000"/>
          </a:solidFill>
          <a:ln>
            <a:noFill/>
          </a:ln>
        </p:spPr>
        <p:txBody>
          <a:bodyPr rtlCol="0" anchor="ctr"/>
          <a:lstStyle/>
          <a:p>
            <a:pPr algn="ctr"/>
          </a:p>
        </p:txBody>
      </p:sp>
      <p:sp>
        <p:nvSpPr>
          <p:cNvPr id="7" name="TextBox 6"/>
          <p:cNvSpPr txBox="1"/>
          <p:nvPr/>
        </p:nvSpPr>
        <p:spPr>
          <a:xfrm>
            <a:off x="475488" y="9354312"/>
            <a:ext cx="2743200" cy="338328"/>
          </a:xfrm>
          <a:prstGeom prst="rect">
            <a:avLst/>
          </a:prstGeom>
          <a:noFill/>
        </p:spPr>
        <p:txBody>
          <a:bodyPr wrap="square" lIns="0" rIns="0" tIns="0" bIns="0" anchor="t">
            <a:noAutofit/>
          </a:bodyPr>
          <a:lstStyle/>
          <a:p>
            <a:pPr algn="l"/>
            <a:r>
              <a:rPr sz="1800" b="0" i="0">
                <a:solidFill>
                  <a:srgbClr val="000000"/>
                </a:solidFill>
                <a:latin typeface="Roboto Mono"/>
              </a:rPr>
              <a:t>CALIRA.CO</a:t>
            </a:r>
          </a:p>
        </p:txBody>
      </p:sp>
      <p:sp>
        <p:nvSpPr>
          <p:cNvPr id="8" name="TextBox 7"/>
          <p:cNvSpPr txBox="1"/>
          <p:nvPr/>
        </p:nvSpPr>
        <p:spPr>
          <a:xfrm>
            <a:off x="15983712" y="9354312"/>
            <a:ext cx="1828800" cy="338328"/>
          </a:xfrm>
          <a:prstGeom prst="rect">
            <a:avLst/>
          </a:prstGeom>
          <a:noFill/>
        </p:spPr>
        <p:txBody>
          <a:bodyPr wrap="square" lIns="0" rIns="0" tIns="0" bIns="0" anchor="t">
            <a:noAutofit/>
          </a:bodyPr>
          <a:lstStyle/>
          <a:p>
            <a:pPr algn="r"/>
            <a:r>
              <a:rPr sz="1800" b="0" i="0">
                <a:solidFill>
                  <a:srgbClr val="000000"/>
                </a:solidFill>
                <a:latin typeface="Roboto Mono"/>
              </a:rPr>
              <a:t>14</a:t>
            </a:r>
          </a:p>
        </p:txBody>
      </p:sp>
      <p:sp>
        <p:nvSpPr>
          <p:cNvPr id="9" name="Rectangle 8"/>
          <p:cNvSpPr/>
          <p:nvPr/>
        </p:nvSpPr>
        <p:spPr>
          <a:xfrm>
            <a:off x="475488" y="3154680"/>
            <a:ext cx="8503920" cy="4937760"/>
          </a:xfrm>
          <a:prstGeom prst="rect">
            <a:avLst/>
          </a:prstGeom>
          <a:solidFill>
            <a:srgbClr val="FFFFFF"/>
          </a:solidFill>
          <a:ln w="12700">
            <a:solidFill>
              <a:srgbClr val="000000"/>
            </a:solidFill>
          </a:ln>
        </p:spPr>
        <p:txBody>
          <a:bodyPr rtlCol="0" anchor="ctr"/>
          <a:lstStyle/>
          <a:p>
            <a:pPr algn="ctr"/>
          </a:p>
        </p:txBody>
      </p:sp>
      <p:sp>
        <p:nvSpPr>
          <p:cNvPr id="10" name="TextBox 9"/>
          <p:cNvSpPr txBox="1"/>
          <p:nvPr/>
        </p:nvSpPr>
        <p:spPr>
          <a:xfrm>
            <a:off x="822960" y="3383280"/>
            <a:ext cx="3657600" cy="365760"/>
          </a:xfrm>
          <a:prstGeom prst="rect">
            <a:avLst/>
          </a:prstGeom>
          <a:noFill/>
        </p:spPr>
        <p:txBody>
          <a:bodyPr wrap="square" lIns="0" rIns="0" tIns="0" bIns="0" anchor="t">
            <a:noAutofit/>
          </a:bodyPr>
          <a:lstStyle/>
          <a:p>
            <a:pPr algn="l"/>
            <a:r>
              <a:rPr sz="1600" b="0" i="0">
                <a:solidFill>
                  <a:srgbClr val="5A574F"/>
                </a:solidFill>
                <a:latin typeface="Roboto Mono"/>
              </a:rPr>
              <a:t>WHAT YOU SEND</a:t>
            </a:r>
          </a:p>
        </p:txBody>
      </p:sp>
      <p:sp>
        <p:nvSpPr>
          <p:cNvPr id="11" name="Rounded Rectangle 10"/>
          <p:cNvSpPr/>
          <p:nvPr/>
        </p:nvSpPr>
        <p:spPr>
          <a:xfrm>
            <a:off x="822960" y="3886200"/>
            <a:ext cx="1188720" cy="420624"/>
          </a:xfrm>
          <a:prstGeom prst="roundRect">
            <a:avLst>
              <a:gd name="adj" fmla="val 20000"/>
            </a:avLst>
          </a:prstGeom>
          <a:solidFill>
            <a:srgbClr val="D9730D"/>
          </a:solidFill>
          <a:ln>
            <a:noFill/>
          </a:ln>
        </p:spPr>
        <p:txBody>
          <a:bodyPr rtlCol="0" anchor="ctr" wrap="none" lIns="0" rIns="0" tIns="0" bIns="0">
            <a:noAutofit/>
          </a:bodyPr>
          <a:lstStyle/>
          <a:p>
            <a:pPr algn="ctr"/>
            <a:r>
              <a:rPr sz="1600" b="1" i="0">
                <a:solidFill>
                  <a:srgbClr val="FFFFFF"/>
                </a:solidFill>
                <a:latin typeface="Roboto Mono"/>
              </a:rPr>
              <a:t>POST</a:t>
            </a:r>
          </a:p>
        </p:txBody>
      </p:sp>
      <p:sp>
        <p:nvSpPr>
          <p:cNvPr id="12" name="TextBox 11"/>
          <p:cNvSpPr txBox="1"/>
          <p:nvPr/>
        </p:nvSpPr>
        <p:spPr>
          <a:xfrm>
            <a:off x="2194560" y="3867912"/>
            <a:ext cx="6217920" cy="457200"/>
          </a:xfrm>
          <a:prstGeom prst="rect">
            <a:avLst/>
          </a:prstGeom>
          <a:noFill/>
        </p:spPr>
        <p:txBody>
          <a:bodyPr wrap="square" lIns="0" rIns="0" tIns="0" bIns="0" anchor="ctr">
            <a:noAutofit/>
          </a:bodyPr>
          <a:lstStyle/>
          <a:p>
            <a:pPr algn="l"/>
            <a:r>
              <a:rPr sz="2200" b="1" i="0">
                <a:solidFill>
                  <a:srgbClr val="000000"/>
                </a:solidFill>
                <a:latin typeface="Roboto Mono"/>
              </a:rPr>
              <a:t>{{base_url}}/bookings</a:t>
            </a:r>
          </a:p>
        </p:txBody>
      </p:sp>
      <p:sp>
        <p:nvSpPr>
          <p:cNvPr id="13" name="TextBox 12"/>
          <p:cNvSpPr txBox="1"/>
          <p:nvPr/>
        </p:nvSpPr>
        <p:spPr>
          <a:xfrm>
            <a:off x="822960" y="4663440"/>
            <a:ext cx="10972800" cy="658368"/>
          </a:xfrm>
          <a:prstGeom prst="rect">
            <a:avLst/>
          </a:prstGeom>
          <a:noFill/>
        </p:spPr>
        <p:txBody>
          <a:bodyPr wrap="none" lIns="0" rIns="0" tIns="0" bIns="0" anchor="t">
            <a:noAutofit/>
          </a:bodyPr>
          <a:lstStyle/>
          <a:p>
            <a:pPr algn="l"/>
            <a:r>
              <a:rPr sz="2200" b="0" i="0">
                <a:solidFill>
                  <a:srgbClr val="000000"/>
                </a:solidFill>
                <a:latin typeface="Roboto Mono"/>
              </a:rPr>
              <a:t>{</a:t>
            </a:r>
          </a:p>
        </p:txBody>
      </p:sp>
      <p:sp>
        <p:nvSpPr>
          <p:cNvPr id="14" name="TextBox 13"/>
          <p:cNvSpPr txBox="1"/>
          <p:nvPr/>
        </p:nvSpPr>
        <p:spPr>
          <a:xfrm>
            <a:off x="822960" y="5321807"/>
            <a:ext cx="10972800" cy="658368"/>
          </a:xfrm>
          <a:prstGeom prst="rect">
            <a:avLst/>
          </a:prstGeom>
          <a:noFill/>
        </p:spPr>
        <p:txBody>
          <a:bodyPr wrap="none" lIns="0" rIns="0" tIns="0" bIns="0" anchor="t">
            <a:noAutofit/>
          </a:bodyPr>
          <a:lstStyle/>
          <a:p>
            <a:pPr algn="l"/>
            <a:r>
              <a:rPr sz="2200" b="0" i="0">
                <a:solidFill>
                  <a:srgbClr val="000000"/>
                </a:solidFill>
                <a:latin typeface="Roboto Mono"/>
              </a:rPr>
              <a:t>  "equipment_id": </a:t>
            </a:r>
            <a:r>
              <a:rPr sz="2200" b="0" i="0">
                <a:solidFill>
                  <a:srgbClr val="000000"/>
                </a:solidFill>
                <a:highlight>
                  <a:srgbClr val="E8FC2E"/>
                </a:highlight>
                <a:latin typeface="Roboto Mono"/>
              </a:rPr>
              <a:t>492</a:t>
            </a:r>
            <a:r>
              <a:rPr sz="2200" b="0" i="0">
                <a:solidFill>
                  <a:srgbClr val="000000"/>
                </a:solidFill>
                <a:latin typeface="Roboto Mono"/>
              </a:rPr>
              <a:t>,</a:t>
            </a:r>
          </a:p>
        </p:txBody>
      </p:sp>
      <p:sp>
        <p:nvSpPr>
          <p:cNvPr id="15" name="TextBox 14"/>
          <p:cNvSpPr txBox="1"/>
          <p:nvPr/>
        </p:nvSpPr>
        <p:spPr>
          <a:xfrm>
            <a:off x="822960" y="5980175"/>
            <a:ext cx="10972800" cy="658368"/>
          </a:xfrm>
          <a:prstGeom prst="rect">
            <a:avLst/>
          </a:prstGeom>
          <a:noFill/>
        </p:spPr>
        <p:txBody>
          <a:bodyPr wrap="none" lIns="0" rIns="0" tIns="0" bIns="0" anchor="t">
            <a:noAutofit/>
          </a:bodyPr>
          <a:lstStyle/>
          <a:p>
            <a:pPr algn="l"/>
            <a:r>
              <a:rPr sz="2200" b="0" i="0">
                <a:solidFill>
                  <a:srgbClr val="000000"/>
                </a:solidFill>
                <a:latin typeface="Roboto Mono"/>
              </a:rPr>
              <a:t>  "start_time": </a:t>
            </a:r>
            <a:r>
              <a:rPr sz="2200" b="0" i="0">
                <a:solidFill>
                  <a:srgbClr val="000000"/>
                </a:solidFill>
                <a:highlight>
                  <a:srgbClr val="E8FC2E"/>
                </a:highlight>
                <a:latin typeface="Roboto Mono"/>
              </a:rPr>
              <a:t>"2026-10-15T10:00:00Z"</a:t>
            </a:r>
            <a:r>
              <a:rPr sz="2200" b="0" i="0">
                <a:solidFill>
                  <a:srgbClr val="000000"/>
                </a:solidFill>
                <a:latin typeface="Roboto Mono"/>
              </a:rPr>
              <a:t>,</a:t>
            </a:r>
          </a:p>
        </p:txBody>
      </p:sp>
      <p:sp>
        <p:nvSpPr>
          <p:cNvPr id="16" name="TextBox 15"/>
          <p:cNvSpPr txBox="1"/>
          <p:nvPr/>
        </p:nvSpPr>
        <p:spPr>
          <a:xfrm>
            <a:off x="822960" y="6638544"/>
            <a:ext cx="10972800" cy="658368"/>
          </a:xfrm>
          <a:prstGeom prst="rect">
            <a:avLst/>
          </a:prstGeom>
          <a:noFill/>
        </p:spPr>
        <p:txBody>
          <a:bodyPr wrap="none" lIns="0" rIns="0" tIns="0" bIns="0" anchor="t">
            <a:noAutofit/>
          </a:bodyPr>
          <a:lstStyle/>
          <a:p>
            <a:pPr algn="l"/>
            <a:r>
              <a:rPr sz="2200" b="0" i="0">
                <a:solidFill>
                  <a:srgbClr val="000000"/>
                </a:solidFill>
                <a:latin typeface="Roboto Mono"/>
              </a:rPr>
              <a:t>  "end_time": </a:t>
            </a:r>
            <a:r>
              <a:rPr sz="2200" b="0" i="0">
                <a:solidFill>
                  <a:srgbClr val="000000"/>
                </a:solidFill>
                <a:highlight>
                  <a:srgbClr val="E8FC2E"/>
                </a:highlight>
                <a:latin typeface="Roboto Mono"/>
              </a:rPr>
              <a:t>"2026-10-15T11:00:00Z"</a:t>
            </a:r>
          </a:p>
        </p:txBody>
      </p:sp>
      <p:sp>
        <p:nvSpPr>
          <p:cNvPr id="17" name="TextBox 16"/>
          <p:cNvSpPr txBox="1"/>
          <p:nvPr/>
        </p:nvSpPr>
        <p:spPr>
          <a:xfrm>
            <a:off x="822960" y="7296912"/>
            <a:ext cx="10972800" cy="658368"/>
          </a:xfrm>
          <a:prstGeom prst="rect">
            <a:avLst/>
          </a:prstGeom>
          <a:noFill/>
        </p:spPr>
        <p:txBody>
          <a:bodyPr wrap="none" lIns="0" rIns="0" tIns="0" bIns="0" anchor="t">
            <a:noAutofit/>
          </a:bodyPr>
          <a:lstStyle/>
          <a:p>
            <a:pPr algn="l"/>
            <a:r>
              <a:rPr sz="2200" b="0" i="0">
                <a:solidFill>
                  <a:srgbClr val="000000"/>
                </a:solidFill>
                <a:latin typeface="Roboto Mono"/>
              </a:rPr>
              <a:t>}</a:t>
            </a:r>
          </a:p>
        </p:txBody>
      </p:sp>
      <p:sp>
        <p:nvSpPr>
          <p:cNvPr id="18" name="Rectangle 17"/>
          <p:cNvSpPr/>
          <p:nvPr/>
        </p:nvSpPr>
        <p:spPr>
          <a:xfrm>
            <a:off x="9235440" y="3154680"/>
            <a:ext cx="8577072" cy="4937760"/>
          </a:xfrm>
          <a:prstGeom prst="rect">
            <a:avLst/>
          </a:prstGeom>
          <a:solidFill>
            <a:srgbClr val="FFFFFF"/>
          </a:solidFill>
          <a:ln w="12700">
            <a:solidFill>
              <a:srgbClr val="000000"/>
            </a:solidFill>
          </a:ln>
        </p:spPr>
        <p:txBody>
          <a:bodyPr rtlCol="0" anchor="ctr"/>
          <a:lstStyle/>
          <a:p>
            <a:pPr algn="ctr"/>
          </a:p>
        </p:txBody>
      </p:sp>
      <p:sp>
        <p:nvSpPr>
          <p:cNvPr id="19" name="TextBox 18"/>
          <p:cNvSpPr txBox="1"/>
          <p:nvPr/>
        </p:nvSpPr>
        <p:spPr>
          <a:xfrm>
            <a:off x="9601200" y="3383280"/>
            <a:ext cx="3657600" cy="365760"/>
          </a:xfrm>
          <a:prstGeom prst="rect">
            <a:avLst/>
          </a:prstGeom>
          <a:noFill/>
        </p:spPr>
        <p:txBody>
          <a:bodyPr wrap="square" lIns="0" rIns="0" tIns="0" bIns="0" anchor="t">
            <a:noAutofit/>
          </a:bodyPr>
          <a:lstStyle/>
          <a:p>
            <a:pPr algn="l"/>
            <a:r>
              <a:rPr sz="1600" b="0" i="0">
                <a:solidFill>
                  <a:srgbClr val="5A574F"/>
                </a:solidFill>
                <a:latin typeface="Roboto Mono"/>
              </a:rPr>
              <a:t>WHAT YOU GET BACK</a:t>
            </a:r>
          </a:p>
        </p:txBody>
      </p:sp>
      <p:sp>
        <p:nvSpPr>
          <p:cNvPr id="20" name="Rounded Rectangle 19"/>
          <p:cNvSpPr/>
          <p:nvPr/>
        </p:nvSpPr>
        <p:spPr>
          <a:xfrm>
            <a:off x="9601200" y="3886200"/>
            <a:ext cx="2286000" cy="420624"/>
          </a:xfrm>
          <a:prstGeom prst="roundRect">
            <a:avLst>
              <a:gd name="adj" fmla="val 20000"/>
            </a:avLst>
          </a:prstGeom>
          <a:solidFill>
            <a:srgbClr val="E2F5E2"/>
          </a:solidFill>
          <a:ln w="12700">
            <a:solidFill>
              <a:srgbClr val="009E00"/>
            </a:solidFill>
          </a:ln>
        </p:spPr>
        <p:txBody>
          <a:bodyPr rtlCol="0" anchor="ctr" wrap="none" lIns="0" rIns="0" tIns="0" bIns="0">
            <a:noAutofit/>
          </a:bodyPr>
          <a:lstStyle/>
          <a:p>
            <a:pPr algn="ctr"/>
            <a:r>
              <a:rPr sz="1800" b="1" i="0">
                <a:solidFill>
                  <a:srgbClr val="009E00"/>
                </a:solidFill>
                <a:latin typeface="Roboto Mono"/>
              </a:rPr>
              <a:t>201 Created</a:t>
            </a:r>
          </a:p>
        </p:txBody>
      </p:sp>
      <p:sp>
        <p:nvSpPr>
          <p:cNvPr id="21" name="TextBox 20"/>
          <p:cNvSpPr txBox="1"/>
          <p:nvPr/>
        </p:nvSpPr>
        <p:spPr>
          <a:xfrm>
            <a:off x="9601200" y="4526280"/>
            <a:ext cx="8668512" cy="457200"/>
          </a:xfrm>
          <a:prstGeom prst="rect">
            <a:avLst/>
          </a:prstGeom>
          <a:noFill/>
        </p:spPr>
        <p:txBody>
          <a:bodyPr wrap="none" lIns="0" rIns="0" tIns="0" bIns="0" anchor="t">
            <a:noAutofit/>
          </a:bodyPr>
          <a:lstStyle/>
          <a:p>
            <a:pPr algn="l"/>
            <a:r>
              <a:rPr sz="1900" b="0" i="0">
                <a:solidFill>
                  <a:srgbClr val="000000"/>
                </a:solidFill>
                <a:latin typeface="Roboto Mono"/>
              </a:rPr>
              <a:t>{</a:t>
            </a:r>
          </a:p>
        </p:txBody>
      </p:sp>
      <p:sp>
        <p:nvSpPr>
          <p:cNvPr id="22" name="TextBox 21"/>
          <p:cNvSpPr txBox="1"/>
          <p:nvPr/>
        </p:nvSpPr>
        <p:spPr>
          <a:xfrm>
            <a:off x="9601200" y="4983480"/>
            <a:ext cx="8668512" cy="457200"/>
          </a:xfrm>
          <a:prstGeom prst="rect">
            <a:avLst/>
          </a:prstGeom>
          <a:noFill/>
        </p:spPr>
        <p:txBody>
          <a:bodyPr wrap="none" lIns="0" rIns="0" tIns="0" bIns="0" anchor="t">
            <a:noAutofit/>
          </a:bodyPr>
          <a:lstStyle/>
          <a:p>
            <a:pPr algn="l"/>
            <a:r>
              <a:rPr sz="1900" b="0" i="0">
                <a:solidFill>
                  <a:srgbClr val="000000"/>
                </a:solidFill>
                <a:latin typeface="Roboto Mono"/>
              </a:rPr>
              <a:t>  "success": true,</a:t>
            </a:r>
          </a:p>
        </p:txBody>
      </p:sp>
      <p:sp>
        <p:nvSpPr>
          <p:cNvPr id="23" name="TextBox 22"/>
          <p:cNvSpPr txBox="1"/>
          <p:nvPr/>
        </p:nvSpPr>
        <p:spPr>
          <a:xfrm>
            <a:off x="9601200" y="5440680"/>
            <a:ext cx="8668512" cy="457200"/>
          </a:xfrm>
          <a:prstGeom prst="rect">
            <a:avLst/>
          </a:prstGeom>
          <a:noFill/>
        </p:spPr>
        <p:txBody>
          <a:bodyPr wrap="none" lIns="0" rIns="0" tIns="0" bIns="0" anchor="t">
            <a:noAutofit/>
          </a:bodyPr>
          <a:lstStyle/>
          <a:p>
            <a:pPr algn="l"/>
            <a:r>
              <a:rPr sz="1900" b="0" i="0">
                <a:solidFill>
                  <a:srgbClr val="000000"/>
                </a:solidFill>
                <a:latin typeface="Roboto Mono"/>
              </a:rPr>
              <a:t>  "booking": {</a:t>
            </a:r>
          </a:p>
        </p:txBody>
      </p:sp>
      <p:sp>
        <p:nvSpPr>
          <p:cNvPr id="24" name="TextBox 23"/>
          <p:cNvSpPr txBox="1"/>
          <p:nvPr/>
        </p:nvSpPr>
        <p:spPr>
          <a:xfrm>
            <a:off x="9601200" y="5897880"/>
            <a:ext cx="8668512" cy="457200"/>
          </a:xfrm>
          <a:prstGeom prst="rect">
            <a:avLst/>
          </a:prstGeom>
          <a:noFill/>
        </p:spPr>
        <p:txBody>
          <a:bodyPr wrap="none" lIns="0" rIns="0" tIns="0" bIns="0" anchor="t">
            <a:noAutofit/>
          </a:bodyPr>
          <a:lstStyle/>
          <a:p>
            <a:pPr algn="l"/>
            <a:r>
              <a:rPr sz="1900" b="0" i="0">
                <a:solidFill>
                  <a:srgbClr val="000000"/>
                </a:solidFill>
                <a:latin typeface="Roboto Mono"/>
              </a:rPr>
              <a:t>    </a:t>
            </a:r>
            <a:r>
              <a:rPr sz="1900" b="0" i="0">
                <a:solidFill>
                  <a:srgbClr val="000000"/>
                </a:solidFill>
                <a:highlight>
                  <a:srgbClr val="E8FC2E"/>
                </a:highlight>
                <a:latin typeface="Roboto Mono"/>
              </a:rPr>
              <a:t>"id": 777</a:t>
            </a:r>
            <a:r>
              <a:rPr sz="1900" b="0" i="0">
                <a:solidFill>
                  <a:srgbClr val="000000"/>
                </a:solidFill>
                <a:latin typeface="Roboto Mono"/>
              </a:rPr>
              <a:t>,</a:t>
            </a:r>
          </a:p>
        </p:txBody>
      </p:sp>
      <p:sp>
        <p:nvSpPr>
          <p:cNvPr id="25" name="TextBox 24"/>
          <p:cNvSpPr txBox="1"/>
          <p:nvPr/>
        </p:nvSpPr>
        <p:spPr>
          <a:xfrm>
            <a:off x="9601200" y="6355080"/>
            <a:ext cx="8668512" cy="457200"/>
          </a:xfrm>
          <a:prstGeom prst="rect">
            <a:avLst/>
          </a:prstGeom>
          <a:noFill/>
        </p:spPr>
        <p:txBody>
          <a:bodyPr wrap="none" lIns="0" rIns="0" tIns="0" bIns="0" anchor="t">
            <a:noAutofit/>
          </a:bodyPr>
          <a:lstStyle/>
          <a:p>
            <a:pPr algn="l"/>
            <a:r>
              <a:rPr sz="1900" b="0" i="0">
                <a:solidFill>
                  <a:srgbClr val="000000"/>
                </a:solidFill>
                <a:latin typeface="Roboto Mono"/>
              </a:rPr>
              <a:t>    "status": "Confirmed",</a:t>
            </a:r>
          </a:p>
        </p:txBody>
      </p:sp>
      <p:sp>
        <p:nvSpPr>
          <p:cNvPr id="26" name="TextBox 25"/>
          <p:cNvSpPr txBox="1"/>
          <p:nvPr/>
        </p:nvSpPr>
        <p:spPr>
          <a:xfrm>
            <a:off x="9601200" y="6812280"/>
            <a:ext cx="8668512" cy="457200"/>
          </a:xfrm>
          <a:prstGeom prst="rect">
            <a:avLst/>
          </a:prstGeom>
          <a:noFill/>
        </p:spPr>
        <p:txBody>
          <a:bodyPr wrap="none" lIns="0" rIns="0" tIns="0" bIns="0" anchor="t">
            <a:noAutofit/>
          </a:bodyPr>
          <a:lstStyle/>
          <a:p>
            <a:pPr algn="l"/>
            <a:r>
              <a:rPr sz="1900" b="0" i="0">
                <a:solidFill>
                  <a:srgbClr val="000000"/>
                </a:solidFill>
                <a:latin typeface="Roboto Mono"/>
              </a:rPr>
              <a:t>    "start_time": "2026-10-15T10:00:00Z"</a:t>
            </a:r>
          </a:p>
        </p:txBody>
      </p:sp>
      <p:sp>
        <p:nvSpPr>
          <p:cNvPr id="27" name="TextBox 26"/>
          <p:cNvSpPr txBox="1"/>
          <p:nvPr/>
        </p:nvSpPr>
        <p:spPr>
          <a:xfrm>
            <a:off x="9601200" y="7269480"/>
            <a:ext cx="8668512" cy="457200"/>
          </a:xfrm>
          <a:prstGeom prst="rect">
            <a:avLst/>
          </a:prstGeom>
          <a:noFill/>
        </p:spPr>
        <p:txBody>
          <a:bodyPr wrap="none" lIns="0" rIns="0" tIns="0" bIns="0" anchor="t">
            <a:noAutofit/>
          </a:bodyPr>
          <a:lstStyle/>
          <a:p>
            <a:pPr algn="l"/>
            <a:r>
              <a:rPr sz="1900" b="0" i="0">
                <a:solidFill>
                  <a:srgbClr val="000000"/>
                </a:solidFill>
                <a:latin typeface="Roboto Mono"/>
              </a:rPr>
              <a:t>  }</a:t>
            </a:r>
          </a:p>
        </p:txBody>
      </p:sp>
      <p:sp>
        <p:nvSpPr>
          <p:cNvPr id="28" name="TextBox 27"/>
          <p:cNvSpPr txBox="1"/>
          <p:nvPr/>
        </p:nvSpPr>
        <p:spPr>
          <a:xfrm>
            <a:off x="9601200" y="7726679"/>
            <a:ext cx="8668512" cy="457200"/>
          </a:xfrm>
          <a:prstGeom prst="rect">
            <a:avLst/>
          </a:prstGeom>
          <a:noFill/>
        </p:spPr>
        <p:txBody>
          <a:bodyPr wrap="none" lIns="0" rIns="0" tIns="0" bIns="0" anchor="t">
            <a:noAutofit/>
          </a:bodyPr>
          <a:lstStyle/>
          <a:p>
            <a:pPr algn="l"/>
            <a:r>
              <a:rPr sz="1900" b="0" i="0">
                <a:solidFill>
                  <a:srgbClr val="000000"/>
                </a:solidFill>
                <a:latin typeface="Roboto Mono"/>
              </a:rPr>
              <a:t>}</a:t>
            </a:r>
          </a:p>
        </p:txBody>
      </p:sp>
      <p:sp>
        <p:nvSpPr>
          <p:cNvPr id="29" name="TextBox 28"/>
          <p:cNvSpPr txBox="1"/>
          <p:nvPr/>
        </p:nvSpPr>
        <p:spPr>
          <a:xfrm>
            <a:off x="475488" y="8275320"/>
            <a:ext cx="8503920" cy="822960"/>
          </a:xfrm>
          <a:prstGeom prst="rect">
            <a:avLst/>
          </a:prstGeom>
          <a:noFill/>
        </p:spPr>
        <p:txBody>
          <a:bodyPr wrap="square" lIns="0" rIns="0" tIns="0" bIns="0" anchor="t">
            <a:noAutofit/>
          </a:bodyPr>
          <a:lstStyle/>
          <a:p>
            <a:pPr algn="l"/>
            <a:r>
              <a:rPr sz="1900" b="0" i="0">
                <a:solidFill>
                  <a:srgbClr val="000000"/>
                </a:solidFill>
                <a:highlight>
                  <a:srgbClr val="E8FC2E"/>
                </a:highlight>
                <a:latin typeface="Inter"/>
              </a:rPr>
              <a:t>Yellow</a:t>
            </a:r>
            <a:r>
              <a:rPr sz="1900" b="0" i="0">
                <a:solidFill>
                  <a:srgbClr val="000000"/>
                </a:solidFill>
                <a:latin typeface="Inter"/>
              </a:rPr>
              <a:t> marks the values you change. Times end in </a:t>
            </a:r>
            <a:r>
              <a:rPr sz="1900" b="1" i="0">
                <a:solidFill>
                  <a:srgbClr val="000000"/>
                </a:solidFill>
                <a:latin typeface="Inter"/>
              </a:rPr>
              <a:t>Z</a:t>
            </a:r>
            <a:r>
              <a:rPr sz="1900" b="0" i="0">
                <a:solidFill>
                  <a:srgbClr val="000000"/>
                </a:solidFill>
                <a:latin typeface="Inter"/>
              </a:rPr>
              <a:t> (UTC) and must be in the future.</a:t>
            </a:r>
          </a:p>
        </p:txBody>
      </p:sp>
      <p:sp>
        <p:nvSpPr>
          <p:cNvPr id="30" name="TextBox 29"/>
          <p:cNvSpPr txBox="1"/>
          <p:nvPr/>
        </p:nvSpPr>
        <p:spPr>
          <a:xfrm>
            <a:off x="9235440" y="8275320"/>
            <a:ext cx="8577072" cy="822960"/>
          </a:xfrm>
          <a:prstGeom prst="rect">
            <a:avLst/>
          </a:prstGeom>
          <a:noFill/>
        </p:spPr>
        <p:txBody>
          <a:bodyPr wrap="square" lIns="0" rIns="0" tIns="0" bIns="0" anchor="t">
            <a:noAutofit/>
          </a:bodyPr>
          <a:lstStyle/>
          <a:p>
            <a:pPr algn="l"/>
            <a:r>
              <a:rPr sz="1900" b="0" i="0">
                <a:solidFill>
                  <a:srgbClr val="000000"/>
                </a:solidFill>
                <a:latin typeface="Inter"/>
              </a:rPr>
              <a:t>Copy the booking's </a:t>
            </a:r>
            <a:r>
              <a:rPr sz="1900" b="1" i="0">
                <a:solidFill>
                  <a:srgbClr val="000000"/>
                </a:solidFill>
                <a:latin typeface="Inter"/>
              </a:rPr>
              <a:t>id</a:t>
            </a:r>
            <a:r>
              <a:rPr sz="1900" b="0" i="0">
                <a:solidFill>
                  <a:srgbClr val="000000"/>
                </a:solidFill>
                <a:latin typeface="Inter"/>
              </a:rPr>
              <a:t>. You need it to read or change this booking later.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8FC2E"/>
        </a:solidFill>
        <a:effectLst/>
      </p:bgPr>
    </p:bg>
    <p:spTree>
      <p:nvGrpSpPr>
        <p:cNvPr id="1" name=""/>
        <p:cNvGrpSpPr/>
        <p:nvPr/>
      </p:nvGrpSpPr>
      <p:grpSpPr/>
      <p:sp>
        <p:nvSpPr>
          <p:cNvPr id="2" name="Rounded Rectangle 1"/>
          <p:cNvSpPr/>
          <p:nvPr/>
        </p:nvSpPr>
        <p:spPr>
          <a:xfrm>
            <a:off x="457200" y="457200"/>
            <a:ext cx="2743200" cy="475488"/>
          </a:xfrm>
          <a:prstGeom prst="roundRect">
            <a:avLst>
              <a:gd name="adj" fmla="val 50000"/>
            </a:avLst>
          </a:prstGeom>
          <a:solidFill>
            <a:srgbClr val="FFFFFF"/>
          </a:solidFill>
          <a:ln w="12700">
            <a:solidFill>
              <a:srgbClr val="000000"/>
            </a:solidFill>
          </a:ln>
        </p:spPr>
        <p:txBody>
          <a:bodyPr rtlCol="0" anchor="ctr" wrap="none" lIns="0" rIns="0" tIns="0" bIns="0">
            <a:noAutofit/>
          </a:bodyPr>
          <a:lstStyle/>
          <a:p>
            <a:pPr algn="ctr"/>
            <a:r>
              <a:rPr sz="1600" b="1" i="0">
                <a:solidFill>
                  <a:srgbClr val="000000"/>
                </a:solidFill>
                <a:latin typeface="Roboto Mono"/>
              </a:rPr>
              <a:t>PART 3 OF 5</a:t>
            </a:r>
          </a:p>
        </p:txBody>
      </p:sp>
      <p:sp>
        <p:nvSpPr>
          <p:cNvPr id="3" name="Title"/>
          <p:cNvSpPr txBox="1"/>
          <p:nvPr/>
        </p:nvSpPr>
        <p:spPr>
          <a:xfrm>
            <a:off x="457200" y="2194560"/>
            <a:ext cx="10241280" cy="4754880"/>
          </a:xfrm>
          <a:prstGeom prst="rect">
            <a:avLst/>
          </a:prstGeom>
          <a:noFill/>
        </p:spPr>
        <p:txBody>
          <a:bodyPr wrap="square" lIns="0" rIns="0" tIns="0" bIns="0" anchor="ctr">
            <a:noAutofit/>
          </a:bodyPr>
          <a:lstStyle/>
          <a:p>
            <a:pPr algn="l">
              <a:lnSpc>
                <a:spcPct val="92000"/>
              </a:lnSpc>
            </a:pPr>
            <a:r>
              <a:rPr sz="7600" b="1" i="0">
                <a:solidFill>
                  <a:srgbClr val="000000"/>
                </a:solidFill>
                <a:latin typeface="Inter"/>
              </a:rPr>
              <a:t>Getting a customer connected</a:t>
            </a:r>
          </a:p>
        </p:txBody>
      </p:sp>
      <p:sp>
        <p:nvSpPr>
          <p:cNvPr id="4" name="TextBox 3"/>
          <p:cNvSpPr txBox="1"/>
          <p:nvPr/>
        </p:nvSpPr>
        <p:spPr>
          <a:xfrm>
            <a:off x="457200" y="7223760"/>
            <a:ext cx="10424160" cy="365760"/>
          </a:xfrm>
          <a:prstGeom prst="rect">
            <a:avLst/>
          </a:prstGeom>
          <a:noFill/>
        </p:spPr>
        <p:txBody>
          <a:bodyPr wrap="square" lIns="0" rIns="0" tIns="0" bIns="0" anchor="t">
            <a:noAutofit/>
          </a:bodyPr>
          <a:lstStyle/>
          <a:p>
            <a:pPr algn="l"/>
            <a:r>
              <a:rPr sz="2000" b="0" i="0">
                <a:solidFill>
                  <a:srgbClr val="000000"/>
                </a:solidFill>
                <a:latin typeface="Roboto Mono"/>
              </a:rPr>
              <a:t>10 MIN  ·  5 SLIDES</a:t>
            </a:r>
          </a:p>
        </p:txBody>
      </p:sp>
      <p:sp>
        <p:nvSpPr>
          <p:cNvPr id="5" name="TextBox 4"/>
          <p:cNvSpPr txBox="1"/>
          <p:nvPr/>
        </p:nvSpPr>
        <p:spPr>
          <a:xfrm>
            <a:off x="11384280" y="2468880"/>
            <a:ext cx="640080" cy="457200"/>
          </a:xfrm>
          <a:prstGeom prst="rect">
            <a:avLst/>
          </a:prstGeom>
          <a:noFill/>
        </p:spPr>
        <p:txBody>
          <a:bodyPr wrap="square" lIns="0" rIns="0" tIns="0" bIns="0" anchor="ctr">
            <a:noAutofit/>
          </a:bodyPr>
          <a:lstStyle/>
          <a:p>
            <a:pPr algn="l"/>
            <a:r>
              <a:rPr sz="2000" b="0" i="0">
                <a:solidFill>
                  <a:srgbClr val="5C6410"/>
                </a:solidFill>
                <a:latin typeface="Roboto Mono"/>
              </a:rPr>
              <a:t>01</a:t>
            </a:r>
          </a:p>
        </p:txBody>
      </p:sp>
      <p:sp>
        <p:nvSpPr>
          <p:cNvPr id="6" name="TextBox 5"/>
          <p:cNvSpPr txBox="1"/>
          <p:nvPr/>
        </p:nvSpPr>
        <p:spPr>
          <a:xfrm>
            <a:off x="12115800" y="2395728"/>
            <a:ext cx="4572000" cy="676656"/>
          </a:xfrm>
          <a:prstGeom prst="rect">
            <a:avLst/>
          </a:prstGeom>
          <a:noFill/>
        </p:spPr>
        <p:txBody>
          <a:bodyPr wrap="square" lIns="0" rIns="0" tIns="0" bIns="0" anchor="ctr">
            <a:noAutofit/>
          </a:bodyPr>
          <a:lstStyle/>
          <a:p>
            <a:pPr algn="l"/>
            <a:r>
              <a:rPr sz="2200" b="0" i="0">
                <a:solidFill>
                  <a:srgbClr val="5C6410"/>
                </a:solidFill>
                <a:latin typeface="Inter"/>
              </a:rPr>
              <a:t>What an API is, in plain English</a:t>
            </a:r>
          </a:p>
        </p:txBody>
      </p:sp>
      <p:sp>
        <p:nvSpPr>
          <p:cNvPr id="7" name="TextBox 6"/>
          <p:cNvSpPr txBox="1"/>
          <p:nvPr/>
        </p:nvSpPr>
        <p:spPr>
          <a:xfrm>
            <a:off x="16642080" y="2468880"/>
            <a:ext cx="1005840" cy="457200"/>
          </a:xfrm>
          <a:prstGeom prst="rect">
            <a:avLst/>
          </a:prstGeom>
          <a:noFill/>
        </p:spPr>
        <p:txBody>
          <a:bodyPr wrap="square" lIns="0" rIns="0" tIns="0" bIns="0" anchor="ctr">
            <a:noAutofit/>
          </a:bodyPr>
          <a:lstStyle/>
          <a:p>
            <a:pPr algn="r"/>
            <a:r>
              <a:rPr sz="1600" b="0" i="0">
                <a:solidFill>
                  <a:srgbClr val="5C6410"/>
                </a:solidFill>
                <a:latin typeface="Roboto Mono"/>
              </a:rPr>
              <a:t>10 MIN</a:t>
            </a:r>
          </a:p>
        </p:txBody>
      </p:sp>
      <p:sp>
        <p:nvSpPr>
          <p:cNvPr id="8" name="TextBox 7"/>
          <p:cNvSpPr txBox="1"/>
          <p:nvPr/>
        </p:nvSpPr>
        <p:spPr>
          <a:xfrm>
            <a:off x="11384280" y="3547872"/>
            <a:ext cx="640080" cy="457200"/>
          </a:xfrm>
          <a:prstGeom prst="rect">
            <a:avLst/>
          </a:prstGeom>
          <a:noFill/>
        </p:spPr>
        <p:txBody>
          <a:bodyPr wrap="square" lIns="0" rIns="0" tIns="0" bIns="0" anchor="ctr">
            <a:noAutofit/>
          </a:bodyPr>
          <a:lstStyle/>
          <a:p>
            <a:pPr algn="l"/>
            <a:r>
              <a:rPr sz="2000" b="0" i="0">
                <a:solidFill>
                  <a:srgbClr val="5C6410"/>
                </a:solidFill>
                <a:latin typeface="Roboto Mono"/>
              </a:rPr>
              <a:t>02</a:t>
            </a:r>
          </a:p>
        </p:txBody>
      </p:sp>
      <p:sp>
        <p:nvSpPr>
          <p:cNvPr id="9" name="TextBox 8"/>
          <p:cNvSpPr txBox="1"/>
          <p:nvPr/>
        </p:nvSpPr>
        <p:spPr>
          <a:xfrm>
            <a:off x="12115800" y="3474720"/>
            <a:ext cx="4572000" cy="676656"/>
          </a:xfrm>
          <a:prstGeom prst="rect">
            <a:avLst/>
          </a:prstGeom>
          <a:noFill/>
        </p:spPr>
        <p:txBody>
          <a:bodyPr wrap="square" lIns="0" rIns="0" tIns="0" bIns="0" anchor="ctr">
            <a:noAutofit/>
          </a:bodyPr>
          <a:lstStyle/>
          <a:p>
            <a:pPr algn="l"/>
            <a:r>
              <a:rPr sz="2200" b="0" i="0">
                <a:solidFill>
                  <a:srgbClr val="5C6410"/>
                </a:solidFill>
                <a:latin typeface="Inter"/>
              </a:rPr>
              <a:t>How requests and answers work</a:t>
            </a:r>
          </a:p>
        </p:txBody>
      </p:sp>
      <p:sp>
        <p:nvSpPr>
          <p:cNvPr id="10" name="TextBox 9"/>
          <p:cNvSpPr txBox="1"/>
          <p:nvPr/>
        </p:nvSpPr>
        <p:spPr>
          <a:xfrm>
            <a:off x="16642080" y="3547872"/>
            <a:ext cx="1005840" cy="457200"/>
          </a:xfrm>
          <a:prstGeom prst="rect">
            <a:avLst/>
          </a:prstGeom>
          <a:noFill/>
        </p:spPr>
        <p:txBody>
          <a:bodyPr wrap="square" lIns="0" rIns="0" tIns="0" bIns="0" anchor="ctr">
            <a:noAutofit/>
          </a:bodyPr>
          <a:lstStyle/>
          <a:p>
            <a:pPr algn="r"/>
            <a:r>
              <a:rPr sz="1600" b="0" i="0">
                <a:solidFill>
                  <a:srgbClr val="5C6410"/>
                </a:solidFill>
                <a:latin typeface="Roboto Mono"/>
              </a:rPr>
              <a:t>15 MIN</a:t>
            </a:r>
          </a:p>
        </p:txBody>
      </p:sp>
      <p:sp>
        <p:nvSpPr>
          <p:cNvPr id="11" name="Rectangle 10"/>
          <p:cNvSpPr/>
          <p:nvPr/>
        </p:nvSpPr>
        <p:spPr>
          <a:xfrm>
            <a:off x="11155680" y="4425696"/>
            <a:ext cx="6675120" cy="896112"/>
          </a:xfrm>
          <a:prstGeom prst="rect">
            <a:avLst/>
          </a:prstGeom>
          <a:solidFill>
            <a:srgbClr val="FFFFFF"/>
          </a:solidFill>
          <a:ln w="15875">
            <a:solidFill>
              <a:srgbClr val="000000"/>
            </a:solidFill>
          </a:ln>
        </p:spPr>
        <p:txBody>
          <a:bodyPr rtlCol="0" anchor="ctr"/>
          <a:lstStyle/>
          <a:p>
            <a:pPr algn="ctr"/>
          </a:p>
        </p:txBody>
      </p:sp>
      <p:sp>
        <p:nvSpPr>
          <p:cNvPr id="12" name="TextBox 11"/>
          <p:cNvSpPr txBox="1"/>
          <p:nvPr/>
        </p:nvSpPr>
        <p:spPr>
          <a:xfrm>
            <a:off x="11384280" y="4626864"/>
            <a:ext cx="640080" cy="457200"/>
          </a:xfrm>
          <a:prstGeom prst="rect">
            <a:avLst/>
          </a:prstGeom>
          <a:noFill/>
        </p:spPr>
        <p:txBody>
          <a:bodyPr wrap="square" lIns="0" rIns="0" tIns="0" bIns="0" anchor="ctr">
            <a:noAutofit/>
          </a:bodyPr>
          <a:lstStyle/>
          <a:p>
            <a:pPr algn="l"/>
            <a:r>
              <a:rPr sz="2000" b="0" i="0">
                <a:solidFill>
                  <a:srgbClr val="000000"/>
                </a:solidFill>
                <a:latin typeface="Roboto Mono"/>
              </a:rPr>
              <a:t>03</a:t>
            </a:r>
          </a:p>
        </p:txBody>
      </p:sp>
      <p:sp>
        <p:nvSpPr>
          <p:cNvPr id="13" name="TextBox 12"/>
          <p:cNvSpPr txBox="1"/>
          <p:nvPr/>
        </p:nvSpPr>
        <p:spPr>
          <a:xfrm>
            <a:off x="12115800" y="4553712"/>
            <a:ext cx="4572000" cy="676656"/>
          </a:xfrm>
          <a:prstGeom prst="rect">
            <a:avLst/>
          </a:prstGeom>
          <a:noFill/>
        </p:spPr>
        <p:txBody>
          <a:bodyPr wrap="square" lIns="0" rIns="0" tIns="0" bIns="0" anchor="ctr">
            <a:noAutofit/>
          </a:bodyPr>
          <a:lstStyle/>
          <a:p>
            <a:pPr algn="l"/>
            <a:r>
              <a:rPr sz="2200" b="1" i="0">
                <a:solidFill>
                  <a:srgbClr val="000000"/>
                </a:solidFill>
                <a:latin typeface="Inter"/>
              </a:rPr>
              <a:t>Getting a customer connected</a:t>
            </a:r>
          </a:p>
        </p:txBody>
      </p:sp>
      <p:sp>
        <p:nvSpPr>
          <p:cNvPr id="14" name="TextBox 13"/>
          <p:cNvSpPr txBox="1"/>
          <p:nvPr/>
        </p:nvSpPr>
        <p:spPr>
          <a:xfrm>
            <a:off x="16642080" y="4626864"/>
            <a:ext cx="1005840" cy="457200"/>
          </a:xfrm>
          <a:prstGeom prst="rect">
            <a:avLst/>
          </a:prstGeom>
          <a:noFill/>
        </p:spPr>
        <p:txBody>
          <a:bodyPr wrap="square" lIns="0" rIns="0" tIns="0" bIns="0" anchor="ctr">
            <a:noAutofit/>
          </a:bodyPr>
          <a:lstStyle/>
          <a:p>
            <a:pPr algn="r"/>
            <a:r>
              <a:rPr sz="1600" b="0" i="0">
                <a:solidFill>
                  <a:srgbClr val="000000"/>
                </a:solidFill>
                <a:latin typeface="Roboto Mono"/>
              </a:rPr>
              <a:t>10 MIN</a:t>
            </a:r>
          </a:p>
        </p:txBody>
      </p:sp>
      <p:sp>
        <p:nvSpPr>
          <p:cNvPr id="15" name="TextBox 14"/>
          <p:cNvSpPr txBox="1"/>
          <p:nvPr/>
        </p:nvSpPr>
        <p:spPr>
          <a:xfrm>
            <a:off x="11384280" y="5705855"/>
            <a:ext cx="640080" cy="457200"/>
          </a:xfrm>
          <a:prstGeom prst="rect">
            <a:avLst/>
          </a:prstGeom>
          <a:noFill/>
        </p:spPr>
        <p:txBody>
          <a:bodyPr wrap="square" lIns="0" rIns="0" tIns="0" bIns="0" anchor="ctr">
            <a:noAutofit/>
          </a:bodyPr>
          <a:lstStyle/>
          <a:p>
            <a:pPr algn="l"/>
            <a:r>
              <a:rPr sz="2000" b="0" i="0">
                <a:solidFill>
                  <a:srgbClr val="5C6410"/>
                </a:solidFill>
                <a:latin typeface="Roboto Mono"/>
              </a:rPr>
              <a:t>04</a:t>
            </a:r>
          </a:p>
        </p:txBody>
      </p:sp>
      <p:sp>
        <p:nvSpPr>
          <p:cNvPr id="16" name="TextBox 15"/>
          <p:cNvSpPr txBox="1"/>
          <p:nvPr/>
        </p:nvSpPr>
        <p:spPr>
          <a:xfrm>
            <a:off x="12115800" y="5632703"/>
            <a:ext cx="4572000" cy="676656"/>
          </a:xfrm>
          <a:prstGeom prst="rect">
            <a:avLst/>
          </a:prstGeom>
          <a:noFill/>
        </p:spPr>
        <p:txBody>
          <a:bodyPr wrap="square" lIns="0" rIns="0" tIns="0" bIns="0" anchor="ctr">
            <a:noAutofit/>
          </a:bodyPr>
          <a:lstStyle/>
          <a:p>
            <a:pPr algn="l"/>
            <a:r>
              <a:rPr sz="2200" b="0" i="0">
                <a:solidFill>
                  <a:srgbClr val="5C6410"/>
                </a:solidFill>
                <a:latin typeface="Inter"/>
              </a:rPr>
              <a:t>Hands-on with Postman</a:t>
            </a:r>
          </a:p>
        </p:txBody>
      </p:sp>
      <p:sp>
        <p:nvSpPr>
          <p:cNvPr id="17" name="TextBox 16"/>
          <p:cNvSpPr txBox="1"/>
          <p:nvPr/>
        </p:nvSpPr>
        <p:spPr>
          <a:xfrm>
            <a:off x="16642080" y="5705855"/>
            <a:ext cx="1005840" cy="457200"/>
          </a:xfrm>
          <a:prstGeom prst="rect">
            <a:avLst/>
          </a:prstGeom>
          <a:noFill/>
        </p:spPr>
        <p:txBody>
          <a:bodyPr wrap="square" lIns="0" rIns="0" tIns="0" bIns="0" anchor="ctr">
            <a:noAutofit/>
          </a:bodyPr>
          <a:lstStyle/>
          <a:p>
            <a:pPr algn="r"/>
            <a:r>
              <a:rPr sz="1600" b="0" i="0">
                <a:solidFill>
                  <a:srgbClr val="5C6410"/>
                </a:solidFill>
                <a:latin typeface="Roboto Mono"/>
              </a:rPr>
              <a:t>30 MIN</a:t>
            </a:r>
          </a:p>
        </p:txBody>
      </p:sp>
      <p:sp>
        <p:nvSpPr>
          <p:cNvPr id="18" name="TextBox 17"/>
          <p:cNvSpPr txBox="1"/>
          <p:nvPr/>
        </p:nvSpPr>
        <p:spPr>
          <a:xfrm>
            <a:off x="11384280" y="6784847"/>
            <a:ext cx="640080" cy="457200"/>
          </a:xfrm>
          <a:prstGeom prst="rect">
            <a:avLst/>
          </a:prstGeom>
          <a:noFill/>
        </p:spPr>
        <p:txBody>
          <a:bodyPr wrap="square" lIns="0" rIns="0" tIns="0" bIns="0" anchor="ctr">
            <a:noAutofit/>
          </a:bodyPr>
          <a:lstStyle/>
          <a:p>
            <a:pPr algn="l"/>
            <a:r>
              <a:rPr sz="2000" b="0" i="0">
                <a:solidFill>
                  <a:srgbClr val="5C6410"/>
                </a:solidFill>
                <a:latin typeface="Roboto Mono"/>
              </a:rPr>
              <a:t>05</a:t>
            </a:r>
          </a:p>
        </p:txBody>
      </p:sp>
      <p:sp>
        <p:nvSpPr>
          <p:cNvPr id="19" name="TextBox 18"/>
          <p:cNvSpPr txBox="1"/>
          <p:nvPr/>
        </p:nvSpPr>
        <p:spPr>
          <a:xfrm>
            <a:off x="12115800" y="6711695"/>
            <a:ext cx="4572000" cy="676656"/>
          </a:xfrm>
          <a:prstGeom prst="rect">
            <a:avLst/>
          </a:prstGeom>
          <a:noFill/>
        </p:spPr>
        <p:txBody>
          <a:bodyPr wrap="square" lIns="0" rIns="0" tIns="0" bIns="0" anchor="ctr">
            <a:noAutofit/>
          </a:bodyPr>
          <a:lstStyle/>
          <a:p>
            <a:pPr algn="l"/>
            <a:r>
              <a:rPr sz="2200" b="0" i="0">
                <a:solidFill>
                  <a:srgbClr val="5C6410"/>
                </a:solidFill>
                <a:latin typeface="Inter"/>
              </a:rPr>
              <a:t>Pitching the API and practice</a:t>
            </a:r>
          </a:p>
        </p:txBody>
      </p:sp>
      <p:sp>
        <p:nvSpPr>
          <p:cNvPr id="20" name="TextBox 19"/>
          <p:cNvSpPr txBox="1"/>
          <p:nvPr/>
        </p:nvSpPr>
        <p:spPr>
          <a:xfrm>
            <a:off x="16642080" y="6784847"/>
            <a:ext cx="1005840" cy="457200"/>
          </a:xfrm>
          <a:prstGeom prst="rect">
            <a:avLst/>
          </a:prstGeom>
          <a:noFill/>
        </p:spPr>
        <p:txBody>
          <a:bodyPr wrap="square" lIns="0" rIns="0" tIns="0" bIns="0" anchor="ctr">
            <a:noAutofit/>
          </a:bodyPr>
          <a:lstStyle/>
          <a:p>
            <a:pPr algn="r"/>
            <a:r>
              <a:rPr sz="1600" b="0" i="0">
                <a:solidFill>
                  <a:srgbClr val="5C6410"/>
                </a:solidFill>
                <a:latin typeface="Roboto Mono"/>
              </a:rPr>
              <a:t>10 MIN</a:t>
            </a:r>
          </a:p>
        </p:txBody>
      </p:sp>
      <p:pic>
        <p:nvPicPr>
          <p:cNvPr id="21" name="Picture 20" descr="s5_1.png"/>
          <p:cNvPicPr>
            <a:picLocks noChangeAspect="1"/>
          </p:cNvPicPr>
          <p:nvPr/>
        </p:nvPicPr>
        <p:blipFill>
          <a:blip r:embed="rId2"/>
          <a:stretch>
            <a:fillRect/>
          </a:stretch>
        </p:blipFill>
        <p:spPr>
          <a:xfrm>
            <a:off x="457200" y="9701784"/>
            <a:ext cx="1344168" cy="310896"/>
          </a:xfrm>
          <a:prstGeom prst="rect">
            <a:avLst/>
          </a:prstGeom>
        </p:spPr>
      </p:pic>
      <p:sp>
        <p:nvSpPr>
          <p:cNvPr id="22" name="TextBox 21"/>
          <p:cNvSpPr txBox="1"/>
          <p:nvPr/>
        </p:nvSpPr>
        <p:spPr>
          <a:xfrm>
            <a:off x="15983712" y="9692640"/>
            <a:ext cx="1828800" cy="338328"/>
          </a:xfrm>
          <a:prstGeom prst="rect">
            <a:avLst/>
          </a:prstGeom>
          <a:noFill/>
        </p:spPr>
        <p:txBody>
          <a:bodyPr wrap="square" lIns="0" rIns="0" tIns="0" bIns="0" anchor="t">
            <a:noAutofit/>
          </a:bodyPr>
          <a:lstStyle/>
          <a:p>
            <a:pPr algn="r"/>
            <a:r>
              <a:rPr sz="1800" b="0" i="0">
                <a:solidFill>
                  <a:srgbClr val="000000"/>
                </a:solidFill>
                <a:latin typeface="Roboto Mono"/>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ED"/>
        </a:solidFill>
        <a:effectLst/>
      </p:bgPr>
    </p:bg>
    <p:spTree>
      <p:nvGrpSpPr>
        <p:cNvPr id="1" name=""/>
        <p:cNvGrpSpPr/>
        <p:nvPr/>
      </p:nvGrpSpPr>
      <p:grpSpPr/>
      <p:pic>
        <p:nvPicPr>
          <p:cNvPr id="2" name="Picture 1" descr="s1_0.png"/>
          <p:cNvPicPr>
            <a:picLocks noChangeAspect="1"/>
          </p:cNvPicPr>
          <p:nvPr/>
        </p:nvPicPr>
        <p:blipFill>
          <a:blip r:embed="rId2"/>
          <a:stretch>
            <a:fillRect/>
          </a:stretch>
        </p:blipFill>
        <p:spPr>
          <a:xfrm>
            <a:off x="475488" y="594360"/>
            <a:ext cx="1655064" cy="384048"/>
          </a:xfrm>
          <a:prstGeom prst="rect">
            <a:avLst/>
          </a:prstGeom>
        </p:spPr>
      </p:pic>
      <p:sp>
        <p:nvSpPr>
          <p:cNvPr id="3" name="Rectangle 2"/>
          <p:cNvSpPr/>
          <p:nvPr/>
        </p:nvSpPr>
        <p:spPr>
          <a:xfrm>
            <a:off x="2441448" y="777240"/>
            <a:ext cx="15371064" cy="10972"/>
          </a:xfrm>
          <a:prstGeom prst="rect">
            <a:avLst/>
          </a:prstGeom>
          <a:solidFill>
            <a:srgbClr val="000000"/>
          </a:solidFill>
          <a:ln>
            <a:noFill/>
          </a:ln>
        </p:spPr>
        <p:txBody>
          <a:bodyPr rtlCol="0" anchor="ctr"/>
          <a:lstStyle/>
          <a:p>
            <a:pPr algn="ctr"/>
          </a:p>
        </p:txBody>
      </p:sp>
      <p:sp>
        <p:nvSpPr>
          <p:cNvPr id="4" name="TextBox 3"/>
          <p:cNvSpPr txBox="1"/>
          <p:nvPr/>
        </p:nvSpPr>
        <p:spPr>
          <a:xfrm>
            <a:off x="475488" y="1527048"/>
            <a:ext cx="10972800" cy="365760"/>
          </a:xfrm>
          <a:prstGeom prst="rect">
            <a:avLst/>
          </a:prstGeom>
          <a:noFill/>
        </p:spPr>
        <p:txBody>
          <a:bodyPr wrap="square" lIns="0" rIns="0" tIns="0" bIns="0" anchor="t">
            <a:noAutofit/>
          </a:bodyPr>
          <a:lstStyle/>
          <a:p>
            <a:pPr algn="l"/>
            <a:r>
              <a:rPr sz="1800" b="0" i="0">
                <a:solidFill>
                  <a:srgbClr val="000000"/>
                </a:solidFill>
                <a:latin typeface="Roboto Mono"/>
              </a:rPr>
              <a:t>PART 3 · GETTING CONNECTED</a:t>
            </a:r>
          </a:p>
        </p:txBody>
      </p:sp>
      <p:sp>
        <p:nvSpPr>
          <p:cNvPr id="5" name="Title"/>
          <p:cNvSpPr txBox="1"/>
          <p:nvPr/>
        </p:nvSpPr>
        <p:spPr>
          <a:xfrm>
            <a:off x="475488" y="2011680"/>
            <a:ext cx="17337024" cy="868680"/>
          </a:xfrm>
          <a:prstGeom prst="rect">
            <a:avLst/>
          </a:prstGeom>
          <a:noFill/>
        </p:spPr>
        <p:txBody>
          <a:bodyPr wrap="square" lIns="0" rIns="0" tIns="0" bIns="0" anchor="t">
            <a:noAutofit/>
          </a:bodyPr>
          <a:lstStyle/>
          <a:p>
            <a:pPr algn="l">
              <a:lnSpc>
                <a:spcPct val="95000"/>
              </a:lnSpc>
            </a:pPr>
            <a:r>
              <a:rPr sz="4600" b="1" i="0">
                <a:solidFill>
                  <a:srgbClr val="000000"/>
                </a:solidFill>
                <a:latin typeface="Inter"/>
              </a:rPr>
              <a:t>Four steps to connect a customer</a:t>
            </a:r>
          </a:p>
        </p:txBody>
      </p:sp>
      <p:sp>
        <p:nvSpPr>
          <p:cNvPr id="6" name="Rectangle 5"/>
          <p:cNvSpPr/>
          <p:nvPr/>
        </p:nvSpPr>
        <p:spPr>
          <a:xfrm>
            <a:off x="475488" y="9189720"/>
            <a:ext cx="17337024" cy="10972"/>
          </a:xfrm>
          <a:prstGeom prst="rect">
            <a:avLst/>
          </a:prstGeom>
          <a:solidFill>
            <a:srgbClr val="000000"/>
          </a:solidFill>
          <a:ln>
            <a:noFill/>
          </a:ln>
        </p:spPr>
        <p:txBody>
          <a:bodyPr rtlCol="0" anchor="ctr"/>
          <a:lstStyle/>
          <a:p>
            <a:pPr algn="ctr"/>
          </a:p>
        </p:txBody>
      </p:sp>
      <p:sp>
        <p:nvSpPr>
          <p:cNvPr id="7" name="TextBox 6"/>
          <p:cNvSpPr txBox="1"/>
          <p:nvPr/>
        </p:nvSpPr>
        <p:spPr>
          <a:xfrm>
            <a:off x="475488" y="9354312"/>
            <a:ext cx="2743200" cy="338328"/>
          </a:xfrm>
          <a:prstGeom prst="rect">
            <a:avLst/>
          </a:prstGeom>
          <a:noFill/>
        </p:spPr>
        <p:txBody>
          <a:bodyPr wrap="square" lIns="0" rIns="0" tIns="0" bIns="0" anchor="t">
            <a:noAutofit/>
          </a:bodyPr>
          <a:lstStyle/>
          <a:p>
            <a:pPr algn="l"/>
            <a:r>
              <a:rPr sz="1800" b="0" i="0">
                <a:solidFill>
                  <a:srgbClr val="000000"/>
                </a:solidFill>
                <a:latin typeface="Roboto Mono"/>
              </a:rPr>
              <a:t>CALIRA.CO</a:t>
            </a:r>
          </a:p>
        </p:txBody>
      </p:sp>
      <p:sp>
        <p:nvSpPr>
          <p:cNvPr id="8" name="TextBox 7"/>
          <p:cNvSpPr txBox="1"/>
          <p:nvPr/>
        </p:nvSpPr>
        <p:spPr>
          <a:xfrm>
            <a:off x="15983712" y="9354312"/>
            <a:ext cx="1828800" cy="338328"/>
          </a:xfrm>
          <a:prstGeom prst="rect">
            <a:avLst/>
          </a:prstGeom>
          <a:noFill/>
        </p:spPr>
        <p:txBody>
          <a:bodyPr wrap="square" lIns="0" rIns="0" tIns="0" bIns="0" anchor="t">
            <a:noAutofit/>
          </a:bodyPr>
          <a:lstStyle/>
          <a:p>
            <a:pPr algn="r"/>
            <a:r>
              <a:rPr sz="1800" b="0" i="0">
                <a:solidFill>
                  <a:srgbClr val="000000"/>
                </a:solidFill>
                <a:latin typeface="Roboto Mono"/>
              </a:rPr>
              <a:t>16</a:t>
            </a:r>
          </a:p>
        </p:txBody>
      </p:sp>
      <p:sp>
        <p:nvSpPr>
          <p:cNvPr id="9" name="Rectangle 8"/>
          <p:cNvSpPr/>
          <p:nvPr/>
        </p:nvSpPr>
        <p:spPr>
          <a:xfrm>
            <a:off x="475488" y="3154680"/>
            <a:ext cx="3840480" cy="3383280"/>
          </a:xfrm>
          <a:prstGeom prst="rect">
            <a:avLst/>
          </a:prstGeom>
          <a:solidFill>
            <a:srgbClr val="FFFFFF"/>
          </a:solidFill>
          <a:ln w="15875">
            <a:solidFill>
              <a:srgbClr val="000000"/>
            </a:solidFill>
          </a:ln>
        </p:spPr>
        <p:txBody>
          <a:bodyPr rtlCol="0" anchor="ctr"/>
          <a:lstStyle/>
          <a:p>
            <a:pPr algn="ctr"/>
          </a:p>
        </p:txBody>
      </p:sp>
      <p:sp>
        <p:nvSpPr>
          <p:cNvPr id="10" name="TextBox 9"/>
          <p:cNvSpPr txBox="1"/>
          <p:nvPr/>
        </p:nvSpPr>
        <p:spPr>
          <a:xfrm>
            <a:off x="749808" y="3429000"/>
            <a:ext cx="2743200" cy="365760"/>
          </a:xfrm>
          <a:prstGeom prst="rect">
            <a:avLst/>
          </a:prstGeom>
          <a:noFill/>
        </p:spPr>
        <p:txBody>
          <a:bodyPr wrap="square" lIns="0" rIns="0" tIns="0" bIns="0" anchor="t">
            <a:noAutofit/>
          </a:bodyPr>
          <a:lstStyle/>
          <a:p>
            <a:pPr algn="l"/>
            <a:r>
              <a:rPr sz="1600" b="0" i="0">
                <a:solidFill>
                  <a:srgbClr val="000000"/>
                </a:solidFill>
                <a:latin typeface="Roboto Mono"/>
              </a:rPr>
              <a:t>STEP 1</a:t>
            </a:r>
          </a:p>
        </p:txBody>
      </p:sp>
      <p:sp>
        <p:nvSpPr>
          <p:cNvPr id="11" name="TextBox 10"/>
          <p:cNvSpPr txBox="1"/>
          <p:nvPr/>
        </p:nvSpPr>
        <p:spPr>
          <a:xfrm>
            <a:off x="749808" y="3886200"/>
            <a:ext cx="3383280" cy="548640"/>
          </a:xfrm>
          <a:prstGeom prst="rect">
            <a:avLst/>
          </a:prstGeom>
          <a:noFill/>
        </p:spPr>
        <p:txBody>
          <a:bodyPr wrap="square" lIns="0" rIns="0" tIns="0" bIns="0" anchor="t">
            <a:noAutofit/>
          </a:bodyPr>
          <a:lstStyle/>
          <a:p>
            <a:pPr algn="l"/>
            <a:r>
              <a:rPr sz="3200" b="1" i="0">
                <a:solidFill>
                  <a:srgbClr val="000000"/>
                </a:solidFill>
                <a:latin typeface="Inter"/>
              </a:rPr>
              <a:t>REGISTER</a:t>
            </a:r>
          </a:p>
        </p:txBody>
      </p:sp>
      <p:sp>
        <p:nvSpPr>
          <p:cNvPr id="12" name="TextBox 11"/>
          <p:cNvSpPr txBox="1"/>
          <p:nvPr/>
        </p:nvSpPr>
        <p:spPr>
          <a:xfrm>
            <a:off x="749808" y="4526280"/>
            <a:ext cx="3337560" cy="1280160"/>
          </a:xfrm>
          <a:prstGeom prst="rect">
            <a:avLst/>
          </a:prstGeom>
          <a:noFill/>
        </p:spPr>
        <p:txBody>
          <a:bodyPr wrap="square" lIns="0" rIns="0" tIns="0" bIns="0" anchor="t">
            <a:noAutofit/>
          </a:bodyPr>
          <a:lstStyle/>
          <a:p>
            <a:pPr algn="l"/>
            <a:r>
              <a:rPr sz="2000" b="0" i="0">
                <a:solidFill>
                  <a:srgbClr val="2C2825"/>
                </a:solidFill>
                <a:latin typeface="Inter"/>
              </a:rPr>
              <a:t>The customer's lab admin creates an application in Calira.</a:t>
            </a:r>
          </a:p>
        </p:txBody>
      </p:sp>
      <p:sp>
        <p:nvSpPr>
          <p:cNvPr id="13" name="Rectangle 12"/>
          <p:cNvSpPr/>
          <p:nvPr/>
        </p:nvSpPr>
        <p:spPr>
          <a:xfrm>
            <a:off x="749808" y="5852160"/>
            <a:ext cx="3291840" cy="10972"/>
          </a:xfrm>
          <a:prstGeom prst="rect">
            <a:avLst/>
          </a:prstGeom>
          <a:solidFill>
            <a:srgbClr val="000000"/>
          </a:solidFill>
          <a:ln>
            <a:noFill/>
          </a:ln>
        </p:spPr>
        <p:txBody>
          <a:bodyPr rtlCol="0" anchor="ctr"/>
          <a:lstStyle/>
          <a:p>
            <a:pPr algn="ctr"/>
          </a:p>
        </p:txBody>
      </p:sp>
      <p:sp>
        <p:nvSpPr>
          <p:cNvPr id="14" name="TextBox 13"/>
          <p:cNvSpPr txBox="1"/>
          <p:nvPr/>
        </p:nvSpPr>
        <p:spPr>
          <a:xfrm>
            <a:off x="749808" y="5989320"/>
            <a:ext cx="3383280" cy="365760"/>
          </a:xfrm>
          <a:prstGeom prst="rect">
            <a:avLst/>
          </a:prstGeom>
          <a:noFill/>
        </p:spPr>
        <p:txBody>
          <a:bodyPr wrap="square" lIns="0" rIns="0" tIns="0" bIns="0" anchor="t">
            <a:noAutofit/>
          </a:bodyPr>
          <a:lstStyle/>
          <a:p>
            <a:pPr algn="l"/>
            <a:r>
              <a:rPr sz="1400" b="0" i="0">
                <a:solidFill>
                  <a:srgbClr val="000000"/>
                </a:solidFill>
                <a:latin typeface="Roboto Mono"/>
              </a:rPr>
              <a:t>WHO: CUSTOMER ADMIN</a:t>
            </a:r>
          </a:p>
        </p:txBody>
      </p:sp>
      <p:cxnSp>
        <p:nvCxnSpPr>
          <p:cNvPr id="15" name="Connector 14"/>
          <p:cNvCxnSpPr/>
          <p:nvPr/>
        </p:nvCxnSpPr>
        <p:spPr>
          <a:xfrm>
            <a:off x="4352544" y="4160520"/>
            <a:ext cx="585216" cy="0"/>
          </a:xfrm>
          <a:prstGeom prst="line">
            <a:avLst/>
          </a:prstGeom>
          <a:ln w="31750">
            <a:solidFill>
              <a:srgbClr val="000000"/>
            </a:solidFill>
            <a:tailEnd type="triangle" w="med" len="med"/>
          </a:ln>
        </p:spPr>
      </p:cxnSp>
      <p:sp>
        <p:nvSpPr>
          <p:cNvPr id="16" name="Rectangle 15"/>
          <p:cNvSpPr/>
          <p:nvPr/>
        </p:nvSpPr>
        <p:spPr>
          <a:xfrm>
            <a:off x="4974336" y="3154680"/>
            <a:ext cx="3840480" cy="3383280"/>
          </a:xfrm>
          <a:prstGeom prst="rect">
            <a:avLst/>
          </a:prstGeom>
          <a:solidFill>
            <a:srgbClr val="E8FC2E"/>
          </a:solidFill>
          <a:ln w="15875">
            <a:solidFill>
              <a:srgbClr val="000000"/>
            </a:solidFill>
          </a:ln>
        </p:spPr>
        <p:txBody>
          <a:bodyPr rtlCol="0" anchor="ctr"/>
          <a:lstStyle/>
          <a:p>
            <a:pPr algn="ctr"/>
          </a:p>
        </p:txBody>
      </p:sp>
      <p:sp>
        <p:nvSpPr>
          <p:cNvPr id="17" name="TextBox 16"/>
          <p:cNvSpPr txBox="1"/>
          <p:nvPr/>
        </p:nvSpPr>
        <p:spPr>
          <a:xfrm>
            <a:off x="5248656" y="3429000"/>
            <a:ext cx="2743200" cy="365760"/>
          </a:xfrm>
          <a:prstGeom prst="rect">
            <a:avLst/>
          </a:prstGeom>
          <a:noFill/>
        </p:spPr>
        <p:txBody>
          <a:bodyPr wrap="square" lIns="0" rIns="0" tIns="0" bIns="0" anchor="t">
            <a:noAutofit/>
          </a:bodyPr>
          <a:lstStyle/>
          <a:p>
            <a:pPr algn="l"/>
            <a:r>
              <a:rPr sz="1600" b="0" i="0">
                <a:solidFill>
                  <a:srgbClr val="000000"/>
                </a:solidFill>
                <a:latin typeface="Roboto Mono"/>
              </a:rPr>
              <a:t>STEP 2</a:t>
            </a:r>
          </a:p>
        </p:txBody>
      </p:sp>
      <p:sp>
        <p:nvSpPr>
          <p:cNvPr id="18" name="TextBox 17"/>
          <p:cNvSpPr txBox="1"/>
          <p:nvPr/>
        </p:nvSpPr>
        <p:spPr>
          <a:xfrm>
            <a:off x="5248656" y="3886200"/>
            <a:ext cx="3383280" cy="548640"/>
          </a:xfrm>
          <a:prstGeom prst="rect">
            <a:avLst/>
          </a:prstGeom>
          <a:noFill/>
        </p:spPr>
        <p:txBody>
          <a:bodyPr wrap="square" lIns="0" rIns="0" tIns="0" bIns="0" anchor="t">
            <a:noAutofit/>
          </a:bodyPr>
          <a:lstStyle/>
          <a:p>
            <a:pPr algn="l"/>
            <a:r>
              <a:rPr sz="3200" b="1" i="0">
                <a:solidFill>
                  <a:srgbClr val="000000"/>
                </a:solidFill>
                <a:latin typeface="Inter"/>
              </a:rPr>
              <a:t>APPROVE</a:t>
            </a:r>
          </a:p>
        </p:txBody>
      </p:sp>
      <p:sp>
        <p:nvSpPr>
          <p:cNvPr id="19" name="TextBox 18"/>
          <p:cNvSpPr txBox="1"/>
          <p:nvPr/>
        </p:nvSpPr>
        <p:spPr>
          <a:xfrm>
            <a:off x="5248656" y="4526280"/>
            <a:ext cx="3337560" cy="1280160"/>
          </a:xfrm>
          <a:prstGeom prst="rect">
            <a:avLst/>
          </a:prstGeom>
          <a:noFill/>
        </p:spPr>
        <p:txBody>
          <a:bodyPr wrap="square" lIns="0" rIns="0" tIns="0" bIns="0" anchor="t">
            <a:noAutofit/>
          </a:bodyPr>
          <a:lstStyle/>
          <a:p>
            <a:pPr algn="l"/>
            <a:r>
              <a:rPr sz="2000" b="0" i="0">
                <a:solidFill>
                  <a:srgbClr val="2C2825"/>
                </a:solidFill>
                <a:latin typeface="Inter"/>
              </a:rPr>
              <a:t>Calira staff check it and switch it on in Control Room.</a:t>
            </a:r>
          </a:p>
        </p:txBody>
      </p:sp>
      <p:sp>
        <p:nvSpPr>
          <p:cNvPr id="20" name="Rectangle 19"/>
          <p:cNvSpPr/>
          <p:nvPr/>
        </p:nvSpPr>
        <p:spPr>
          <a:xfrm>
            <a:off x="5248656" y="5852160"/>
            <a:ext cx="3291840" cy="10972"/>
          </a:xfrm>
          <a:prstGeom prst="rect">
            <a:avLst/>
          </a:prstGeom>
          <a:solidFill>
            <a:srgbClr val="000000"/>
          </a:solidFill>
          <a:ln>
            <a:noFill/>
          </a:ln>
        </p:spPr>
        <p:txBody>
          <a:bodyPr rtlCol="0" anchor="ctr"/>
          <a:lstStyle/>
          <a:p>
            <a:pPr algn="ctr"/>
          </a:p>
        </p:txBody>
      </p:sp>
      <p:sp>
        <p:nvSpPr>
          <p:cNvPr id="21" name="TextBox 20"/>
          <p:cNvSpPr txBox="1"/>
          <p:nvPr/>
        </p:nvSpPr>
        <p:spPr>
          <a:xfrm>
            <a:off x="5248656" y="5989320"/>
            <a:ext cx="3383280" cy="365760"/>
          </a:xfrm>
          <a:prstGeom prst="rect">
            <a:avLst/>
          </a:prstGeom>
          <a:noFill/>
        </p:spPr>
        <p:txBody>
          <a:bodyPr wrap="square" lIns="0" rIns="0" tIns="0" bIns="0" anchor="t">
            <a:noAutofit/>
          </a:bodyPr>
          <a:lstStyle/>
          <a:p>
            <a:pPr algn="l"/>
            <a:r>
              <a:rPr sz="1400" b="0" i="0">
                <a:solidFill>
                  <a:srgbClr val="000000"/>
                </a:solidFill>
                <a:latin typeface="Roboto Mono"/>
              </a:rPr>
              <a:t>WHO: CALIRA</a:t>
            </a:r>
          </a:p>
        </p:txBody>
      </p:sp>
      <p:cxnSp>
        <p:nvCxnSpPr>
          <p:cNvPr id="22" name="Connector 21"/>
          <p:cNvCxnSpPr/>
          <p:nvPr/>
        </p:nvCxnSpPr>
        <p:spPr>
          <a:xfrm>
            <a:off x="8851392" y="4160520"/>
            <a:ext cx="585216" cy="0"/>
          </a:xfrm>
          <a:prstGeom prst="line">
            <a:avLst/>
          </a:prstGeom>
          <a:ln w="31750">
            <a:solidFill>
              <a:srgbClr val="000000"/>
            </a:solidFill>
            <a:tailEnd type="triangle" w="med" len="med"/>
          </a:ln>
        </p:spPr>
      </p:cxnSp>
      <p:sp>
        <p:nvSpPr>
          <p:cNvPr id="23" name="Rectangle 22"/>
          <p:cNvSpPr/>
          <p:nvPr/>
        </p:nvSpPr>
        <p:spPr>
          <a:xfrm>
            <a:off x="9473184" y="3154680"/>
            <a:ext cx="3840480" cy="3383280"/>
          </a:xfrm>
          <a:prstGeom prst="rect">
            <a:avLst/>
          </a:prstGeom>
          <a:solidFill>
            <a:srgbClr val="FFFFFF"/>
          </a:solidFill>
          <a:ln w="15875">
            <a:solidFill>
              <a:srgbClr val="000000"/>
            </a:solidFill>
          </a:ln>
        </p:spPr>
        <p:txBody>
          <a:bodyPr rtlCol="0" anchor="ctr"/>
          <a:lstStyle/>
          <a:p>
            <a:pPr algn="ctr"/>
          </a:p>
        </p:txBody>
      </p:sp>
      <p:sp>
        <p:nvSpPr>
          <p:cNvPr id="24" name="TextBox 23"/>
          <p:cNvSpPr txBox="1"/>
          <p:nvPr/>
        </p:nvSpPr>
        <p:spPr>
          <a:xfrm>
            <a:off x="9747504" y="3429000"/>
            <a:ext cx="2743200" cy="365760"/>
          </a:xfrm>
          <a:prstGeom prst="rect">
            <a:avLst/>
          </a:prstGeom>
          <a:noFill/>
        </p:spPr>
        <p:txBody>
          <a:bodyPr wrap="square" lIns="0" rIns="0" tIns="0" bIns="0" anchor="t">
            <a:noAutofit/>
          </a:bodyPr>
          <a:lstStyle/>
          <a:p>
            <a:pPr algn="l"/>
            <a:r>
              <a:rPr sz="1600" b="0" i="0">
                <a:solidFill>
                  <a:srgbClr val="000000"/>
                </a:solidFill>
                <a:latin typeface="Roboto Mono"/>
              </a:rPr>
              <a:t>STEP 3</a:t>
            </a:r>
          </a:p>
        </p:txBody>
      </p:sp>
      <p:sp>
        <p:nvSpPr>
          <p:cNvPr id="25" name="TextBox 24"/>
          <p:cNvSpPr txBox="1"/>
          <p:nvPr/>
        </p:nvSpPr>
        <p:spPr>
          <a:xfrm>
            <a:off x="9747504" y="3886200"/>
            <a:ext cx="3383280" cy="548640"/>
          </a:xfrm>
          <a:prstGeom prst="rect">
            <a:avLst/>
          </a:prstGeom>
          <a:noFill/>
        </p:spPr>
        <p:txBody>
          <a:bodyPr wrap="square" lIns="0" rIns="0" tIns="0" bIns="0" anchor="t">
            <a:noAutofit/>
          </a:bodyPr>
          <a:lstStyle/>
          <a:p>
            <a:pPr algn="l"/>
            <a:r>
              <a:rPr sz="3200" b="1" i="0">
                <a:solidFill>
                  <a:srgbClr val="000000"/>
                </a:solidFill>
                <a:latin typeface="Inter"/>
              </a:rPr>
              <a:t>AUTHORISE</a:t>
            </a:r>
          </a:p>
        </p:txBody>
      </p:sp>
      <p:sp>
        <p:nvSpPr>
          <p:cNvPr id="26" name="TextBox 25"/>
          <p:cNvSpPr txBox="1"/>
          <p:nvPr/>
        </p:nvSpPr>
        <p:spPr>
          <a:xfrm>
            <a:off x="9747504" y="4526280"/>
            <a:ext cx="3337560" cy="1280160"/>
          </a:xfrm>
          <a:prstGeom prst="rect">
            <a:avLst/>
          </a:prstGeom>
          <a:noFill/>
        </p:spPr>
        <p:txBody>
          <a:bodyPr wrap="square" lIns="0" rIns="0" tIns="0" bIns="0" anchor="t">
            <a:noAutofit/>
          </a:bodyPr>
          <a:lstStyle/>
          <a:p>
            <a:pPr algn="l"/>
            <a:r>
              <a:rPr sz="2000" b="0" i="0">
                <a:solidFill>
                  <a:srgbClr val="2C2825"/>
                </a:solidFill>
                <a:latin typeface="Inter"/>
              </a:rPr>
              <a:t>The customer ticks which labs the application may see.</a:t>
            </a:r>
          </a:p>
        </p:txBody>
      </p:sp>
      <p:sp>
        <p:nvSpPr>
          <p:cNvPr id="27" name="Rectangle 26"/>
          <p:cNvSpPr/>
          <p:nvPr/>
        </p:nvSpPr>
        <p:spPr>
          <a:xfrm>
            <a:off x="9747504" y="5852160"/>
            <a:ext cx="3291840" cy="10972"/>
          </a:xfrm>
          <a:prstGeom prst="rect">
            <a:avLst/>
          </a:prstGeom>
          <a:solidFill>
            <a:srgbClr val="000000"/>
          </a:solidFill>
          <a:ln>
            <a:noFill/>
          </a:ln>
        </p:spPr>
        <p:txBody>
          <a:bodyPr rtlCol="0" anchor="ctr"/>
          <a:lstStyle/>
          <a:p>
            <a:pPr algn="ctr"/>
          </a:p>
        </p:txBody>
      </p:sp>
      <p:sp>
        <p:nvSpPr>
          <p:cNvPr id="28" name="TextBox 27"/>
          <p:cNvSpPr txBox="1"/>
          <p:nvPr/>
        </p:nvSpPr>
        <p:spPr>
          <a:xfrm>
            <a:off x="9747504" y="5989320"/>
            <a:ext cx="3383280" cy="365760"/>
          </a:xfrm>
          <a:prstGeom prst="rect">
            <a:avLst/>
          </a:prstGeom>
          <a:noFill/>
        </p:spPr>
        <p:txBody>
          <a:bodyPr wrap="square" lIns="0" rIns="0" tIns="0" bIns="0" anchor="t">
            <a:noAutofit/>
          </a:bodyPr>
          <a:lstStyle/>
          <a:p>
            <a:pPr algn="l"/>
            <a:r>
              <a:rPr sz="1400" b="0" i="0">
                <a:solidFill>
                  <a:srgbClr val="000000"/>
                </a:solidFill>
                <a:latin typeface="Roboto Mono"/>
              </a:rPr>
              <a:t>WHO: CUSTOMER ADMIN</a:t>
            </a:r>
          </a:p>
        </p:txBody>
      </p:sp>
      <p:cxnSp>
        <p:nvCxnSpPr>
          <p:cNvPr id="29" name="Connector 28"/>
          <p:cNvCxnSpPr/>
          <p:nvPr/>
        </p:nvCxnSpPr>
        <p:spPr>
          <a:xfrm>
            <a:off x="13350240" y="4160520"/>
            <a:ext cx="585216" cy="0"/>
          </a:xfrm>
          <a:prstGeom prst="line">
            <a:avLst/>
          </a:prstGeom>
          <a:ln w="31750">
            <a:solidFill>
              <a:srgbClr val="000000"/>
            </a:solidFill>
            <a:tailEnd type="triangle" w="med" len="med"/>
          </a:ln>
        </p:spPr>
      </p:cxnSp>
      <p:sp>
        <p:nvSpPr>
          <p:cNvPr id="30" name="Rectangle 29"/>
          <p:cNvSpPr/>
          <p:nvPr/>
        </p:nvSpPr>
        <p:spPr>
          <a:xfrm>
            <a:off x="13972032" y="3154680"/>
            <a:ext cx="3840480" cy="3383280"/>
          </a:xfrm>
          <a:prstGeom prst="rect">
            <a:avLst/>
          </a:prstGeom>
          <a:solidFill>
            <a:srgbClr val="FFFFFF"/>
          </a:solidFill>
          <a:ln w="15875">
            <a:solidFill>
              <a:srgbClr val="000000"/>
            </a:solidFill>
          </a:ln>
        </p:spPr>
        <p:txBody>
          <a:bodyPr rtlCol="0" anchor="ctr"/>
          <a:lstStyle/>
          <a:p>
            <a:pPr algn="ctr"/>
          </a:p>
        </p:txBody>
      </p:sp>
      <p:sp>
        <p:nvSpPr>
          <p:cNvPr id="31" name="TextBox 30"/>
          <p:cNvSpPr txBox="1"/>
          <p:nvPr/>
        </p:nvSpPr>
        <p:spPr>
          <a:xfrm>
            <a:off x="14246352" y="3429000"/>
            <a:ext cx="2743200" cy="365760"/>
          </a:xfrm>
          <a:prstGeom prst="rect">
            <a:avLst/>
          </a:prstGeom>
          <a:noFill/>
        </p:spPr>
        <p:txBody>
          <a:bodyPr wrap="square" lIns="0" rIns="0" tIns="0" bIns="0" anchor="t">
            <a:noAutofit/>
          </a:bodyPr>
          <a:lstStyle/>
          <a:p>
            <a:pPr algn="l"/>
            <a:r>
              <a:rPr sz="1600" b="0" i="0">
                <a:solidFill>
                  <a:srgbClr val="000000"/>
                </a:solidFill>
                <a:latin typeface="Roboto Mono"/>
              </a:rPr>
              <a:t>STEP 4</a:t>
            </a:r>
          </a:p>
        </p:txBody>
      </p:sp>
      <p:sp>
        <p:nvSpPr>
          <p:cNvPr id="32" name="TextBox 31"/>
          <p:cNvSpPr txBox="1"/>
          <p:nvPr/>
        </p:nvSpPr>
        <p:spPr>
          <a:xfrm>
            <a:off x="14246352" y="3886200"/>
            <a:ext cx="3383280" cy="548640"/>
          </a:xfrm>
          <a:prstGeom prst="rect">
            <a:avLst/>
          </a:prstGeom>
          <a:noFill/>
        </p:spPr>
        <p:txBody>
          <a:bodyPr wrap="square" lIns="0" rIns="0" tIns="0" bIns="0" anchor="t">
            <a:noAutofit/>
          </a:bodyPr>
          <a:lstStyle/>
          <a:p>
            <a:pPr algn="l"/>
            <a:r>
              <a:rPr sz="3200" b="1" i="0">
                <a:solidFill>
                  <a:srgbClr val="000000"/>
                </a:solidFill>
                <a:latin typeface="Inter"/>
              </a:rPr>
              <a:t>CONNECT</a:t>
            </a:r>
          </a:p>
        </p:txBody>
      </p:sp>
      <p:sp>
        <p:nvSpPr>
          <p:cNvPr id="33" name="TextBox 32"/>
          <p:cNvSpPr txBox="1"/>
          <p:nvPr/>
        </p:nvSpPr>
        <p:spPr>
          <a:xfrm>
            <a:off x="14246352" y="4526280"/>
            <a:ext cx="3337560" cy="1280160"/>
          </a:xfrm>
          <a:prstGeom prst="rect">
            <a:avLst/>
          </a:prstGeom>
          <a:noFill/>
        </p:spPr>
        <p:txBody>
          <a:bodyPr wrap="square" lIns="0" rIns="0" tIns="0" bIns="0" anchor="t">
            <a:noAutofit/>
          </a:bodyPr>
          <a:lstStyle/>
          <a:p>
            <a:pPr algn="l"/>
            <a:r>
              <a:rPr sz="2000" b="0" i="0">
                <a:solidFill>
                  <a:srgbClr val="2C2825"/>
                </a:solidFill>
                <a:latin typeface="Inter"/>
              </a:rPr>
              <a:t>Postman swaps that approval for a token. Now calls work.</a:t>
            </a:r>
          </a:p>
        </p:txBody>
      </p:sp>
      <p:sp>
        <p:nvSpPr>
          <p:cNvPr id="34" name="Rectangle 33"/>
          <p:cNvSpPr/>
          <p:nvPr/>
        </p:nvSpPr>
        <p:spPr>
          <a:xfrm>
            <a:off x="14246352" y="5852160"/>
            <a:ext cx="3291840" cy="10972"/>
          </a:xfrm>
          <a:prstGeom prst="rect">
            <a:avLst/>
          </a:prstGeom>
          <a:solidFill>
            <a:srgbClr val="000000"/>
          </a:solidFill>
          <a:ln>
            <a:noFill/>
          </a:ln>
        </p:spPr>
        <p:txBody>
          <a:bodyPr rtlCol="0" anchor="ctr"/>
          <a:lstStyle/>
          <a:p>
            <a:pPr algn="ctr"/>
          </a:p>
        </p:txBody>
      </p:sp>
      <p:sp>
        <p:nvSpPr>
          <p:cNvPr id="35" name="TextBox 34"/>
          <p:cNvSpPr txBox="1"/>
          <p:nvPr/>
        </p:nvSpPr>
        <p:spPr>
          <a:xfrm>
            <a:off x="14246352" y="5989320"/>
            <a:ext cx="3383280" cy="365760"/>
          </a:xfrm>
          <a:prstGeom prst="rect">
            <a:avLst/>
          </a:prstGeom>
          <a:noFill/>
        </p:spPr>
        <p:txBody>
          <a:bodyPr wrap="square" lIns="0" rIns="0" tIns="0" bIns="0" anchor="t">
            <a:noAutofit/>
          </a:bodyPr>
          <a:lstStyle/>
          <a:p>
            <a:pPr algn="l"/>
            <a:r>
              <a:rPr sz="1400" b="0" i="0">
                <a:solidFill>
                  <a:srgbClr val="000000"/>
                </a:solidFill>
                <a:latin typeface="Roboto Mono"/>
              </a:rPr>
              <a:t>WHO: YOU, IN POSTMAN</a:t>
            </a:r>
          </a:p>
        </p:txBody>
      </p:sp>
      <p:sp>
        <p:nvSpPr>
          <p:cNvPr id="36" name="Rectangle 35"/>
          <p:cNvSpPr/>
          <p:nvPr/>
        </p:nvSpPr>
        <p:spPr>
          <a:xfrm>
            <a:off x="475488" y="6812280"/>
            <a:ext cx="8558784" cy="2103120"/>
          </a:xfrm>
          <a:prstGeom prst="rect">
            <a:avLst/>
          </a:prstGeom>
          <a:solidFill>
            <a:srgbClr val="FFFFFF"/>
          </a:solidFill>
          <a:ln w="12700">
            <a:solidFill>
              <a:srgbClr val="000000"/>
            </a:solidFill>
          </a:ln>
        </p:spPr>
        <p:txBody>
          <a:bodyPr rtlCol="0" anchor="ctr"/>
          <a:lstStyle/>
          <a:p>
            <a:pPr algn="ctr"/>
          </a:p>
        </p:txBody>
      </p:sp>
      <p:pic>
        <p:nvPicPr>
          <p:cNvPr id="37" name="Picture 36" descr="lock.png"/>
          <p:cNvPicPr>
            <a:picLocks noChangeAspect="1"/>
          </p:cNvPicPr>
          <p:nvPr/>
        </p:nvPicPr>
        <p:blipFill>
          <a:blip r:embed="rId3"/>
          <a:stretch>
            <a:fillRect/>
          </a:stretch>
        </p:blipFill>
        <p:spPr>
          <a:xfrm>
            <a:off x="795528" y="7132320"/>
            <a:ext cx="566928" cy="566928"/>
          </a:xfrm>
          <a:prstGeom prst="rect">
            <a:avLst/>
          </a:prstGeom>
        </p:spPr>
      </p:pic>
      <p:sp>
        <p:nvSpPr>
          <p:cNvPr id="38" name="TextBox 37"/>
          <p:cNvSpPr txBox="1"/>
          <p:nvPr/>
        </p:nvSpPr>
        <p:spPr>
          <a:xfrm>
            <a:off x="1618488" y="7132320"/>
            <a:ext cx="5486400" cy="365760"/>
          </a:xfrm>
          <a:prstGeom prst="rect">
            <a:avLst/>
          </a:prstGeom>
          <a:noFill/>
        </p:spPr>
        <p:txBody>
          <a:bodyPr wrap="square" lIns="0" rIns="0" tIns="0" bIns="0" anchor="t">
            <a:noAutofit/>
          </a:bodyPr>
          <a:lstStyle/>
          <a:p>
            <a:pPr algn="l"/>
            <a:r>
              <a:rPr sz="1600" b="0" i="0">
                <a:solidFill>
                  <a:srgbClr val="5A574F"/>
                </a:solidFill>
                <a:latin typeface="Roboto Mono"/>
              </a:rPr>
              <a:t>FROM STEP 1</a:t>
            </a:r>
          </a:p>
        </p:txBody>
      </p:sp>
      <p:sp>
        <p:nvSpPr>
          <p:cNvPr id="39" name="TextBox 38"/>
          <p:cNvSpPr txBox="1"/>
          <p:nvPr/>
        </p:nvSpPr>
        <p:spPr>
          <a:xfrm>
            <a:off x="1618488" y="7498079"/>
            <a:ext cx="7223760" cy="548640"/>
          </a:xfrm>
          <a:prstGeom prst="rect">
            <a:avLst/>
          </a:prstGeom>
          <a:noFill/>
        </p:spPr>
        <p:txBody>
          <a:bodyPr wrap="square" lIns="0" rIns="0" tIns="0" bIns="0" anchor="t">
            <a:noAutofit/>
          </a:bodyPr>
          <a:lstStyle/>
          <a:p>
            <a:pPr algn="l"/>
            <a:r>
              <a:rPr sz="2800" b="1" i="0">
                <a:solidFill>
                  <a:srgbClr val="000000"/>
                </a:solidFill>
                <a:latin typeface="Inter"/>
              </a:rPr>
              <a:t>Client ID + Client secret</a:t>
            </a:r>
          </a:p>
        </p:txBody>
      </p:sp>
      <p:sp>
        <p:nvSpPr>
          <p:cNvPr id="40" name="TextBox 39"/>
          <p:cNvSpPr txBox="1"/>
          <p:nvPr/>
        </p:nvSpPr>
        <p:spPr>
          <a:xfrm>
            <a:off x="1618488" y="8092440"/>
            <a:ext cx="7132320" cy="731520"/>
          </a:xfrm>
          <a:prstGeom prst="rect">
            <a:avLst/>
          </a:prstGeom>
          <a:noFill/>
        </p:spPr>
        <p:txBody>
          <a:bodyPr wrap="square" lIns="0" rIns="0" tIns="0" bIns="0" anchor="t">
            <a:noAutofit/>
          </a:bodyPr>
          <a:lstStyle/>
          <a:p>
            <a:pPr algn="l"/>
            <a:r>
              <a:rPr sz="2000" b="0" i="0">
                <a:solidFill>
                  <a:srgbClr val="2C2825"/>
                </a:solidFill>
                <a:latin typeface="Inter"/>
              </a:rPr>
              <a:t>The application's username and password. They stay the same.</a:t>
            </a:r>
          </a:p>
        </p:txBody>
      </p:sp>
      <p:sp>
        <p:nvSpPr>
          <p:cNvPr id="41" name="Rectangle 40"/>
          <p:cNvSpPr/>
          <p:nvPr/>
        </p:nvSpPr>
        <p:spPr>
          <a:xfrm>
            <a:off x="9253728" y="6812280"/>
            <a:ext cx="8558784" cy="2103120"/>
          </a:xfrm>
          <a:prstGeom prst="rect">
            <a:avLst/>
          </a:prstGeom>
          <a:solidFill>
            <a:srgbClr val="FFFFFF"/>
          </a:solidFill>
          <a:ln w="12700">
            <a:solidFill>
              <a:srgbClr val="000000"/>
            </a:solidFill>
          </a:ln>
        </p:spPr>
        <p:txBody>
          <a:bodyPr rtlCol="0" anchor="ctr"/>
          <a:lstStyle/>
          <a:p>
            <a:pPr algn="ctr"/>
          </a:p>
        </p:txBody>
      </p:sp>
      <p:pic>
        <p:nvPicPr>
          <p:cNvPr id="42" name="Picture 41" descr="clock.png"/>
          <p:cNvPicPr>
            <a:picLocks noChangeAspect="1"/>
          </p:cNvPicPr>
          <p:nvPr/>
        </p:nvPicPr>
        <p:blipFill>
          <a:blip r:embed="rId4"/>
          <a:stretch>
            <a:fillRect/>
          </a:stretch>
        </p:blipFill>
        <p:spPr>
          <a:xfrm>
            <a:off x="9573767" y="7132320"/>
            <a:ext cx="566928" cy="566928"/>
          </a:xfrm>
          <a:prstGeom prst="rect">
            <a:avLst/>
          </a:prstGeom>
        </p:spPr>
      </p:pic>
      <p:sp>
        <p:nvSpPr>
          <p:cNvPr id="43" name="TextBox 42"/>
          <p:cNvSpPr txBox="1"/>
          <p:nvPr/>
        </p:nvSpPr>
        <p:spPr>
          <a:xfrm>
            <a:off x="10396728" y="7132320"/>
            <a:ext cx="5486400" cy="365760"/>
          </a:xfrm>
          <a:prstGeom prst="rect">
            <a:avLst/>
          </a:prstGeom>
          <a:noFill/>
        </p:spPr>
        <p:txBody>
          <a:bodyPr wrap="square" lIns="0" rIns="0" tIns="0" bIns="0" anchor="t">
            <a:noAutofit/>
          </a:bodyPr>
          <a:lstStyle/>
          <a:p>
            <a:pPr algn="l"/>
            <a:r>
              <a:rPr sz="1600" b="0" i="0">
                <a:solidFill>
                  <a:srgbClr val="5A574F"/>
                </a:solidFill>
                <a:latin typeface="Roboto Mono"/>
              </a:rPr>
              <a:t>FROM STEP 4</a:t>
            </a:r>
          </a:p>
        </p:txBody>
      </p:sp>
      <p:sp>
        <p:nvSpPr>
          <p:cNvPr id="44" name="TextBox 43"/>
          <p:cNvSpPr txBox="1"/>
          <p:nvPr/>
        </p:nvSpPr>
        <p:spPr>
          <a:xfrm>
            <a:off x="10396728" y="7498079"/>
            <a:ext cx="7223760" cy="548640"/>
          </a:xfrm>
          <a:prstGeom prst="rect">
            <a:avLst/>
          </a:prstGeom>
          <a:noFill/>
        </p:spPr>
        <p:txBody>
          <a:bodyPr wrap="square" lIns="0" rIns="0" tIns="0" bIns="0" anchor="t">
            <a:noAutofit/>
          </a:bodyPr>
          <a:lstStyle/>
          <a:p>
            <a:pPr algn="l"/>
            <a:r>
              <a:rPr sz="2800" b="1" i="0">
                <a:solidFill>
                  <a:srgbClr val="000000"/>
                </a:solidFill>
                <a:latin typeface="Inter"/>
              </a:rPr>
              <a:t>Token</a:t>
            </a:r>
          </a:p>
        </p:txBody>
      </p:sp>
      <p:sp>
        <p:nvSpPr>
          <p:cNvPr id="45" name="TextBox 44"/>
          <p:cNvSpPr txBox="1"/>
          <p:nvPr/>
        </p:nvSpPr>
        <p:spPr>
          <a:xfrm>
            <a:off x="10396728" y="8092440"/>
            <a:ext cx="7132320" cy="731520"/>
          </a:xfrm>
          <a:prstGeom prst="rect">
            <a:avLst/>
          </a:prstGeom>
          <a:noFill/>
        </p:spPr>
        <p:txBody>
          <a:bodyPr wrap="square" lIns="0" rIns="0" tIns="0" bIns="0" anchor="t">
            <a:noAutofit/>
          </a:bodyPr>
          <a:lstStyle/>
          <a:p>
            <a:pPr algn="l"/>
            <a:r>
              <a:rPr sz="2000" b="0" i="0">
                <a:solidFill>
                  <a:srgbClr val="2C2825"/>
                </a:solidFill>
                <a:latin typeface="Inter"/>
              </a:rPr>
              <a:t>A temporary pass. It lasts about 2 hours, then you get a new one.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ED"/>
        </a:solidFill>
        <a:effectLst/>
      </p:bgPr>
    </p:bg>
    <p:spTree>
      <p:nvGrpSpPr>
        <p:cNvPr id="1" name=""/>
        <p:cNvGrpSpPr/>
        <p:nvPr/>
      </p:nvGrpSpPr>
      <p:grpSpPr/>
      <p:pic>
        <p:nvPicPr>
          <p:cNvPr id="2" name="Picture 1" descr="s1_0.png"/>
          <p:cNvPicPr>
            <a:picLocks noChangeAspect="1"/>
          </p:cNvPicPr>
          <p:nvPr/>
        </p:nvPicPr>
        <p:blipFill>
          <a:blip r:embed="rId2"/>
          <a:stretch>
            <a:fillRect/>
          </a:stretch>
        </p:blipFill>
        <p:spPr>
          <a:xfrm>
            <a:off x="475488" y="594360"/>
            <a:ext cx="1655064" cy="384048"/>
          </a:xfrm>
          <a:prstGeom prst="rect">
            <a:avLst/>
          </a:prstGeom>
        </p:spPr>
      </p:pic>
      <p:sp>
        <p:nvSpPr>
          <p:cNvPr id="3" name="Rectangle 2"/>
          <p:cNvSpPr/>
          <p:nvPr/>
        </p:nvSpPr>
        <p:spPr>
          <a:xfrm>
            <a:off x="2441448" y="777240"/>
            <a:ext cx="15371064" cy="10972"/>
          </a:xfrm>
          <a:prstGeom prst="rect">
            <a:avLst/>
          </a:prstGeom>
          <a:solidFill>
            <a:srgbClr val="000000"/>
          </a:solidFill>
          <a:ln>
            <a:noFill/>
          </a:ln>
        </p:spPr>
        <p:txBody>
          <a:bodyPr rtlCol="0" anchor="ctr"/>
          <a:lstStyle/>
          <a:p>
            <a:pPr algn="ctr"/>
          </a:p>
        </p:txBody>
      </p:sp>
      <p:sp>
        <p:nvSpPr>
          <p:cNvPr id="4" name="TextBox 3"/>
          <p:cNvSpPr txBox="1"/>
          <p:nvPr/>
        </p:nvSpPr>
        <p:spPr>
          <a:xfrm>
            <a:off x="475488" y="1527048"/>
            <a:ext cx="10972800" cy="365760"/>
          </a:xfrm>
          <a:prstGeom prst="rect">
            <a:avLst/>
          </a:prstGeom>
          <a:noFill/>
        </p:spPr>
        <p:txBody>
          <a:bodyPr wrap="square" lIns="0" rIns="0" tIns="0" bIns="0" anchor="t">
            <a:noAutofit/>
          </a:bodyPr>
          <a:lstStyle/>
          <a:p>
            <a:pPr algn="l"/>
            <a:r>
              <a:rPr sz="1800" b="0" i="0">
                <a:solidFill>
                  <a:srgbClr val="000000"/>
                </a:solidFill>
                <a:latin typeface="Roboto Mono"/>
              </a:rPr>
              <a:t>PART 3 · GETTING CONNECTED</a:t>
            </a:r>
          </a:p>
        </p:txBody>
      </p:sp>
      <p:sp>
        <p:nvSpPr>
          <p:cNvPr id="5" name="Title"/>
          <p:cNvSpPr txBox="1"/>
          <p:nvPr/>
        </p:nvSpPr>
        <p:spPr>
          <a:xfrm>
            <a:off x="475488" y="2011680"/>
            <a:ext cx="17337024" cy="868680"/>
          </a:xfrm>
          <a:prstGeom prst="rect">
            <a:avLst/>
          </a:prstGeom>
          <a:noFill/>
        </p:spPr>
        <p:txBody>
          <a:bodyPr wrap="square" lIns="0" rIns="0" tIns="0" bIns="0" anchor="t">
            <a:noAutofit/>
          </a:bodyPr>
          <a:lstStyle/>
          <a:p>
            <a:pPr algn="l">
              <a:lnSpc>
                <a:spcPct val="95000"/>
              </a:lnSpc>
            </a:pPr>
            <a:r>
              <a:rPr sz="4600" b="1" i="0">
                <a:solidFill>
                  <a:srgbClr val="000000"/>
                </a:solidFill>
                <a:latin typeface="Inter"/>
              </a:rPr>
              <a:t>Step 1: register the application</a:t>
            </a:r>
          </a:p>
        </p:txBody>
      </p:sp>
      <p:sp>
        <p:nvSpPr>
          <p:cNvPr id="6" name="Rectangle 5"/>
          <p:cNvSpPr/>
          <p:nvPr/>
        </p:nvSpPr>
        <p:spPr>
          <a:xfrm>
            <a:off x="475488" y="9189720"/>
            <a:ext cx="17337024" cy="10972"/>
          </a:xfrm>
          <a:prstGeom prst="rect">
            <a:avLst/>
          </a:prstGeom>
          <a:solidFill>
            <a:srgbClr val="000000"/>
          </a:solidFill>
          <a:ln>
            <a:noFill/>
          </a:ln>
        </p:spPr>
        <p:txBody>
          <a:bodyPr rtlCol="0" anchor="ctr"/>
          <a:lstStyle/>
          <a:p>
            <a:pPr algn="ctr"/>
          </a:p>
        </p:txBody>
      </p:sp>
      <p:sp>
        <p:nvSpPr>
          <p:cNvPr id="7" name="TextBox 6"/>
          <p:cNvSpPr txBox="1"/>
          <p:nvPr/>
        </p:nvSpPr>
        <p:spPr>
          <a:xfrm>
            <a:off x="475488" y="9354312"/>
            <a:ext cx="2743200" cy="338328"/>
          </a:xfrm>
          <a:prstGeom prst="rect">
            <a:avLst/>
          </a:prstGeom>
          <a:noFill/>
        </p:spPr>
        <p:txBody>
          <a:bodyPr wrap="square" lIns="0" rIns="0" tIns="0" bIns="0" anchor="t">
            <a:noAutofit/>
          </a:bodyPr>
          <a:lstStyle/>
          <a:p>
            <a:pPr algn="l"/>
            <a:r>
              <a:rPr sz="1800" b="0" i="0">
                <a:solidFill>
                  <a:srgbClr val="000000"/>
                </a:solidFill>
                <a:latin typeface="Roboto Mono"/>
              </a:rPr>
              <a:t>CALIRA.CO</a:t>
            </a:r>
          </a:p>
        </p:txBody>
      </p:sp>
      <p:sp>
        <p:nvSpPr>
          <p:cNvPr id="8" name="TextBox 7"/>
          <p:cNvSpPr txBox="1"/>
          <p:nvPr/>
        </p:nvSpPr>
        <p:spPr>
          <a:xfrm>
            <a:off x="15983712" y="9354312"/>
            <a:ext cx="1828800" cy="338328"/>
          </a:xfrm>
          <a:prstGeom prst="rect">
            <a:avLst/>
          </a:prstGeom>
          <a:noFill/>
        </p:spPr>
        <p:txBody>
          <a:bodyPr wrap="square" lIns="0" rIns="0" tIns="0" bIns="0" anchor="t">
            <a:noAutofit/>
          </a:bodyPr>
          <a:lstStyle/>
          <a:p>
            <a:pPr algn="r"/>
            <a:r>
              <a:rPr sz="1800" b="0" i="0">
                <a:solidFill>
                  <a:srgbClr val="000000"/>
                </a:solidFill>
                <a:latin typeface="Roboto Mono"/>
              </a:rPr>
              <a:t>17</a:t>
            </a:r>
          </a:p>
        </p:txBody>
      </p:sp>
      <p:sp>
        <p:nvSpPr>
          <p:cNvPr id="9" name="Oval 8"/>
          <p:cNvSpPr/>
          <p:nvPr/>
        </p:nvSpPr>
        <p:spPr>
          <a:xfrm>
            <a:off x="475488" y="3200400"/>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1</a:t>
            </a:r>
          </a:p>
        </p:txBody>
      </p:sp>
      <p:sp>
        <p:nvSpPr>
          <p:cNvPr id="10" name="TextBox 9"/>
          <p:cNvSpPr txBox="1"/>
          <p:nvPr/>
        </p:nvSpPr>
        <p:spPr>
          <a:xfrm>
            <a:off x="1161288" y="3255264"/>
            <a:ext cx="7452360" cy="850392"/>
          </a:xfrm>
          <a:prstGeom prst="rect">
            <a:avLst/>
          </a:prstGeom>
          <a:noFill/>
        </p:spPr>
        <p:txBody>
          <a:bodyPr wrap="square" lIns="0" rIns="0" tIns="0" bIns="0" anchor="t">
            <a:noAutofit/>
          </a:bodyPr>
          <a:lstStyle/>
          <a:p>
            <a:pPr algn="l"/>
            <a:r>
              <a:rPr sz="1900" b="0" i="0">
                <a:solidFill>
                  <a:srgbClr val="000000"/>
                </a:solidFill>
                <a:latin typeface="Inter"/>
              </a:rPr>
              <a:t>Log in to Calira as an </a:t>
            </a:r>
            <a:r>
              <a:rPr sz="1900" b="1" i="0">
                <a:solidFill>
                  <a:srgbClr val="000000"/>
                </a:solidFill>
                <a:latin typeface="Inter"/>
              </a:rPr>
              <a:t>admin</a:t>
            </a:r>
            <a:r>
              <a:rPr sz="1900" b="0" i="0">
                <a:solidFill>
                  <a:srgbClr val="000000"/>
                </a:solidFill>
                <a:latin typeface="Inter"/>
              </a:rPr>
              <a:t> of the labs you want to connect.</a:t>
            </a:r>
          </a:p>
        </p:txBody>
      </p:sp>
      <p:sp>
        <p:nvSpPr>
          <p:cNvPr id="11" name="Oval 10"/>
          <p:cNvSpPr/>
          <p:nvPr/>
        </p:nvSpPr>
        <p:spPr>
          <a:xfrm>
            <a:off x="475488" y="4142232"/>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2</a:t>
            </a:r>
          </a:p>
        </p:txBody>
      </p:sp>
      <p:sp>
        <p:nvSpPr>
          <p:cNvPr id="12" name="TextBox 11"/>
          <p:cNvSpPr txBox="1"/>
          <p:nvPr/>
        </p:nvSpPr>
        <p:spPr>
          <a:xfrm>
            <a:off x="1161288" y="4197096"/>
            <a:ext cx="7452360" cy="850392"/>
          </a:xfrm>
          <a:prstGeom prst="rect">
            <a:avLst/>
          </a:prstGeom>
          <a:noFill/>
        </p:spPr>
        <p:txBody>
          <a:bodyPr wrap="square" lIns="0" rIns="0" tIns="0" bIns="0" anchor="t">
            <a:noAutofit/>
          </a:bodyPr>
          <a:lstStyle/>
          <a:p>
            <a:pPr algn="l"/>
            <a:r>
              <a:rPr sz="1900" b="0" i="0">
                <a:solidFill>
                  <a:srgbClr val="000000"/>
                </a:solidFill>
                <a:latin typeface="Inter"/>
              </a:rPr>
              <a:t>Open </a:t>
            </a:r>
            <a:r>
              <a:rPr sz="1900" b="1" i="0">
                <a:solidFill>
                  <a:srgbClr val="000000"/>
                </a:solidFill>
                <a:latin typeface="Inter"/>
              </a:rPr>
              <a:t>app.clustermarket.com/oauth/applications/new</a:t>
            </a:r>
          </a:p>
        </p:txBody>
      </p:sp>
      <p:sp>
        <p:nvSpPr>
          <p:cNvPr id="13" name="Oval 12"/>
          <p:cNvSpPr/>
          <p:nvPr/>
        </p:nvSpPr>
        <p:spPr>
          <a:xfrm>
            <a:off x="475488" y="5084064"/>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3</a:t>
            </a:r>
          </a:p>
        </p:txBody>
      </p:sp>
      <p:sp>
        <p:nvSpPr>
          <p:cNvPr id="14" name="TextBox 13"/>
          <p:cNvSpPr txBox="1"/>
          <p:nvPr/>
        </p:nvSpPr>
        <p:spPr>
          <a:xfrm>
            <a:off x="1161288" y="5138928"/>
            <a:ext cx="7452360" cy="850392"/>
          </a:xfrm>
          <a:prstGeom prst="rect">
            <a:avLst/>
          </a:prstGeom>
          <a:noFill/>
        </p:spPr>
        <p:txBody>
          <a:bodyPr wrap="square" lIns="0" rIns="0" tIns="0" bIns="0" anchor="t">
            <a:noAutofit/>
          </a:bodyPr>
          <a:lstStyle/>
          <a:p>
            <a:pPr algn="l"/>
            <a:r>
              <a:rPr sz="1900" b="0" i="0">
                <a:solidFill>
                  <a:srgbClr val="000000"/>
                </a:solidFill>
                <a:latin typeface="Inter"/>
              </a:rPr>
              <a:t>Fill in the </a:t>
            </a:r>
            <a:r>
              <a:rPr sz="1900" b="1" i="0">
                <a:solidFill>
                  <a:srgbClr val="000000"/>
                </a:solidFill>
                <a:latin typeface="Inter"/>
              </a:rPr>
              <a:t>name, company and website</a:t>
            </a:r>
            <a:r>
              <a:rPr sz="1900" b="0" i="0">
                <a:solidFill>
                  <a:srgbClr val="000000"/>
                </a:solidFill>
                <a:latin typeface="Inter"/>
              </a:rPr>
              <a:t>.</a:t>
            </a:r>
          </a:p>
        </p:txBody>
      </p:sp>
      <p:sp>
        <p:nvSpPr>
          <p:cNvPr id="15" name="Oval 14"/>
          <p:cNvSpPr/>
          <p:nvPr/>
        </p:nvSpPr>
        <p:spPr>
          <a:xfrm>
            <a:off x="475488" y="6025896"/>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4</a:t>
            </a:r>
          </a:p>
        </p:txBody>
      </p:sp>
      <p:sp>
        <p:nvSpPr>
          <p:cNvPr id="16" name="TextBox 15"/>
          <p:cNvSpPr txBox="1"/>
          <p:nvPr/>
        </p:nvSpPr>
        <p:spPr>
          <a:xfrm>
            <a:off x="1161288" y="6080759"/>
            <a:ext cx="7452360" cy="850392"/>
          </a:xfrm>
          <a:prstGeom prst="rect">
            <a:avLst/>
          </a:prstGeom>
          <a:noFill/>
        </p:spPr>
        <p:txBody>
          <a:bodyPr wrap="square" lIns="0" rIns="0" tIns="0" bIns="0" anchor="t">
            <a:noAutofit/>
          </a:bodyPr>
          <a:lstStyle/>
          <a:p>
            <a:pPr algn="l"/>
            <a:r>
              <a:rPr sz="1900" b="0" i="0">
                <a:solidFill>
                  <a:srgbClr val="000000"/>
                </a:solidFill>
                <a:latin typeface="Inter"/>
              </a:rPr>
              <a:t>Set </a:t>
            </a:r>
            <a:r>
              <a:rPr sz="1900" b="1" i="0">
                <a:solidFill>
                  <a:srgbClr val="000000"/>
                </a:solidFill>
                <a:latin typeface="Inter"/>
              </a:rPr>
              <a:t>Callback</a:t>
            </a:r>
            <a:r>
              <a:rPr sz="1900" b="0" i="0">
                <a:solidFill>
                  <a:srgbClr val="000000"/>
                </a:solidFill>
                <a:latin typeface="Inter"/>
              </a:rPr>
              <a:t> to </a:t>
            </a:r>
            <a:r>
              <a:rPr sz="1900" b="1" i="0">
                <a:solidFill>
                  <a:srgbClr val="000000"/>
                </a:solidFill>
                <a:latin typeface="Inter"/>
              </a:rPr>
              <a:t>https://oauth.pstmn.io/v1/callback</a:t>
            </a:r>
            <a:r>
              <a:rPr sz="1900" b="0" i="0">
                <a:solidFill>
                  <a:srgbClr val="000000"/>
                </a:solidFill>
                <a:latin typeface="Inter"/>
              </a:rPr>
              <a:t>. It is Postman's own address.</a:t>
            </a:r>
          </a:p>
        </p:txBody>
      </p:sp>
      <p:sp>
        <p:nvSpPr>
          <p:cNvPr id="17" name="Oval 16"/>
          <p:cNvSpPr/>
          <p:nvPr/>
        </p:nvSpPr>
        <p:spPr>
          <a:xfrm>
            <a:off x="475488" y="6967728"/>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5</a:t>
            </a:r>
          </a:p>
        </p:txBody>
      </p:sp>
      <p:sp>
        <p:nvSpPr>
          <p:cNvPr id="18" name="TextBox 17"/>
          <p:cNvSpPr txBox="1"/>
          <p:nvPr/>
        </p:nvSpPr>
        <p:spPr>
          <a:xfrm>
            <a:off x="1161288" y="7022592"/>
            <a:ext cx="7452360" cy="850392"/>
          </a:xfrm>
          <a:prstGeom prst="rect">
            <a:avLst/>
          </a:prstGeom>
          <a:noFill/>
        </p:spPr>
        <p:txBody>
          <a:bodyPr wrap="square" lIns="0" rIns="0" tIns="0" bIns="0" anchor="t">
            <a:noAutofit/>
          </a:bodyPr>
          <a:lstStyle/>
          <a:p>
            <a:pPr algn="l"/>
            <a:r>
              <a:rPr sz="1900" b="0" i="0">
                <a:solidFill>
                  <a:srgbClr val="000000"/>
                </a:solidFill>
                <a:latin typeface="Inter"/>
              </a:rPr>
              <a:t>Switch </a:t>
            </a:r>
            <a:r>
              <a:rPr sz="1900" b="1" i="0">
                <a:solidFill>
                  <a:srgbClr val="000000"/>
                </a:solidFill>
                <a:latin typeface="Inter"/>
              </a:rPr>
              <a:t>Confidential</a:t>
            </a:r>
            <a:r>
              <a:rPr sz="1900" b="0" i="0">
                <a:solidFill>
                  <a:srgbClr val="000000"/>
                </a:solidFill>
                <a:latin typeface="Inter"/>
              </a:rPr>
              <a:t> on, so tokens can be renewed without logging in again.</a:t>
            </a:r>
          </a:p>
        </p:txBody>
      </p:sp>
      <p:sp>
        <p:nvSpPr>
          <p:cNvPr id="19" name="Oval 18"/>
          <p:cNvSpPr/>
          <p:nvPr/>
        </p:nvSpPr>
        <p:spPr>
          <a:xfrm>
            <a:off x="475488" y="7909560"/>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6</a:t>
            </a:r>
          </a:p>
        </p:txBody>
      </p:sp>
      <p:sp>
        <p:nvSpPr>
          <p:cNvPr id="20" name="TextBox 19"/>
          <p:cNvSpPr txBox="1"/>
          <p:nvPr/>
        </p:nvSpPr>
        <p:spPr>
          <a:xfrm>
            <a:off x="1161288" y="7964424"/>
            <a:ext cx="7452360" cy="850392"/>
          </a:xfrm>
          <a:prstGeom prst="rect">
            <a:avLst/>
          </a:prstGeom>
          <a:noFill/>
        </p:spPr>
        <p:txBody>
          <a:bodyPr wrap="square" lIns="0" rIns="0" tIns="0" bIns="0" anchor="t">
            <a:noAutofit/>
          </a:bodyPr>
          <a:lstStyle/>
          <a:p>
            <a:pPr algn="l"/>
            <a:r>
              <a:rPr sz="1900" b="0" i="0">
                <a:solidFill>
                  <a:srgbClr val="000000"/>
                </a:solidFill>
                <a:latin typeface="Inter"/>
              </a:rPr>
              <a:t>Switch on only the </a:t>
            </a:r>
            <a:r>
              <a:rPr sz="1900" b="1" i="0">
                <a:solidFill>
                  <a:srgbClr val="000000"/>
                </a:solidFill>
                <a:latin typeface="Inter"/>
              </a:rPr>
              <a:t>permissions</a:t>
            </a:r>
            <a:r>
              <a:rPr sz="1900" b="0" i="0">
                <a:solidFill>
                  <a:srgbClr val="000000"/>
                </a:solidFill>
                <a:latin typeface="Inter"/>
              </a:rPr>
              <a:t> the customer needs, then click </a:t>
            </a:r>
            <a:r>
              <a:rPr sz="1900" b="1" i="0">
                <a:solidFill>
                  <a:srgbClr val="000000"/>
                </a:solidFill>
                <a:latin typeface="Inter"/>
              </a:rPr>
              <a:t>Save</a:t>
            </a:r>
            <a:r>
              <a:rPr sz="1900" b="0" i="0">
                <a:solidFill>
                  <a:srgbClr val="000000"/>
                </a:solidFill>
                <a:latin typeface="Inter"/>
              </a:rPr>
              <a:t>.</a:t>
            </a:r>
          </a:p>
        </p:txBody>
      </p:sp>
      <p:sp>
        <p:nvSpPr>
          <p:cNvPr id="21" name="Rounded Rectangle 20"/>
          <p:cNvSpPr/>
          <p:nvPr/>
        </p:nvSpPr>
        <p:spPr>
          <a:xfrm>
            <a:off x="9235440" y="3154680"/>
            <a:ext cx="8577072" cy="5760720"/>
          </a:xfrm>
          <a:prstGeom prst="roundRect">
            <a:avLst>
              <a:gd name="adj" fmla="val 2000"/>
            </a:avLst>
          </a:prstGeom>
          <a:solidFill>
            <a:srgbClr val="FFFFFF"/>
          </a:solidFill>
          <a:ln w="15875">
            <a:solidFill>
              <a:srgbClr val="000000"/>
            </a:solidFill>
          </a:ln>
        </p:spPr>
        <p:txBody>
          <a:bodyPr rtlCol="0" anchor="ctr"/>
          <a:lstStyle/>
          <a:p>
            <a:pPr algn="ctr"/>
          </a:p>
        </p:txBody>
      </p:sp>
      <p:sp>
        <p:nvSpPr>
          <p:cNvPr id="22" name="Rectangle 21"/>
          <p:cNvSpPr/>
          <p:nvPr/>
        </p:nvSpPr>
        <p:spPr>
          <a:xfrm>
            <a:off x="9235440" y="3154680"/>
            <a:ext cx="8577072" cy="457200"/>
          </a:xfrm>
          <a:prstGeom prst="rect">
            <a:avLst/>
          </a:prstGeom>
          <a:solidFill>
            <a:srgbClr val="F1F1E6"/>
          </a:solidFill>
          <a:ln>
            <a:noFill/>
          </a:ln>
        </p:spPr>
        <p:txBody>
          <a:bodyPr rtlCol="0" anchor="ctr"/>
          <a:lstStyle/>
          <a:p>
            <a:pPr algn="ctr"/>
          </a:p>
        </p:txBody>
      </p:sp>
      <p:sp>
        <p:nvSpPr>
          <p:cNvPr id="23" name="Rectangle 22"/>
          <p:cNvSpPr/>
          <p:nvPr/>
        </p:nvSpPr>
        <p:spPr>
          <a:xfrm>
            <a:off x="9235440" y="3611880"/>
            <a:ext cx="8577072" cy="9144"/>
          </a:xfrm>
          <a:prstGeom prst="rect">
            <a:avLst/>
          </a:prstGeom>
          <a:solidFill>
            <a:srgbClr val="000000"/>
          </a:solidFill>
          <a:ln>
            <a:noFill/>
          </a:ln>
        </p:spPr>
        <p:txBody>
          <a:bodyPr rtlCol="0" anchor="ctr"/>
          <a:lstStyle/>
          <a:p>
            <a:pPr algn="ctr"/>
          </a:p>
        </p:txBody>
      </p:sp>
      <p:sp>
        <p:nvSpPr>
          <p:cNvPr id="24" name="Oval 23"/>
          <p:cNvSpPr/>
          <p:nvPr/>
        </p:nvSpPr>
        <p:spPr>
          <a:xfrm>
            <a:off x="9436608" y="3319272"/>
            <a:ext cx="128016" cy="128016"/>
          </a:xfrm>
          <a:prstGeom prst="ellipse">
            <a:avLst/>
          </a:prstGeom>
          <a:solidFill>
            <a:srgbClr val="D9D9CC"/>
          </a:solidFill>
          <a:ln>
            <a:noFill/>
          </a:ln>
        </p:spPr>
        <p:txBody>
          <a:bodyPr rtlCol="0" anchor="ctr"/>
          <a:lstStyle/>
          <a:p>
            <a:pPr algn="ctr"/>
          </a:p>
        </p:txBody>
      </p:sp>
      <p:sp>
        <p:nvSpPr>
          <p:cNvPr id="25" name="Oval 24"/>
          <p:cNvSpPr/>
          <p:nvPr/>
        </p:nvSpPr>
        <p:spPr>
          <a:xfrm>
            <a:off x="9674352" y="3319272"/>
            <a:ext cx="128016" cy="128016"/>
          </a:xfrm>
          <a:prstGeom prst="ellipse">
            <a:avLst/>
          </a:prstGeom>
          <a:solidFill>
            <a:srgbClr val="D9D9CC"/>
          </a:solidFill>
          <a:ln>
            <a:noFill/>
          </a:ln>
        </p:spPr>
        <p:txBody>
          <a:bodyPr rtlCol="0" anchor="ctr"/>
          <a:lstStyle/>
          <a:p>
            <a:pPr algn="ctr"/>
          </a:p>
        </p:txBody>
      </p:sp>
      <p:sp>
        <p:nvSpPr>
          <p:cNvPr id="26" name="Oval 25"/>
          <p:cNvSpPr/>
          <p:nvPr/>
        </p:nvSpPr>
        <p:spPr>
          <a:xfrm>
            <a:off x="9912096" y="3319272"/>
            <a:ext cx="128016" cy="128016"/>
          </a:xfrm>
          <a:prstGeom prst="ellipse">
            <a:avLst/>
          </a:prstGeom>
          <a:solidFill>
            <a:srgbClr val="D9D9CC"/>
          </a:solidFill>
          <a:ln>
            <a:noFill/>
          </a:ln>
        </p:spPr>
        <p:txBody>
          <a:bodyPr rtlCol="0" anchor="ctr"/>
          <a:lstStyle/>
          <a:p>
            <a:pPr algn="ctr"/>
          </a:p>
        </p:txBody>
      </p:sp>
      <p:sp>
        <p:nvSpPr>
          <p:cNvPr id="27" name="TextBox 26"/>
          <p:cNvSpPr txBox="1"/>
          <p:nvPr/>
        </p:nvSpPr>
        <p:spPr>
          <a:xfrm>
            <a:off x="10332719" y="3246120"/>
            <a:ext cx="7296912" cy="274320"/>
          </a:xfrm>
          <a:prstGeom prst="rect">
            <a:avLst/>
          </a:prstGeom>
          <a:noFill/>
        </p:spPr>
        <p:txBody>
          <a:bodyPr wrap="none" lIns="0" rIns="0" tIns="0" bIns="0" anchor="ctr">
            <a:noAutofit/>
          </a:bodyPr>
          <a:lstStyle/>
          <a:p>
            <a:pPr algn="l"/>
            <a:r>
              <a:rPr sz="1600" b="0" i="0">
                <a:solidFill>
                  <a:srgbClr val="5A574F"/>
                </a:solidFill>
                <a:latin typeface="Roboto Mono"/>
              </a:rPr>
              <a:t>app.clustermarket.com/oauth/applications/new</a:t>
            </a:r>
          </a:p>
        </p:txBody>
      </p:sp>
      <p:sp>
        <p:nvSpPr>
          <p:cNvPr id="28" name="TextBox 27"/>
          <p:cNvSpPr txBox="1"/>
          <p:nvPr/>
        </p:nvSpPr>
        <p:spPr>
          <a:xfrm>
            <a:off x="9509760" y="3794760"/>
            <a:ext cx="3931920" cy="274320"/>
          </a:xfrm>
          <a:prstGeom prst="rect">
            <a:avLst/>
          </a:prstGeom>
          <a:noFill/>
        </p:spPr>
        <p:txBody>
          <a:bodyPr wrap="square" lIns="0" rIns="0" tIns="0" bIns="0" anchor="t">
            <a:noAutofit/>
          </a:bodyPr>
          <a:lstStyle/>
          <a:p>
            <a:pPr algn="l"/>
            <a:r>
              <a:rPr sz="1600" b="0" i="0">
                <a:solidFill>
                  <a:srgbClr val="5A574F"/>
                </a:solidFill>
                <a:latin typeface="Inter"/>
              </a:rPr>
              <a:t>Name</a:t>
            </a:r>
          </a:p>
        </p:txBody>
      </p:sp>
      <p:sp>
        <p:nvSpPr>
          <p:cNvPr id="29" name="Rectangle 28"/>
          <p:cNvSpPr/>
          <p:nvPr/>
        </p:nvSpPr>
        <p:spPr>
          <a:xfrm>
            <a:off x="9509760" y="4087368"/>
            <a:ext cx="3931920" cy="420624"/>
          </a:xfrm>
          <a:prstGeom prst="rect">
            <a:avLst/>
          </a:prstGeom>
          <a:solidFill>
            <a:srgbClr val="FFFFFF"/>
          </a:solidFill>
          <a:ln w="12700">
            <a:solidFill>
              <a:srgbClr val="000000"/>
            </a:solidFill>
          </a:ln>
        </p:spPr>
        <p:txBody>
          <a:bodyPr rtlCol="0" anchor="ctr"/>
          <a:lstStyle/>
          <a:p>
            <a:pPr algn="ctr"/>
          </a:p>
        </p:txBody>
      </p:sp>
      <p:sp>
        <p:nvSpPr>
          <p:cNvPr id="30" name="TextBox 29"/>
          <p:cNvSpPr txBox="1"/>
          <p:nvPr/>
        </p:nvSpPr>
        <p:spPr>
          <a:xfrm>
            <a:off x="9637776" y="4087368"/>
            <a:ext cx="3675887" cy="420624"/>
          </a:xfrm>
          <a:prstGeom prst="rect">
            <a:avLst/>
          </a:prstGeom>
          <a:noFill/>
        </p:spPr>
        <p:txBody>
          <a:bodyPr wrap="none" lIns="0" rIns="0" tIns="0" bIns="0" anchor="ctr">
            <a:noAutofit/>
          </a:bodyPr>
          <a:lstStyle/>
          <a:p>
            <a:pPr algn="l"/>
            <a:r>
              <a:rPr sz="1600" b="0" i="0">
                <a:solidFill>
                  <a:srgbClr val="2C2825"/>
                </a:solidFill>
                <a:latin typeface="Inter"/>
              </a:rPr>
              <a:t>Acme Labs integration</a:t>
            </a:r>
          </a:p>
        </p:txBody>
      </p:sp>
      <p:sp>
        <p:nvSpPr>
          <p:cNvPr id="31" name="TextBox 30"/>
          <p:cNvSpPr txBox="1"/>
          <p:nvPr/>
        </p:nvSpPr>
        <p:spPr>
          <a:xfrm>
            <a:off x="13624560" y="3794760"/>
            <a:ext cx="3931920" cy="274320"/>
          </a:xfrm>
          <a:prstGeom prst="rect">
            <a:avLst/>
          </a:prstGeom>
          <a:noFill/>
        </p:spPr>
        <p:txBody>
          <a:bodyPr wrap="square" lIns="0" rIns="0" tIns="0" bIns="0" anchor="t">
            <a:noAutofit/>
          </a:bodyPr>
          <a:lstStyle/>
          <a:p>
            <a:pPr algn="l"/>
            <a:r>
              <a:rPr sz="1600" b="0" i="0">
                <a:solidFill>
                  <a:srgbClr val="5A574F"/>
                </a:solidFill>
                <a:latin typeface="Inter"/>
              </a:rPr>
              <a:t>Company name</a:t>
            </a:r>
          </a:p>
        </p:txBody>
      </p:sp>
      <p:sp>
        <p:nvSpPr>
          <p:cNvPr id="32" name="Rectangle 31"/>
          <p:cNvSpPr/>
          <p:nvPr/>
        </p:nvSpPr>
        <p:spPr>
          <a:xfrm>
            <a:off x="13624560" y="4087368"/>
            <a:ext cx="3931920" cy="420624"/>
          </a:xfrm>
          <a:prstGeom prst="rect">
            <a:avLst/>
          </a:prstGeom>
          <a:solidFill>
            <a:srgbClr val="FFFFFF"/>
          </a:solidFill>
          <a:ln w="12700">
            <a:solidFill>
              <a:srgbClr val="000000"/>
            </a:solidFill>
          </a:ln>
        </p:spPr>
        <p:txBody>
          <a:bodyPr rtlCol="0" anchor="ctr"/>
          <a:lstStyle/>
          <a:p>
            <a:pPr algn="ctr"/>
          </a:p>
        </p:txBody>
      </p:sp>
      <p:sp>
        <p:nvSpPr>
          <p:cNvPr id="33" name="TextBox 32"/>
          <p:cNvSpPr txBox="1"/>
          <p:nvPr/>
        </p:nvSpPr>
        <p:spPr>
          <a:xfrm>
            <a:off x="13752576" y="4087368"/>
            <a:ext cx="3675887" cy="420624"/>
          </a:xfrm>
          <a:prstGeom prst="rect">
            <a:avLst/>
          </a:prstGeom>
          <a:noFill/>
        </p:spPr>
        <p:txBody>
          <a:bodyPr wrap="none" lIns="0" rIns="0" tIns="0" bIns="0" anchor="ctr">
            <a:noAutofit/>
          </a:bodyPr>
          <a:lstStyle/>
          <a:p>
            <a:pPr algn="l"/>
            <a:r>
              <a:rPr sz="1600" b="0" i="0">
                <a:solidFill>
                  <a:srgbClr val="2C2825"/>
                </a:solidFill>
                <a:latin typeface="Inter"/>
              </a:rPr>
              <a:t>Acme Labs</a:t>
            </a:r>
          </a:p>
        </p:txBody>
      </p:sp>
      <p:sp>
        <p:nvSpPr>
          <p:cNvPr id="34" name="TextBox 33"/>
          <p:cNvSpPr txBox="1"/>
          <p:nvPr/>
        </p:nvSpPr>
        <p:spPr>
          <a:xfrm>
            <a:off x="9509760" y="4617720"/>
            <a:ext cx="3291840" cy="274320"/>
          </a:xfrm>
          <a:prstGeom prst="rect">
            <a:avLst/>
          </a:prstGeom>
          <a:noFill/>
        </p:spPr>
        <p:txBody>
          <a:bodyPr wrap="square" lIns="0" rIns="0" tIns="0" bIns="0" anchor="t">
            <a:noAutofit/>
          </a:bodyPr>
          <a:lstStyle/>
          <a:p>
            <a:pPr algn="l"/>
            <a:r>
              <a:rPr sz="1600" b="0" i="0">
                <a:solidFill>
                  <a:srgbClr val="5A574F"/>
                </a:solidFill>
                <a:latin typeface="Inter"/>
              </a:rPr>
              <a:t>Website URL</a:t>
            </a:r>
          </a:p>
        </p:txBody>
      </p:sp>
      <p:sp>
        <p:nvSpPr>
          <p:cNvPr id="35" name="Rectangle 34"/>
          <p:cNvSpPr/>
          <p:nvPr/>
        </p:nvSpPr>
        <p:spPr>
          <a:xfrm>
            <a:off x="9509760" y="4910328"/>
            <a:ext cx="3291840" cy="420624"/>
          </a:xfrm>
          <a:prstGeom prst="rect">
            <a:avLst/>
          </a:prstGeom>
          <a:solidFill>
            <a:srgbClr val="FFFFFF"/>
          </a:solidFill>
          <a:ln w="12700">
            <a:solidFill>
              <a:srgbClr val="000000"/>
            </a:solidFill>
          </a:ln>
        </p:spPr>
        <p:txBody>
          <a:bodyPr rtlCol="0" anchor="ctr"/>
          <a:lstStyle/>
          <a:p>
            <a:pPr algn="ctr"/>
          </a:p>
        </p:txBody>
      </p:sp>
      <p:sp>
        <p:nvSpPr>
          <p:cNvPr id="36" name="TextBox 35"/>
          <p:cNvSpPr txBox="1"/>
          <p:nvPr/>
        </p:nvSpPr>
        <p:spPr>
          <a:xfrm>
            <a:off x="9637776" y="4910328"/>
            <a:ext cx="3035808" cy="420624"/>
          </a:xfrm>
          <a:prstGeom prst="rect">
            <a:avLst/>
          </a:prstGeom>
          <a:noFill/>
        </p:spPr>
        <p:txBody>
          <a:bodyPr wrap="none" lIns="0" rIns="0" tIns="0" bIns="0" anchor="ctr">
            <a:noAutofit/>
          </a:bodyPr>
          <a:lstStyle/>
          <a:p>
            <a:pPr algn="l"/>
            <a:r>
              <a:rPr sz="1600" b="0" i="0">
                <a:solidFill>
                  <a:srgbClr val="2C2825"/>
                </a:solidFill>
                <a:latin typeface="Inter"/>
              </a:rPr>
              <a:t>https://acme.example</a:t>
            </a:r>
          </a:p>
        </p:txBody>
      </p:sp>
      <p:sp>
        <p:nvSpPr>
          <p:cNvPr id="37" name="TextBox 36"/>
          <p:cNvSpPr txBox="1"/>
          <p:nvPr/>
        </p:nvSpPr>
        <p:spPr>
          <a:xfrm>
            <a:off x="12984480" y="4617720"/>
            <a:ext cx="4572000" cy="274320"/>
          </a:xfrm>
          <a:prstGeom prst="rect">
            <a:avLst/>
          </a:prstGeom>
          <a:noFill/>
        </p:spPr>
        <p:txBody>
          <a:bodyPr wrap="square" lIns="0" rIns="0" tIns="0" bIns="0" anchor="t">
            <a:noAutofit/>
          </a:bodyPr>
          <a:lstStyle/>
          <a:p>
            <a:pPr algn="l"/>
            <a:r>
              <a:rPr sz="1600" b="0" i="0">
                <a:solidFill>
                  <a:srgbClr val="5A574F"/>
                </a:solidFill>
                <a:latin typeface="Inter"/>
              </a:rPr>
              <a:t>Callback</a:t>
            </a:r>
          </a:p>
        </p:txBody>
      </p:sp>
      <p:sp>
        <p:nvSpPr>
          <p:cNvPr id="38" name="Rectangle 37"/>
          <p:cNvSpPr/>
          <p:nvPr/>
        </p:nvSpPr>
        <p:spPr>
          <a:xfrm>
            <a:off x="12984480" y="4910328"/>
            <a:ext cx="4572000" cy="420624"/>
          </a:xfrm>
          <a:prstGeom prst="rect">
            <a:avLst/>
          </a:prstGeom>
          <a:solidFill>
            <a:srgbClr val="E8FC2E"/>
          </a:solidFill>
          <a:ln w="12700">
            <a:solidFill>
              <a:srgbClr val="000000"/>
            </a:solidFill>
          </a:ln>
        </p:spPr>
        <p:txBody>
          <a:bodyPr rtlCol="0" anchor="ctr"/>
          <a:lstStyle/>
          <a:p>
            <a:pPr algn="ctr"/>
          </a:p>
        </p:txBody>
      </p:sp>
      <p:sp>
        <p:nvSpPr>
          <p:cNvPr id="39" name="TextBox 38"/>
          <p:cNvSpPr txBox="1"/>
          <p:nvPr/>
        </p:nvSpPr>
        <p:spPr>
          <a:xfrm>
            <a:off x="13112496" y="4910328"/>
            <a:ext cx="4315968" cy="420624"/>
          </a:xfrm>
          <a:prstGeom prst="rect">
            <a:avLst/>
          </a:prstGeom>
          <a:noFill/>
        </p:spPr>
        <p:txBody>
          <a:bodyPr wrap="none" lIns="0" rIns="0" tIns="0" bIns="0" anchor="ctr">
            <a:noAutofit/>
          </a:bodyPr>
          <a:lstStyle/>
          <a:p>
            <a:pPr algn="l"/>
            <a:r>
              <a:rPr sz="1600" b="0" i="0">
                <a:solidFill>
                  <a:srgbClr val="2C2825"/>
                </a:solidFill>
                <a:latin typeface="Inter"/>
              </a:rPr>
              <a:t>https://oauth.pstmn.io/v1/callback</a:t>
            </a:r>
          </a:p>
        </p:txBody>
      </p:sp>
      <p:sp>
        <p:nvSpPr>
          <p:cNvPr id="40" name="TextBox 39"/>
          <p:cNvSpPr txBox="1"/>
          <p:nvPr/>
        </p:nvSpPr>
        <p:spPr>
          <a:xfrm>
            <a:off x="9509760" y="5486400"/>
            <a:ext cx="4572000" cy="320040"/>
          </a:xfrm>
          <a:prstGeom prst="rect">
            <a:avLst/>
          </a:prstGeom>
          <a:noFill/>
        </p:spPr>
        <p:txBody>
          <a:bodyPr wrap="square" lIns="0" rIns="0" tIns="0" bIns="0" anchor="t">
            <a:noAutofit/>
          </a:bodyPr>
          <a:lstStyle/>
          <a:p>
            <a:pPr algn="l"/>
            <a:r>
              <a:rPr sz="1400" b="0" i="0">
                <a:solidFill>
                  <a:srgbClr val="5A574F"/>
                </a:solidFill>
                <a:latin typeface="Roboto Mono"/>
              </a:rPr>
              <a:t>PERMISSIONS</a:t>
            </a:r>
          </a:p>
        </p:txBody>
      </p:sp>
      <p:sp>
        <p:nvSpPr>
          <p:cNvPr id="41" name="Rounded Rectangle 40"/>
          <p:cNvSpPr/>
          <p:nvPr/>
        </p:nvSpPr>
        <p:spPr>
          <a:xfrm>
            <a:off x="9509760" y="5852160"/>
            <a:ext cx="566928" cy="292608"/>
          </a:xfrm>
          <a:prstGeom prst="roundRect">
            <a:avLst>
              <a:gd name="adj" fmla="val 50000"/>
            </a:avLst>
          </a:prstGeom>
          <a:solidFill>
            <a:srgbClr val="000000"/>
          </a:solidFill>
          <a:ln>
            <a:noFill/>
          </a:ln>
        </p:spPr>
        <p:txBody>
          <a:bodyPr rtlCol="0" anchor="ctr"/>
          <a:lstStyle/>
          <a:p>
            <a:pPr algn="ctr"/>
          </a:p>
        </p:txBody>
      </p:sp>
      <p:sp>
        <p:nvSpPr>
          <p:cNvPr id="42" name="Oval 41"/>
          <p:cNvSpPr/>
          <p:nvPr/>
        </p:nvSpPr>
        <p:spPr>
          <a:xfrm>
            <a:off x="9820656" y="5888736"/>
            <a:ext cx="219456" cy="219456"/>
          </a:xfrm>
          <a:prstGeom prst="ellipse">
            <a:avLst/>
          </a:prstGeom>
          <a:solidFill>
            <a:srgbClr val="FFFFFF"/>
          </a:solidFill>
          <a:ln>
            <a:noFill/>
          </a:ln>
        </p:spPr>
        <p:txBody>
          <a:bodyPr rtlCol="0" anchor="ctr"/>
          <a:lstStyle/>
          <a:p>
            <a:pPr algn="ctr"/>
          </a:p>
        </p:txBody>
      </p:sp>
      <p:sp>
        <p:nvSpPr>
          <p:cNvPr id="43" name="TextBox 42"/>
          <p:cNvSpPr txBox="1"/>
          <p:nvPr/>
        </p:nvSpPr>
        <p:spPr>
          <a:xfrm>
            <a:off x="10241280" y="5833872"/>
            <a:ext cx="3108960" cy="329184"/>
          </a:xfrm>
          <a:prstGeom prst="rect">
            <a:avLst/>
          </a:prstGeom>
          <a:noFill/>
        </p:spPr>
        <p:txBody>
          <a:bodyPr wrap="square" lIns="0" rIns="0" tIns="0" bIns="0" anchor="ctr">
            <a:noAutofit/>
          </a:bodyPr>
          <a:lstStyle/>
          <a:p>
            <a:pPr algn="l"/>
            <a:r>
              <a:rPr sz="1600" b="0" i="0">
                <a:solidFill>
                  <a:srgbClr val="000000"/>
                </a:solidFill>
                <a:latin typeface="Inter"/>
              </a:rPr>
              <a:t>Read account data</a:t>
            </a:r>
          </a:p>
        </p:txBody>
      </p:sp>
      <p:sp>
        <p:nvSpPr>
          <p:cNvPr id="44" name="Rounded Rectangle 43"/>
          <p:cNvSpPr/>
          <p:nvPr/>
        </p:nvSpPr>
        <p:spPr>
          <a:xfrm>
            <a:off x="9509760" y="6272784"/>
            <a:ext cx="566928" cy="292608"/>
          </a:xfrm>
          <a:prstGeom prst="roundRect">
            <a:avLst>
              <a:gd name="adj" fmla="val 50000"/>
            </a:avLst>
          </a:prstGeom>
          <a:solidFill>
            <a:srgbClr val="000000"/>
          </a:solidFill>
          <a:ln>
            <a:noFill/>
          </a:ln>
        </p:spPr>
        <p:txBody>
          <a:bodyPr rtlCol="0" anchor="ctr"/>
          <a:lstStyle/>
          <a:p>
            <a:pPr algn="ctr"/>
          </a:p>
        </p:txBody>
      </p:sp>
      <p:sp>
        <p:nvSpPr>
          <p:cNvPr id="45" name="Oval 44"/>
          <p:cNvSpPr/>
          <p:nvPr/>
        </p:nvSpPr>
        <p:spPr>
          <a:xfrm>
            <a:off x="9820656" y="6309360"/>
            <a:ext cx="219456" cy="219456"/>
          </a:xfrm>
          <a:prstGeom prst="ellipse">
            <a:avLst/>
          </a:prstGeom>
          <a:solidFill>
            <a:srgbClr val="FFFFFF"/>
          </a:solidFill>
          <a:ln>
            <a:noFill/>
          </a:ln>
        </p:spPr>
        <p:txBody>
          <a:bodyPr rtlCol="0" anchor="ctr"/>
          <a:lstStyle/>
          <a:p>
            <a:pPr algn="ctr"/>
          </a:p>
        </p:txBody>
      </p:sp>
      <p:sp>
        <p:nvSpPr>
          <p:cNvPr id="46" name="TextBox 45"/>
          <p:cNvSpPr txBox="1"/>
          <p:nvPr/>
        </p:nvSpPr>
        <p:spPr>
          <a:xfrm>
            <a:off x="10241280" y="6254496"/>
            <a:ext cx="3108960" cy="329184"/>
          </a:xfrm>
          <a:prstGeom prst="rect">
            <a:avLst/>
          </a:prstGeom>
          <a:noFill/>
        </p:spPr>
        <p:txBody>
          <a:bodyPr wrap="square" lIns="0" rIns="0" tIns="0" bIns="0" anchor="ctr">
            <a:noAutofit/>
          </a:bodyPr>
          <a:lstStyle/>
          <a:p>
            <a:pPr algn="l"/>
            <a:r>
              <a:rPr sz="1600" b="0" i="0">
                <a:solidFill>
                  <a:srgbClr val="000000"/>
                </a:solidFill>
                <a:latin typeface="Inter"/>
              </a:rPr>
              <a:t>Read booking data</a:t>
            </a:r>
          </a:p>
        </p:txBody>
      </p:sp>
      <p:sp>
        <p:nvSpPr>
          <p:cNvPr id="47" name="Rounded Rectangle 46"/>
          <p:cNvSpPr/>
          <p:nvPr/>
        </p:nvSpPr>
        <p:spPr>
          <a:xfrm>
            <a:off x="9509760" y="6693408"/>
            <a:ext cx="566928" cy="292608"/>
          </a:xfrm>
          <a:prstGeom prst="roundRect">
            <a:avLst>
              <a:gd name="adj" fmla="val 50000"/>
            </a:avLst>
          </a:prstGeom>
          <a:solidFill>
            <a:srgbClr val="000000"/>
          </a:solidFill>
          <a:ln>
            <a:noFill/>
          </a:ln>
        </p:spPr>
        <p:txBody>
          <a:bodyPr rtlCol="0" anchor="ctr"/>
          <a:lstStyle/>
          <a:p>
            <a:pPr algn="ctr"/>
          </a:p>
        </p:txBody>
      </p:sp>
      <p:sp>
        <p:nvSpPr>
          <p:cNvPr id="48" name="Oval 47"/>
          <p:cNvSpPr/>
          <p:nvPr/>
        </p:nvSpPr>
        <p:spPr>
          <a:xfrm>
            <a:off x="9820656" y="6729984"/>
            <a:ext cx="219456" cy="219456"/>
          </a:xfrm>
          <a:prstGeom prst="ellipse">
            <a:avLst/>
          </a:prstGeom>
          <a:solidFill>
            <a:srgbClr val="FFFFFF"/>
          </a:solidFill>
          <a:ln>
            <a:noFill/>
          </a:ln>
        </p:spPr>
        <p:txBody>
          <a:bodyPr rtlCol="0" anchor="ctr"/>
          <a:lstStyle/>
          <a:p>
            <a:pPr algn="ctr"/>
          </a:p>
        </p:txBody>
      </p:sp>
      <p:sp>
        <p:nvSpPr>
          <p:cNvPr id="49" name="TextBox 48"/>
          <p:cNvSpPr txBox="1"/>
          <p:nvPr/>
        </p:nvSpPr>
        <p:spPr>
          <a:xfrm>
            <a:off x="10241280" y="6675120"/>
            <a:ext cx="3108960" cy="329184"/>
          </a:xfrm>
          <a:prstGeom prst="rect">
            <a:avLst/>
          </a:prstGeom>
          <a:noFill/>
        </p:spPr>
        <p:txBody>
          <a:bodyPr wrap="square" lIns="0" rIns="0" tIns="0" bIns="0" anchor="ctr">
            <a:noAutofit/>
          </a:bodyPr>
          <a:lstStyle/>
          <a:p>
            <a:pPr algn="l"/>
            <a:r>
              <a:rPr sz="1600" b="0" i="0">
                <a:solidFill>
                  <a:srgbClr val="000000"/>
                </a:solidFill>
                <a:latin typeface="Inter"/>
              </a:rPr>
              <a:t>Read equipment data</a:t>
            </a:r>
          </a:p>
        </p:txBody>
      </p:sp>
      <p:sp>
        <p:nvSpPr>
          <p:cNvPr id="50" name="Rounded Rectangle 49"/>
          <p:cNvSpPr/>
          <p:nvPr/>
        </p:nvSpPr>
        <p:spPr>
          <a:xfrm>
            <a:off x="9509760" y="7114032"/>
            <a:ext cx="566928" cy="292608"/>
          </a:xfrm>
          <a:prstGeom prst="roundRect">
            <a:avLst>
              <a:gd name="adj" fmla="val 50000"/>
            </a:avLst>
          </a:prstGeom>
          <a:solidFill>
            <a:srgbClr val="D9D9CC"/>
          </a:solidFill>
          <a:ln>
            <a:noFill/>
          </a:ln>
        </p:spPr>
        <p:txBody>
          <a:bodyPr rtlCol="0" anchor="ctr"/>
          <a:lstStyle/>
          <a:p>
            <a:pPr algn="ctr"/>
          </a:p>
        </p:txBody>
      </p:sp>
      <p:sp>
        <p:nvSpPr>
          <p:cNvPr id="51" name="Oval 50"/>
          <p:cNvSpPr/>
          <p:nvPr/>
        </p:nvSpPr>
        <p:spPr>
          <a:xfrm>
            <a:off x="9546336" y="7150608"/>
            <a:ext cx="219456" cy="219456"/>
          </a:xfrm>
          <a:prstGeom prst="ellipse">
            <a:avLst/>
          </a:prstGeom>
          <a:solidFill>
            <a:srgbClr val="FFFFFF"/>
          </a:solidFill>
          <a:ln>
            <a:noFill/>
          </a:ln>
        </p:spPr>
        <p:txBody>
          <a:bodyPr rtlCol="0" anchor="ctr"/>
          <a:lstStyle/>
          <a:p>
            <a:pPr algn="ctr"/>
          </a:p>
        </p:txBody>
      </p:sp>
      <p:sp>
        <p:nvSpPr>
          <p:cNvPr id="52" name="TextBox 51"/>
          <p:cNvSpPr txBox="1"/>
          <p:nvPr/>
        </p:nvSpPr>
        <p:spPr>
          <a:xfrm>
            <a:off x="10241280" y="7095744"/>
            <a:ext cx="3108960" cy="329184"/>
          </a:xfrm>
          <a:prstGeom prst="rect">
            <a:avLst/>
          </a:prstGeom>
          <a:noFill/>
        </p:spPr>
        <p:txBody>
          <a:bodyPr wrap="square" lIns="0" rIns="0" tIns="0" bIns="0" anchor="ctr">
            <a:noAutofit/>
          </a:bodyPr>
          <a:lstStyle/>
          <a:p>
            <a:pPr algn="l"/>
            <a:r>
              <a:rPr sz="1600" b="0" i="0">
                <a:solidFill>
                  <a:srgbClr val="000000"/>
                </a:solidFill>
                <a:latin typeface="Inter"/>
              </a:rPr>
              <a:t>Write equipment data</a:t>
            </a:r>
          </a:p>
        </p:txBody>
      </p:sp>
      <p:sp>
        <p:nvSpPr>
          <p:cNvPr id="53" name="Rounded Rectangle 52"/>
          <p:cNvSpPr/>
          <p:nvPr/>
        </p:nvSpPr>
        <p:spPr>
          <a:xfrm>
            <a:off x="13624560" y="5852160"/>
            <a:ext cx="566928" cy="292608"/>
          </a:xfrm>
          <a:prstGeom prst="roundRect">
            <a:avLst>
              <a:gd name="adj" fmla="val 50000"/>
            </a:avLst>
          </a:prstGeom>
          <a:solidFill>
            <a:srgbClr val="000000"/>
          </a:solidFill>
          <a:ln>
            <a:noFill/>
          </a:ln>
        </p:spPr>
        <p:txBody>
          <a:bodyPr rtlCol="0" anchor="ctr"/>
          <a:lstStyle/>
          <a:p>
            <a:pPr algn="ctr"/>
          </a:p>
        </p:txBody>
      </p:sp>
      <p:sp>
        <p:nvSpPr>
          <p:cNvPr id="54" name="Oval 53"/>
          <p:cNvSpPr/>
          <p:nvPr/>
        </p:nvSpPr>
        <p:spPr>
          <a:xfrm>
            <a:off x="13935456" y="5888736"/>
            <a:ext cx="219456" cy="219456"/>
          </a:xfrm>
          <a:prstGeom prst="ellipse">
            <a:avLst/>
          </a:prstGeom>
          <a:solidFill>
            <a:srgbClr val="FFFFFF"/>
          </a:solidFill>
          <a:ln>
            <a:noFill/>
          </a:ln>
        </p:spPr>
        <p:txBody>
          <a:bodyPr rtlCol="0" anchor="ctr"/>
          <a:lstStyle/>
          <a:p>
            <a:pPr algn="ctr"/>
          </a:p>
        </p:txBody>
      </p:sp>
      <p:sp>
        <p:nvSpPr>
          <p:cNvPr id="55" name="TextBox 54"/>
          <p:cNvSpPr txBox="1"/>
          <p:nvPr/>
        </p:nvSpPr>
        <p:spPr>
          <a:xfrm>
            <a:off x="14356080" y="5833872"/>
            <a:ext cx="3108960" cy="329184"/>
          </a:xfrm>
          <a:prstGeom prst="rect">
            <a:avLst/>
          </a:prstGeom>
          <a:noFill/>
        </p:spPr>
        <p:txBody>
          <a:bodyPr wrap="square" lIns="0" rIns="0" tIns="0" bIns="0" anchor="ctr">
            <a:noAutofit/>
          </a:bodyPr>
          <a:lstStyle/>
          <a:p>
            <a:pPr algn="l"/>
            <a:r>
              <a:rPr sz="1600" b="0" i="0">
                <a:solidFill>
                  <a:srgbClr val="000000"/>
                </a:solidFill>
                <a:latin typeface="Inter"/>
              </a:rPr>
              <a:t>Read project data</a:t>
            </a:r>
          </a:p>
        </p:txBody>
      </p:sp>
      <p:sp>
        <p:nvSpPr>
          <p:cNvPr id="56" name="Rounded Rectangle 55"/>
          <p:cNvSpPr/>
          <p:nvPr/>
        </p:nvSpPr>
        <p:spPr>
          <a:xfrm>
            <a:off x="13624560" y="6272784"/>
            <a:ext cx="566928" cy="292608"/>
          </a:xfrm>
          <a:prstGeom prst="roundRect">
            <a:avLst>
              <a:gd name="adj" fmla="val 50000"/>
            </a:avLst>
          </a:prstGeom>
          <a:solidFill>
            <a:srgbClr val="000000"/>
          </a:solidFill>
          <a:ln>
            <a:noFill/>
          </a:ln>
        </p:spPr>
        <p:txBody>
          <a:bodyPr rtlCol="0" anchor="ctr"/>
          <a:lstStyle/>
          <a:p>
            <a:pPr algn="ctr"/>
          </a:p>
        </p:txBody>
      </p:sp>
      <p:sp>
        <p:nvSpPr>
          <p:cNvPr id="57" name="Oval 56"/>
          <p:cNvSpPr/>
          <p:nvPr/>
        </p:nvSpPr>
        <p:spPr>
          <a:xfrm>
            <a:off x="13935456" y="6309360"/>
            <a:ext cx="219456" cy="219456"/>
          </a:xfrm>
          <a:prstGeom prst="ellipse">
            <a:avLst/>
          </a:prstGeom>
          <a:solidFill>
            <a:srgbClr val="FFFFFF"/>
          </a:solidFill>
          <a:ln>
            <a:noFill/>
          </a:ln>
        </p:spPr>
        <p:txBody>
          <a:bodyPr rtlCol="0" anchor="ctr"/>
          <a:lstStyle/>
          <a:p>
            <a:pPr algn="ctr"/>
          </a:p>
        </p:txBody>
      </p:sp>
      <p:sp>
        <p:nvSpPr>
          <p:cNvPr id="58" name="TextBox 57"/>
          <p:cNvSpPr txBox="1"/>
          <p:nvPr/>
        </p:nvSpPr>
        <p:spPr>
          <a:xfrm>
            <a:off x="14356080" y="6254496"/>
            <a:ext cx="3108960" cy="329184"/>
          </a:xfrm>
          <a:prstGeom prst="rect">
            <a:avLst/>
          </a:prstGeom>
          <a:noFill/>
        </p:spPr>
        <p:txBody>
          <a:bodyPr wrap="square" lIns="0" rIns="0" tIns="0" bIns="0" anchor="ctr">
            <a:noAutofit/>
          </a:bodyPr>
          <a:lstStyle/>
          <a:p>
            <a:pPr algn="l"/>
            <a:r>
              <a:rPr sz="1600" b="0" i="0">
                <a:solidFill>
                  <a:srgbClr val="000000"/>
                </a:solidFill>
                <a:latin typeface="Inter"/>
              </a:rPr>
              <a:t>Read user details</a:t>
            </a:r>
          </a:p>
        </p:txBody>
      </p:sp>
      <p:sp>
        <p:nvSpPr>
          <p:cNvPr id="59" name="Rounded Rectangle 58"/>
          <p:cNvSpPr/>
          <p:nvPr/>
        </p:nvSpPr>
        <p:spPr>
          <a:xfrm>
            <a:off x="13624560" y="6693408"/>
            <a:ext cx="566928" cy="292608"/>
          </a:xfrm>
          <a:prstGeom prst="roundRect">
            <a:avLst>
              <a:gd name="adj" fmla="val 50000"/>
            </a:avLst>
          </a:prstGeom>
          <a:solidFill>
            <a:srgbClr val="D9D9CC"/>
          </a:solidFill>
          <a:ln>
            <a:noFill/>
          </a:ln>
        </p:spPr>
        <p:txBody>
          <a:bodyPr rtlCol="0" anchor="ctr"/>
          <a:lstStyle/>
          <a:p>
            <a:pPr algn="ctr"/>
          </a:p>
        </p:txBody>
      </p:sp>
      <p:sp>
        <p:nvSpPr>
          <p:cNvPr id="60" name="Oval 59"/>
          <p:cNvSpPr/>
          <p:nvPr/>
        </p:nvSpPr>
        <p:spPr>
          <a:xfrm>
            <a:off x="13661136" y="6729984"/>
            <a:ext cx="219456" cy="219456"/>
          </a:xfrm>
          <a:prstGeom prst="ellipse">
            <a:avLst/>
          </a:prstGeom>
          <a:solidFill>
            <a:srgbClr val="FFFFFF"/>
          </a:solidFill>
          <a:ln>
            <a:noFill/>
          </a:ln>
        </p:spPr>
        <p:txBody>
          <a:bodyPr rtlCol="0" anchor="ctr"/>
          <a:lstStyle/>
          <a:p>
            <a:pPr algn="ctr"/>
          </a:p>
        </p:txBody>
      </p:sp>
      <p:sp>
        <p:nvSpPr>
          <p:cNvPr id="61" name="TextBox 60"/>
          <p:cNvSpPr txBox="1"/>
          <p:nvPr/>
        </p:nvSpPr>
        <p:spPr>
          <a:xfrm>
            <a:off x="14356080" y="6675120"/>
            <a:ext cx="3108960" cy="329184"/>
          </a:xfrm>
          <a:prstGeom prst="rect">
            <a:avLst/>
          </a:prstGeom>
          <a:noFill/>
        </p:spPr>
        <p:txBody>
          <a:bodyPr wrap="square" lIns="0" rIns="0" tIns="0" bIns="0" anchor="ctr">
            <a:noAutofit/>
          </a:bodyPr>
          <a:lstStyle/>
          <a:p>
            <a:pPr algn="l"/>
            <a:r>
              <a:rPr sz="1600" b="0" i="0">
                <a:solidFill>
                  <a:srgbClr val="000000"/>
                </a:solidFill>
                <a:latin typeface="Inter"/>
              </a:rPr>
              <a:t>Read lists of users</a:t>
            </a:r>
          </a:p>
        </p:txBody>
      </p:sp>
      <p:sp>
        <p:nvSpPr>
          <p:cNvPr id="62" name="Rounded Rectangle 61"/>
          <p:cNvSpPr/>
          <p:nvPr/>
        </p:nvSpPr>
        <p:spPr>
          <a:xfrm>
            <a:off x="13624560" y="7114032"/>
            <a:ext cx="566928" cy="292608"/>
          </a:xfrm>
          <a:prstGeom prst="roundRect">
            <a:avLst>
              <a:gd name="adj" fmla="val 50000"/>
            </a:avLst>
          </a:prstGeom>
          <a:solidFill>
            <a:srgbClr val="D9D9CC"/>
          </a:solidFill>
          <a:ln>
            <a:noFill/>
          </a:ln>
        </p:spPr>
        <p:txBody>
          <a:bodyPr rtlCol="0" anchor="ctr"/>
          <a:lstStyle/>
          <a:p>
            <a:pPr algn="ctr"/>
          </a:p>
        </p:txBody>
      </p:sp>
      <p:sp>
        <p:nvSpPr>
          <p:cNvPr id="63" name="Oval 62"/>
          <p:cNvSpPr/>
          <p:nvPr/>
        </p:nvSpPr>
        <p:spPr>
          <a:xfrm>
            <a:off x="13661136" y="7150608"/>
            <a:ext cx="219456" cy="219456"/>
          </a:xfrm>
          <a:prstGeom prst="ellipse">
            <a:avLst/>
          </a:prstGeom>
          <a:solidFill>
            <a:srgbClr val="FFFFFF"/>
          </a:solidFill>
          <a:ln>
            <a:noFill/>
          </a:ln>
        </p:spPr>
        <p:txBody>
          <a:bodyPr rtlCol="0" anchor="ctr"/>
          <a:lstStyle/>
          <a:p>
            <a:pPr algn="ctr"/>
          </a:p>
        </p:txBody>
      </p:sp>
      <p:sp>
        <p:nvSpPr>
          <p:cNvPr id="64" name="TextBox 63"/>
          <p:cNvSpPr txBox="1"/>
          <p:nvPr/>
        </p:nvSpPr>
        <p:spPr>
          <a:xfrm>
            <a:off x="14356080" y="7095744"/>
            <a:ext cx="3108960" cy="329184"/>
          </a:xfrm>
          <a:prstGeom prst="rect">
            <a:avLst/>
          </a:prstGeom>
          <a:noFill/>
        </p:spPr>
        <p:txBody>
          <a:bodyPr wrap="square" lIns="0" rIns="0" tIns="0" bIns="0" anchor="ctr">
            <a:noAutofit/>
          </a:bodyPr>
          <a:lstStyle/>
          <a:p>
            <a:pPr algn="l"/>
            <a:r>
              <a:rPr sz="1600" b="0" i="0">
                <a:solidFill>
                  <a:srgbClr val="000000"/>
                </a:solidFill>
                <a:latin typeface="Inter"/>
              </a:rPr>
              <a:t>Write booking data</a:t>
            </a:r>
          </a:p>
        </p:txBody>
      </p:sp>
      <p:sp>
        <p:nvSpPr>
          <p:cNvPr id="65" name="Rectangle 64"/>
          <p:cNvSpPr/>
          <p:nvPr/>
        </p:nvSpPr>
        <p:spPr>
          <a:xfrm>
            <a:off x="9418320" y="7635240"/>
            <a:ext cx="8229600" cy="548640"/>
          </a:xfrm>
          <a:prstGeom prst="rect">
            <a:avLst/>
          </a:prstGeom>
          <a:solidFill>
            <a:srgbClr val="E8FC2E"/>
          </a:solidFill>
          <a:ln w="12700">
            <a:solidFill>
              <a:srgbClr val="000000"/>
            </a:solidFill>
          </a:ln>
        </p:spPr>
        <p:txBody>
          <a:bodyPr rtlCol="0" anchor="ctr"/>
          <a:lstStyle/>
          <a:p>
            <a:pPr algn="ctr"/>
          </a:p>
        </p:txBody>
      </p:sp>
      <p:sp>
        <p:nvSpPr>
          <p:cNvPr id="66" name="Rounded Rectangle 65"/>
          <p:cNvSpPr/>
          <p:nvPr/>
        </p:nvSpPr>
        <p:spPr>
          <a:xfrm>
            <a:off x="9601200" y="7763256"/>
            <a:ext cx="566928" cy="292608"/>
          </a:xfrm>
          <a:prstGeom prst="roundRect">
            <a:avLst>
              <a:gd name="adj" fmla="val 50000"/>
            </a:avLst>
          </a:prstGeom>
          <a:solidFill>
            <a:srgbClr val="000000"/>
          </a:solidFill>
          <a:ln>
            <a:noFill/>
          </a:ln>
        </p:spPr>
        <p:txBody>
          <a:bodyPr rtlCol="0" anchor="ctr"/>
          <a:lstStyle/>
          <a:p>
            <a:pPr algn="ctr"/>
          </a:p>
        </p:txBody>
      </p:sp>
      <p:sp>
        <p:nvSpPr>
          <p:cNvPr id="67" name="Oval 66"/>
          <p:cNvSpPr/>
          <p:nvPr/>
        </p:nvSpPr>
        <p:spPr>
          <a:xfrm>
            <a:off x="9912096" y="7799831"/>
            <a:ext cx="219456" cy="219456"/>
          </a:xfrm>
          <a:prstGeom prst="ellipse">
            <a:avLst/>
          </a:prstGeom>
          <a:solidFill>
            <a:srgbClr val="FFFFFF"/>
          </a:solidFill>
          <a:ln>
            <a:noFill/>
          </a:ln>
        </p:spPr>
        <p:txBody>
          <a:bodyPr rtlCol="0" anchor="ctr"/>
          <a:lstStyle/>
          <a:p>
            <a:pPr algn="ctr"/>
          </a:p>
        </p:txBody>
      </p:sp>
      <p:sp>
        <p:nvSpPr>
          <p:cNvPr id="68" name="TextBox 67"/>
          <p:cNvSpPr txBox="1"/>
          <p:nvPr/>
        </p:nvSpPr>
        <p:spPr>
          <a:xfrm>
            <a:off x="10332720" y="7635240"/>
            <a:ext cx="7223760" cy="548640"/>
          </a:xfrm>
          <a:prstGeom prst="rect">
            <a:avLst/>
          </a:prstGeom>
          <a:noFill/>
        </p:spPr>
        <p:txBody>
          <a:bodyPr wrap="square" lIns="0" rIns="0" tIns="0" bIns="0" anchor="ctr">
            <a:noAutofit/>
          </a:bodyPr>
          <a:lstStyle/>
          <a:p>
            <a:pPr algn="l"/>
            <a:r>
              <a:rPr sz="1600" b="1" i="0">
                <a:solidFill>
                  <a:srgbClr val="000000"/>
                </a:solidFill>
                <a:latin typeface="Inter"/>
              </a:rPr>
              <a:t>Confidential</a:t>
            </a:r>
            <a:r>
              <a:rPr sz="1600" b="0" i="0">
                <a:solidFill>
                  <a:srgbClr val="000000"/>
                </a:solidFill>
                <a:latin typeface="Inter"/>
              </a:rPr>
              <a:t>: tokens can be renewed without logging in</a:t>
            </a:r>
          </a:p>
        </p:txBody>
      </p:sp>
      <p:sp>
        <p:nvSpPr>
          <p:cNvPr id="69" name="Rounded Rectangle 68"/>
          <p:cNvSpPr/>
          <p:nvPr/>
        </p:nvSpPr>
        <p:spPr>
          <a:xfrm>
            <a:off x="9509760" y="8321040"/>
            <a:ext cx="1554480" cy="457200"/>
          </a:xfrm>
          <a:prstGeom prst="roundRect">
            <a:avLst>
              <a:gd name="adj" fmla="val 20000"/>
            </a:avLst>
          </a:prstGeom>
          <a:solidFill>
            <a:srgbClr val="000000"/>
          </a:solidFill>
          <a:ln>
            <a:noFill/>
          </a:ln>
        </p:spPr>
        <p:txBody>
          <a:bodyPr rtlCol="0" anchor="ctr" wrap="none" lIns="0" rIns="0" tIns="0" bIns="0">
            <a:noAutofit/>
          </a:bodyPr>
          <a:lstStyle/>
          <a:p>
            <a:pPr algn="ctr"/>
            <a:r>
              <a:rPr sz="1800" b="1" i="0">
                <a:solidFill>
                  <a:srgbClr val="FFFFFF"/>
                </a:solidFill>
                <a:latin typeface="Inter"/>
              </a:rPr>
              <a:t>Save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ED"/>
        </a:solidFill>
        <a:effectLst/>
      </p:bgPr>
    </p:bg>
    <p:spTree>
      <p:nvGrpSpPr>
        <p:cNvPr id="1" name=""/>
        <p:cNvGrpSpPr/>
        <p:nvPr/>
      </p:nvGrpSpPr>
      <p:grpSpPr/>
      <p:pic>
        <p:nvPicPr>
          <p:cNvPr id="2" name="Picture 1" descr="s1_0.png"/>
          <p:cNvPicPr>
            <a:picLocks noChangeAspect="1"/>
          </p:cNvPicPr>
          <p:nvPr/>
        </p:nvPicPr>
        <p:blipFill>
          <a:blip r:embed="rId2"/>
          <a:stretch>
            <a:fillRect/>
          </a:stretch>
        </p:blipFill>
        <p:spPr>
          <a:xfrm>
            <a:off x="475488" y="594360"/>
            <a:ext cx="1655064" cy="384048"/>
          </a:xfrm>
          <a:prstGeom prst="rect">
            <a:avLst/>
          </a:prstGeom>
        </p:spPr>
      </p:pic>
      <p:sp>
        <p:nvSpPr>
          <p:cNvPr id="3" name="Rectangle 2"/>
          <p:cNvSpPr/>
          <p:nvPr/>
        </p:nvSpPr>
        <p:spPr>
          <a:xfrm>
            <a:off x="2441448" y="777240"/>
            <a:ext cx="15371064" cy="10972"/>
          </a:xfrm>
          <a:prstGeom prst="rect">
            <a:avLst/>
          </a:prstGeom>
          <a:solidFill>
            <a:srgbClr val="000000"/>
          </a:solidFill>
          <a:ln>
            <a:noFill/>
          </a:ln>
        </p:spPr>
        <p:txBody>
          <a:bodyPr rtlCol="0" anchor="ctr"/>
          <a:lstStyle/>
          <a:p>
            <a:pPr algn="ctr"/>
          </a:p>
        </p:txBody>
      </p:sp>
      <p:sp>
        <p:nvSpPr>
          <p:cNvPr id="4" name="TextBox 3"/>
          <p:cNvSpPr txBox="1"/>
          <p:nvPr/>
        </p:nvSpPr>
        <p:spPr>
          <a:xfrm>
            <a:off x="475488" y="1527048"/>
            <a:ext cx="10972800" cy="365760"/>
          </a:xfrm>
          <a:prstGeom prst="rect">
            <a:avLst/>
          </a:prstGeom>
          <a:noFill/>
        </p:spPr>
        <p:txBody>
          <a:bodyPr wrap="square" lIns="0" rIns="0" tIns="0" bIns="0" anchor="t">
            <a:noAutofit/>
          </a:bodyPr>
          <a:lstStyle/>
          <a:p>
            <a:pPr algn="l"/>
            <a:r>
              <a:rPr sz="1800" b="0" i="0">
                <a:solidFill>
                  <a:srgbClr val="000000"/>
                </a:solidFill>
                <a:latin typeface="Roboto Mono"/>
              </a:rPr>
              <a:t>PART 3 · GETTING CONNECTED</a:t>
            </a:r>
          </a:p>
        </p:txBody>
      </p:sp>
      <p:sp>
        <p:nvSpPr>
          <p:cNvPr id="5" name="Title"/>
          <p:cNvSpPr txBox="1"/>
          <p:nvPr/>
        </p:nvSpPr>
        <p:spPr>
          <a:xfrm>
            <a:off x="475488" y="2011680"/>
            <a:ext cx="17337024" cy="868680"/>
          </a:xfrm>
          <a:prstGeom prst="rect">
            <a:avLst/>
          </a:prstGeom>
          <a:noFill/>
        </p:spPr>
        <p:txBody>
          <a:bodyPr wrap="square" lIns="0" rIns="0" tIns="0" bIns="0" anchor="t">
            <a:noAutofit/>
          </a:bodyPr>
          <a:lstStyle/>
          <a:p>
            <a:pPr algn="l">
              <a:lnSpc>
                <a:spcPct val="95000"/>
              </a:lnSpc>
            </a:pPr>
            <a:r>
              <a:rPr sz="4600" b="1" i="0">
                <a:solidFill>
                  <a:srgbClr val="000000"/>
                </a:solidFill>
                <a:latin typeface="Inter"/>
              </a:rPr>
              <a:t>Keep the Client ID and Secret safe</a:t>
            </a:r>
          </a:p>
        </p:txBody>
      </p:sp>
      <p:sp>
        <p:nvSpPr>
          <p:cNvPr id="6" name="Rectangle 5"/>
          <p:cNvSpPr/>
          <p:nvPr/>
        </p:nvSpPr>
        <p:spPr>
          <a:xfrm>
            <a:off x="475488" y="9189720"/>
            <a:ext cx="17337024" cy="10972"/>
          </a:xfrm>
          <a:prstGeom prst="rect">
            <a:avLst/>
          </a:prstGeom>
          <a:solidFill>
            <a:srgbClr val="000000"/>
          </a:solidFill>
          <a:ln>
            <a:noFill/>
          </a:ln>
        </p:spPr>
        <p:txBody>
          <a:bodyPr rtlCol="0" anchor="ctr"/>
          <a:lstStyle/>
          <a:p>
            <a:pPr algn="ctr"/>
          </a:p>
        </p:txBody>
      </p:sp>
      <p:sp>
        <p:nvSpPr>
          <p:cNvPr id="7" name="TextBox 6"/>
          <p:cNvSpPr txBox="1"/>
          <p:nvPr/>
        </p:nvSpPr>
        <p:spPr>
          <a:xfrm>
            <a:off x="475488" y="9354312"/>
            <a:ext cx="2743200" cy="338328"/>
          </a:xfrm>
          <a:prstGeom prst="rect">
            <a:avLst/>
          </a:prstGeom>
          <a:noFill/>
        </p:spPr>
        <p:txBody>
          <a:bodyPr wrap="square" lIns="0" rIns="0" tIns="0" bIns="0" anchor="t">
            <a:noAutofit/>
          </a:bodyPr>
          <a:lstStyle/>
          <a:p>
            <a:pPr algn="l"/>
            <a:r>
              <a:rPr sz="1800" b="0" i="0">
                <a:solidFill>
                  <a:srgbClr val="000000"/>
                </a:solidFill>
                <a:latin typeface="Roboto Mono"/>
              </a:rPr>
              <a:t>CALIRA.CO</a:t>
            </a:r>
          </a:p>
        </p:txBody>
      </p:sp>
      <p:sp>
        <p:nvSpPr>
          <p:cNvPr id="8" name="TextBox 7"/>
          <p:cNvSpPr txBox="1"/>
          <p:nvPr/>
        </p:nvSpPr>
        <p:spPr>
          <a:xfrm>
            <a:off x="15983712" y="9354312"/>
            <a:ext cx="1828800" cy="338328"/>
          </a:xfrm>
          <a:prstGeom prst="rect">
            <a:avLst/>
          </a:prstGeom>
          <a:noFill/>
        </p:spPr>
        <p:txBody>
          <a:bodyPr wrap="square" lIns="0" rIns="0" tIns="0" bIns="0" anchor="t">
            <a:noAutofit/>
          </a:bodyPr>
          <a:lstStyle/>
          <a:p>
            <a:pPr algn="r"/>
            <a:r>
              <a:rPr sz="1800" b="0" i="0">
                <a:solidFill>
                  <a:srgbClr val="000000"/>
                </a:solidFill>
                <a:latin typeface="Roboto Mono"/>
              </a:rPr>
              <a:t>18</a:t>
            </a:r>
          </a:p>
        </p:txBody>
      </p:sp>
      <p:sp>
        <p:nvSpPr>
          <p:cNvPr id="9" name="Rounded Rectangle 8"/>
          <p:cNvSpPr/>
          <p:nvPr/>
        </p:nvSpPr>
        <p:spPr>
          <a:xfrm>
            <a:off x="475488" y="3154680"/>
            <a:ext cx="8503920" cy="3154680"/>
          </a:xfrm>
          <a:prstGeom prst="roundRect">
            <a:avLst>
              <a:gd name="adj" fmla="val 2000"/>
            </a:avLst>
          </a:prstGeom>
          <a:solidFill>
            <a:srgbClr val="FFFFFF"/>
          </a:solidFill>
          <a:ln w="15875">
            <a:solidFill>
              <a:srgbClr val="000000"/>
            </a:solidFill>
          </a:ln>
        </p:spPr>
        <p:txBody>
          <a:bodyPr rtlCol="0" anchor="ctr"/>
          <a:lstStyle/>
          <a:p>
            <a:pPr algn="ctr"/>
          </a:p>
        </p:txBody>
      </p:sp>
      <p:sp>
        <p:nvSpPr>
          <p:cNvPr id="10" name="Rectangle 9"/>
          <p:cNvSpPr/>
          <p:nvPr/>
        </p:nvSpPr>
        <p:spPr>
          <a:xfrm>
            <a:off x="475488" y="3154680"/>
            <a:ext cx="8503920" cy="457200"/>
          </a:xfrm>
          <a:prstGeom prst="rect">
            <a:avLst/>
          </a:prstGeom>
          <a:solidFill>
            <a:srgbClr val="F1F1E6"/>
          </a:solidFill>
          <a:ln>
            <a:noFill/>
          </a:ln>
        </p:spPr>
        <p:txBody>
          <a:bodyPr rtlCol="0" anchor="ctr"/>
          <a:lstStyle/>
          <a:p>
            <a:pPr algn="ctr"/>
          </a:p>
        </p:txBody>
      </p:sp>
      <p:sp>
        <p:nvSpPr>
          <p:cNvPr id="11" name="Rectangle 10"/>
          <p:cNvSpPr/>
          <p:nvPr/>
        </p:nvSpPr>
        <p:spPr>
          <a:xfrm>
            <a:off x="475488" y="3611880"/>
            <a:ext cx="8503920" cy="9144"/>
          </a:xfrm>
          <a:prstGeom prst="rect">
            <a:avLst/>
          </a:prstGeom>
          <a:solidFill>
            <a:srgbClr val="000000"/>
          </a:solidFill>
          <a:ln>
            <a:noFill/>
          </a:ln>
        </p:spPr>
        <p:txBody>
          <a:bodyPr rtlCol="0" anchor="ctr"/>
          <a:lstStyle/>
          <a:p>
            <a:pPr algn="ctr"/>
          </a:p>
        </p:txBody>
      </p:sp>
      <p:sp>
        <p:nvSpPr>
          <p:cNvPr id="12" name="Oval 11"/>
          <p:cNvSpPr/>
          <p:nvPr/>
        </p:nvSpPr>
        <p:spPr>
          <a:xfrm>
            <a:off x="676656" y="3319272"/>
            <a:ext cx="128016" cy="128016"/>
          </a:xfrm>
          <a:prstGeom prst="ellipse">
            <a:avLst/>
          </a:prstGeom>
          <a:solidFill>
            <a:srgbClr val="D9D9CC"/>
          </a:solidFill>
          <a:ln>
            <a:noFill/>
          </a:ln>
        </p:spPr>
        <p:txBody>
          <a:bodyPr rtlCol="0" anchor="ctr"/>
          <a:lstStyle/>
          <a:p>
            <a:pPr algn="ctr"/>
          </a:p>
        </p:txBody>
      </p:sp>
      <p:sp>
        <p:nvSpPr>
          <p:cNvPr id="13" name="Oval 12"/>
          <p:cNvSpPr/>
          <p:nvPr/>
        </p:nvSpPr>
        <p:spPr>
          <a:xfrm>
            <a:off x="914400" y="3319272"/>
            <a:ext cx="128016" cy="128016"/>
          </a:xfrm>
          <a:prstGeom prst="ellipse">
            <a:avLst/>
          </a:prstGeom>
          <a:solidFill>
            <a:srgbClr val="D9D9CC"/>
          </a:solidFill>
          <a:ln>
            <a:noFill/>
          </a:ln>
        </p:spPr>
        <p:txBody>
          <a:bodyPr rtlCol="0" anchor="ctr"/>
          <a:lstStyle/>
          <a:p>
            <a:pPr algn="ctr"/>
          </a:p>
        </p:txBody>
      </p:sp>
      <p:sp>
        <p:nvSpPr>
          <p:cNvPr id="14" name="Oval 13"/>
          <p:cNvSpPr/>
          <p:nvPr/>
        </p:nvSpPr>
        <p:spPr>
          <a:xfrm>
            <a:off x="1152144" y="3319272"/>
            <a:ext cx="128016" cy="128016"/>
          </a:xfrm>
          <a:prstGeom prst="ellipse">
            <a:avLst/>
          </a:prstGeom>
          <a:solidFill>
            <a:srgbClr val="D9D9CC"/>
          </a:solidFill>
          <a:ln>
            <a:noFill/>
          </a:ln>
        </p:spPr>
        <p:txBody>
          <a:bodyPr rtlCol="0" anchor="ctr"/>
          <a:lstStyle/>
          <a:p>
            <a:pPr algn="ctr"/>
          </a:p>
        </p:txBody>
      </p:sp>
      <p:sp>
        <p:nvSpPr>
          <p:cNvPr id="15" name="TextBox 14"/>
          <p:cNvSpPr txBox="1"/>
          <p:nvPr/>
        </p:nvSpPr>
        <p:spPr>
          <a:xfrm>
            <a:off x="1572768" y="3246120"/>
            <a:ext cx="7223760" cy="274320"/>
          </a:xfrm>
          <a:prstGeom prst="rect">
            <a:avLst/>
          </a:prstGeom>
          <a:noFill/>
        </p:spPr>
        <p:txBody>
          <a:bodyPr wrap="none" lIns="0" rIns="0" tIns="0" bIns="0" anchor="ctr">
            <a:noAutofit/>
          </a:bodyPr>
          <a:lstStyle/>
          <a:p>
            <a:pPr algn="l"/>
            <a:r>
              <a:rPr sz="1600" b="0" i="0">
                <a:solidFill>
                  <a:srgbClr val="5A574F"/>
                </a:solidFill>
                <a:latin typeface="Roboto Mono"/>
              </a:rPr>
              <a:t>Acme Labs integration</a:t>
            </a:r>
          </a:p>
        </p:txBody>
      </p:sp>
      <p:sp>
        <p:nvSpPr>
          <p:cNvPr id="16" name="TextBox 15"/>
          <p:cNvSpPr txBox="1"/>
          <p:nvPr/>
        </p:nvSpPr>
        <p:spPr>
          <a:xfrm>
            <a:off x="841248" y="3794760"/>
            <a:ext cx="7772400" cy="274320"/>
          </a:xfrm>
          <a:prstGeom prst="rect">
            <a:avLst/>
          </a:prstGeom>
          <a:noFill/>
        </p:spPr>
        <p:txBody>
          <a:bodyPr wrap="square" lIns="0" rIns="0" tIns="0" bIns="0" anchor="t">
            <a:noAutofit/>
          </a:bodyPr>
          <a:lstStyle/>
          <a:p>
            <a:pPr algn="l"/>
            <a:r>
              <a:rPr sz="1600" b="0" i="0">
                <a:solidFill>
                  <a:srgbClr val="5A574F"/>
                </a:solidFill>
                <a:latin typeface="Inter"/>
              </a:rPr>
              <a:t>Client ID</a:t>
            </a:r>
          </a:p>
        </p:txBody>
      </p:sp>
      <p:sp>
        <p:nvSpPr>
          <p:cNvPr id="17" name="Rectangle 16"/>
          <p:cNvSpPr/>
          <p:nvPr/>
        </p:nvSpPr>
        <p:spPr>
          <a:xfrm>
            <a:off x="841248" y="4087368"/>
            <a:ext cx="7772400" cy="420624"/>
          </a:xfrm>
          <a:prstGeom prst="rect">
            <a:avLst/>
          </a:prstGeom>
          <a:solidFill>
            <a:srgbClr val="FFFFFF"/>
          </a:solidFill>
          <a:ln w="12700">
            <a:solidFill>
              <a:srgbClr val="000000"/>
            </a:solidFill>
          </a:ln>
        </p:spPr>
        <p:txBody>
          <a:bodyPr rtlCol="0" anchor="ctr"/>
          <a:lstStyle/>
          <a:p>
            <a:pPr algn="ctr"/>
          </a:p>
        </p:txBody>
      </p:sp>
      <p:sp>
        <p:nvSpPr>
          <p:cNvPr id="18" name="TextBox 17"/>
          <p:cNvSpPr txBox="1"/>
          <p:nvPr/>
        </p:nvSpPr>
        <p:spPr>
          <a:xfrm>
            <a:off x="969264" y="4087368"/>
            <a:ext cx="7516368" cy="420624"/>
          </a:xfrm>
          <a:prstGeom prst="rect">
            <a:avLst/>
          </a:prstGeom>
          <a:noFill/>
        </p:spPr>
        <p:txBody>
          <a:bodyPr wrap="none" lIns="0" rIns="0" tIns="0" bIns="0" anchor="ctr">
            <a:noAutofit/>
          </a:bodyPr>
          <a:lstStyle/>
          <a:p>
            <a:pPr algn="l"/>
            <a:r>
              <a:rPr sz="2200" b="0" i="0">
                <a:solidFill>
                  <a:srgbClr val="2C2825"/>
                </a:solidFill>
                <a:latin typeface="Roboto Mono"/>
              </a:rPr>
              <a:t>••••••••••••••••••••••••••••</a:t>
            </a:r>
          </a:p>
        </p:txBody>
      </p:sp>
      <p:sp>
        <p:nvSpPr>
          <p:cNvPr id="19" name="TextBox 18"/>
          <p:cNvSpPr txBox="1"/>
          <p:nvPr/>
        </p:nvSpPr>
        <p:spPr>
          <a:xfrm>
            <a:off x="841248" y="4892040"/>
            <a:ext cx="7772400" cy="274320"/>
          </a:xfrm>
          <a:prstGeom prst="rect">
            <a:avLst/>
          </a:prstGeom>
          <a:noFill/>
        </p:spPr>
        <p:txBody>
          <a:bodyPr wrap="square" lIns="0" rIns="0" tIns="0" bIns="0" anchor="t">
            <a:noAutofit/>
          </a:bodyPr>
          <a:lstStyle/>
          <a:p>
            <a:pPr algn="l"/>
            <a:r>
              <a:rPr sz="1600" b="0" i="0">
                <a:solidFill>
                  <a:srgbClr val="5A574F"/>
                </a:solidFill>
                <a:latin typeface="Inter"/>
              </a:rPr>
              <a:t>Client secret</a:t>
            </a:r>
          </a:p>
        </p:txBody>
      </p:sp>
      <p:sp>
        <p:nvSpPr>
          <p:cNvPr id="20" name="Rectangle 19"/>
          <p:cNvSpPr/>
          <p:nvPr/>
        </p:nvSpPr>
        <p:spPr>
          <a:xfrm>
            <a:off x="841248" y="5184648"/>
            <a:ext cx="7772400" cy="420624"/>
          </a:xfrm>
          <a:prstGeom prst="rect">
            <a:avLst/>
          </a:prstGeom>
          <a:solidFill>
            <a:srgbClr val="FFFFFF"/>
          </a:solidFill>
          <a:ln w="12700">
            <a:solidFill>
              <a:srgbClr val="000000"/>
            </a:solidFill>
          </a:ln>
        </p:spPr>
        <p:txBody>
          <a:bodyPr rtlCol="0" anchor="ctr"/>
          <a:lstStyle/>
          <a:p>
            <a:pPr algn="ctr"/>
          </a:p>
        </p:txBody>
      </p:sp>
      <p:sp>
        <p:nvSpPr>
          <p:cNvPr id="21" name="TextBox 20"/>
          <p:cNvSpPr txBox="1"/>
          <p:nvPr/>
        </p:nvSpPr>
        <p:spPr>
          <a:xfrm>
            <a:off x="969264" y="5184648"/>
            <a:ext cx="7516368" cy="420624"/>
          </a:xfrm>
          <a:prstGeom prst="rect">
            <a:avLst/>
          </a:prstGeom>
          <a:noFill/>
        </p:spPr>
        <p:txBody>
          <a:bodyPr wrap="none" lIns="0" rIns="0" tIns="0" bIns="0" anchor="ctr">
            <a:noAutofit/>
          </a:bodyPr>
          <a:lstStyle/>
          <a:p>
            <a:pPr algn="l"/>
            <a:r>
              <a:rPr sz="2200" b="0" i="0">
                <a:solidFill>
                  <a:srgbClr val="2C2825"/>
                </a:solidFill>
                <a:latin typeface="Roboto Mono"/>
              </a:rPr>
              <a:t>••••••••••••••••••••••••••••</a:t>
            </a:r>
          </a:p>
        </p:txBody>
      </p:sp>
      <p:sp>
        <p:nvSpPr>
          <p:cNvPr id="22" name="TextBox 21"/>
          <p:cNvSpPr txBox="1"/>
          <p:nvPr/>
        </p:nvSpPr>
        <p:spPr>
          <a:xfrm>
            <a:off x="7699248" y="4087368"/>
            <a:ext cx="822960" cy="365760"/>
          </a:xfrm>
          <a:prstGeom prst="rect">
            <a:avLst/>
          </a:prstGeom>
          <a:noFill/>
        </p:spPr>
        <p:txBody>
          <a:bodyPr wrap="square" lIns="0" rIns="0" tIns="0" bIns="0" anchor="t">
            <a:noAutofit/>
          </a:bodyPr>
          <a:lstStyle/>
          <a:p>
            <a:pPr algn="r"/>
            <a:r>
              <a:rPr sz="1400" b="0" i="0">
                <a:solidFill>
                  <a:srgbClr val="000000"/>
                </a:solidFill>
                <a:latin typeface="Roboto Mono"/>
              </a:rPr>
              <a:t>COPY</a:t>
            </a:r>
          </a:p>
        </p:txBody>
      </p:sp>
      <p:sp>
        <p:nvSpPr>
          <p:cNvPr id="23" name="TextBox 22"/>
          <p:cNvSpPr txBox="1"/>
          <p:nvPr/>
        </p:nvSpPr>
        <p:spPr>
          <a:xfrm>
            <a:off x="7699248" y="5184648"/>
            <a:ext cx="822960" cy="365760"/>
          </a:xfrm>
          <a:prstGeom prst="rect">
            <a:avLst/>
          </a:prstGeom>
          <a:noFill/>
        </p:spPr>
        <p:txBody>
          <a:bodyPr wrap="square" lIns="0" rIns="0" tIns="0" bIns="0" anchor="t">
            <a:noAutofit/>
          </a:bodyPr>
          <a:lstStyle/>
          <a:p>
            <a:pPr algn="r"/>
            <a:r>
              <a:rPr sz="1400" b="0" i="0">
                <a:solidFill>
                  <a:srgbClr val="000000"/>
                </a:solidFill>
                <a:latin typeface="Roboto Mono"/>
              </a:rPr>
              <a:t>COPY</a:t>
            </a:r>
          </a:p>
        </p:txBody>
      </p:sp>
      <p:sp>
        <p:nvSpPr>
          <p:cNvPr id="24" name="Rectangle 23"/>
          <p:cNvSpPr/>
          <p:nvPr/>
        </p:nvSpPr>
        <p:spPr>
          <a:xfrm>
            <a:off x="475488" y="6583680"/>
            <a:ext cx="8503920" cy="2331720"/>
          </a:xfrm>
          <a:prstGeom prst="rect">
            <a:avLst/>
          </a:prstGeom>
          <a:solidFill>
            <a:srgbClr val="E8FC2E"/>
          </a:solidFill>
          <a:ln w="15875">
            <a:solidFill>
              <a:srgbClr val="000000"/>
            </a:solidFill>
          </a:ln>
        </p:spPr>
        <p:txBody>
          <a:bodyPr rtlCol="0" anchor="ctr"/>
          <a:lstStyle/>
          <a:p>
            <a:pPr algn="ctr"/>
          </a:p>
        </p:txBody>
      </p:sp>
      <p:sp>
        <p:nvSpPr>
          <p:cNvPr id="25" name="TextBox 24"/>
          <p:cNvSpPr txBox="1"/>
          <p:nvPr/>
        </p:nvSpPr>
        <p:spPr>
          <a:xfrm>
            <a:off x="822960" y="6583680"/>
            <a:ext cx="7863840" cy="2331720"/>
          </a:xfrm>
          <a:prstGeom prst="rect">
            <a:avLst/>
          </a:prstGeom>
          <a:noFill/>
        </p:spPr>
        <p:txBody>
          <a:bodyPr wrap="square" lIns="0" rIns="0" tIns="0" bIns="0" anchor="ctr">
            <a:noAutofit/>
          </a:bodyPr>
          <a:lstStyle/>
          <a:p>
            <a:pPr algn="l"/>
            <a:r>
              <a:rPr sz="2400" b="1" i="0">
                <a:solidFill>
                  <a:srgbClr val="000000"/>
                </a:solidFill>
                <a:latin typeface="Inter"/>
              </a:rPr>
              <a:t>Where they go next:</a:t>
            </a:r>
            <a:r>
              <a:rPr sz="2400" b="0" i="0">
                <a:solidFill>
                  <a:srgbClr val="000000"/>
                </a:solidFill>
                <a:latin typeface="Inter"/>
              </a:rPr>
              <a:t> the </a:t>
            </a:r>
            <a:r>
              <a:rPr sz="2400" b="1" i="0">
                <a:solidFill>
                  <a:srgbClr val="000000"/>
                </a:solidFill>
                <a:latin typeface="Inter"/>
              </a:rPr>
              <a:t>client_id</a:t>
            </a:r>
            <a:r>
              <a:rPr sz="2400" b="0" i="0">
                <a:solidFill>
                  <a:srgbClr val="000000"/>
                </a:solidFill>
                <a:latin typeface="Inter"/>
              </a:rPr>
              <a:t> and </a:t>
            </a:r>
            <a:r>
              <a:rPr sz="2400" b="1" i="0">
                <a:solidFill>
                  <a:srgbClr val="000000"/>
                </a:solidFill>
                <a:latin typeface="Inter"/>
              </a:rPr>
              <a:t>client_secret</a:t>
            </a:r>
            <a:r>
              <a:rPr sz="2400" b="0" i="0">
                <a:solidFill>
                  <a:srgbClr val="000000"/>
                </a:solidFill>
                <a:latin typeface="Inter"/>
              </a:rPr>
              <a:t> variables in Postman, in Part 4.</a:t>
            </a:r>
          </a:p>
        </p:txBody>
      </p:sp>
      <p:sp>
        <p:nvSpPr>
          <p:cNvPr id="26" name="TextBox 25"/>
          <p:cNvSpPr txBox="1"/>
          <p:nvPr/>
        </p:nvSpPr>
        <p:spPr>
          <a:xfrm>
            <a:off x="9326880" y="3154680"/>
            <a:ext cx="8485632" cy="640080"/>
          </a:xfrm>
          <a:prstGeom prst="rect">
            <a:avLst/>
          </a:prstGeom>
          <a:noFill/>
        </p:spPr>
        <p:txBody>
          <a:bodyPr wrap="square" lIns="0" rIns="0" tIns="0" bIns="0" anchor="t">
            <a:noAutofit/>
          </a:bodyPr>
          <a:lstStyle/>
          <a:p>
            <a:pPr algn="l"/>
            <a:r>
              <a:rPr sz="3400" b="1" i="0">
                <a:solidFill>
                  <a:srgbClr val="000000"/>
                </a:solidFill>
                <a:latin typeface="Inter"/>
              </a:rPr>
              <a:t>Treat them like a password</a:t>
            </a:r>
          </a:p>
        </p:txBody>
      </p:sp>
      <p:pic>
        <p:nvPicPr>
          <p:cNvPr id="27" name="Picture 26" descr="lock.png"/>
          <p:cNvPicPr>
            <a:picLocks noChangeAspect="1"/>
          </p:cNvPicPr>
          <p:nvPr/>
        </p:nvPicPr>
        <p:blipFill>
          <a:blip r:embed="rId3"/>
          <a:stretch>
            <a:fillRect/>
          </a:stretch>
        </p:blipFill>
        <p:spPr>
          <a:xfrm>
            <a:off x="9326880" y="4206240"/>
            <a:ext cx="502920" cy="502920"/>
          </a:xfrm>
          <a:prstGeom prst="rect">
            <a:avLst/>
          </a:prstGeom>
        </p:spPr>
      </p:pic>
      <p:sp>
        <p:nvSpPr>
          <p:cNvPr id="28" name="TextBox 27"/>
          <p:cNvSpPr txBox="1"/>
          <p:nvPr/>
        </p:nvSpPr>
        <p:spPr>
          <a:xfrm>
            <a:off x="10149840" y="4160520"/>
            <a:ext cx="7589520" cy="1005840"/>
          </a:xfrm>
          <a:prstGeom prst="rect">
            <a:avLst/>
          </a:prstGeom>
          <a:noFill/>
        </p:spPr>
        <p:txBody>
          <a:bodyPr wrap="square" lIns="0" rIns="0" tIns="0" bIns="0" anchor="t">
            <a:noAutofit/>
          </a:bodyPr>
          <a:lstStyle/>
          <a:p>
            <a:pPr algn="l"/>
            <a:r>
              <a:rPr sz="2100" b="0" i="0">
                <a:solidFill>
                  <a:srgbClr val="000000"/>
                </a:solidFill>
                <a:latin typeface="Inter"/>
              </a:rPr>
              <a:t>Store them in a password manager.</a:t>
            </a:r>
          </a:p>
        </p:txBody>
      </p:sp>
      <p:pic>
        <p:nvPicPr>
          <p:cNvPr id="29" name="Picture 28" descr="x.png"/>
          <p:cNvPicPr>
            <a:picLocks noChangeAspect="1"/>
          </p:cNvPicPr>
          <p:nvPr/>
        </p:nvPicPr>
        <p:blipFill>
          <a:blip r:embed="rId4"/>
          <a:stretch>
            <a:fillRect/>
          </a:stretch>
        </p:blipFill>
        <p:spPr>
          <a:xfrm>
            <a:off x="9326880" y="5394960"/>
            <a:ext cx="502920" cy="502920"/>
          </a:xfrm>
          <a:prstGeom prst="rect">
            <a:avLst/>
          </a:prstGeom>
        </p:spPr>
      </p:pic>
      <p:sp>
        <p:nvSpPr>
          <p:cNvPr id="30" name="TextBox 29"/>
          <p:cNvSpPr txBox="1"/>
          <p:nvPr/>
        </p:nvSpPr>
        <p:spPr>
          <a:xfrm>
            <a:off x="10149840" y="5349240"/>
            <a:ext cx="7589520" cy="1005840"/>
          </a:xfrm>
          <a:prstGeom prst="rect">
            <a:avLst/>
          </a:prstGeom>
          <a:noFill/>
        </p:spPr>
        <p:txBody>
          <a:bodyPr wrap="square" lIns="0" rIns="0" tIns="0" bIns="0" anchor="t">
            <a:noAutofit/>
          </a:bodyPr>
          <a:lstStyle/>
          <a:p>
            <a:pPr algn="l"/>
            <a:r>
              <a:rPr sz="2100" b="0" i="0">
                <a:solidFill>
                  <a:srgbClr val="000000"/>
                </a:solidFill>
                <a:latin typeface="Inter"/>
              </a:rPr>
              <a:t>Never email them, paste them in chat or put them on a slide.</a:t>
            </a:r>
          </a:p>
        </p:txBody>
      </p:sp>
      <p:pic>
        <p:nvPicPr>
          <p:cNvPr id="31" name="Picture 30" descr="box.png"/>
          <p:cNvPicPr>
            <a:picLocks noChangeAspect="1"/>
          </p:cNvPicPr>
          <p:nvPr/>
        </p:nvPicPr>
        <p:blipFill>
          <a:blip r:embed="rId5"/>
          <a:stretch>
            <a:fillRect/>
          </a:stretch>
        </p:blipFill>
        <p:spPr>
          <a:xfrm>
            <a:off x="9326880" y="6583680"/>
            <a:ext cx="502920" cy="502920"/>
          </a:xfrm>
          <a:prstGeom prst="rect">
            <a:avLst/>
          </a:prstGeom>
        </p:spPr>
      </p:pic>
      <p:sp>
        <p:nvSpPr>
          <p:cNvPr id="32" name="TextBox 31"/>
          <p:cNvSpPr txBox="1"/>
          <p:nvPr/>
        </p:nvSpPr>
        <p:spPr>
          <a:xfrm>
            <a:off x="10149840" y="6537960"/>
            <a:ext cx="7589520" cy="1005840"/>
          </a:xfrm>
          <a:prstGeom prst="rect">
            <a:avLst/>
          </a:prstGeom>
          <a:noFill/>
        </p:spPr>
        <p:txBody>
          <a:bodyPr wrap="square" lIns="0" rIns="0" tIns="0" bIns="0" anchor="t">
            <a:noAutofit/>
          </a:bodyPr>
          <a:lstStyle/>
          <a:p>
            <a:pPr algn="l"/>
            <a:r>
              <a:rPr sz="2100" b="0" i="0">
                <a:solidFill>
                  <a:srgbClr val="000000"/>
                </a:solidFill>
                <a:latin typeface="Inter"/>
              </a:rPr>
              <a:t>Each application has its own pair. Don't reuse one customer's pair for another.</a:t>
            </a:r>
          </a:p>
        </p:txBody>
      </p:sp>
      <p:pic>
        <p:nvPicPr>
          <p:cNvPr id="33" name="Picture 32" descr="refresh.png"/>
          <p:cNvPicPr>
            <a:picLocks noChangeAspect="1"/>
          </p:cNvPicPr>
          <p:nvPr/>
        </p:nvPicPr>
        <p:blipFill>
          <a:blip r:embed="rId6"/>
          <a:stretch>
            <a:fillRect/>
          </a:stretch>
        </p:blipFill>
        <p:spPr>
          <a:xfrm>
            <a:off x="9326880" y="7772400"/>
            <a:ext cx="502920" cy="502920"/>
          </a:xfrm>
          <a:prstGeom prst="rect">
            <a:avLst/>
          </a:prstGeom>
        </p:spPr>
      </p:pic>
      <p:sp>
        <p:nvSpPr>
          <p:cNvPr id="34" name="TextBox 33"/>
          <p:cNvSpPr txBox="1"/>
          <p:nvPr/>
        </p:nvSpPr>
        <p:spPr>
          <a:xfrm>
            <a:off x="10149840" y="7726680"/>
            <a:ext cx="7589520" cy="1005840"/>
          </a:xfrm>
          <a:prstGeom prst="rect">
            <a:avLst/>
          </a:prstGeom>
          <a:noFill/>
        </p:spPr>
        <p:txBody>
          <a:bodyPr wrap="square" lIns="0" rIns="0" tIns="0" bIns="0" anchor="t">
            <a:noAutofit/>
          </a:bodyPr>
          <a:lstStyle/>
          <a:p>
            <a:pPr algn="l"/>
            <a:r>
              <a:rPr sz="2100" b="0" i="0">
                <a:solidFill>
                  <a:srgbClr val="000000"/>
                </a:solidFill>
                <a:latin typeface="Inter"/>
              </a:rPr>
              <a:t>Lost or leaked? Register a new application and tell Product, who can switch the old one off.</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ED"/>
        </a:solidFill>
        <a:effectLst/>
      </p:bgPr>
    </p:bg>
    <p:spTree>
      <p:nvGrpSpPr>
        <p:cNvPr id="1" name=""/>
        <p:cNvGrpSpPr/>
        <p:nvPr/>
      </p:nvGrpSpPr>
      <p:grpSpPr/>
      <p:pic>
        <p:nvPicPr>
          <p:cNvPr id="2" name="Picture 1" descr="s1_0.png"/>
          <p:cNvPicPr>
            <a:picLocks noChangeAspect="1"/>
          </p:cNvPicPr>
          <p:nvPr/>
        </p:nvPicPr>
        <p:blipFill>
          <a:blip r:embed="rId2"/>
          <a:stretch>
            <a:fillRect/>
          </a:stretch>
        </p:blipFill>
        <p:spPr>
          <a:xfrm>
            <a:off x="475488" y="594360"/>
            <a:ext cx="1655064" cy="384048"/>
          </a:xfrm>
          <a:prstGeom prst="rect">
            <a:avLst/>
          </a:prstGeom>
        </p:spPr>
      </p:pic>
      <p:sp>
        <p:nvSpPr>
          <p:cNvPr id="3" name="Rectangle 2"/>
          <p:cNvSpPr/>
          <p:nvPr/>
        </p:nvSpPr>
        <p:spPr>
          <a:xfrm>
            <a:off x="2441448" y="777240"/>
            <a:ext cx="15371064" cy="10972"/>
          </a:xfrm>
          <a:prstGeom prst="rect">
            <a:avLst/>
          </a:prstGeom>
          <a:solidFill>
            <a:srgbClr val="000000"/>
          </a:solidFill>
          <a:ln>
            <a:noFill/>
          </a:ln>
        </p:spPr>
        <p:txBody>
          <a:bodyPr rtlCol="0" anchor="ctr"/>
          <a:lstStyle/>
          <a:p>
            <a:pPr algn="ctr"/>
          </a:p>
        </p:txBody>
      </p:sp>
      <p:sp>
        <p:nvSpPr>
          <p:cNvPr id="4" name="TextBox 3"/>
          <p:cNvSpPr txBox="1"/>
          <p:nvPr/>
        </p:nvSpPr>
        <p:spPr>
          <a:xfrm>
            <a:off x="475488" y="1527048"/>
            <a:ext cx="10972800" cy="365760"/>
          </a:xfrm>
          <a:prstGeom prst="rect">
            <a:avLst/>
          </a:prstGeom>
          <a:noFill/>
        </p:spPr>
        <p:txBody>
          <a:bodyPr wrap="square" lIns="0" rIns="0" tIns="0" bIns="0" anchor="t">
            <a:noAutofit/>
          </a:bodyPr>
          <a:lstStyle/>
          <a:p>
            <a:pPr algn="l"/>
            <a:r>
              <a:rPr sz="1800" b="0" i="0">
                <a:solidFill>
                  <a:srgbClr val="000000"/>
                </a:solidFill>
                <a:latin typeface="Roboto Mono"/>
              </a:rPr>
              <a:t>PART 3 · GETTING CONNECTED</a:t>
            </a:r>
          </a:p>
        </p:txBody>
      </p:sp>
      <p:sp>
        <p:nvSpPr>
          <p:cNvPr id="5" name="Title"/>
          <p:cNvSpPr txBox="1"/>
          <p:nvPr/>
        </p:nvSpPr>
        <p:spPr>
          <a:xfrm>
            <a:off x="475488" y="2011680"/>
            <a:ext cx="17337024" cy="868680"/>
          </a:xfrm>
          <a:prstGeom prst="rect">
            <a:avLst/>
          </a:prstGeom>
          <a:noFill/>
        </p:spPr>
        <p:txBody>
          <a:bodyPr wrap="square" lIns="0" rIns="0" tIns="0" bIns="0" anchor="t">
            <a:noAutofit/>
          </a:bodyPr>
          <a:lstStyle/>
          <a:p>
            <a:pPr algn="l">
              <a:lnSpc>
                <a:spcPct val="95000"/>
              </a:lnSpc>
            </a:pPr>
            <a:r>
              <a:rPr sz="4600" b="1" i="0">
                <a:solidFill>
                  <a:srgbClr val="000000"/>
                </a:solidFill>
                <a:latin typeface="Inter"/>
              </a:rPr>
              <a:t>Step 2: Calira approves the application</a:t>
            </a:r>
          </a:p>
        </p:txBody>
      </p:sp>
      <p:sp>
        <p:nvSpPr>
          <p:cNvPr id="6" name="Rectangle 5"/>
          <p:cNvSpPr/>
          <p:nvPr/>
        </p:nvSpPr>
        <p:spPr>
          <a:xfrm>
            <a:off x="475488" y="9189720"/>
            <a:ext cx="17337024" cy="10972"/>
          </a:xfrm>
          <a:prstGeom prst="rect">
            <a:avLst/>
          </a:prstGeom>
          <a:solidFill>
            <a:srgbClr val="000000"/>
          </a:solidFill>
          <a:ln>
            <a:noFill/>
          </a:ln>
        </p:spPr>
        <p:txBody>
          <a:bodyPr rtlCol="0" anchor="ctr"/>
          <a:lstStyle/>
          <a:p>
            <a:pPr algn="ctr"/>
          </a:p>
        </p:txBody>
      </p:sp>
      <p:sp>
        <p:nvSpPr>
          <p:cNvPr id="7" name="TextBox 6"/>
          <p:cNvSpPr txBox="1"/>
          <p:nvPr/>
        </p:nvSpPr>
        <p:spPr>
          <a:xfrm>
            <a:off x="475488" y="9354312"/>
            <a:ext cx="2743200" cy="338328"/>
          </a:xfrm>
          <a:prstGeom prst="rect">
            <a:avLst/>
          </a:prstGeom>
          <a:noFill/>
        </p:spPr>
        <p:txBody>
          <a:bodyPr wrap="square" lIns="0" rIns="0" tIns="0" bIns="0" anchor="t">
            <a:noAutofit/>
          </a:bodyPr>
          <a:lstStyle/>
          <a:p>
            <a:pPr algn="l"/>
            <a:r>
              <a:rPr sz="1800" b="0" i="0">
                <a:solidFill>
                  <a:srgbClr val="000000"/>
                </a:solidFill>
                <a:latin typeface="Roboto Mono"/>
              </a:rPr>
              <a:t>CALIRA.CO</a:t>
            </a:r>
          </a:p>
        </p:txBody>
      </p:sp>
      <p:sp>
        <p:nvSpPr>
          <p:cNvPr id="8" name="TextBox 7"/>
          <p:cNvSpPr txBox="1"/>
          <p:nvPr/>
        </p:nvSpPr>
        <p:spPr>
          <a:xfrm>
            <a:off x="15983712" y="9354312"/>
            <a:ext cx="1828800" cy="338328"/>
          </a:xfrm>
          <a:prstGeom prst="rect">
            <a:avLst/>
          </a:prstGeom>
          <a:noFill/>
        </p:spPr>
        <p:txBody>
          <a:bodyPr wrap="square" lIns="0" rIns="0" tIns="0" bIns="0" anchor="t">
            <a:noAutofit/>
          </a:bodyPr>
          <a:lstStyle/>
          <a:p>
            <a:pPr algn="r"/>
            <a:r>
              <a:rPr sz="1800" b="0" i="0">
                <a:solidFill>
                  <a:srgbClr val="000000"/>
                </a:solidFill>
                <a:latin typeface="Roboto Mono"/>
              </a:rPr>
              <a:t>19</a:t>
            </a:r>
          </a:p>
        </p:txBody>
      </p:sp>
      <p:sp>
        <p:nvSpPr>
          <p:cNvPr id="9" name="Oval 8"/>
          <p:cNvSpPr/>
          <p:nvPr/>
        </p:nvSpPr>
        <p:spPr>
          <a:xfrm>
            <a:off x="475488" y="3200400"/>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1</a:t>
            </a:r>
          </a:p>
        </p:txBody>
      </p:sp>
      <p:sp>
        <p:nvSpPr>
          <p:cNvPr id="10" name="TextBox 9"/>
          <p:cNvSpPr txBox="1"/>
          <p:nvPr/>
        </p:nvSpPr>
        <p:spPr>
          <a:xfrm>
            <a:off x="1161288" y="3255264"/>
            <a:ext cx="6080760" cy="804672"/>
          </a:xfrm>
          <a:prstGeom prst="rect">
            <a:avLst/>
          </a:prstGeom>
          <a:noFill/>
        </p:spPr>
        <p:txBody>
          <a:bodyPr wrap="square" lIns="0" rIns="0" tIns="0" bIns="0" anchor="t">
            <a:noAutofit/>
          </a:bodyPr>
          <a:lstStyle/>
          <a:p>
            <a:pPr algn="l"/>
            <a:r>
              <a:rPr sz="1900" b="0" i="0">
                <a:solidFill>
                  <a:srgbClr val="000000"/>
                </a:solidFill>
                <a:latin typeface="Inter"/>
              </a:rPr>
              <a:t>Open </a:t>
            </a:r>
            <a:r>
              <a:rPr sz="1900" b="1" i="0">
                <a:solidFill>
                  <a:srgbClr val="000000"/>
                </a:solidFill>
                <a:latin typeface="Inter"/>
              </a:rPr>
              <a:t>Control Room</a:t>
            </a:r>
            <a:r>
              <a:rPr sz="1900" b="0" i="0">
                <a:solidFill>
                  <a:srgbClr val="000000"/>
                </a:solidFill>
                <a:latin typeface="Inter"/>
              </a:rPr>
              <a:t>.</a:t>
            </a:r>
          </a:p>
        </p:txBody>
      </p:sp>
      <p:sp>
        <p:nvSpPr>
          <p:cNvPr id="11" name="Oval 10"/>
          <p:cNvSpPr/>
          <p:nvPr/>
        </p:nvSpPr>
        <p:spPr>
          <a:xfrm>
            <a:off x="475488" y="4096512"/>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2</a:t>
            </a:r>
          </a:p>
        </p:txBody>
      </p:sp>
      <p:sp>
        <p:nvSpPr>
          <p:cNvPr id="12" name="TextBox 11"/>
          <p:cNvSpPr txBox="1"/>
          <p:nvPr/>
        </p:nvSpPr>
        <p:spPr>
          <a:xfrm>
            <a:off x="1161288" y="4151376"/>
            <a:ext cx="6080760" cy="804672"/>
          </a:xfrm>
          <a:prstGeom prst="rect">
            <a:avLst/>
          </a:prstGeom>
          <a:noFill/>
        </p:spPr>
        <p:txBody>
          <a:bodyPr wrap="square" lIns="0" rIns="0" tIns="0" bIns="0" anchor="t">
            <a:noAutofit/>
          </a:bodyPr>
          <a:lstStyle/>
          <a:p>
            <a:pPr algn="l"/>
            <a:r>
              <a:rPr sz="1900" b="0" i="0">
                <a:solidFill>
                  <a:srgbClr val="000000"/>
                </a:solidFill>
                <a:latin typeface="Inter"/>
              </a:rPr>
              <a:t>Go to </a:t>
            </a:r>
            <a:r>
              <a:rPr sz="1900" b="1" i="0">
                <a:solidFill>
                  <a:srgbClr val="000000"/>
                </a:solidFill>
                <a:latin typeface="Inter"/>
              </a:rPr>
              <a:t>External API</a:t>
            </a:r>
            <a:r>
              <a:rPr sz="1900" b="0" i="0">
                <a:solidFill>
                  <a:srgbClr val="000000"/>
                </a:solidFill>
                <a:latin typeface="Inter"/>
              </a:rPr>
              <a:t>, then </a:t>
            </a:r>
            <a:r>
              <a:rPr sz="1900" b="1" i="0">
                <a:solidFill>
                  <a:srgbClr val="000000"/>
                </a:solidFill>
                <a:latin typeface="Inter"/>
              </a:rPr>
              <a:t>Applications</a:t>
            </a:r>
            <a:r>
              <a:rPr sz="1900" b="0" i="0">
                <a:solidFill>
                  <a:srgbClr val="000000"/>
                </a:solidFill>
                <a:latin typeface="Inter"/>
              </a:rPr>
              <a:t>.</a:t>
            </a:r>
          </a:p>
        </p:txBody>
      </p:sp>
      <p:sp>
        <p:nvSpPr>
          <p:cNvPr id="13" name="Oval 12"/>
          <p:cNvSpPr/>
          <p:nvPr/>
        </p:nvSpPr>
        <p:spPr>
          <a:xfrm>
            <a:off x="475488" y="4992624"/>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3</a:t>
            </a:r>
          </a:p>
        </p:txBody>
      </p:sp>
      <p:sp>
        <p:nvSpPr>
          <p:cNvPr id="14" name="TextBox 13"/>
          <p:cNvSpPr txBox="1"/>
          <p:nvPr/>
        </p:nvSpPr>
        <p:spPr>
          <a:xfrm>
            <a:off x="1161288" y="5047488"/>
            <a:ext cx="6080760" cy="804672"/>
          </a:xfrm>
          <a:prstGeom prst="rect">
            <a:avLst/>
          </a:prstGeom>
          <a:noFill/>
        </p:spPr>
        <p:txBody>
          <a:bodyPr wrap="square" lIns="0" rIns="0" tIns="0" bIns="0" anchor="t">
            <a:noAutofit/>
          </a:bodyPr>
          <a:lstStyle/>
          <a:p>
            <a:pPr algn="l"/>
            <a:r>
              <a:rPr sz="1900" b="0" i="0">
                <a:solidFill>
                  <a:srgbClr val="000000"/>
                </a:solidFill>
                <a:latin typeface="Inter"/>
              </a:rPr>
              <a:t>Click the </a:t>
            </a:r>
            <a:r>
              <a:rPr sz="1900" b="1" i="0">
                <a:solidFill>
                  <a:srgbClr val="000000"/>
                </a:solidFill>
                <a:latin typeface="Inter"/>
              </a:rPr>
              <a:t>Unapproved</a:t>
            </a:r>
            <a:r>
              <a:rPr sz="1900" b="0" i="0">
                <a:solidFill>
                  <a:srgbClr val="000000"/>
                </a:solidFill>
                <a:latin typeface="Inter"/>
              </a:rPr>
              <a:t> tab and find the application.</a:t>
            </a:r>
          </a:p>
        </p:txBody>
      </p:sp>
      <p:sp>
        <p:nvSpPr>
          <p:cNvPr id="15" name="Oval 14"/>
          <p:cNvSpPr/>
          <p:nvPr/>
        </p:nvSpPr>
        <p:spPr>
          <a:xfrm>
            <a:off x="475488" y="5888736"/>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4</a:t>
            </a:r>
          </a:p>
        </p:txBody>
      </p:sp>
      <p:sp>
        <p:nvSpPr>
          <p:cNvPr id="16" name="TextBox 15"/>
          <p:cNvSpPr txBox="1"/>
          <p:nvPr/>
        </p:nvSpPr>
        <p:spPr>
          <a:xfrm>
            <a:off x="1161288" y="5943599"/>
            <a:ext cx="6080760" cy="804672"/>
          </a:xfrm>
          <a:prstGeom prst="rect">
            <a:avLst/>
          </a:prstGeom>
          <a:noFill/>
        </p:spPr>
        <p:txBody>
          <a:bodyPr wrap="square" lIns="0" rIns="0" tIns="0" bIns="0" anchor="t">
            <a:noAutofit/>
          </a:bodyPr>
          <a:lstStyle/>
          <a:p>
            <a:pPr algn="l"/>
            <a:r>
              <a:rPr sz="1900" b="0" i="0">
                <a:solidFill>
                  <a:srgbClr val="000000"/>
                </a:solidFill>
                <a:latin typeface="Inter"/>
              </a:rPr>
              <a:t>Check the </a:t>
            </a:r>
            <a:r>
              <a:rPr sz="1900" b="1" i="0">
                <a:solidFill>
                  <a:srgbClr val="000000"/>
                </a:solidFill>
                <a:latin typeface="Inter"/>
              </a:rPr>
              <a:t>owner, company and permissions</a:t>
            </a:r>
            <a:r>
              <a:rPr sz="1900" b="0" i="0">
                <a:solidFill>
                  <a:srgbClr val="000000"/>
                </a:solidFill>
                <a:latin typeface="Inter"/>
              </a:rPr>
              <a:t> match the customer.</a:t>
            </a:r>
          </a:p>
        </p:txBody>
      </p:sp>
      <p:sp>
        <p:nvSpPr>
          <p:cNvPr id="17" name="Oval 16"/>
          <p:cNvSpPr/>
          <p:nvPr/>
        </p:nvSpPr>
        <p:spPr>
          <a:xfrm>
            <a:off x="475488" y="6784848"/>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5</a:t>
            </a:r>
          </a:p>
        </p:txBody>
      </p:sp>
      <p:sp>
        <p:nvSpPr>
          <p:cNvPr id="18" name="TextBox 17"/>
          <p:cNvSpPr txBox="1"/>
          <p:nvPr/>
        </p:nvSpPr>
        <p:spPr>
          <a:xfrm>
            <a:off x="1161288" y="6839712"/>
            <a:ext cx="6080760" cy="804672"/>
          </a:xfrm>
          <a:prstGeom prst="rect">
            <a:avLst/>
          </a:prstGeom>
          <a:noFill/>
        </p:spPr>
        <p:txBody>
          <a:bodyPr wrap="square" lIns="0" rIns="0" tIns="0" bIns="0" anchor="t">
            <a:noAutofit/>
          </a:bodyPr>
          <a:lstStyle/>
          <a:p>
            <a:pPr algn="l"/>
            <a:r>
              <a:rPr sz="1900" b="0" i="0">
                <a:solidFill>
                  <a:srgbClr val="000000"/>
                </a:solidFill>
                <a:latin typeface="Inter"/>
              </a:rPr>
              <a:t>Open </a:t>
            </a:r>
            <a:r>
              <a:rPr sz="1900" b="1" i="0">
                <a:solidFill>
                  <a:srgbClr val="000000"/>
                </a:solidFill>
                <a:latin typeface="Inter"/>
              </a:rPr>
              <a:t>Actions</a:t>
            </a:r>
            <a:r>
              <a:rPr sz="1900" b="0" i="0">
                <a:solidFill>
                  <a:srgbClr val="000000"/>
                </a:solidFill>
                <a:latin typeface="Inter"/>
              </a:rPr>
              <a:t> on that row and click </a:t>
            </a:r>
            <a:r>
              <a:rPr sz="1900" b="1" i="0">
                <a:solidFill>
                  <a:srgbClr val="000000"/>
                </a:solidFill>
                <a:latin typeface="Inter"/>
              </a:rPr>
              <a:t>Approve</a:t>
            </a:r>
            <a:r>
              <a:rPr sz="1900" b="0" i="0">
                <a:solidFill>
                  <a:srgbClr val="000000"/>
                </a:solidFill>
                <a:latin typeface="Inter"/>
              </a:rPr>
              <a:t>.</a:t>
            </a:r>
          </a:p>
        </p:txBody>
      </p:sp>
      <p:sp>
        <p:nvSpPr>
          <p:cNvPr id="19" name="Rectangle 18"/>
          <p:cNvSpPr/>
          <p:nvPr/>
        </p:nvSpPr>
        <p:spPr>
          <a:xfrm>
            <a:off x="475488" y="7726679"/>
            <a:ext cx="6858000" cy="1188720"/>
          </a:xfrm>
          <a:prstGeom prst="rect">
            <a:avLst/>
          </a:prstGeom>
          <a:solidFill>
            <a:srgbClr val="FFFFFF"/>
          </a:solidFill>
          <a:ln w="12700">
            <a:solidFill>
              <a:srgbClr val="000000"/>
            </a:solidFill>
          </a:ln>
        </p:spPr>
        <p:txBody>
          <a:bodyPr rtlCol="0" anchor="ctr"/>
          <a:lstStyle/>
          <a:p>
            <a:pPr algn="ctr"/>
          </a:p>
        </p:txBody>
      </p:sp>
      <p:sp>
        <p:nvSpPr>
          <p:cNvPr id="20" name="TextBox 19"/>
          <p:cNvSpPr txBox="1"/>
          <p:nvPr/>
        </p:nvSpPr>
        <p:spPr>
          <a:xfrm>
            <a:off x="749808" y="7726679"/>
            <a:ext cx="6400800" cy="1188720"/>
          </a:xfrm>
          <a:prstGeom prst="rect">
            <a:avLst/>
          </a:prstGeom>
          <a:noFill/>
        </p:spPr>
        <p:txBody>
          <a:bodyPr wrap="square" lIns="0" rIns="0" tIns="0" bIns="0" anchor="ctr">
            <a:noAutofit/>
          </a:bodyPr>
          <a:lstStyle/>
          <a:p>
            <a:pPr algn="l"/>
            <a:r>
              <a:rPr sz="1700" b="0" i="0">
                <a:solidFill>
                  <a:srgbClr val="000000"/>
                </a:solidFill>
                <a:latin typeface="Inter"/>
              </a:rPr>
              <a:t>Until approved, every call fails with </a:t>
            </a:r>
            <a:r>
              <a:rPr sz="1700" b="1" i="0">
                <a:solidFill>
                  <a:srgbClr val="000000"/>
                </a:solidFill>
                <a:latin typeface="Inter"/>
              </a:rPr>
              <a:t>403 unapproved_application</a:t>
            </a:r>
            <a:r>
              <a:rPr sz="1700" b="0" i="0">
                <a:solidFill>
                  <a:srgbClr val="000000"/>
                </a:solidFill>
                <a:latin typeface="Inter"/>
              </a:rPr>
              <a:t>. </a:t>
            </a:r>
            <a:r>
              <a:rPr sz="1700" b="1" i="0">
                <a:solidFill>
                  <a:srgbClr val="000000"/>
                </a:solidFill>
                <a:latin typeface="Inter"/>
              </a:rPr>
              <a:t>Revoke</a:t>
            </a:r>
            <a:r>
              <a:rPr sz="1700" b="0" i="0">
                <a:solidFill>
                  <a:srgbClr val="000000"/>
                </a:solidFill>
                <a:latin typeface="Inter"/>
              </a:rPr>
              <a:t> switches it off. Leave </a:t>
            </a:r>
            <a:r>
              <a:rPr sz="1700" b="1" i="0">
                <a:solidFill>
                  <a:srgbClr val="000000"/>
                </a:solidFill>
                <a:latin typeface="Inter"/>
              </a:rPr>
              <a:t>Publish</a:t>
            </a:r>
            <a:r>
              <a:rPr sz="1700" b="0" i="0">
                <a:solidFill>
                  <a:srgbClr val="000000"/>
                </a:solidFill>
                <a:latin typeface="Inter"/>
              </a:rPr>
              <a:t> alone unless Product says otherwise.</a:t>
            </a:r>
          </a:p>
        </p:txBody>
      </p:sp>
      <p:sp>
        <p:nvSpPr>
          <p:cNvPr id="21" name="Rounded Rectangle 20"/>
          <p:cNvSpPr/>
          <p:nvPr/>
        </p:nvSpPr>
        <p:spPr>
          <a:xfrm>
            <a:off x="7589520" y="3154680"/>
            <a:ext cx="10222992" cy="5760720"/>
          </a:xfrm>
          <a:prstGeom prst="roundRect">
            <a:avLst>
              <a:gd name="adj" fmla="val 2000"/>
            </a:avLst>
          </a:prstGeom>
          <a:solidFill>
            <a:srgbClr val="FFFFFF"/>
          </a:solidFill>
          <a:ln w="15875">
            <a:solidFill>
              <a:srgbClr val="000000"/>
            </a:solidFill>
          </a:ln>
        </p:spPr>
        <p:txBody>
          <a:bodyPr rtlCol="0" anchor="ctr"/>
          <a:lstStyle/>
          <a:p>
            <a:pPr algn="ctr"/>
          </a:p>
        </p:txBody>
      </p:sp>
      <p:sp>
        <p:nvSpPr>
          <p:cNvPr id="22" name="Rectangle 21"/>
          <p:cNvSpPr/>
          <p:nvPr/>
        </p:nvSpPr>
        <p:spPr>
          <a:xfrm>
            <a:off x="7589520" y="3154680"/>
            <a:ext cx="10222992" cy="457200"/>
          </a:xfrm>
          <a:prstGeom prst="rect">
            <a:avLst/>
          </a:prstGeom>
          <a:solidFill>
            <a:srgbClr val="F1F1E6"/>
          </a:solidFill>
          <a:ln>
            <a:noFill/>
          </a:ln>
        </p:spPr>
        <p:txBody>
          <a:bodyPr rtlCol="0" anchor="ctr"/>
          <a:lstStyle/>
          <a:p>
            <a:pPr algn="ctr"/>
          </a:p>
        </p:txBody>
      </p:sp>
      <p:sp>
        <p:nvSpPr>
          <p:cNvPr id="23" name="Rectangle 22"/>
          <p:cNvSpPr/>
          <p:nvPr/>
        </p:nvSpPr>
        <p:spPr>
          <a:xfrm>
            <a:off x="7589520" y="3611880"/>
            <a:ext cx="10222992" cy="9144"/>
          </a:xfrm>
          <a:prstGeom prst="rect">
            <a:avLst/>
          </a:prstGeom>
          <a:solidFill>
            <a:srgbClr val="000000"/>
          </a:solidFill>
          <a:ln>
            <a:noFill/>
          </a:ln>
        </p:spPr>
        <p:txBody>
          <a:bodyPr rtlCol="0" anchor="ctr"/>
          <a:lstStyle/>
          <a:p>
            <a:pPr algn="ctr"/>
          </a:p>
        </p:txBody>
      </p:sp>
      <p:sp>
        <p:nvSpPr>
          <p:cNvPr id="24" name="Oval 23"/>
          <p:cNvSpPr/>
          <p:nvPr/>
        </p:nvSpPr>
        <p:spPr>
          <a:xfrm>
            <a:off x="7790688" y="3319272"/>
            <a:ext cx="128016" cy="128016"/>
          </a:xfrm>
          <a:prstGeom prst="ellipse">
            <a:avLst/>
          </a:prstGeom>
          <a:solidFill>
            <a:srgbClr val="D9D9CC"/>
          </a:solidFill>
          <a:ln>
            <a:noFill/>
          </a:ln>
        </p:spPr>
        <p:txBody>
          <a:bodyPr rtlCol="0" anchor="ctr"/>
          <a:lstStyle/>
          <a:p>
            <a:pPr algn="ctr"/>
          </a:p>
        </p:txBody>
      </p:sp>
      <p:sp>
        <p:nvSpPr>
          <p:cNvPr id="25" name="Oval 24"/>
          <p:cNvSpPr/>
          <p:nvPr/>
        </p:nvSpPr>
        <p:spPr>
          <a:xfrm>
            <a:off x="8028432" y="3319272"/>
            <a:ext cx="128016" cy="128016"/>
          </a:xfrm>
          <a:prstGeom prst="ellipse">
            <a:avLst/>
          </a:prstGeom>
          <a:solidFill>
            <a:srgbClr val="D9D9CC"/>
          </a:solidFill>
          <a:ln>
            <a:noFill/>
          </a:ln>
        </p:spPr>
        <p:txBody>
          <a:bodyPr rtlCol="0" anchor="ctr"/>
          <a:lstStyle/>
          <a:p>
            <a:pPr algn="ctr"/>
          </a:p>
        </p:txBody>
      </p:sp>
      <p:sp>
        <p:nvSpPr>
          <p:cNvPr id="26" name="Oval 25"/>
          <p:cNvSpPr/>
          <p:nvPr/>
        </p:nvSpPr>
        <p:spPr>
          <a:xfrm>
            <a:off x="8266176" y="3319272"/>
            <a:ext cx="128016" cy="128016"/>
          </a:xfrm>
          <a:prstGeom prst="ellipse">
            <a:avLst/>
          </a:prstGeom>
          <a:solidFill>
            <a:srgbClr val="D9D9CC"/>
          </a:solidFill>
          <a:ln>
            <a:noFill/>
          </a:ln>
        </p:spPr>
        <p:txBody>
          <a:bodyPr rtlCol="0" anchor="ctr"/>
          <a:lstStyle/>
          <a:p>
            <a:pPr algn="ctr"/>
          </a:p>
        </p:txBody>
      </p:sp>
      <p:sp>
        <p:nvSpPr>
          <p:cNvPr id="27" name="TextBox 26"/>
          <p:cNvSpPr txBox="1"/>
          <p:nvPr/>
        </p:nvSpPr>
        <p:spPr>
          <a:xfrm>
            <a:off x="8686800" y="3246120"/>
            <a:ext cx="8942832" cy="274320"/>
          </a:xfrm>
          <a:prstGeom prst="rect">
            <a:avLst/>
          </a:prstGeom>
          <a:noFill/>
        </p:spPr>
        <p:txBody>
          <a:bodyPr wrap="none" lIns="0" rIns="0" tIns="0" bIns="0" anchor="ctr">
            <a:noAutofit/>
          </a:bodyPr>
          <a:lstStyle/>
          <a:p>
            <a:pPr algn="l"/>
            <a:r>
              <a:rPr sz="1600" b="0" i="0">
                <a:solidFill>
                  <a:srgbClr val="5A574F"/>
                </a:solidFill>
                <a:latin typeface="Roboto Mono"/>
              </a:rPr>
              <a:t>Control Room</a:t>
            </a:r>
          </a:p>
        </p:txBody>
      </p:sp>
      <p:sp>
        <p:nvSpPr>
          <p:cNvPr id="28" name="TextBox 27"/>
          <p:cNvSpPr txBox="1"/>
          <p:nvPr/>
        </p:nvSpPr>
        <p:spPr>
          <a:xfrm>
            <a:off x="7863840" y="3794760"/>
            <a:ext cx="9144000" cy="365760"/>
          </a:xfrm>
          <a:prstGeom prst="rect">
            <a:avLst/>
          </a:prstGeom>
          <a:noFill/>
        </p:spPr>
        <p:txBody>
          <a:bodyPr wrap="square" lIns="0" rIns="0" tIns="0" bIns="0" anchor="t">
            <a:noAutofit/>
          </a:bodyPr>
          <a:lstStyle/>
          <a:p>
            <a:pPr algn="l"/>
            <a:r>
              <a:rPr sz="1600" b="0" i="0">
                <a:solidFill>
                  <a:srgbClr val="5A574F"/>
                </a:solidFill>
                <a:latin typeface="Roboto Mono"/>
              </a:rPr>
              <a:t>EXTERNAL API  ›  APPLICATIONS</a:t>
            </a:r>
          </a:p>
        </p:txBody>
      </p:sp>
      <p:sp>
        <p:nvSpPr>
          <p:cNvPr id="29" name="Rounded Rectangle 28"/>
          <p:cNvSpPr/>
          <p:nvPr/>
        </p:nvSpPr>
        <p:spPr>
          <a:xfrm>
            <a:off x="7863840" y="4297680"/>
            <a:ext cx="1444752" cy="457200"/>
          </a:xfrm>
          <a:prstGeom prst="roundRect">
            <a:avLst>
              <a:gd name="adj" fmla="val 40000"/>
            </a:avLst>
          </a:prstGeom>
          <a:solidFill>
            <a:srgbClr val="FFFFFF"/>
          </a:solidFill>
          <a:ln w="12700">
            <a:solidFill>
              <a:srgbClr val="000000"/>
            </a:solidFill>
          </a:ln>
        </p:spPr>
        <p:txBody>
          <a:bodyPr rtlCol="0" anchor="ctr" wrap="none" lIns="0" rIns="0" tIns="0" bIns="0">
            <a:noAutofit/>
          </a:bodyPr>
          <a:lstStyle/>
          <a:p>
            <a:pPr algn="ctr"/>
            <a:r>
              <a:rPr sz="1600" b="0" i="0">
                <a:solidFill>
                  <a:srgbClr val="000000"/>
                </a:solidFill>
                <a:latin typeface="Inter"/>
              </a:rPr>
              <a:t>All (12)</a:t>
            </a:r>
          </a:p>
        </p:txBody>
      </p:sp>
      <p:sp>
        <p:nvSpPr>
          <p:cNvPr id="30" name="Rounded Rectangle 29"/>
          <p:cNvSpPr/>
          <p:nvPr/>
        </p:nvSpPr>
        <p:spPr>
          <a:xfrm>
            <a:off x="9445752" y="4297680"/>
            <a:ext cx="2029967" cy="457200"/>
          </a:xfrm>
          <a:prstGeom prst="roundRect">
            <a:avLst>
              <a:gd name="adj" fmla="val 40000"/>
            </a:avLst>
          </a:prstGeom>
          <a:solidFill>
            <a:srgbClr val="FFFFFF"/>
          </a:solidFill>
          <a:ln w="12700">
            <a:solidFill>
              <a:srgbClr val="000000"/>
            </a:solidFill>
          </a:ln>
        </p:spPr>
        <p:txBody>
          <a:bodyPr rtlCol="0" anchor="ctr" wrap="none" lIns="0" rIns="0" tIns="0" bIns="0">
            <a:noAutofit/>
          </a:bodyPr>
          <a:lstStyle/>
          <a:p>
            <a:pPr algn="ctr"/>
            <a:r>
              <a:rPr sz="1600" b="0" i="0">
                <a:solidFill>
                  <a:srgbClr val="000000"/>
                </a:solidFill>
                <a:latin typeface="Inter"/>
              </a:rPr>
              <a:t>Approved (9)</a:t>
            </a:r>
          </a:p>
        </p:txBody>
      </p:sp>
      <p:sp>
        <p:nvSpPr>
          <p:cNvPr id="31" name="Rounded Rectangle 30"/>
          <p:cNvSpPr/>
          <p:nvPr/>
        </p:nvSpPr>
        <p:spPr>
          <a:xfrm>
            <a:off x="11612880" y="4297680"/>
            <a:ext cx="2322576" cy="457200"/>
          </a:xfrm>
          <a:prstGeom prst="roundRect">
            <a:avLst>
              <a:gd name="adj" fmla="val 40000"/>
            </a:avLst>
          </a:prstGeom>
          <a:solidFill>
            <a:srgbClr val="E8FC2E"/>
          </a:solidFill>
          <a:ln w="12700">
            <a:solidFill>
              <a:srgbClr val="000000"/>
            </a:solidFill>
          </a:ln>
        </p:spPr>
        <p:txBody>
          <a:bodyPr rtlCol="0" anchor="ctr" wrap="none" lIns="0" rIns="0" tIns="0" bIns="0">
            <a:noAutofit/>
          </a:bodyPr>
          <a:lstStyle/>
          <a:p>
            <a:pPr algn="ctr"/>
            <a:r>
              <a:rPr sz="1600" b="1" i="0">
                <a:solidFill>
                  <a:srgbClr val="000000"/>
                </a:solidFill>
                <a:latin typeface="Inter"/>
              </a:rPr>
              <a:t>Unapproved (3)</a:t>
            </a:r>
          </a:p>
        </p:txBody>
      </p:sp>
      <p:sp>
        <p:nvSpPr>
          <p:cNvPr id="32" name="TextBox 31"/>
          <p:cNvSpPr txBox="1"/>
          <p:nvPr/>
        </p:nvSpPr>
        <p:spPr>
          <a:xfrm>
            <a:off x="7863840" y="5029200"/>
            <a:ext cx="2743200" cy="320040"/>
          </a:xfrm>
          <a:prstGeom prst="rect">
            <a:avLst/>
          </a:prstGeom>
          <a:noFill/>
        </p:spPr>
        <p:txBody>
          <a:bodyPr wrap="square" lIns="0" rIns="0" tIns="0" bIns="0" anchor="t">
            <a:noAutofit/>
          </a:bodyPr>
          <a:lstStyle/>
          <a:p>
            <a:pPr algn="l"/>
            <a:r>
              <a:rPr sz="1400" b="0" i="0">
                <a:solidFill>
                  <a:srgbClr val="5A574F"/>
                </a:solidFill>
                <a:latin typeface="Roboto Mono"/>
              </a:rPr>
              <a:t>ID</a:t>
            </a:r>
          </a:p>
        </p:txBody>
      </p:sp>
      <p:sp>
        <p:nvSpPr>
          <p:cNvPr id="33" name="TextBox 32"/>
          <p:cNvSpPr txBox="1"/>
          <p:nvPr/>
        </p:nvSpPr>
        <p:spPr>
          <a:xfrm>
            <a:off x="8595360" y="5029200"/>
            <a:ext cx="2743200" cy="320040"/>
          </a:xfrm>
          <a:prstGeom prst="rect">
            <a:avLst/>
          </a:prstGeom>
          <a:noFill/>
        </p:spPr>
        <p:txBody>
          <a:bodyPr wrap="square" lIns="0" rIns="0" tIns="0" bIns="0" anchor="t">
            <a:noAutofit/>
          </a:bodyPr>
          <a:lstStyle/>
          <a:p>
            <a:pPr algn="l"/>
            <a:r>
              <a:rPr sz="1400" b="0" i="0">
                <a:solidFill>
                  <a:srgbClr val="5A574F"/>
                </a:solidFill>
                <a:latin typeface="Roboto Mono"/>
              </a:rPr>
              <a:t>NAME</a:t>
            </a:r>
          </a:p>
        </p:txBody>
      </p:sp>
      <p:sp>
        <p:nvSpPr>
          <p:cNvPr id="34" name="TextBox 33"/>
          <p:cNvSpPr txBox="1"/>
          <p:nvPr/>
        </p:nvSpPr>
        <p:spPr>
          <a:xfrm>
            <a:off x="11338560" y="5029200"/>
            <a:ext cx="2743200" cy="320040"/>
          </a:xfrm>
          <a:prstGeom prst="rect">
            <a:avLst/>
          </a:prstGeom>
          <a:noFill/>
        </p:spPr>
        <p:txBody>
          <a:bodyPr wrap="square" lIns="0" rIns="0" tIns="0" bIns="0" anchor="t">
            <a:noAutofit/>
          </a:bodyPr>
          <a:lstStyle/>
          <a:p>
            <a:pPr algn="l"/>
            <a:r>
              <a:rPr sz="1400" b="0" i="0">
                <a:solidFill>
                  <a:srgbClr val="5A574F"/>
                </a:solidFill>
                <a:latin typeface="Roboto Mono"/>
              </a:rPr>
              <a:t>OWNER</a:t>
            </a:r>
          </a:p>
        </p:txBody>
      </p:sp>
      <p:sp>
        <p:nvSpPr>
          <p:cNvPr id="35" name="TextBox 34"/>
          <p:cNvSpPr txBox="1"/>
          <p:nvPr/>
        </p:nvSpPr>
        <p:spPr>
          <a:xfrm>
            <a:off x="13990320" y="5029200"/>
            <a:ext cx="2743200" cy="320040"/>
          </a:xfrm>
          <a:prstGeom prst="rect">
            <a:avLst/>
          </a:prstGeom>
          <a:noFill/>
        </p:spPr>
        <p:txBody>
          <a:bodyPr wrap="square" lIns="0" rIns="0" tIns="0" bIns="0" anchor="t">
            <a:noAutofit/>
          </a:bodyPr>
          <a:lstStyle/>
          <a:p>
            <a:pPr algn="l"/>
            <a:r>
              <a:rPr sz="1400" b="0" i="0">
                <a:solidFill>
                  <a:srgbClr val="5A574F"/>
                </a:solidFill>
                <a:latin typeface="Roboto Mono"/>
              </a:rPr>
              <a:t>COMPANY</a:t>
            </a:r>
          </a:p>
        </p:txBody>
      </p:sp>
      <p:sp>
        <p:nvSpPr>
          <p:cNvPr id="36" name="TextBox 35"/>
          <p:cNvSpPr txBox="1"/>
          <p:nvPr/>
        </p:nvSpPr>
        <p:spPr>
          <a:xfrm>
            <a:off x="16184880" y="5029200"/>
            <a:ext cx="2084831" cy="320040"/>
          </a:xfrm>
          <a:prstGeom prst="rect">
            <a:avLst/>
          </a:prstGeom>
          <a:noFill/>
        </p:spPr>
        <p:txBody>
          <a:bodyPr wrap="square" lIns="0" rIns="0" tIns="0" bIns="0" anchor="t">
            <a:noAutofit/>
          </a:bodyPr>
          <a:lstStyle/>
          <a:p>
            <a:pPr algn="l"/>
            <a:r>
              <a:rPr sz="1400" b="0" i="0">
                <a:solidFill>
                  <a:srgbClr val="5A574F"/>
                </a:solidFill>
                <a:latin typeface="Roboto Mono"/>
              </a:rPr>
              <a:t/>
            </a:r>
          </a:p>
        </p:txBody>
      </p:sp>
      <p:sp>
        <p:nvSpPr>
          <p:cNvPr id="37" name="Rectangle 36"/>
          <p:cNvSpPr/>
          <p:nvPr/>
        </p:nvSpPr>
        <p:spPr>
          <a:xfrm>
            <a:off x="7772400" y="5394960"/>
            <a:ext cx="9857232" cy="10972"/>
          </a:xfrm>
          <a:prstGeom prst="rect">
            <a:avLst/>
          </a:prstGeom>
          <a:solidFill>
            <a:srgbClr val="000000"/>
          </a:solidFill>
          <a:ln>
            <a:noFill/>
          </a:ln>
        </p:spPr>
        <p:txBody>
          <a:bodyPr rtlCol="0" anchor="ctr"/>
          <a:lstStyle/>
          <a:p>
            <a:pPr algn="ctr"/>
          </a:p>
        </p:txBody>
      </p:sp>
      <p:sp>
        <p:nvSpPr>
          <p:cNvPr id="38" name="Rectangle 37"/>
          <p:cNvSpPr/>
          <p:nvPr/>
        </p:nvSpPr>
        <p:spPr>
          <a:xfrm>
            <a:off x="7772400" y="5486400"/>
            <a:ext cx="9857232" cy="685800"/>
          </a:xfrm>
          <a:prstGeom prst="rect">
            <a:avLst/>
          </a:prstGeom>
          <a:solidFill>
            <a:srgbClr val="F6FFC2"/>
          </a:solidFill>
          <a:ln>
            <a:noFill/>
          </a:ln>
        </p:spPr>
        <p:txBody>
          <a:bodyPr rtlCol="0" anchor="ctr"/>
          <a:lstStyle/>
          <a:p>
            <a:pPr algn="ctr"/>
          </a:p>
        </p:txBody>
      </p:sp>
      <p:sp>
        <p:nvSpPr>
          <p:cNvPr id="39" name="TextBox 38"/>
          <p:cNvSpPr txBox="1"/>
          <p:nvPr/>
        </p:nvSpPr>
        <p:spPr>
          <a:xfrm>
            <a:off x="7863840" y="5532120"/>
            <a:ext cx="731520" cy="594360"/>
          </a:xfrm>
          <a:prstGeom prst="rect">
            <a:avLst/>
          </a:prstGeom>
          <a:noFill/>
        </p:spPr>
        <p:txBody>
          <a:bodyPr wrap="square" lIns="0" rIns="0" tIns="0" bIns="0" anchor="ctr">
            <a:noAutofit/>
          </a:bodyPr>
          <a:lstStyle/>
          <a:p>
            <a:pPr algn="l"/>
            <a:r>
              <a:rPr sz="1600" b="0" i="0">
                <a:solidFill>
                  <a:srgbClr val="000000"/>
                </a:solidFill>
                <a:latin typeface="Inter"/>
              </a:rPr>
              <a:t>412</a:t>
            </a:r>
          </a:p>
        </p:txBody>
      </p:sp>
      <p:sp>
        <p:nvSpPr>
          <p:cNvPr id="40" name="TextBox 39"/>
          <p:cNvSpPr txBox="1"/>
          <p:nvPr/>
        </p:nvSpPr>
        <p:spPr>
          <a:xfrm>
            <a:off x="8595360" y="5532120"/>
            <a:ext cx="2743200" cy="594360"/>
          </a:xfrm>
          <a:prstGeom prst="rect">
            <a:avLst/>
          </a:prstGeom>
          <a:noFill/>
        </p:spPr>
        <p:txBody>
          <a:bodyPr wrap="square" lIns="0" rIns="0" tIns="0" bIns="0" anchor="ctr">
            <a:noAutofit/>
          </a:bodyPr>
          <a:lstStyle/>
          <a:p>
            <a:pPr algn="l"/>
            <a:r>
              <a:rPr sz="1600" b="1" i="0">
                <a:solidFill>
                  <a:srgbClr val="000000"/>
                </a:solidFill>
                <a:latin typeface="Inter"/>
              </a:rPr>
              <a:t>Acme Labs integration</a:t>
            </a:r>
          </a:p>
        </p:txBody>
      </p:sp>
      <p:sp>
        <p:nvSpPr>
          <p:cNvPr id="41" name="TextBox 40"/>
          <p:cNvSpPr txBox="1"/>
          <p:nvPr/>
        </p:nvSpPr>
        <p:spPr>
          <a:xfrm>
            <a:off x="11338560" y="5532120"/>
            <a:ext cx="2926080" cy="594360"/>
          </a:xfrm>
          <a:prstGeom prst="rect">
            <a:avLst/>
          </a:prstGeom>
          <a:noFill/>
        </p:spPr>
        <p:txBody>
          <a:bodyPr wrap="square" lIns="0" rIns="0" tIns="0" bIns="0" anchor="ctr">
            <a:noAutofit/>
          </a:bodyPr>
          <a:lstStyle/>
          <a:p>
            <a:pPr algn="l"/>
            <a:r>
              <a:rPr sz="1600" b="0" i="0">
                <a:solidFill>
                  <a:srgbClr val="000000"/>
                </a:solidFill>
                <a:latin typeface="Inter"/>
              </a:rPr>
              <a:t>j.smith@acme.example</a:t>
            </a:r>
          </a:p>
        </p:txBody>
      </p:sp>
      <p:sp>
        <p:nvSpPr>
          <p:cNvPr id="42" name="TextBox 41"/>
          <p:cNvSpPr txBox="1"/>
          <p:nvPr/>
        </p:nvSpPr>
        <p:spPr>
          <a:xfrm>
            <a:off x="13990320" y="5532120"/>
            <a:ext cx="2011680" cy="594360"/>
          </a:xfrm>
          <a:prstGeom prst="rect">
            <a:avLst/>
          </a:prstGeom>
          <a:noFill/>
        </p:spPr>
        <p:txBody>
          <a:bodyPr wrap="square" lIns="0" rIns="0" tIns="0" bIns="0" anchor="ctr">
            <a:noAutofit/>
          </a:bodyPr>
          <a:lstStyle/>
          <a:p>
            <a:pPr algn="l"/>
            <a:r>
              <a:rPr sz="1600" b="0" i="0">
                <a:solidFill>
                  <a:srgbClr val="000000"/>
                </a:solidFill>
                <a:latin typeface="Inter"/>
              </a:rPr>
              <a:t>Acme Labs</a:t>
            </a:r>
          </a:p>
        </p:txBody>
      </p:sp>
      <p:sp>
        <p:nvSpPr>
          <p:cNvPr id="43" name="Rounded Rectangle 42"/>
          <p:cNvSpPr/>
          <p:nvPr/>
        </p:nvSpPr>
        <p:spPr>
          <a:xfrm>
            <a:off x="16184880" y="5596128"/>
            <a:ext cx="1280160" cy="457200"/>
          </a:xfrm>
          <a:prstGeom prst="roundRect">
            <a:avLst>
              <a:gd name="adj" fmla="val 30000"/>
            </a:avLst>
          </a:prstGeom>
          <a:solidFill>
            <a:srgbClr val="FFFFFF"/>
          </a:solidFill>
          <a:ln w="12700">
            <a:solidFill>
              <a:srgbClr val="000000"/>
            </a:solidFill>
          </a:ln>
        </p:spPr>
        <p:txBody>
          <a:bodyPr rtlCol="0" anchor="ctr" wrap="none" lIns="0" rIns="0" tIns="0" bIns="0">
            <a:noAutofit/>
          </a:bodyPr>
          <a:lstStyle/>
          <a:p>
            <a:pPr algn="ctr"/>
            <a:r>
              <a:rPr sz="1600" b="0" i="0">
                <a:solidFill>
                  <a:srgbClr val="000000"/>
                </a:solidFill>
                <a:latin typeface="Inter"/>
              </a:rPr>
              <a:t>Actions</a:t>
            </a:r>
          </a:p>
        </p:txBody>
      </p:sp>
      <p:sp>
        <p:nvSpPr>
          <p:cNvPr id="44" name="Rectangle 43"/>
          <p:cNvSpPr/>
          <p:nvPr/>
        </p:nvSpPr>
        <p:spPr>
          <a:xfrm>
            <a:off x="7772400" y="6172200"/>
            <a:ext cx="9857232" cy="9144"/>
          </a:xfrm>
          <a:prstGeom prst="rect">
            <a:avLst/>
          </a:prstGeom>
          <a:solidFill>
            <a:srgbClr val="D9D9CC"/>
          </a:solidFill>
          <a:ln>
            <a:noFill/>
          </a:ln>
        </p:spPr>
        <p:txBody>
          <a:bodyPr rtlCol="0" anchor="ctr"/>
          <a:lstStyle/>
          <a:p>
            <a:pPr algn="ctr"/>
          </a:p>
        </p:txBody>
      </p:sp>
      <p:sp>
        <p:nvSpPr>
          <p:cNvPr id="45" name="TextBox 44"/>
          <p:cNvSpPr txBox="1"/>
          <p:nvPr/>
        </p:nvSpPr>
        <p:spPr>
          <a:xfrm>
            <a:off x="7863840" y="6309360"/>
            <a:ext cx="731520" cy="594360"/>
          </a:xfrm>
          <a:prstGeom prst="rect">
            <a:avLst/>
          </a:prstGeom>
          <a:noFill/>
        </p:spPr>
        <p:txBody>
          <a:bodyPr wrap="square" lIns="0" rIns="0" tIns="0" bIns="0" anchor="ctr">
            <a:noAutofit/>
          </a:bodyPr>
          <a:lstStyle/>
          <a:p>
            <a:pPr algn="l"/>
            <a:r>
              <a:rPr sz="1600" b="0" i="0">
                <a:solidFill>
                  <a:srgbClr val="000000"/>
                </a:solidFill>
                <a:latin typeface="Inter"/>
              </a:rPr>
              <a:t>409</a:t>
            </a:r>
          </a:p>
        </p:txBody>
      </p:sp>
      <p:sp>
        <p:nvSpPr>
          <p:cNvPr id="46" name="TextBox 45"/>
          <p:cNvSpPr txBox="1"/>
          <p:nvPr/>
        </p:nvSpPr>
        <p:spPr>
          <a:xfrm>
            <a:off x="8595360" y="6309360"/>
            <a:ext cx="2743200" cy="594360"/>
          </a:xfrm>
          <a:prstGeom prst="rect">
            <a:avLst/>
          </a:prstGeom>
          <a:noFill/>
        </p:spPr>
        <p:txBody>
          <a:bodyPr wrap="square" lIns="0" rIns="0" tIns="0" bIns="0" anchor="ctr">
            <a:noAutofit/>
          </a:bodyPr>
          <a:lstStyle/>
          <a:p>
            <a:pPr algn="l"/>
            <a:r>
              <a:rPr sz="1600" b="0" i="0">
                <a:solidFill>
                  <a:srgbClr val="000000"/>
                </a:solidFill>
                <a:latin typeface="Inter"/>
              </a:rPr>
              <a:t>Bench Analytics sync</a:t>
            </a:r>
          </a:p>
        </p:txBody>
      </p:sp>
      <p:sp>
        <p:nvSpPr>
          <p:cNvPr id="47" name="TextBox 46"/>
          <p:cNvSpPr txBox="1"/>
          <p:nvPr/>
        </p:nvSpPr>
        <p:spPr>
          <a:xfrm>
            <a:off x="11338560" y="6309360"/>
            <a:ext cx="2926080" cy="594360"/>
          </a:xfrm>
          <a:prstGeom prst="rect">
            <a:avLst/>
          </a:prstGeom>
          <a:noFill/>
        </p:spPr>
        <p:txBody>
          <a:bodyPr wrap="square" lIns="0" rIns="0" tIns="0" bIns="0" anchor="ctr">
            <a:noAutofit/>
          </a:bodyPr>
          <a:lstStyle/>
          <a:p>
            <a:pPr algn="l"/>
            <a:r>
              <a:rPr sz="1600" b="0" i="0">
                <a:solidFill>
                  <a:srgbClr val="000000"/>
                </a:solidFill>
                <a:latin typeface="Inter"/>
              </a:rPr>
              <a:t>a.lee@bench.example</a:t>
            </a:r>
          </a:p>
        </p:txBody>
      </p:sp>
      <p:sp>
        <p:nvSpPr>
          <p:cNvPr id="48" name="TextBox 47"/>
          <p:cNvSpPr txBox="1"/>
          <p:nvPr/>
        </p:nvSpPr>
        <p:spPr>
          <a:xfrm>
            <a:off x="13990320" y="6309360"/>
            <a:ext cx="2011680" cy="594360"/>
          </a:xfrm>
          <a:prstGeom prst="rect">
            <a:avLst/>
          </a:prstGeom>
          <a:noFill/>
        </p:spPr>
        <p:txBody>
          <a:bodyPr wrap="square" lIns="0" rIns="0" tIns="0" bIns="0" anchor="ctr">
            <a:noAutofit/>
          </a:bodyPr>
          <a:lstStyle/>
          <a:p>
            <a:pPr algn="l"/>
            <a:r>
              <a:rPr sz="1600" b="0" i="0">
                <a:solidFill>
                  <a:srgbClr val="000000"/>
                </a:solidFill>
                <a:latin typeface="Inter"/>
              </a:rPr>
              <a:t>Bench Labs</a:t>
            </a:r>
          </a:p>
        </p:txBody>
      </p:sp>
      <p:sp>
        <p:nvSpPr>
          <p:cNvPr id="49" name="Rounded Rectangle 48"/>
          <p:cNvSpPr/>
          <p:nvPr/>
        </p:nvSpPr>
        <p:spPr>
          <a:xfrm>
            <a:off x="16184880" y="6373368"/>
            <a:ext cx="1280160" cy="457200"/>
          </a:xfrm>
          <a:prstGeom prst="roundRect">
            <a:avLst>
              <a:gd name="adj" fmla="val 30000"/>
            </a:avLst>
          </a:prstGeom>
          <a:solidFill>
            <a:srgbClr val="FFFFFF"/>
          </a:solidFill>
          <a:ln w="12700">
            <a:solidFill>
              <a:srgbClr val="000000"/>
            </a:solidFill>
          </a:ln>
        </p:spPr>
        <p:txBody>
          <a:bodyPr rtlCol="0" anchor="ctr" wrap="none" lIns="0" rIns="0" tIns="0" bIns="0">
            <a:noAutofit/>
          </a:bodyPr>
          <a:lstStyle/>
          <a:p>
            <a:pPr algn="ctr"/>
            <a:r>
              <a:rPr sz="1600" b="0" i="0">
                <a:solidFill>
                  <a:srgbClr val="000000"/>
                </a:solidFill>
                <a:latin typeface="Inter"/>
              </a:rPr>
              <a:t>Actions</a:t>
            </a:r>
          </a:p>
        </p:txBody>
      </p:sp>
      <p:sp>
        <p:nvSpPr>
          <p:cNvPr id="50" name="Rectangle 49"/>
          <p:cNvSpPr/>
          <p:nvPr/>
        </p:nvSpPr>
        <p:spPr>
          <a:xfrm>
            <a:off x="7772400" y="6949440"/>
            <a:ext cx="9857232" cy="9144"/>
          </a:xfrm>
          <a:prstGeom prst="rect">
            <a:avLst/>
          </a:prstGeom>
          <a:solidFill>
            <a:srgbClr val="D9D9CC"/>
          </a:solidFill>
          <a:ln>
            <a:noFill/>
          </a:ln>
        </p:spPr>
        <p:txBody>
          <a:bodyPr rtlCol="0" anchor="ctr"/>
          <a:lstStyle/>
          <a:p>
            <a:pPr algn="ctr"/>
          </a:p>
        </p:txBody>
      </p:sp>
      <p:sp>
        <p:nvSpPr>
          <p:cNvPr id="51" name="TextBox 50"/>
          <p:cNvSpPr txBox="1"/>
          <p:nvPr/>
        </p:nvSpPr>
        <p:spPr>
          <a:xfrm>
            <a:off x="7863840" y="7086600"/>
            <a:ext cx="731520" cy="594360"/>
          </a:xfrm>
          <a:prstGeom prst="rect">
            <a:avLst/>
          </a:prstGeom>
          <a:noFill/>
        </p:spPr>
        <p:txBody>
          <a:bodyPr wrap="square" lIns="0" rIns="0" tIns="0" bIns="0" anchor="ctr">
            <a:noAutofit/>
          </a:bodyPr>
          <a:lstStyle/>
          <a:p>
            <a:pPr algn="l"/>
            <a:r>
              <a:rPr sz="1600" b="0" i="0">
                <a:solidFill>
                  <a:srgbClr val="000000"/>
                </a:solidFill>
                <a:latin typeface="Inter"/>
              </a:rPr>
              <a:t>405</a:t>
            </a:r>
          </a:p>
        </p:txBody>
      </p:sp>
      <p:sp>
        <p:nvSpPr>
          <p:cNvPr id="52" name="TextBox 51"/>
          <p:cNvSpPr txBox="1"/>
          <p:nvPr/>
        </p:nvSpPr>
        <p:spPr>
          <a:xfrm>
            <a:off x="8595360" y="7086600"/>
            <a:ext cx="2743200" cy="594360"/>
          </a:xfrm>
          <a:prstGeom prst="rect">
            <a:avLst/>
          </a:prstGeom>
          <a:noFill/>
        </p:spPr>
        <p:txBody>
          <a:bodyPr wrap="square" lIns="0" rIns="0" tIns="0" bIns="0" anchor="ctr">
            <a:noAutofit/>
          </a:bodyPr>
          <a:lstStyle/>
          <a:p>
            <a:pPr algn="l"/>
            <a:r>
              <a:rPr sz="1600" b="0" i="0">
                <a:solidFill>
                  <a:srgbClr val="000000"/>
                </a:solidFill>
                <a:latin typeface="Inter"/>
              </a:rPr>
              <a:t>Reporting dashboard</a:t>
            </a:r>
          </a:p>
        </p:txBody>
      </p:sp>
      <p:sp>
        <p:nvSpPr>
          <p:cNvPr id="53" name="TextBox 52"/>
          <p:cNvSpPr txBox="1"/>
          <p:nvPr/>
        </p:nvSpPr>
        <p:spPr>
          <a:xfrm>
            <a:off x="11338560" y="7086600"/>
            <a:ext cx="2926080" cy="594360"/>
          </a:xfrm>
          <a:prstGeom prst="rect">
            <a:avLst/>
          </a:prstGeom>
          <a:noFill/>
        </p:spPr>
        <p:txBody>
          <a:bodyPr wrap="square" lIns="0" rIns="0" tIns="0" bIns="0" anchor="ctr">
            <a:noAutofit/>
          </a:bodyPr>
          <a:lstStyle/>
          <a:p>
            <a:pPr algn="l"/>
            <a:r>
              <a:rPr sz="1600" b="0" i="0">
                <a:solidFill>
                  <a:srgbClr val="000000"/>
                </a:solidFill>
                <a:latin typeface="Inter"/>
              </a:rPr>
              <a:t>m.jones@univ.example</a:t>
            </a:r>
          </a:p>
        </p:txBody>
      </p:sp>
      <p:sp>
        <p:nvSpPr>
          <p:cNvPr id="54" name="TextBox 53"/>
          <p:cNvSpPr txBox="1"/>
          <p:nvPr/>
        </p:nvSpPr>
        <p:spPr>
          <a:xfrm>
            <a:off x="13990320" y="7086600"/>
            <a:ext cx="2011680" cy="594360"/>
          </a:xfrm>
          <a:prstGeom prst="rect">
            <a:avLst/>
          </a:prstGeom>
          <a:noFill/>
        </p:spPr>
        <p:txBody>
          <a:bodyPr wrap="square" lIns="0" rIns="0" tIns="0" bIns="0" anchor="ctr">
            <a:noAutofit/>
          </a:bodyPr>
          <a:lstStyle/>
          <a:p>
            <a:pPr algn="l"/>
            <a:r>
              <a:rPr sz="1600" b="0" i="0">
                <a:solidFill>
                  <a:srgbClr val="000000"/>
                </a:solidFill>
                <a:latin typeface="Inter"/>
              </a:rPr>
              <a:t>Example Univ.</a:t>
            </a:r>
          </a:p>
        </p:txBody>
      </p:sp>
      <p:sp>
        <p:nvSpPr>
          <p:cNvPr id="55" name="Rounded Rectangle 54"/>
          <p:cNvSpPr/>
          <p:nvPr/>
        </p:nvSpPr>
        <p:spPr>
          <a:xfrm>
            <a:off x="16184880" y="7150608"/>
            <a:ext cx="1280160" cy="457200"/>
          </a:xfrm>
          <a:prstGeom prst="roundRect">
            <a:avLst>
              <a:gd name="adj" fmla="val 30000"/>
            </a:avLst>
          </a:prstGeom>
          <a:solidFill>
            <a:srgbClr val="FFFFFF"/>
          </a:solidFill>
          <a:ln w="12700">
            <a:solidFill>
              <a:srgbClr val="000000"/>
            </a:solidFill>
          </a:ln>
        </p:spPr>
        <p:txBody>
          <a:bodyPr rtlCol="0" anchor="ctr" wrap="none" lIns="0" rIns="0" tIns="0" bIns="0">
            <a:noAutofit/>
          </a:bodyPr>
          <a:lstStyle/>
          <a:p>
            <a:pPr algn="ctr"/>
            <a:r>
              <a:rPr sz="1600" b="0" i="0">
                <a:solidFill>
                  <a:srgbClr val="000000"/>
                </a:solidFill>
                <a:latin typeface="Inter"/>
              </a:rPr>
              <a:t>Actions</a:t>
            </a:r>
          </a:p>
        </p:txBody>
      </p:sp>
      <p:sp>
        <p:nvSpPr>
          <p:cNvPr id="56" name="Rectangle 55"/>
          <p:cNvSpPr/>
          <p:nvPr/>
        </p:nvSpPr>
        <p:spPr>
          <a:xfrm>
            <a:off x="7772400" y="7726680"/>
            <a:ext cx="9857232" cy="9144"/>
          </a:xfrm>
          <a:prstGeom prst="rect">
            <a:avLst/>
          </a:prstGeom>
          <a:solidFill>
            <a:srgbClr val="D9D9CC"/>
          </a:solidFill>
          <a:ln>
            <a:noFill/>
          </a:ln>
        </p:spPr>
        <p:txBody>
          <a:bodyPr rtlCol="0" anchor="ctr"/>
          <a:lstStyle/>
          <a:p>
            <a:pPr algn="ctr"/>
          </a:p>
        </p:txBody>
      </p:sp>
      <p:sp>
        <p:nvSpPr>
          <p:cNvPr id="57" name="Rectangle 56"/>
          <p:cNvSpPr/>
          <p:nvPr/>
        </p:nvSpPr>
        <p:spPr>
          <a:xfrm>
            <a:off x="15910559" y="6126480"/>
            <a:ext cx="1737360" cy="1051560"/>
          </a:xfrm>
          <a:prstGeom prst="rect">
            <a:avLst/>
          </a:prstGeom>
          <a:solidFill>
            <a:srgbClr val="FFFFFF"/>
          </a:solidFill>
          <a:ln w="15875">
            <a:solidFill>
              <a:srgbClr val="000000"/>
            </a:solidFill>
          </a:ln>
        </p:spPr>
        <p:txBody>
          <a:bodyPr rtlCol="0" anchor="ctr"/>
          <a:lstStyle/>
          <a:p>
            <a:pPr algn="ctr"/>
          </a:p>
        </p:txBody>
      </p:sp>
      <p:sp>
        <p:nvSpPr>
          <p:cNvPr id="58" name="Rectangle 57"/>
          <p:cNvSpPr/>
          <p:nvPr/>
        </p:nvSpPr>
        <p:spPr>
          <a:xfrm>
            <a:off x="15983711" y="6199632"/>
            <a:ext cx="1591056" cy="438912"/>
          </a:xfrm>
          <a:prstGeom prst="rect">
            <a:avLst/>
          </a:prstGeom>
          <a:solidFill>
            <a:srgbClr val="E8FC2E"/>
          </a:solidFill>
          <a:ln>
            <a:noFill/>
          </a:ln>
        </p:spPr>
        <p:txBody>
          <a:bodyPr rtlCol="0" anchor="ctr"/>
          <a:lstStyle/>
          <a:p>
            <a:pPr algn="ctr"/>
          </a:p>
        </p:txBody>
      </p:sp>
      <p:sp>
        <p:nvSpPr>
          <p:cNvPr id="59" name="TextBox 58"/>
          <p:cNvSpPr txBox="1"/>
          <p:nvPr/>
        </p:nvSpPr>
        <p:spPr>
          <a:xfrm>
            <a:off x="16139159" y="6199632"/>
            <a:ext cx="1371600" cy="438912"/>
          </a:xfrm>
          <a:prstGeom prst="rect">
            <a:avLst/>
          </a:prstGeom>
          <a:noFill/>
        </p:spPr>
        <p:txBody>
          <a:bodyPr wrap="square" lIns="0" rIns="0" tIns="0" bIns="0" anchor="ctr">
            <a:noAutofit/>
          </a:bodyPr>
          <a:lstStyle/>
          <a:p>
            <a:pPr algn="l"/>
            <a:r>
              <a:rPr sz="1700" b="1" i="0">
                <a:solidFill>
                  <a:srgbClr val="000000"/>
                </a:solidFill>
                <a:latin typeface="Inter"/>
              </a:rPr>
              <a:t>Approve</a:t>
            </a:r>
          </a:p>
        </p:txBody>
      </p:sp>
      <p:sp>
        <p:nvSpPr>
          <p:cNvPr id="60" name="TextBox 59"/>
          <p:cNvSpPr txBox="1"/>
          <p:nvPr/>
        </p:nvSpPr>
        <p:spPr>
          <a:xfrm>
            <a:off x="16139159" y="6675120"/>
            <a:ext cx="1371600" cy="438912"/>
          </a:xfrm>
          <a:prstGeom prst="rect">
            <a:avLst/>
          </a:prstGeom>
          <a:noFill/>
        </p:spPr>
        <p:txBody>
          <a:bodyPr wrap="square" lIns="0" rIns="0" tIns="0" bIns="0" anchor="ctr">
            <a:noAutofit/>
          </a:bodyPr>
          <a:lstStyle/>
          <a:p>
            <a:pPr algn="l"/>
            <a:r>
              <a:rPr sz="1700" b="0" i="0">
                <a:solidFill>
                  <a:srgbClr val="5A574F"/>
                </a:solidFill>
                <a:latin typeface="Inter"/>
              </a:rPr>
              <a:t>Publish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ED"/>
        </a:solidFill>
        <a:effectLst/>
      </p:bgPr>
    </p:bg>
    <p:spTree>
      <p:nvGrpSpPr>
        <p:cNvPr id="1" name=""/>
        <p:cNvGrpSpPr/>
        <p:nvPr/>
      </p:nvGrpSpPr>
      <p:grpSpPr/>
      <p:pic>
        <p:nvPicPr>
          <p:cNvPr id="2" name="Picture 1" descr="s1_0.png"/>
          <p:cNvPicPr>
            <a:picLocks noChangeAspect="1"/>
          </p:cNvPicPr>
          <p:nvPr/>
        </p:nvPicPr>
        <p:blipFill>
          <a:blip r:embed="rId2"/>
          <a:stretch>
            <a:fillRect/>
          </a:stretch>
        </p:blipFill>
        <p:spPr>
          <a:xfrm>
            <a:off x="475488" y="594360"/>
            <a:ext cx="1655064" cy="384048"/>
          </a:xfrm>
          <a:prstGeom prst="rect">
            <a:avLst/>
          </a:prstGeom>
        </p:spPr>
      </p:pic>
      <p:sp>
        <p:nvSpPr>
          <p:cNvPr id="3" name="Rectangle 2"/>
          <p:cNvSpPr/>
          <p:nvPr/>
        </p:nvSpPr>
        <p:spPr>
          <a:xfrm>
            <a:off x="2441448" y="777240"/>
            <a:ext cx="15371064" cy="10972"/>
          </a:xfrm>
          <a:prstGeom prst="rect">
            <a:avLst/>
          </a:prstGeom>
          <a:solidFill>
            <a:srgbClr val="000000"/>
          </a:solidFill>
          <a:ln>
            <a:noFill/>
          </a:ln>
        </p:spPr>
        <p:txBody>
          <a:bodyPr rtlCol="0" anchor="ctr"/>
          <a:lstStyle/>
          <a:p>
            <a:pPr algn="ctr"/>
          </a:p>
        </p:txBody>
      </p:sp>
      <p:sp>
        <p:nvSpPr>
          <p:cNvPr id="4" name="TextBox 3"/>
          <p:cNvSpPr txBox="1"/>
          <p:nvPr/>
        </p:nvSpPr>
        <p:spPr>
          <a:xfrm>
            <a:off x="475488" y="1527048"/>
            <a:ext cx="10972800" cy="365760"/>
          </a:xfrm>
          <a:prstGeom prst="rect">
            <a:avLst/>
          </a:prstGeom>
          <a:noFill/>
        </p:spPr>
        <p:txBody>
          <a:bodyPr wrap="square" lIns="0" rIns="0" tIns="0" bIns="0" anchor="t">
            <a:noAutofit/>
          </a:bodyPr>
          <a:lstStyle/>
          <a:p>
            <a:pPr algn="l"/>
            <a:r>
              <a:rPr sz="1800" b="0" i="0">
                <a:solidFill>
                  <a:srgbClr val="000000"/>
                </a:solidFill>
                <a:latin typeface="Roboto Mono"/>
              </a:rPr>
              <a:t>PART 3 · GETTING CONNECTED</a:t>
            </a:r>
          </a:p>
        </p:txBody>
      </p:sp>
      <p:sp>
        <p:nvSpPr>
          <p:cNvPr id="5" name="Title"/>
          <p:cNvSpPr txBox="1"/>
          <p:nvPr/>
        </p:nvSpPr>
        <p:spPr>
          <a:xfrm>
            <a:off x="475488" y="2011680"/>
            <a:ext cx="17337024" cy="868680"/>
          </a:xfrm>
          <a:prstGeom prst="rect">
            <a:avLst/>
          </a:prstGeom>
          <a:noFill/>
        </p:spPr>
        <p:txBody>
          <a:bodyPr wrap="square" lIns="0" rIns="0" tIns="0" bIns="0" anchor="t">
            <a:noAutofit/>
          </a:bodyPr>
          <a:lstStyle/>
          <a:p>
            <a:pPr algn="l">
              <a:lnSpc>
                <a:spcPct val="95000"/>
              </a:lnSpc>
            </a:pPr>
            <a:r>
              <a:rPr sz="4600" b="1" i="0">
                <a:solidFill>
                  <a:srgbClr val="000000"/>
                </a:solidFill>
                <a:latin typeface="Inter"/>
              </a:rPr>
              <a:t>Step 3: the customer authorises their labs</a:t>
            </a:r>
          </a:p>
        </p:txBody>
      </p:sp>
      <p:sp>
        <p:nvSpPr>
          <p:cNvPr id="6" name="Rectangle 5"/>
          <p:cNvSpPr/>
          <p:nvPr/>
        </p:nvSpPr>
        <p:spPr>
          <a:xfrm>
            <a:off x="475488" y="9189720"/>
            <a:ext cx="17337024" cy="10972"/>
          </a:xfrm>
          <a:prstGeom prst="rect">
            <a:avLst/>
          </a:prstGeom>
          <a:solidFill>
            <a:srgbClr val="000000"/>
          </a:solidFill>
          <a:ln>
            <a:noFill/>
          </a:ln>
        </p:spPr>
        <p:txBody>
          <a:bodyPr rtlCol="0" anchor="ctr"/>
          <a:lstStyle/>
          <a:p>
            <a:pPr algn="ctr"/>
          </a:p>
        </p:txBody>
      </p:sp>
      <p:sp>
        <p:nvSpPr>
          <p:cNvPr id="7" name="TextBox 6"/>
          <p:cNvSpPr txBox="1"/>
          <p:nvPr/>
        </p:nvSpPr>
        <p:spPr>
          <a:xfrm>
            <a:off x="475488" y="9354312"/>
            <a:ext cx="2743200" cy="338328"/>
          </a:xfrm>
          <a:prstGeom prst="rect">
            <a:avLst/>
          </a:prstGeom>
          <a:noFill/>
        </p:spPr>
        <p:txBody>
          <a:bodyPr wrap="square" lIns="0" rIns="0" tIns="0" bIns="0" anchor="t">
            <a:noAutofit/>
          </a:bodyPr>
          <a:lstStyle/>
          <a:p>
            <a:pPr algn="l"/>
            <a:r>
              <a:rPr sz="1800" b="0" i="0">
                <a:solidFill>
                  <a:srgbClr val="000000"/>
                </a:solidFill>
                <a:latin typeface="Roboto Mono"/>
              </a:rPr>
              <a:t>CALIRA.CO</a:t>
            </a:r>
          </a:p>
        </p:txBody>
      </p:sp>
      <p:sp>
        <p:nvSpPr>
          <p:cNvPr id="8" name="TextBox 7"/>
          <p:cNvSpPr txBox="1"/>
          <p:nvPr/>
        </p:nvSpPr>
        <p:spPr>
          <a:xfrm>
            <a:off x="15983712" y="9354312"/>
            <a:ext cx="1828800" cy="338328"/>
          </a:xfrm>
          <a:prstGeom prst="rect">
            <a:avLst/>
          </a:prstGeom>
          <a:noFill/>
        </p:spPr>
        <p:txBody>
          <a:bodyPr wrap="square" lIns="0" rIns="0" tIns="0" bIns="0" anchor="t">
            <a:noAutofit/>
          </a:bodyPr>
          <a:lstStyle/>
          <a:p>
            <a:pPr algn="r"/>
            <a:r>
              <a:rPr sz="1800" b="0" i="0">
                <a:solidFill>
                  <a:srgbClr val="000000"/>
                </a:solidFill>
                <a:latin typeface="Roboto Mono"/>
              </a:rPr>
              <a:t>20</a:t>
            </a:r>
          </a:p>
        </p:txBody>
      </p:sp>
      <p:sp>
        <p:nvSpPr>
          <p:cNvPr id="9" name="Rounded Rectangle 8"/>
          <p:cNvSpPr/>
          <p:nvPr/>
        </p:nvSpPr>
        <p:spPr>
          <a:xfrm>
            <a:off x="475488" y="3154680"/>
            <a:ext cx="7955279" cy="5760720"/>
          </a:xfrm>
          <a:prstGeom prst="roundRect">
            <a:avLst>
              <a:gd name="adj" fmla="val 2000"/>
            </a:avLst>
          </a:prstGeom>
          <a:solidFill>
            <a:srgbClr val="FFFFFF"/>
          </a:solidFill>
          <a:ln w="15875">
            <a:solidFill>
              <a:srgbClr val="000000"/>
            </a:solidFill>
          </a:ln>
        </p:spPr>
        <p:txBody>
          <a:bodyPr rtlCol="0" anchor="ctr"/>
          <a:lstStyle/>
          <a:p>
            <a:pPr algn="ctr"/>
          </a:p>
        </p:txBody>
      </p:sp>
      <p:sp>
        <p:nvSpPr>
          <p:cNvPr id="10" name="Rectangle 9"/>
          <p:cNvSpPr/>
          <p:nvPr/>
        </p:nvSpPr>
        <p:spPr>
          <a:xfrm>
            <a:off x="475488" y="3154680"/>
            <a:ext cx="7955279" cy="457200"/>
          </a:xfrm>
          <a:prstGeom prst="rect">
            <a:avLst/>
          </a:prstGeom>
          <a:solidFill>
            <a:srgbClr val="F1F1E6"/>
          </a:solidFill>
          <a:ln>
            <a:noFill/>
          </a:ln>
        </p:spPr>
        <p:txBody>
          <a:bodyPr rtlCol="0" anchor="ctr"/>
          <a:lstStyle/>
          <a:p>
            <a:pPr algn="ctr"/>
          </a:p>
        </p:txBody>
      </p:sp>
      <p:sp>
        <p:nvSpPr>
          <p:cNvPr id="11" name="Rectangle 10"/>
          <p:cNvSpPr/>
          <p:nvPr/>
        </p:nvSpPr>
        <p:spPr>
          <a:xfrm>
            <a:off x="475488" y="3611880"/>
            <a:ext cx="7955279" cy="9144"/>
          </a:xfrm>
          <a:prstGeom prst="rect">
            <a:avLst/>
          </a:prstGeom>
          <a:solidFill>
            <a:srgbClr val="000000"/>
          </a:solidFill>
          <a:ln>
            <a:noFill/>
          </a:ln>
        </p:spPr>
        <p:txBody>
          <a:bodyPr rtlCol="0" anchor="ctr"/>
          <a:lstStyle/>
          <a:p>
            <a:pPr algn="ctr"/>
          </a:p>
        </p:txBody>
      </p:sp>
      <p:sp>
        <p:nvSpPr>
          <p:cNvPr id="12" name="Oval 11"/>
          <p:cNvSpPr/>
          <p:nvPr/>
        </p:nvSpPr>
        <p:spPr>
          <a:xfrm>
            <a:off x="676656" y="3319272"/>
            <a:ext cx="128016" cy="128016"/>
          </a:xfrm>
          <a:prstGeom prst="ellipse">
            <a:avLst/>
          </a:prstGeom>
          <a:solidFill>
            <a:srgbClr val="D9D9CC"/>
          </a:solidFill>
          <a:ln>
            <a:noFill/>
          </a:ln>
        </p:spPr>
        <p:txBody>
          <a:bodyPr rtlCol="0" anchor="ctr"/>
          <a:lstStyle/>
          <a:p>
            <a:pPr algn="ctr"/>
          </a:p>
        </p:txBody>
      </p:sp>
      <p:sp>
        <p:nvSpPr>
          <p:cNvPr id="13" name="Oval 12"/>
          <p:cNvSpPr/>
          <p:nvPr/>
        </p:nvSpPr>
        <p:spPr>
          <a:xfrm>
            <a:off x="914400" y="3319272"/>
            <a:ext cx="128016" cy="128016"/>
          </a:xfrm>
          <a:prstGeom prst="ellipse">
            <a:avLst/>
          </a:prstGeom>
          <a:solidFill>
            <a:srgbClr val="D9D9CC"/>
          </a:solidFill>
          <a:ln>
            <a:noFill/>
          </a:ln>
        </p:spPr>
        <p:txBody>
          <a:bodyPr rtlCol="0" anchor="ctr"/>
          <a:lstStyle/>
          <a:p>
            <a:pPr algn="ctr"/>
          </a:p>
        </p:txBody>
      </p:sp>
      <p:sp>
        <p:nvSpPr>
          <p:cNvPr id="14" name="Oval 13"/>
          <p:cNvSpPr/>
          <p:nvPr/>
        </p:nvSpPr>
        <p:spPr>
          <a:xfrm>
            <a:off x="1152144" y="3319272"/>
            <a:ext cx="128016" cy="128016"/>
          </a:xfrm>
          <a:prstGeom prst="ellipse">
            <a:avLst/>
          </a:prstGeom>
          <a:solidFill>
            <a:srgbClr val="D9D9CC"/>
          </a:solidFill>
          <a:ln>
            <a:noFill/>
          </a:ln>
        </p:spPr>
        <p:txBody>
          <a:bodyPr rtlCol="0" anchor="ctr"/>
          <a:lstStyle/>
          <a:p>
            <a:pPr algn="ctr"/>
          </a:p>
        </p:txBody>
      </p:sp>
      <p:sp>
        <p:nvSpPr>
          <p:cNvPr id="15" name="TextBox 14"/>
          <p:cNvSpPr txBox="1"/>
          <p:nvPr/>
        </p:nvSpPr>
        <p:spPr>
          <a:xfrm>
            <a:off x="1572768" y="3246120"/>
            <a:ext cx="6675119" cy="274320"/>
          </a:xfrm>
          <a:prstGeom prst="rect">
            <a:avLst/>
          </a:prstGeom>
          <a:noFill/>
        </p:spPr>
        <p:txBody>
          <a:bodyPr wrap="none" lIns="0" rIns="0" tIns="0" bIns="0" anchor="ctr">
            <a:noAutofit/>
          </a:bodyPr>
          <a:lstStyle/>
          <a:p>
            <a:pPr algn="l"/>
            <a:r>
              <a:rPr sz="1600" b="0" i="0">
                <a:solidFill>
                  <a:srgbClr val="5A574F"/>
                </a:solidFill>
                <a:latin typeface="Roboto Mono"/>
              </a:rPr>
              <a:t>Calira · Authorisation required</a:t>
            </a:r>
          </a:p>
        </p:txBody>
      </p:sp>
      <p:pic>
        <p:nvPicPr>
          <p:cNvPr id="16" name="Picture 15" descr="plug.png"/>
          <p:cNvPicPr>
            <a:picLocks noChangeAspect="1"/>
          </p:cNvPicPr>
          <p:nvPr/>
        </p:nvPicPr>
        <p:blipFill>
          <a:blip r:embed="rId3"/>
          <a:stretch>
            <a:fillRect/>
          </a:stretch>
        </p:blipFill>
        <p:spPr>
          <a:xfrm>
            <a:off x="841248" y="3886200"/>
            <a:ext cx="548640" cy="548640"/>
          </a:xfrm>
          <a:prstGeom prst="rect">
            <a:avLst/>
          </a:prstGeom>
        </p:spPr>
      </p:pic>
      <p:sp>
        <p:nvSpPr>
          <p:cNvPr id="17" name="TextBox 16"/>
          <p:cNvSpPr txBox="1"/>
          <p:nvPr/>
        </p:nvSpPr>
        <p:spPr>
          <a:xfrm>
            <a:off x="1572768" y="3886200"/>
            <a:ext cx="6400800" cy="548640"/>
          </a:xfrm>
          <a:prstGeom prst="rect">
            <a:avLst/>
          </a:prstGeom>
          <a:noFill/>
        </p:spPr>
        <p:txBody>
          <a:bodyPr wrap="square" lIns="0" rIns="0" tIns="0" bIns="0" anchor="ctr">
            <a:noAutofit/>
          </a:bodyPr>
          <a:lstStyle/>
          <a:p>
            <a:pPr algn="l"/>
            <a:r>
              <a:rPr sz="2600" b="1" i="0">
                <a:solidFill>
                  <a:srgbClr val="000000"/>
                </a:solidFill>
                <a:latin typeface="Inter"/>
              </a:rPr>
              <a:t>Acme Labs integration</a:t>
            </a:r>
          </a:p>
        </p:txBody>
      </p:sp>
      <p:sp>
        <p:nvSpPr>
          <p:cNvPr id="18" name="TextBox 17"/>
          <p:cNvSpPr txBox="1"/>
          <p:nvPr/>
        </p:nvSpPr>
        <p:spPr>
          <a:xfrm>
            <a:off x="841248" y="4617720"/>
            <a:ext cx="7223760" cy="822960"/>
          </a:xfrm>
          <a:prstGeom prst="rect">
            <a:avLst/>
          </a:prstGeom>
          <a:noFill/>
        </p:spPr>
        <p:txBody>
          <a:bodyPr wrap="square" lIns="0" rIns="0" tIns="0" bIns="0" anchor="t">
            <a:noAutofit/>
          </a:bodyPr>
          <a:lstStyle/>
          <a:p>
            <a:pPr algn="l"/>
            <a:r>
              <a:rPr sz="1800" b="0" i="0">
                <a:solidFill>
                  <a:srgbClr val="2C2825"/>
                </a:solidFill>
                <a:latin typeface="Inter"/>
              </a:rPr>
              <a:t>wants to read your user details, accounts, equipment and bookings.</a:t>
            </a:r>
          </a:p>
        </p:txBody>
      </p:sp>
      <p:sp>
        <p:nvSpPr>
          <p:cNvPr id="19" name="TextBox 18"/>
          <p:cNvSpPr txBox="1"/>
          <p:nvPr/>
        </p:nvSpPr>
        <p:spPr>
          <a:xfrm>
            <a:off x="841248" y="5577840"/>
            <a:ext cx="5486400" cy="365760"/>
          </a:xfrm>
          <a:prstGeom prst="rect">
            <a:avLst/>
          </a:prstGeom>
          <a:noFill/>
        </p:spPr>
        <p:txBody>
          <a:bodyPr wrap="square" lIns="0" rIns="0" tIns="0" bIns="0" anchor="t">
            <a:noAutofit/>
          </a:bodyPr>
          <a:lstStyle/>
          <a:p>
            <a:pPr algn="l"/>
            <a:r>
              <a:rPr sz="1400" b="0" i="0">
                <a:solidFill>
                  <a:srgbClr val="5A574F"/>
                </a:solidFill>
                <a:latin typeface="Roboto Mono"/>
              </a:rPr>
              <a:t>PERMITTED ACCOUNTS</a:t>
            </a:r>
          </a:p>
        </p:txBody>
      </p:sp>
      <p:sp>
        <p:nvSpPr>
          <p:cNvPr id="20" name="Rectangle 19"/>
          <p:cNvSpPr/>
          <p:nvPr/>
        </p:nvSpPr>
        <p:spPr>
          <a:xfrm>
            <a:off x="841248" y="5989320"/>
            <a:ext cx="7223760" cy="475488"/>
          </a:xfrm>
          <a:prstGeom prst="rect">
            <a:avLst/>
          </a:prstGeom>
          <a:solidFill>
            <a:srgbClr val="FFFFFF"/>
          </a:solidFill>
          <a:ln w="12700">
            <a:solidFill>
              <a:srgbClr val="000000"/>
            </a:solidFill>
          </a:ln>
        </p:spPr>
        <p:txBody>
          <a:bodyPr rtlCol="0" anchor="ctr"/>
          <a:lstStyle/>
          <a:p>
            <a:pPr algn="ctr"/>
          </a:p>
        </p:txBody>
      </p:sp>
      <p:sp>
        <p:nvSpPr>
          <p:cNvPr id="21" name="Rectangle 20"/>
          <p:cNvSpPr/>
          <p:nvPr/>
        </p:nvSpPr>
        <p:spPr>
          <a:xfrm>
            <a:off x="978408" y="6080760"/>
            <a:ext cx="292608" cy="292608"/>
          </a:xfrm>
          <a:prstGeom prst="rect">
            <a:avLst/>
          </a:prstGeom>
          <a:solidFill>
            <a:srgbClr val="E8FC2E"/>
          </a:solidFill>
          <a:ln w="15875">
            <a:solidFill>
              <a:srgbClr val="000000"/>
            </a:solidFill>
          </a:ln>
        </p:spPr>
        <p:txBody>
          <a:bodyPr rtlCol="0" anchor="ctr"/>
          <a:lstStyle/>
          <a:p>
            <a:pPr algn="ctr"/>
          </a:p>
        </p:txBody>
      </p:sp>
      <p:pic>
        <p:nvPicPr>
          <p:cNvPr id="22" name="Picture 21" descr="check.png"/>
          <p:cNvPicPr>
            <a:picLocks noChangeAspect="1"/>
          </p:cNvPicPr>
          <p:nvPr/>
        </p:nvPicPr>
        <p:blipFill>
          <a:blip r:embed="rId4"/>
          <a:stretch>
            <a:fillRect/>
          </a:stretch>
        </p:blipFill>
        <p:spPr>
          <a:xfrm>
            <a:off x="1014984" y="6117336"/>
            <a:ext cx="219456" cy="219456"/>
          </a:xfrm>
          <a:prstGeom prst="rect">
            <a:avLst/>
          </a:prstGeom>
        </p:spPr>
      </p:pic>
      <p:sp>
        <p:nvSpPr>
          <p:cNvPr id="23" name="TextBox 22"/>
          <p:cNvSpPr txBox="1"/>
          <p:nvPr/>
        </p:nvSpPr>
        <p:spPr>
          <a:xfrm>
            <a:off x="1481328" y="5989320"/>
            <a:ext cx="5943600" cy="475488"/>
          </a:xfrm>
          <a:prstGeom prst="rect">
            <a:avLst/>
          </a:prstGeom>
          <a:noFill/>
        </p:spPr>
        <p:txBody>
          <a:bodyPr wrap="square" lIns="0" rIns="0" tIns="0" bIns="0" anchor="ctr">
            <a:noAutofit/>
          </a:bodyPr>
          <a:lstStyle/>
          <a:p>
            <a:pPr algn="l"/>
            <a:r>
              <a:rPr sz="1800" b="1" i="0">
                <a:solidFill>
                  <a:srgbClr val="000000"/>
                </a:solidFill>
                <a:latin typeface="Inter"/>
              </a:rPr>
              <a:t>Imaging Lab</a:t>
            </a:r>
          </a:p>
        </p:txBody>
      </p:sp>
      <p:sp>
        <p:nvSpPr>
          <p:cNvPr id="24" name="Rectangle 23"/>
          <p:cNvSpPr/>
          <p:nvPr/>
        </p:nvSpPr>
        <p:spPr>
          <a:xfrm>
            <a:off x="841248" y="6556248"/>
            <a:ext cx="7223760" cy="475488"/>
          </a:xfrm>
          <a:prstGeom prst="rect">
            <a:avLst/>
          </a:prstGeom>
          <a:solidFill>
            <a:srgbClr val="FFFFFF"/>
          </a:solidFill>
          <a:ln w="12700">
            <a:solidFill>
              <a:srgbClr val="000000"/>
            </a:solidFill>
          </a:ln>
        </p:spPr>
        <p:txBody>
          <a:bodyPr rtlCol="0" anchor="ctr"/>
          <a:lstStyle/>
          <a:p>
            <a:pPr algn="ctr"/>
          </a:p>
        </p:txBody>
      </p:sp>
      <p:sp>
        <p:nvSpPr>
          <p:cNvPr id="25" name="Rectangle 24"/>
          <p:cNvSpPr/>
          <p:nvPr/>
        </p:nvSpPr>
        <p:spPr>
          <a:xfrm>
            <a:off x="978408" y="6647688"/>
            <a:ext cx="292608" cy="292608"/>
          </a:xfrm>
          <a:prstGeom prst="rect">
            <a:avLst/>
          </a:prstGeom>
          <a:solidFill>
            <a:srgbClr val="FFFFFF"/>
          </a:solidFill>
          <a:ln w="15875">
            <a:solidFill>
              <a:srgbClr val="000000"/>
            </a:solidFill>
          </a:ln>
        </p:spPr>
        <p:txBody>
          <a:bodyPr rtlCol="0" anchor="ctr"/>
          <a:lstStyle/>
          <a:p>
            <a:pPr algn="ctr"/>
          </a:p>
        </p:txBody>
      </p:sp>
      <p:sp>
        <p:nvSpPr>
          <p:cNvPr id="26" name="TextBox 25"/>
          <p:cNvSpPr txBox="1"/>
          <p:nvPr/>
        </p:nvSpPr>
        <p:spPr>
          <a:xfrm>
            <a:off x="1481328" y="6556248"/>
            <a:ext cx="5943600" cy="475488"/>
          </a:xfrm>
          <a:prstGeom prst="rect">
            <a:avLst/>
          </a:prstGeom>
          <a:noFill/>
        </p:spPr>
        <p:txBody>
          <a:bodyPr wrap="square" lIns="0" rIns="0" tIns="0" bIns="0" anchor="ctr">
            <a:noAutofit/>
          </a:bodyPr>
          <a:lstStyle/>
          <a:p>
            <a:pPr algn="l"/>
            <a:r>
              <a:rPr sz="1800" b="0" i="0">
                <a:solidFill>
                  <a:srgbClr val="000000"/>
                </a:solidFill>
                <a:latin typeface="Inter"/>
              </a:rPr>
              <a:t>Chemistry Lab</a:t>
            </a:r>
          </a:p>
        </p:txBody>
      </p:sp>
      <p:sp>
        <p:nvSpPr>
          <p:cNvPr id="27" name="Rectangle 26"/>
          <p:cNvSpPr/>
          <p:nvPr/>
        </p:nvSpPr>
        <p:spPr>
          <a:xfrm>
            <a:off x="841248" y="7123176"/>
            <a:ext cx="7223760" cy="475488"/>
          </a:xfrm>
          <a:prstGeom prst="rect">
            <a:avLst/>
          </a:prstGeom>
          <a:solidFill>
            <a:srgbClr val="FFFFFF"/>
          </a:solidFill>
          <a:ln w="12700">
            <a:solidFill>
              <a:srgbClr val="000000"/>
            </a:solidFill>
          </a:ln>
        </p:spPr>
        <p:txBody>
          <a:bodyPr rtlCol="0" anchor="ctr"/>
          <a:lstStyle/>
          <a:p>
            <a:pPr algn="ctr"/>
          </a:p>
        </p:txBody>
      </p:sp>
      <p:sp>
        <p:nvSpPr>
          <p:cNvPr id="28" name="Rectangle 27"/>
          <p:cNvSpPr/>
          <p:nvPr/>
        </p:nvSpPr>
        <p:spPr>
          <a:xfrm>
            <a:off x="978408" y="7214616"/>
            <a:ext cx="292608" cy="292608"/>
          </a:xfrm>
          <a:prstGeom prst="rect">
            <a:avLst/>
          </a:prstGeom>
          <a:solidFill>
            <a:srgbClr val="FFFFFF"/>
          </a:solidFill>
          <a:ln w="15875">
            <a:solidFill>
              <a:srgbClr val="000000"/>
            </a:solidFill>
          </a:ln>
        </p:spPr>
        <p:txBody>
          <a:bodyPr rtlCol="0" anchor="ctr"/>
          <a:lstStyle/>
          <a:p>
            <a:pPr algn="ctr"/>
          </a:p>
        </p:txBody>
      </p:sp>
      <p:sp>
        <p:nvSpPr>
          <p:cNvPr id="29" name="TextBox 28"/>
          <p:cNvSpPr txBox="1"/>
          <p:nvPr/>
        </p:nvSpPr>
        <p:spPr>
          <a:xfrm>
            <a:off x="1481328" y="7123176"/>
            <a:ext cx="5943600" cy="475488"/>
          </a:xfrm>
          <a:prstGeom prst="rect">
            <a:avLst/>
          </a:prstGeom>
          <a:noFill/>
        </p:spPr>
        <p:txBody>
          <a:bodyPr wrap="square" lIns="0" rIns="0" tIns="0" bIns="0" anchor="ctr">
            <a:noAutofit/>
          </a:bodyPr>
          <a:lstStyle/>
          <a:p>
            <a:pPr algn="l"/>
            <a:r>
              <a:rPr sz="1800" b="0" i="0">
                <a:solidFill>
                  <a:srgbClr val="000000"/>
                </a:solidFill>
                <a:latin typeface="Inter"/>
              </a:rPr>
              <a:t>Genomics Lab</a:t>
            </a:r>
          </a:p>
        </p:txBody>
      </p:sp>
      <p:sp>
        <p:nvSpPr>
          <p:cNvPr id="30" name="Rectangle 29"/>
          <p:cNvSpPr/>
          <p:nvPr/>
        </p:nvSpPr>
        <p:spPr>
          <a:xfrm>
            <a:off x="841248" y="7690104"/>
            <a:ext cx="7223760" cy="475488"/>
          </a:xfrm>
          <a:prstGeom prst="rect">
            <a:avLst/>
          </a:prstGeom>
          <a:solidFill>
            <a:srgbClr val="FFFFFF"/>
          </a:solidFill>
          <a:ln w="12700">
            <a:solidFill>
              <a:srgbClr val="000000"/>
            </a:solidFill>
          </a:ln>
        </p:spPr>
        <p:txBody>
          <a:bodyPr rtlCol="0" anchor="ctr"/>
          <a:lstStyle/>
          <a:p>
            <a:pPr algn="ctr"/>
          </a:p>
        </p:txBody>
      </p:sp>
      <p:sp>
        <p:nvSpPr>
          <p:cNvPr id="31" name="Rectangle 30"/>
          <p:cNvSpPr/>
          <p:nvPr/>
        </p:nvSpPr>
        <p:spPr>
          <a:xfrm>
            <a:off x="978408" y="7781544"/>
            <a:ext cx="292608" cy="292608"/>
          </a:xfrm>
          <a:prstGeom prst="rect">
            <a:avLst/>
          </a:prstGeom>
          <a:solidFill>
            <a:srgbClr val="FFFFFF"/>
          </a:solidFill>
          <a:ln w="15875">
            <a:solidFill>
              <a:srgbClr val="000000"/>
            </a:solidFill>
          </a:ln>
        </p:spPr>
        <p:txBody>
          <a:bodyPr rtlCol="0" anchor="ctr"/>
          <a:lstStyle/>
          <a:p>
            <a:pPr algn="ctr"/>
          </a:p>
        </p:txBody>
      </p:sp>
      <p:sp>
        <p:nvSpPr>
          <p:cNvPr id="32" name="TextBox 31"/>
          <p:cNvSpPr txBox="1"/>
          <p:nvPr/>
        </p:nvSpPr>
        <p:spPr>
          <a:xfrm>
            <a:off x="1481328" y="7690104"/>
            <a:ext cx="5943600" cy="475488"/>
          </a:xfrm>
          <a:prstGeom prst="rect">
            <a:avLst/>
          </a:prstGeom>
          <a:noFill/>
        </p:spPr>
        <p:txBody>
          <a:bodyPr wrap="square" lIns="0" rIns="0" tIns="0" bIns="0" anchor="ctr">
            <a:noAutofit/>
          </a:bodyPr>
          <a:lstStyle/>
          <a:p>
            <a:pPr algn="l"/>
            <a:r>
              <a:rPr sz="1800" b="0" i="0">
                <a:solidFill>
                  <a:srgbClr val="000000"/>
                </a:solidFill>
                <a:latin typeface="Inter"/>
              </a:rPr>
              <a:t>Core Facility</a:t>
            </a:r>
          </a:p>
        </p:txBody>
      </p:sp>
      <p:sp>
        <p:nvSpPr>
          <p:cNvPr id="33" name="Rounded Rectangle 32"/>
          <p:cNvSpPr/>
          <p:nvPr/>
        </p:nvSpPr>
        <p:spPr>
          <a:xfrm>
            <a:off x="841248" y="8183879"/>
            <a:ext cx="1554480" cy="502920"/>
          </a:xfrm>
          <a:prstGeom prst="roundRect">
            <a:avLst>
              <a:gd name="adj" fmla="val 20000"/>
            </a:avLst>
          </a:prstGeom>
          <a:solidFill>
            <a:srgbClr val="C62828"/>
          </a:solidFill>
          <a:ln>
            <a:noFill/>
          </a:ln>
        </p:spPr>
        <p:txBody>
          <a:bodyPr rtlCol="0" anchor="ctr" wrap="none" lIns="0" rIns="0" tIns="0" bIns="0">
            <a:noAutofit/>
          </a:bodyPr>
          <a:lstStyle/>
          <a:p>
            <a:pPr algn="ctr"/>
            <a:r>
              <a:rPr sz="1800" b="1" i="0">
                <a:solidFill>
                  <a:srgbClr val="FFFFFF"/>
                </a:solidFill>
                <a:latin typeface="Inter"/>
              </a:rPr>
              <a:t>Deny</a:t>
            </a:r>
          </a:p>
        </p:txBody>
      </p:sp>
      <p:sp>
        <p:nvSpPr>
          <p:cNvPr id="34" name="Rounded Rectangle 33"/>
          <p:cNvSpPr/>
          <p:nvPr/>
        </p:nvSpPr>
        <p:spPr>
          <a:xfrm>
            <a:off x="2578608" y="8183879"/>
            <a:ext cx="1920240" cy="502920"/>
          </a:xfrm>
          <a:prstGeom prst="roundRect">
            <a:avLst>
              <a:gd name="adj" fmla="val 20000"/>
            </a:avLst>
          </a:prstGeom>
          <a:solidFill>
            <a:srgbClr val="000000"/>
          </a:solidFill>
          <a:ln>
            <a:noFill/>
          </a:ln>
        </p:spPr>
        <p:txBody>
          <a:bodyPr rtlCol="0" anchor="ctr" wrap="none" lIns="0" rIns="0" tIns="0" bIns="0">
            <a:noAutofit/>
          </a:bodyPr>
          <a:lstStyle/>
          <a:p>
            <a:pPr algn="ctr"/>
            <a:r>
              <a:rPr sz="1800" b="1" i="0">
                <a:solidFill>
                  <a:srgbClr val="FFFFFF"/>
                </a:solidFill>
                <a:latin typeface="Inter"/>
              </a:rPr>
              <a:t>Authorise</a:t>
            </a:r>
          </a:p>
        </p:txBody>
      </p:sp>
      <p:sp>
        <p:nvSpPr>
          <p:cNvPr id="35" name="Oval 34"/>
          <p:cNvSpPr/>
          <p:nvPr/>
        </p:nvSpPr>
        <p:spPr>
          <a:xfrm>
            <a:off x="9052560" y="3200400"/>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1</a:t>
            </a:r>
          </a:p>
        </p:txBody>
      </p:sp>
      <p:sp>
        <p:nvSpPr>
          <p:cNvPr id="36" name="TextBox 35"/>
          <p:cNvSpPr txBox="1"/>
          <p:nvPr/>
        </p:nvSpPr>
        <p:spPr>
          <a:xfrm>
            <a:off x="9738360" y="3255264"/>
            <a:ext cx="8074152" cy="914400"/>
          </a:xfrm>
          <a:prstGeom prst="rect">
            <a:avLst/>
          </a:prstGeom>
          <a:noFill/>
        </p:spPr>
        <p:txBody>
          <a:bodyPr wrap="square" lIns="0" rIns="0" tIns="0" bIns="0" anchor="t">
            <a:noAutofit/>
          </a:bodyPr>
          <a:lstStyle/>
          <a:p>
            <a:pPr algn="l"/>
            <a:r>
              <a:rPr sz="2100" b="0" i="0">
                <a:solidFill>
                  <a:srgbClr val="000000"/>
                </a:solidFill>
                <a:latin typeface="Inter"/>
              </a:rPr>
              <a:t>Open the authorise link, or let Postman open it for you.</a:t>
            </a:r>
          </a:p>
        </p:txBody>
      </p:sp>
      <p:sp>
        <p:nvSpPr>
          <p:cNvPr id="37" name="Oval 36"/>
          <p:cNvSpPr/>
          <p:nvPr/>
        </p:nvSpPr>
        <p:spPr>
          <a:xfrm>
            <a:off x="9052560" y="4206240"/>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2</a:t>
            </a:r>
          </a:p>
        </p:txBody>
      </p:sp>
      <p:sp>
        <p:nvSpPr>
          <p:cNvPr id="38" name="TextBox 37"/>
          <p:cNvSpPr txBox="1"/>
          <p:nvPr/>
        </p:nvSpPr>
        <p:spPr>
          <a:xfrm>
            <a:off x="9738360" y="4261103"/>
            <a:ext cx="8074152" cy="914400"/>
          </a:xfrm>
          <a:prstGeom prst="rect">
            <a:avLst/>
          </a:prstGeom>
          <a:noFill/>
        </p:spPr>
        <p:txBody>
          <a:bodyPr wrap="square" lIns="0" rIns="0" tIns="0" bIns="0" anchor="t">
            <a:noAutofit/>
          </a:bodyPr>
          <a:lstStyle/>
          <a:p>
            <a:pPr algn="l"/>
            <a:r>
              <a:rPr sz="2100" b="1" i="0">
                <a:solidFill>
                  <a:srgbClr val="000000"/>
                </a:solidFill>
                <a:latin typeface="Inter"/>
              </a:rPr>
              <a:t>Log in</a:t>
            </a:r>
            <a:r>
              <a:rPr sz="2100" b="0" i="0">
                <a:solidFill>
                  <a:srgbClr val="000000"/>
                </a:solidFill>
                <a:latin typeface="Inter"/>
              </a:rPr>
              <a:t> to Calira.</a:t>
            </a:r>
          </a:p>
        </p:txBody>
      </p:sp>
      <p:sp>
        <p:nvSpPr>
          <p:cNvPr id="39" name="Oval 38"/>
          <p:cNvSpPr/>
          <p:nvPr/>
        </p:nvSpPr>
        <p:spPr>
          <a:xfrm>
            <a:off x="9052560" y="5212080"/>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3</a:t>
            </a:r>
          </a:p>
        </p:txBody>
      </p:sp>
      <p:sp>
        <p:nvSpPr>
          <p:cNvPr id="40" name="TextBox 39"/>
          <p:cNvSpPr txBox="1"/>
          <p:nvPr/>
        </p:nvSpPr>
        <p:spPr>
          <a:xfrm>
            <a:off x="9738360" y="5266944"/>
            <a:ext cx="8074152" cy="914400"/>
          </a:xfrm>
          <a:prstGeom prst="rect">
            <a:avLst/>
          </a:prstGeom>
          <a:noFill/>
        </p:spPr>
        <p:txBody>
          <a:bodyPr wrap="square" lIns="0" rIns="0" tIns="0" bIns="0" anchor="t">
            <a:noAutofit/>
          </a:bodyPr>
          <a:lstStyle/>
          <a:p>
            <a:pPr algn="l"/>
            <a:r>
              <a:rPr sz="2100" b="1" i="0">
                <a:solidFill>
                  <a:srgbClr val="000000"/>
                </a:solidFill>
                <a:latin typeface="Inter"/>
              </a:rPr>
              <a:t>Tick only the labs</a:t>
            </a:r>
            <a:r>
              <a:rPr sz="2100" b="0" i="0">
                <a:solidFill>
                  <a:srgbClr val="000000"/>
                </a:solidFill>
                <a:latin typeface="Inter"/>
              </a:rPr>
              <a:t> this application may see.</a:t>
            </a:r>
          </a:p>
        </p:txBody>
      </p:sp>
      <p:sp>
        <p:nvSpPr>
          <p:cNvPr id="41" name="Oval 40"/>
          <p:cNvSpPr/>
          <p:nvPr/>
        </p:nvSpPr>
        <p:spPr>
          <a:xfrm>
            <a:off x="9052560" y="6217920"/>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4</a:t>
            </a:r>
          </a:p>
        </p:txBody>
      </p:sp>
      <p:sp>
        <p:nvSpPr>
          <p:cNvPr id="42" name="TextBox 41"/>
          <p:cNvSpPr txBox="1"/>
          <p:nvPr/>
        </p:nvSpPr>
        <p:spPr>
          <a:xfrm>
            <a:off x="9738360" y="6272784"/>
            <a:ext cx="8074152" cy="914400"/>
          </a:xfrm>
          <a:prstGeom prst="rect">
            <a:avLst/>
          </a:prstGeom>
          <a:noFill/>
        </p:spPr>
        <p:txBody>
          <a:bodyPr wrap="square" lIns="0" rIns="0" tIns="0" bIns="0" anchor="t">
            <a:noAutofit/>
          </a:bodyPr>
          <a:lstStyle/>
          <a:p>
            <a:pPr algn="l"/>
            <a:r>
              <a:rPr sz="2100" b="0" i="0">
                <a:solidFill>
                  <a:srgbClr val="000000"/>
                </a:solidFill>
                <a:latin typeface="Inter"/>
              </a:rPr>
              <a:t>Click </a:t>
            </a:r>
            <a:r>
              <a:rPr sz="2100" b="1" i="0">
                <a:solidFill>
                  <a:srgbClr val="000000"/>
                </a:solidFill>
                <a:latin typeface="Inter"/>
              </a:rPr>
              <a:t>Authorise</a:t>
            </a:r>
            <a:r>
              <a:rPr sz="2100" b="0" i="0">
                <a:solidFill>
                  <a:srgbClr val="000000"/>
                </a:solidFill>
                <a:latin typeface="Inter"/>
              </a:rPr>
              <a:t>.</a:t>
            </a:r>
          </a:p>
        </p:txBody>
      </p:sp>
      <p:sp>
        <p:nvSpPr>
          <p:cNvPr id="43" name="Rectangle 42"/>
          <p:cNvSpPr/>
          <p:nvPr/>
        </p:nvSpPr>
        <p:spPr>
          <a:xfrm>
            <a:off x="9052560" y="7360920"/>
            <a:ext cx="8759952" cy="1554480"/>
          </a:xfrm>
          <a:prstGeom prst="rect">
            <a:avLst/>
          </a:prstGeom>
          <a:solidFill>
            <a:srgbClr val="E8FC2E"/>
          </a:solidFill>
          <a:ln w="15875">
            <a:solidFill>
              <a:srgbClr val="000000"/>
            </a:solidFill>
          </a:ln>
        </p:spPr>
        <p:txBody>
          <a:bodyPr rtlCol="0" anchor="ctr"/>
          <a:lstStyle/>
          <a:p>
            <a:pPr algn="ctr"/>
          </a:p>
        </p:txBody>
      </p:sp>
      <p:sp>
        <p:nvSpPr>
          <p:cNvPr id="44" name="TextBox 43"/>
          <p:cNvSpPr txBox="1"/>
          <p:nvPr/>
        </p:nvSpPr>
        <p:spPr>
          <a:xfrm>
            <a:off x="9372600" y="7360920"/>
            <a:ext cx="8138160" cy="1554480"/>
          </a:xfrm>
          <a:prstGeom prst="rect">
            <a:avLst/>
          </a:prstGeom>
          <a:noFill/>
        </p:spPr>
        <p:txBody>
          <a:bodyPr wrap="square" lIns="0" rIns="0" tIns="0" bIns="0" anchor="ctr">
            <a:noAutofit/>
          </a:bodyPr>
          <a:lstStyle/>
          <a:p>
            <a:pPr algn="l"/>
            <a:r>
              <a:rPr sz="2100" b="0" i="0">
                <a:solidFill>
                  <a:srgbClr val="000000"/>
                </a:solidFill>
                <a:latin typeface="Inter"/>
              </a:rPr>
              <a:t>Calira then sends back a one-time code. Postman swaps it for a token </a:t>
            </a:r>
            <a:r>
              <a:rPr sz="2100" b="1" i="0">
                <a:solidFill>
                  <a:srgbClr val="000000"/>
                </a:solidFill>
                <a:latin typeface="Inter"/>
              </a:rPr>
              <a:t>automatically</a:t>
            </a:r>
            <a:r>
              <a:rPr sz="2100" b="0" i="0">
                <a:solidFill>
                  <a:srgbClr val="000000"/>
                </a:solidFill>
                <a:latin typeface="Inter"/>
              </a:rPr>
              <a:t>. You never need to copy 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E8FC2E"/>
        </a:solidFill>
        <a:effectLst/>
      </p:bgPr>
    </p:bg>
    <p:spTree>
      <p:nvGrpSpPr>
        <p:cNvPr id="1" name=""/>
        <p:cNvGrpSpPr/>
        <p:nvPr/>
      </p:nvGrpSpPr>
      <p:grpSpPr/>
      <p:sp>
        <p:nvSpPr>
          <p:cNvPr id="2" name="Rounded Rectangle 1"/>
          <p:cNvSpPr/>
          <p:nvPr/>
        </p:nvSpPr>
        <p:spPr>
          <a:xfrm>
            <a:off x="457200" y="457200"/>
            <a:ext cx="2743200" cy="475488"/>
          </a:xfrm>
          <a:prstGeom prst="roundRect">
            <a:avLst>
              <a:gd name="adj" fmla="val 50000"/>
            </a:avLst>
          </a:prstGeom>
          <a:solidFill>
            <a:srgbClr val="FFFFFF"/>
          </a:solidFill>
          <a:ln w="12700">
            <a:solidFill>
              <a:srgbClr val="000000"/>
            </a:solidFill>
          </a:ln>
        </p:spPr>
        <p:txBody>
          <a:bodyPr rtlCol="0" anchor="ctr" wrap="none" lIns="0" rIns="0" tIns="0" bIns="0">
            <a:noAutofit/>
          </a:bodyPr>
          <a:lstStyle/>
          <a:p>
            <a:pPr algn="ctr"/>
            <a:r>
              <a:rPr sz="1600" b="1" i="0">
                <a:solidFill>
                  <a:srgbClr val="000000"/>
                </a:solidFill>
                <a:latin typeface="Roboto Mono"/>
              </a:rPr>
              <a:t>PART 4 OF 5</a:t>
            </a:r>
          </a:p>
        </p:txBody>
      </p:sp>
      <p:sp>
        <p:nvSpPr>
          <p:cNvPr id="3" name="Title"/>
          <p:cNvSpPr txBox="1"/>
          <p:nvPr/>
        </p:nvSpPr>
        <p:spPr>
          <a:xfrm>
            <a:off x="457200" y="2194560"/>
            <a:ext cx="10241280" cy="4754880"/>
          </a:xfrm>
          <a:prstGeom prst="rect">
            <a:avLst/>
          </a:prstGeom>
          <a:noFill/>
        </p:spPr>
        <p:txBody>
          <a:bodyPr wrap="square" lIns="0" rIns="0" tIns="0" bIns="0" anchor="ctr">
            <a:noAutofit/>
          </a:bodyPr>
          <a:lstStyle/>
          <a:p>
            <a:pPr algn="l">
              <a:lnSpc>
                <a:spcPct val="92000"/>
              </a:lnSpc>
            </a:pPr>
            <a:r>
              <a:rPr sz="7600" b="1" i="0">
                <a:solidFill>
                  <a:srgbClr val="000000"/>
                </a:solidFill>
                <a:latin typeface="Inter"/>
              </a:rPr>
              <a:t>Hands-on with Postman</a:t>
            </a:r>
          </a:p>
        </p:txBody>
      </p:sp>
      <p:sp>
        <p:nvSpPr>
          <p:cNvPr id="4" name="TextBox 3"/>
          <p:cNvSpPr txBox="1"/>
          <p:nvPr/>
        </p:nvSpPr>
        <p:spPr>
          <a:xfrm>
            <a:off x="457200" y="7223760"/>
            <a:ext cx="10424160" cy="365760"/>
          </a:xfrm>
          <a:prstGeom prst="rect">
            <a:avLst/>
          </a:prstGeom>
          <a:noFill/>
        </p:spPr>
        <p:txBody>
          <a:bodyPr wrap="square" lIns="0" rIns="0" tIns="0" bIns="0" anchor="t">
            <a:noAutofit/>
          </a:bodyPr>
          <a:lstStyle/>
          <a:p>
            <a:pPr algn="l"/>
            <a:r>
              <a:rPr sz="2000" b="0" i="0">
                <a:solidFill>
                  <a:srgbClr val="000000"/>
                </a:solidFill>
                <a:latin typeface="Roboto Mono"/>
              </a:rPr>
              <a:t>30 MIN  ·  10 SLIDES</a:t>
            </a:r>
          </a:p>
        </p:txBody>
      </p:sp>
      <p:sp>
        <p:nvSpPr>
          <p:cNvPr id="5" name="TextBox 4"/>
          <p:cNvSpPr txBox="1"/>
          <p:nvPr/>
        </p:nvSpPr>
        <p:spPr>
          <a:xfrm>
            <a:off x="11384280" y="2468880"/>
            <a:ext cx="640080" cy="457200"/>
          </a:xfrm>
          <a:prstGeom prst="rect">
            <a:avLst/>
          </a:prstGeom>
          <a:noFill/>
        </p:spPr>
        <p:txBody>
          <a:bodyPr wrap="square" lIns="0" rIns="0" tIns="0" bIns="0" anchor="ctr">
            <a:noAutofit/>
          </a:bodyPr>
          <a:lstStyle/>
          <a:p>
            <a:pPr algn="l"/>
            <a:r>
              <a:rPr sz="2000" b="0" i="0">
                <a:solidFill>
                  <a:srgbClr val="5C6410"/>
                </a:solidFill>
                <a:latin typeface="Roboto Mono"/>
              </a:rPr>
              <a:t>01</a:t>
            </a:r>
          </a:p>
        </p:txBody>
      </p:sp>
      <p:sp>
        <p:nvSpPr>
          <p:cNvPr id="6" name="TextBox 5"/>
          <p:cNvSpPr txBox="1"/>
          <p:nvPr/>
        </p:nvSpPr>
        <p:spPr>
          <a:xfrm>
            <a:off x="12115800" y="2395728"/>
            <a:ext cx="4572000" cy="676656"/>
          </a:xfrm>
          <a:prstGeom prst="rect">
            <a:avLst/>
          </a:prstGeom>
          <a:noFill/>
        </p:spPr>
        <p:txBody>
          <a:bodyPr wrap="square" lIns="0" rIns="0" tIns="0" bIns="0" anchor="ctr">
            <a:noAutofit/>
          </a:bodyPr>
          <a:lstStyle/>
          <a:p>
            <a:pPr algn="l"/>
            <a:r>
              <a:rPr sz="2200" b="0" i="0">
                <a:solidFill>
                  <a:srgbClr val="5C6410"/>
                </a:solidFill>
                <a:latin typeface="Inter"/>
              </a:rPr>
              <a:t>What an API is, in plain English</a:t>
            </a:r>
          </a:p>
        </p:txBody>
      </p:sp>
      <p:sp>
        <p:nvSpPr>
          <p:cNvPr id="7" name="TextBox 6"/>
          <p:cNvSpPr txBox="1"/>
          <p:nvPr/>
        </p:nvSpPr>
        <p:spPr>
          <a:xfrm>
            <a:off x="16642080" y="2468880"/>
            <a:ext cx="1005840" cy="457200"/>
          </a:xfrm>
          <a:prstGeom prst="rect">
            <a:avLst/>
          </a:prstGeom>
          <a:noFill/>
        </p:spPr>
        <p:txBody>
          <a:bodyPr wrap="square" lIns="0" rIns="0" tIns="0" bIns="0" anchor="ctr">
            <a:noAutofit/>
          </a:bodyPr>
          <a:lstStyle/>
          <a:p>
            <a:pPr algn="r"/>
            <a:r>
              <a:rPr sz="1600" b="0" i="0">
                <a:solidFill>
                  <a:srgbClr val="5C6410"/>
                </a:solidFill>
                <a:latin typeface="Roboto Mono"/>
              </a:rPr>
              <a:t>10 MIN</a:t>
            </a:r>
          </a:p>
        </p:txBody>
      </p:sp>
      <p:sp>
        <p:nvSpPr>
          <p:cNvPr id="8" name="TextBox 7"/>
          <p:cNvSpPr txBox="1"/>
          <p:nvPr/>
        </p:nvSpPr>
        <p:spPr>
          <a:xfrm>
            <a:off x="11384280" y="3547872"/>
            <a:ext cx="640080" cy="457200"/>
          </a:xfrm>
          <a:prstGeom prst="rect">
            <a:avLst/>
          </a:prstGeom>
          <a:noFill/>
        </p:spPr>
        <p:txBody>
          <a:bodyPr wrap="square" lIns="0" rIns="0" tIns="0" bIns="0" anchor="ctr">
            <a:noAutofit/>
          </a:bodyPr>
          <a:lstStyle/>
          <a:p>
            <a:pPr algn="l"/>
            <a:r>
              <a:rPr sz="2000" b="0" i="0">
                <a:solidFill>
                  <a:srgbClr val="5C6410"/>
                </a:solidFill>
                <a:latin typeface="Roboto Mono"/>
              </a:rPr>
              <a:t>02</a:t>
            </a:r>
          </a:p>
        </p:txBody>
      </p:sp>
      <p:sp>
        <p:nvSpPr>
          <p:cNvPr id="9" name="TextBox 8"/>
          <p:cNvSpPr txBox="1"/>
          <p:nvPr/>
        </p:nvSpPr>
        <p:spPr>
          <a:xfrm>
            <a:off x="12115800" y="3474720"/>
            <a:ext cx="4572000" cy="676656"/>
          </a:xfrm>
          <a:prstGeom prst="rect">
            <a:avLst/>
          </a:prstGeom>
          <a:noFill/>
        </p:spPr>
        <p:txBody>
          <a:bodyPr wrap="square" lIns="0" rIns="0" tIns="0" bIns="0" anchor="ctr">
            <a:noAutofit/>
          </a:bodyPr>
          <a:lstStyle/>
          <a:p>
            <a:pPr algn="l"/>
            <a:r>
              <a:rPr sz="2200" b="0" i="0">
                <a:solidFill>
                  <a:srgbClr val="5C6410"/>
                </a:solidFill>
                <a:latin typeface="Inter"/>
              </a:rPr>
              <a:t>How requests and answers work</a:t>
            </a:r>
          </a:p>
        </p:txBody>
      </p:sp>
      <p:sp>
        <p:nvSpPr>
          <p:cNvPr id="10" name="TextBox 9"/>
          <p:cNvSpPr txBox="1"/>
          <p:nvPr/>
        </p:nvSpPr>
        <p:spPr>
          <a:xfrm>
            <a:off x="16642080" y="3547872"/>
            <a:ext cx="1005840" cy="457200"/>
          </a:xfrm>
          <a:prstGeom prst="rect">
            <a:avLst/>
          </a:prstGeom>
          <a:noFill/>
        </p:spPr>
        <p:txBody>
          <a:bodyPr wrap="square" lIns="0" rIns="0" tIns="0" bIns="0" anchor="ctr">
            <a:noAutofit/>
          </a:bodyPr>
          <a:lstStyle/>
          <a:p>
            <a:pPr algn="r"/>
            <a:r>
              <a:rPr sz="1600" b="0" i="0">
                <a:solidFill>
                  <a:srgbClr val="5C6410"/>
                </a:solidFill>
                <a:latin typeface="Roboto Mono"/>
              </a:rPr>
              <a:t>15 MIN</a:t>
            </a:r>
          </a:p>
        </p:txBody>
      </p:sp>
      <p:sp>
        <p:nvSpPr>
          <p:cNvPr id="11" name="TextBox 10"/>
          <p:cNvSpPr txBox="1"/>
          <p:nvPr/>
        </p:nvSpPr>
        <p:spPr>
          <a:xfrm>
            <a:off x="11384280" y="4626864"/>
            <a:ext cx="640080" cy="457200"/>
          </a:xfrm>
          <a:prstGeom prst="rect">
            <a:avLst/>
          </a:prstGeom>
          <a:noFill/>
        </p:spPr>
        <p:txBody>
          <a:bodyPr wrap="square" lIns="0" rIns="0" tIns="0" bIns="0" anchor="ctr">
            <a:noAutofit/>
          </a:bodyPr>
          <a:lstStyle/>
          <a:p>
            <a:pPr algn="l"/>
            <a:r>
              <a:rPr sz="2000" b="0" i="0">
                <a:solidFill>
                  <a:srgbClr val="5C6410"/>
                </a:solidFill>
                <a:latin typeface="Roboto Mono"/>
              </a:rPr>
              <a:t>03</a:t>
            </a:r>
          </a:p>
        </p:txBody>
      </p:sp>
      <p:sp>
        <p:nvSpPr>
          <p:cNvPr id="12" name="TextBox 11"/>
          <p:cNvSpPr txBox="1"/>
          <p:nvPr/>
        </p:nvSpPr>
        <p:spPr>
          <a:xfrm>
            <a:off x="12115800" y="4553712"/>
            <a:ext cx="4572000" cy="676656"/>
          </a:xfrm>
          <a:prstGeom prst="rect">
            <a:avLst/>
          </a:prstGeom>
          <a:noFill/>
        </p:spPr>
        <p:txBody>
          <a:bodyPr wrap="square" lIns="0" rIns="0" tIns="0" bIns="0" anchor="ctr">
            <a:noAutofit/>
          </a:bodyPr>
          <a:lstStyle/>
          <a:p>
            <a:pPr algn="l"/>
            <a:r>
              <a:rPr sz="2200" b="0" i="0">
                <a:solidFill>
                  <a:srgbClr val="5C6410"/>
                </a:solidFill>
                <a:latin typeface="Inter"/>
              </a:rPr>
              <a:t>Getting a customer connected</a:t>
            </a:r>
          </a:p>
        </p:txBody>
      </p:sp>
      <p:sp>
        <p:nvSpPr>
          <p:cNvPr id="13" name="TextBox 12"/>
          <p:cNvSpPr txBox="1"/>
          <p:nvPr/>
        </p:nvSpPr>
        <p:spPr>
          <a:xfrm>
            <a:off x="16642080" y="4626864"/>
            <a:ext cx="1005840" cy="457200"/>
          </a:xfrm>
          <a:prstGeom prst="rect">
            <a:avLst/>
          </a:prstGeom>
          <a:noFill/>
        </p:spPr>
        <p:txBody>
          <a:bodyPr wrap="square" lIns="0" rIns="0" tIns="0" bIns="0" anchor="ctr">
            <a:noAutofit/>
          </a:bodyPr>
          <a:lstStyle/>
          <a:p>
            <a:pPr algn="r"/>
            <a:r>
              <a:rPr sz="1600" b="0" i="0">
                <a:solidFill>
                  <a:srgbClr val="5C6410"/>
                </a:solidFill>
                <a:latin typeface="Roboto Mono"/>
              </a:rPr>
              <a:t>10 MIN</a:t>
            </a:r>
          </a:p>
        </p:txBody>
      </p:sp>
      <p:sp>
        <p:nvSpPr>
          <p:cNvPr id="14" name="Rectangle 13"/>
          <p:cNvSpPr/>
          <p:nvPr/>
        </p:nvSpPr>
        <p:spPr>
          <a:xfrm>
            <a:off x="11155680" y="5504688"/>
            <a:ext cx="6675120" cy="896112"/>
          </a:xfrm>
          <a:prstGeom prst="rect">
            <a:avLst/>
          </a:prstGeom>
          <a:solidFill>
            <a:srgbClr val="FFFFFF"/>
          </a:solidFill>
          <a:ln w="15875">
            <a:solidFill>
              <a:srgbClr val="000000"/>
            </a:solidFill>
          </a:ln>
        </p:spPr>
        <p:txBody>
          <a:bodyPr rtlCol="0" anchor="ctr"/>
          <a:lstStyle/>
          <a:p>
            <a:pPr algn="ctr"/>
          </a:p>
        </p:txBody>
      </p:sp>
      <p:sp>
        <p:nvSpPr>
          <p:cNvPr id="15" name="TextBox 14"/>
          <p:cNvSpPr txBox="1"/>
          <p:nvPr/>
        </p:nvSpPr>
        <p:spPr>
          <a:xfrm>
            <a:off x="11384280" y="5705855"/>
            <a:ext cx="640080" cy="457200"/>
          </a:xfrm>
          <a:prstGeom prst="rect">
            <a:avLst/>
          </a:prstGeom>
          <a:noFill/>
        </p:spPr>
        <p:txBody>
          <a:bodyPr wrap="square" lIns="0" rIns="0" tIns="0" bIns="0" anchor="ctr">
            <a:noAutofit/>
          </a:bodyPr>
          <a:lstStyle/>
          <a:p>
            <a:pPr algn="l"/>
            <a:r>
              <a:rPr sz="2000" b="0" i="0">
                <a:solidFill>
                  <a:srgbClr val="000000"/>
                </a:solidFill>
                <a:latin typeface="Roboto Mono"/>
              </a:rPr>
              <a:t>04</a:t>
            </a:r>
          </a:p>
        </p:txBody>
      </p:sp>
      <p:sp>
        <p:nvSpPr>
          <p:cNvPr id="16" name="TextBox 15"/>
          <p:cNvSpPr txBox="1"/>
          <p:nvPr/>
        </p:nvSpPr>
        <p:spPr>
          <a:xfrm>
            <a:off x="12115800" y="5632703"/>
            <a:ext cx="4572000" cy="676656"/>
          </a:xfrm>
          <a:prstGeom prst="rect">
            <a:avLst/>
          </a:prstGeom>
          <a:noFill/>
        </p:spPr>
        <p:txBody>
          <a:bodyPr wrap="square" lIns="0" rIns="0" tIns="0" bIns="0" anchor="ctr">
            <a:noAutofit/>
          </a:bodyPr>
          <a:lstStyle/>
          <a:p>
            <a:pPr algn="l"/>
            <a:r>
              <a:rPr sz="2200" b="1" i="0">
                <a:solidFill>
                  <a:srgbClr val="000000"/>
                </a:solidFill>
                <a:latin typeface="Inter"/>
              </a:rPr>
              <a:t>Hands-on with Postman</a:t>
            </a:r>
          </a:p>
        </p:txBody>
      </p:sp>
      <p:sp>
        <p:nvSpPr>
          <p:cNvPr id="17" name="TextBox 16"/>
          <p:cNvSpPr txBox="1"/>
          <p:nvPr/>
        </p:nvSpPr>
        <p:spPr>
          <a:xfrm>
            <a:off x="16642080" y="5705855"/>
            <a:ext cx="1005840" cy="457200"/>
          </a:xfrm>
          <a:prstGeom prst="rect">
            <a:avLst/>
          </a:prstGeom>
          <a:noFill/>
        </p:spPr>
        <p:txBody>
          <a:bodyPr wrap="square" lIns="0" rIns="0" tIns="0" bIns="0" anchor="ctr">
            <a:noAutofit/>
          </a:bodyPr>
          <a:lstStyle/>
          <a:p>
            <a:pPr algn="r"/>
            <a:r>
              <a:rPr sz="1600" b="0" i="0">
                <a:solidFill>
                  <a:srgbClr val="000000"/>
                </a:solidFill>
                <a:latin typeface="Roboto Mono"/>
              </a:rPr>
              <a:t>30 MIN</a:t>
            </a:r>
          </a:p>
        </p:txBody>
      </p:sp>
      <p:sp>
        <p:nvSpPr>
          <p:cNvPr id="18" name="TextBox 17"/>
          <p:cNvSpPr txBox="1"/>
          <p:nvPr/>
        </p:nvSpPr>
        <p:spPr>
          <a:xfrm>
            <a:off x="11384280" y="6784847"/>
            <a:ext cx="640080" cy="457200"/>
          </a:xfrm>
          <a:prstGeom prst="rect">
            <a:avLst/>
          </a:prstGeom>
          <a:noFill/>
        </p:spPr>
        <p:txBody>
          <a:bodyPr wrap="square" lIns="0" rIns="0" tIns="0" bIns="0" anchor="ctr">
            <a:noAutofit/>
          </a:bodyPr>
          <a:lstStyle/>
          <a:p>
            <a:pPr algn="l"/>
            <a:r>
              <a:rPr sz="2000" b="0" i="0">
                <a:solidFill>
                  <a:srgbClr val="5C6410"/>
                </a:solidFill>
                <a:latin typeface="Roboto Mono"/>
              </a:rPr>
              <a:t>05</a:t>
            </a:r>
          </a:p>
        </p:txBody>
      </p:sp>
      <p:sp>
        <p:nvSpPr>
          <p:cNvPr id="19" name="TextBox 18"/>
          <p:cNvSpPr txBox="1"/>
          <p:nvPr/>
        </p:nvSpPr>
        <p:spPr>
          <a:xfrm>
            <a:off x="12115800" y="6711695"/>
            <a:ext cx="4572000" cy="676656"/>
          </a:xfrm>
          <a:prstGeom prst="rect">
            <a:avLst/>
          </a:prstGeom>
          <a:noFill/>
        </p:spPr>
        <p:txBody>
          <a:bodyPr wrap="square" lIns="0" rIns="0" tIns="0" bIns="0" anchor="ctr">
            <a:noAutofit/>
          </a:bodyPr>
          <a:lstStyle/>
          <a:p>
            <a:pPr algn="l"/>
            <a:r>
              <a:rPr sz="2200" b="0" i="0">
                <a:solidFill>
                  <a:srgbClr val="5C6410"/>
                </a:solidFill>
                <a:latin typeface="Inter"/>
              </a:rPr>
              <a:t>Pitching the API and practice</a:t>
            </a:r>
          </a:p>
        </p:txBody>
      </p:sp>
      <p:sp>
        <p:nvSpPr>
          <p:cNvPr id="20" name="TextBox 19"/>
          <p:cNvSpPr txBox="1"/>
          <p:nvPr/>
        </p:nvSpPr>
        <p:spPr>
          <a:xfrm>
            <a:off x="16642080" y="6784847"/>
            <a:ext cx="1005840" cy="457200"/>
          </a:xfrm>
          <a:prstGeom prst="rect">
            <a:avLst/>
          </a:prstGeom>
          <a:noFill/>
        </p:spPr>
        <p:txBody>
          <a:bodyPr wrap="square" lIns="0" rIns="0" tIns="0" bIns="0" anchor="ctr">
            <a:noAutofit/>
          </a:bodyPr>
          <a:lstStyle/>
          <a:p>
            <a:pPr algn="r"/>
            <a:r>
              <a:rPr sz="1600" b="0" i="0">
                <a:solidFill>
                  <a:srgbClr val="5C6410"/>
                </a:solidFill>
                <a:latin typeface="Roboto Mono"/>
              </a:rPr>
              <a:t>10 MIN</a:t>
            </a:r>
          </a:p>
        </p:txBody>
      </p:sp>
      <p:pic>
        <p:nvPicPr>
          <p:cNvPr id="21" name="Picture 20" descr="s5_1.png"/>
          <p:cNvPicPr>
            <a:picLocks noChangeAspect="1"/>
          </p:cNvPicPr>
          <p:nvPr/>
        </p:nvPicPr>
        <p:blipFill>
          <a:blip r:embed="rId2"/>
          <a:stretch>
            <a:fillRect/>
          </a:stretch>
        </p:blipFill>
        <p:spPr>
          <a:xfrm>
            <a:off x="457200" y="9701784"/>
            <a:ext cx="1344168" cy="310896"/>
          </a:xfrm>
          <a:prstGeom prst="rect">
            <a:avLst/>
          </a:prstGeom>
        </p:spPr>
      </p:pic>
      <p:sp>
        <p:nvSpPr>
          <p:cNvPr id="22" name="TextBox 21"/>
          <p:cNvSpPr txBox="1"/>
          <p:nvPr/>
        </p:nvSpPr>
        <p:spPr>
          <a:xfrm>
            <a:off x="15983712" y="9692640"/>
            <a:ext cx="1828800" cy="338328"/>
          </a:xfrm>
          <a:prstGeom prst="rect">
            <a:avLst/>
          </a:prstGeom>
          <a:noFill/>
        </p:spPr>
        <p:txBody>
          <a:bodyPr wrap="square" lIns="0" rIns="0" tIns="0" bIns="0" anchor="t">
            <a:noAutofit/>
          </a:bodyPr>
          <a:lstStyle/>
          <a:p>
            <a:pPr algn="r"/>
            <a:r>
              <a:rPr sz="1800" b="0" i="0">
                <a:solidFill>
                  <a:srgbClr val="000000"/>
                </a:solidFill>
                <a:latin typeface="Roboto Mono"/>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ED"/>
        </a:solidFill>
        <a:effectLst/>
      </p:bgPr>
    </p:bg>
    <p:spTree>
      <p:nvGrpSpPr>
        <p:cNvPr id="1" name=""/>
        <p:cNvGrpSpPr/>
        <p:nvPr/>
      </p:nvGrpSpPr>
      <p:grpSpPr/>
      <p:pic>
        <p:nvPicPr>
          <p:cNvPr id="2" name="Picture 1" descr="s1_0.png"/>
          <p:cNvPicPr>
            <a:picLocks noChangeAspect="1"/>
          </p:cNvPicPr>
          <p:nvPr/>
        </p:nvPicPr>
        <p:blipFill>
          <a:blip r:embed="rId2"/>
          <a:stretch>
            <a:fillRect/>
          </a:stretch>
        </p:blipFill>
        <p:spPr>
          <a:xfrm>
            <a:off x="475488" y="594360"/>
            <a:ext cx="1655064" cy="384048"/>
          </a:xfrm>
          <a:prstGeom prst="rect">
            <a:avLst/>
          </a:prstGeom>
        </p:spPr>
      </p:pic>
      <p:sp>
        <p:nvSpPr>
          <p:cNvPr id="3" name="Rectangle 2"/>
          <p:cNvSpPr/>
          <p:nvPr/>
        </p:nvSpPr>
        <p:spPr>
          <a:xfrm>
            <a:off x="2441448" y="777240"/>
            <a:ext cx="15371064" cy="10972"/>
          </a:xfrm>
          <a:prstGeom prst="rect">
            <a:avLst/>
          </a:prstGeom>
          <a:solidFill>
            <a:srgbClr val="000000"/>
          </a:solidFill>
          <a:ln>
            <a:noFill/>
          </a:ln>
        </p:spPr>
        <p:txBody>
          <a:bodyPr rtlCol="0" anchor="ctr"/>
          <a:lstStyle/>
          <a:p>
            <a:pPr algn="ctr"/>
          </a:p>
        </p:txBody>
      </p:sp>
      <p:sp>
        <p:nvSpPr>
          <p:cNvPr id="4" name="TextBox 3"/>
          <p:cNvSpPr txBox="1"/>
          <p:nvPr/>
        </p:nvSpPr>
        <p:spPr>
          <a:xfrm>
            <a:off x="475488" y="1527048"/>
            <a:ext cx="10972800" cy="365760"/>
          </a:xfrm>
          <a:prstGeom prst="rect">
            <a:avLst/>
          </a:prstGeom>
          <a:noFill/>
        </p:spPr>
        <p:txBody>
          <a:bodyPr wrap="square" lIns="0" rIns="0" tIns="0" bIns="0" anchor="t">
            <a:noAutofit/>
          </a:bodyPr>
          <a:lstStyle/>
          <a:p>
            <a:pPr algn="l"/>
            <a:r>
              <a:rPr sz="1800" b="0" i="0">
                <a:solidFill>
                  <a:srgbClr val="000000"/>
                </a:solidFill>
                <a:latin typeface="Roboto Mono"/>
              </a:rPr>
              <a:t>PART 4 · HANDS-ON WITH POSTMAN</a:t>
            </a:r>
          </a:p>
        </p:txBody>
      </p:sp>
      <p:sp>
        <p:nvSpPr>
          <p:cNvPr id="5" name="Title"/>
          <p:cNvSpPr txBox="1"/>
          <p:nvPr/>
        </p:nvSpPr>
        <p:spPr>
          <a:xfrm>
            <a:off x="475488" y="2011680"/>
            <a:ext cx="17337024" cy="868680"/>
          </a:xfrm>
          <a:prstGeom prst="rect">
            <a:avLst/>
          </a:prstGeom>
          <a:noFill/>
        </p:spPr>
        <p:txBody>
          <a:bodyPr wrap="square" lIns="0" rIns="0" tIns="0" bIns="0" anchor="t">
            <a:noAutofit/>
          </a:bodyPr>
          <a:lstStyle/>
          <a:p>
            <a:pPr algn="l">
              <a:lnSpc>
                <a:spcPct val="95000"/>
              </a:lnSpc>
            </a:pPr>
            <a:r>
              <a:rPr sz="4600" b="1" i="0">
                <a:solidFill>
                  <a:srgbClr val="000000"/>
                </a:solidFill>
                <a:latin typeface="Inter"/>
              </a:rPr>
              <a:t>Postman: a free tool for sending requests</a:t>
            </a:r>
          </a:p>
        </p:txBody>
      </p:sp>
      <p:sp>
        <p:nvSpPr>
          <p:cNvPr id="6" name="Rectangle 5"/>
          <p:cNvSpPr/>
          <p:nvPr/>
        </p:nvSpPr>
        <p:spPr>
          <a:xfrm>
            <a:off x="475488" y="9189720"/>
            <a:ext cx="17337024" cy="10972"/>
          </a:xfrm>
          <a:prstGeom prst="rect">
            <a:avLst/>
          </a:prstGeom>
          <a:solidFill>
            <a:srgbClr val="000000"/>
          </a:solidFill>
          <a:ln>
            <a:noFill/>
          </a:ln>
        </p:spPr>
        <p:txBody>
          <a:bodyPr rtlCol="0" anchor="ctr"/>
          <a:lstStyle/>
          <a:p>
            <a:pPr algn="ctr"/>
          </a:p>
        </p:txBody>
      </p:sp>
      <p:sp>
        <p:nvSpPr>
          <p:cNvPr id="7" name="TextBox 6"/>
          <p:cNvSpPr txBox="1"/>
          <p:nvPr/>
        </p:nvSpPr>
        <p:spPr>
          <a:xfrm>
            <a:off x="475488" y="9354312"/>
            <a:ext cx="2743200" cy="338328"/>
          </a:xfrm>
          <a:prstGeom prst="rect">
            <a:avLst/>
          </a:prstGeom>
          <a:noFill/>
        </p:spPr>
        <p:txBody>
          <a:bodyPr wrap="square" lIns="0" rIns="0" tIns="0" bIns="0" anchor="t">
            <a:noAutofit/>
          </a:bodyPr>
          <a:lstStyle/>
          <a:p>
            <a:pPr algn="l"/>
            <a:r>
              <a:rPr sz="1800" b="0" i="0">
                <a:solidFill>
                  <a:srgbClr val="000000"/>
                </a:solidFill>
                <a:latin typeface="Roboto Mono"/>
              </a:rPr>
              <a:t>CALIRA.CO</a:t>
            </a:r>
          </a:p>
        </p:txBody>
      </p:sp>
      <p:sp>
        <p:nvSpPr>
          <p:cNvPr id="8" name="TextBox 7"/>
          <p:cNvSpPr txBox="1"/>
          <p:nvPr/>
        </p:nvSpPr>
        <p:spPr>
          <a:xfrm>
            <a:off x="15983712" y="9354312"/>
            <a:ext cx="1828800" cy="338328"/>
          </a:xfrm>
          <a:prstGeom prst="rect">
            <a:avLst/>
          </a:prstGeom>
          <a:noFill/>
        </p:spPr>
        <p:txBody>
          <a:bodyPr wrap="square" lIns="0" rIns="0" tIns="0" bIns="0" anchor="t">
            <a:noAutofit/>
          </a:bodyPr>
          <a:lstStyle/>
          <a:p>
            <a:pPr algn="r"/>
            <a:r>
              <a:rPr sz="1800" b="0" i="0">
                <a:solidFill>
                  <a:srgbClr val="000000"/>
                </a:solidFill>
                <a:latin typeface="Roboto Mono"/>
              </a:rPr>
              <a:t>22</a:t>
            </a:r>
          </a:p>
        </p:txBody>
      </p:sp>
      <p:sp>
        <p:nvSpPr>
          <p:cNvPr id="9" name="Rectangle 8"/>
          <p:cNvSpPr/>
          <p:nvPr/>
        </p:nvSpPr>
        <p:spPr>
          <a:xfrm>
            <a:off x="475488" y="3154680"/>
            <a:ext cx="17337024" cy="1554480"/>
          </a:xfrm>
          <a:prstGeom prst="rect">
            <a:avLst/>
          </a:prstGeom>
          <a:solidFill>
            <a:srgbClr val="E8FC2E"/>
          </a:solidFill>
          <a:ln w="15875">
            <a:solidFill>
              <a:srgbClr val="000000"/>
            </a:solidFill>
          </a:ln>
        </p:spPr>
        <p:txBody>
          <a:bodyPr rtlCol="0" anchor="ctr"/>
          <a:lstStyle/>
          <a:p>
            <a:pPr algn="ctr"/>
          </a:p>
        </p:txBody>
      </p:sp>
      <p:sp>
        <p:nvSpPr>
          <p:cNvPr id="10" name="TextBox 9"/>
          <p:cNvSpPr txBox="1"/>
          <p:nvPr/>
        </p:nvSpPr>
        <p:spPr>
          <a:xfrm>
            <a:off x="868680" y="3154680"/>
            <a:ext cx="16550640" cy="1554480"/>
          </a:xfrm>
          <a:prstGeom prst="rect">
            <a:avLst/>
          </a:prstGeom>
          <a:noFill/>
        </p:spPr>
        <p:txBody>
          <a:bodyPr wrap="square" lIns="0" rIns="0" tIns="0" bIns="0" anchor="ctr">
            <a:noAutofit/>
          </a:bodyPr>
          <a:lstStyle/>
          <a:p>
            <a:pPr algn="l"/>
            <a:r>
              <a:rPr sz="3200" b="0" i="0">
                <a:solidFill>
                  <a:srgbClr val="000000"/>
                </a:solidFill>
                <a:latin typeface="Inter"/>
              </a:rPr>
              <a:t>Postman is a </a:t>
            </a:r>
            <a:r>
              <a:rPr sz="3200" b="1" i="0">
                <a:solidFill>
                  <a:srgbClr val="000000"/>
                </a:solidFill>
                <a:latin typeface="Inter"/>
              </a:rPr>
              <a:t>web browser for APIs</a:t>
            </a:r>
            <a:r>
              <a:rPr sz="3200" b="0" i="0">
                <a:solidFill>
                  <a:srgbClr val="000000"/>
                </a:solidFill>
                <a:latin typeface="Inter"/>
              </a:rPr>
              <a:t>: type an address, press </a:t>
            </a:r>
            <a:r>
              <a:rPr sz="3200" b="1" i="0">
                <a:solidFill>
                  <a:srgbClr val="000000"/>
                </a:solidFill>
                <a:latin typeface="Inter"/>
              </a:rPr>
              <a:t>Send</a:t>
            </a:r>
            <a:r>
              <a:rPr sz="3200" b="0" i="0">
                <a:solidFill>
                  <a:srgbClr val="000000"/>
                </a:solidFill>
                <a:latin typeface="Inter"/>
              </a:rPr>
              <a:t>, read the answer.</a:t>
            </a:r>
          </a:p>
        </p:txBody>
      </p:sp>
      <p:sp>
        <p:nvSpPr>
          <p:cNvPr id="11" name="Rectangle 10"/>
          <p:cNvSpPr/>
          <p:nvPr/>
        </p:nvSpPr>
        <p:spPr>
          <a:xfrm>
            <a:off x="475488" y="5074920"/>
            <a:ext cx="5577840" cy="3840480"/>
          </a:xfrm>
          <a:prstGeom prst="rect">
            <a:avLst/>
          </a:prstGeom>
          <a:solidFill>
            <a:srgbClr val="FFFFFF"/>
          </a:solidFill>
          <a:ln w="12700">
            <a:solidFill>
              <a:srgbClr val="000000"/>
            </a:solidFill>
          </a:ln>
        </p:spPr>
        <p:txBody>
          <a:bodyPr rtlCol="0" anchor="ctr"/>
          <a:lstStyle/>
          <a:p>
            <a:pPr algn="ctr"/>
          </a:p>
        </p:txBody>
      </p:sp>
      <p:sp>
        <p:nvSpPr>
          <p:cNvPr id="12" name="Oval 11"/>
          <p:cNvSpPr/>
          <p:nvPr/>
        </p:nvSpPr>
        <p:spPr>
          <a:xfrm>
            <a:off x="795528" y="5394960"/>
            <a:ext cx="548640" cy="548640"/>
          </a:xfrm>
          <a:prstGeom prst="ellipse">
            <a:avLst/>
          </a:prstGeom>
          <a:solidFill>
            <a:srgbClr val="E8FC2E"/>
          </a:solidFill>
          <a:ln w="12700">
            <a:solidFill>
              <a:srgbClr val="000000"/>
            </a:solidFill>
          </a:ln>
        </p:spPr>
        <p:txBody>
          <a:bodyPr rtlCol="0" anchor="ctr" wrap="none" lIns="0" rIns="0" tIns="0" bIns="0">
            <a:noAutofit/>
          </a:bodyPr>
          <a:lstStyle/>
          <a:p>
            <a:pPr algn="ctr"/>
            <a:r>
              <a:rPr sz="2200" b="1" i="0">
                <a:solidFill>
                  <a:srgbClr val="000000"/>
                </a:solidFill>
                <a:latin typeface="Inter"/>
              </a:rPr>
              <a:t>1</a:t>
            </a:r>
          </a:p>
        </p:txBody>
      </p:sp>
      <p:pic>
        <p:nvPicPr>
          <p:cNvPr id="13" name="Picture 12" descr="download.png"/>
          <p:cNvPicPr>
            <a:picLocks noChangeAspect="1"/>
          </p:cNvPicPr>
          <p:nvPr/>
        </p:nvPicPr>
        <p:blipFill>
          <a:blip r:embed="rId3"/>
          <a:stretch>
            <a:fillRect/>
          </a:stretch>
        </p:blipFill>
        <p:spPr>
          <a:xfrm>
            <a:off x="5047488" y="5394960"/>
            <a:ext cx="640080" cy="640080"/>
          </a:xfrm>
          <a:prstGeom prst="rect">
            <a:avLst/>
          </a:prstGeom>
        </p:spPr>
      </p:pic>
      <p:sp>
        <p:nvSpPr>
          <p:cNvPr id="14" name="TextBox 13"/>
          <p:cNvSpPr txBox="1"/>
          <p:nvPr/>
        </p:nvSpPr>
        <p:spPr>
          <a:xfrm>
            <a:off x="795528" y="6217920"/>
            <a:ext cx="4937760" cy="548640"/>
          </a:xfrm>
          <a:prstGeom prst="rect">
            <a:avLst/>
          </a:prstGeom>
          <a:noFill/>
        </p:spPr>
        <p:txBody>
          <a:bodyPr wrap="square" lIns="0" rIns="0" tIns="0" bIns="0" anchor="t">
            <a:noAutofit/>
          </a:bodyPr>
          <a:lstStyle/>
          <a:p>
            <a:pPr algn="l"/>
            <a:r>
              <a:rPr sz="3000" b="1" i="0">
                <a:solidFill>
                  <a:srgbClr val="000000"/>
                </a:solidFill>
                <a:latin typeface="Inter"/>
              </a:rPr>
              <a:t>Download it</a:t>
            </a:r>
          </a:p>
        </p:txBody>
      </p:sp>
      <p:sp>
        <p:nvSpPr>
          <p:cNvPr id="15" name="TextBox 14"/>
          <p:cNvSpPr txBox="1"/>
          <p:nvPr/>
        </p:nvSpPr>
        <p:spPr>
          <a:xfrm>
            <a:off x="795528" y="6858000"/>
            <a:ext cx="4937760" cy="1280160"/>
          </a:xfrm>
          <a:prstGeom prst="rect">
            <a:avLst/>
          </a:prstGeom>
          <a:noFill/>
        </p:spPr>
        <p:txBody>
          <a:bodyPr wrap="square" lIns="0" rIns="0" tIns="0" bIns="0" anchor="t">
            <a:noAutofit/>
          </a:bodyPr>
          <a:lstStyle/>
          <a:p>
            <a:pPr algn="l"/>
            <a:r>
              <a:rPr sz="2100" b="0" i="0">
                <a:solidFill>
                  <a:srgbClr val="2C2825"/>
                </a:solidFill>
                <a:latin typeface="Inter"/>
              </a:rPr>
              <a:t>Free for Windows and Mac.</a:t>
            </a:r>
          </a:p>
        </p:txBody>
      </p:sp>
      <p:sp>
        <p:nvSpPr>
          <p:cNvPr id="16" name="TextBox 15"/>
          <p:cNvSpPr txBox="1"/>
          <p:nvPr/>
        </p:nvSpPr>
        <p:spPr>
          <a:xfrm>
            <a:off x="795528" y="8321040"/>
            <a:ext cx="4937760" cy="365760"/>
          </a:xfrm>
          <a:prstGeom prst="rect">
            <a:avLst/>
          </a:prstGeom>
          <a:noFill/>
        </p:spPr>
        <p:txBody>
          <a:bodyPr wrap="square" lIns="0" rIns="0" tIns="0" bIns="0" anchor="t">
            <a:noAutofit/>
          </a:bodyPr>
          <a:lstStyle/>
          <a:p>
            <a:pPr algn="l"/>
            <a:r>
              <a:rPr sz="1400" b="0" i="0">
                <a:solidFill>
                  <a:srgbClr val="5A574F"/>
                </a:solidFill>
                <a:latin typeface="Roboto Mono"/>
              </a:rPr>
              <a:t>POSTMAN.COM/DOWNLOADS</a:t>
            </a:r>
          </a:p>
        </p:txBody>
      </p:sp>
      <p:sp>
        <p:nvSpPr>
          <p:cNvPr id="17" name="Rectangle 16"/>
          <p:cNvSpPr/>
          <p:nvPr/>
        </p:nvSpPr>
        <p:spPr>
          <a:xfrm>
            <a:off x="6355080" y="5074920"/>
            <a:ext cx="5577840" cy="3840480"/>
          </a:xfrm>
          <a:prstGeom prst="rect">
            <a:avLst/>
          </a:prstGeom>
          <a:solidFill>
            <a:srgbClr val="FFFFFF"/>
          </a:solidFill>
          <a:ln w="12700">
            <a:solidFill>
              <a:srgbClr val="000000"/>
            </a:solidFill>
          </a:ln>
        </p:spPr>
        <p:txBody>
          <a:bodyPr rtlCol="0" anchor="ctr"/>
          <a:lstStyle/>
          <a:p>
            <a:pPr algn="ctr"/>
          </a:p>
        </p:txBody>
      </p:sp>
      <p:sp>
        <p:nvSpPr>
          <p:cNvPr id="18" name="Oval 17"/>
          <p:cNvSpPr/>
          <p:nvPr/>
        </p:nvSpPr>
        <p:spPr>
          <a:xfrm>
            <a:off x="6675120" y="5394960"/>
            <a:ext cx="548640" cy="548640"/>
          </a:xfrm>
          <a:prstGeom prst="ellipse">
            <a:avLst/>
          </a:prstGeom>
          <a:solidFill>
            <a:srgbClr val="E8FC2E"/>
          </a:solidFill>
          <a:ln w="12700">
            <a:solidFill>
              <a:srgbClr val="000000"/>
            </a:solidFill>
          </a:ln>
        </p:spPr>
        <p:txBody>
          <a:bodyPr rtlCol="0" anchor="ctr" wrap="none" lIns="0" rIns="0" tIns="0" bIns="0">
            <a:noAutofit/>
          </a:bodyPr>
          <a:lstStyle/>
          <a:p>
            <a:pPr algn="ctr"/>
            <a:r>
              <a:rPr sz="2200" b="1" i="0">
                <a:solidFill>
                  <a:srgbClr val="000000"/>
                </a:solidFill>
                <a:latin typeface="Inter"/>
              </a:rPr>
              <a:t>2</a:t>
            </a:r>
          </a:p>
        </p:txBody>
      </p:sp>
      <p:pic>
        <p:nvPicPr>
          <p:cNvPr id="19" name="Picture 18" descr="user.png"/>
          <p:cNvPicPr>
            <a:picLocks noChangeAspect="1"/>
          </p:cNvPicPr>
          <p:nvPr/>
        </p:nvPicPr>
        <p:blipFill>
          <a:blip r:embed="rId4"/>
          <a:stretch>
            <a:fillRect/>
          </a:stretch>
        </p:blipFill>
        <p:spPr>
          <a:xfrm>
            <a:off x="10927080" y="5394960"/>
            <a:ext cx="640080" cy="640080"/>
          </a:xfrm>
          <a:prstGeom prst="rect">
            <a:avLst/>
          </a:prstGeom>
        </p:spPr>
      </p:pic>
      <p:sp>
        <p:nvSpPr>
          <p:cNvPr id="20" name="TextBox 19"/>
          <p:cNvSpPr txBox="1"/>
          <p:nvPr/>
        </p:nvSpPr>
        <p:spPr>
          <a:xfrm>
            <a:off x="6675120" y="6217920"/>
            <a:ext cx="4937760" cy="548640"/>
          </a:xfrm>
          <a:prstGeom prst="rect">
            <a:avLst/>
          </a:prstGeom>
          <a:noFill/>
        </p:spPr>
        <p:txBody>
          <a:bodyPr wrap="square" lIns="0" rIns="0" tIns="0" bIns="0" anchor="t">
            <a:noAutofit/>
          </a:bodyPr>
          <a:lstStyle/>
          <a:p>
            <a:pPr algn="l"/>
            <a:r>
              <a:rPr sz="3000" b="1" i="0">
                <a:solidFill>
                  <a:srgbClr val="000000"/>
                </a:solidFill>
                <a:latin typeface="Inter"/>
              </a:rPr>
              <a:t>Sign in</a:t>
            </a:r>
          </a:p>
        </p:txBody>
      </p:sp>
      <p:sp>
        <p:nvSpPr>
          <p:cNvPr id="21" name="TextBox 20"/>
          <p:cNvSpPr txBox="1"/>
          <p:nvPr/>
        </p:nvSpPr>
        <p:spPr>
          <a:xfrm>
            <a:off x="6675120" y="6858000"/>
            <a:ext cx="4937760" cy="1280160"/>
          </a:xfrm>
          <a:prstGeom prst="rect">
            <a:avLst/>
          </a:prstGeom>
          <a:noFill/>
        </p:spPr>
        <p:txBody>
          <a:bodyPr wrap="square" lIns="0" rIns="0" tIns="0" bIns="0" anchor="t">
            <a:noAutofit/>
          </a:bodyPr>
          <a:lstStyle/>
          <a:p>
            <a:pPr algn="l"/>
            <a:r>
              <a:rPr sz="2100" b="0" i="0">
                <a:solidFill>
                  <a:srgbClr val="2C2825"/>
                </a:solidFill>
                <a:latin typeface="Inter"/>
              </a:rPr>
              <a:t>Create a free account, or sign in with Google.</a:t>
            </a:r>
          </a:p>
        </p:txBody>
      </p:sp>
      <p:sp>
        <p:nvSpPr>
          <p:cNvPr id="22" name="TextBox 21"/>
          <p:cNvSpPr txBox="1"/>
          <p:nvPr/>
        </p:nvSpPr>
        <p:spPr>
          <a:xfrm>
            <a:off x="6675120" y="8321040"/>
            <a:ext cx="4937760" cy="365760"/>
          </a:xfrm>
          <a:prstGeom prst="rect">
            <a:avLst/>
          </a:prstGeom>
          <a:noFill/>
        </p:spPr>
        <p:txBody>
          <a:bodyPr wrap="square" lIns="0" rIns="0" tIns="0" bIns="0" anchor="t">
            <a:noAutofit/>
          </a:bodyPr>
          <a:lstStyle/>
          <a:p>
            <a:pPr algn="l"/>
            <a:r>
              <a:rPr sz="1400" b="0" i="0">
                <a:solidFill>
                  <a:srgbClr val="5A574F"/>
                </a:solidFill>
                <a:latin typeface="Roboto Mono"/>
              </a:rPr>
              <a:t>NO PAYMENT NEEDED</a:t>
            </a:r>
          </a:p>
        </p:txBody>
      </p:sp>
      <p:sp>
        <p:nvSpPr>
          <p:cNvPr id="23" name="Rectangle 22"/>
          <p:cNvSpPr/>
          <p:nvPr/>
        </p:nvSpPr>
        <p:spPr>
          <a:xfrm>
            <a:off x="12234672" y="5074920"/>
            <a:ext cx="5577840" cy="3840480"/>
          </a:xfrm>
          <a:prstGeom prst="rect">
            <a:avLst/>
          </a:prstGeom>
          <a:solidFill>
            <a:srgbClr val="FFFFFF"/>
          </a:solidFill>
          <a:ln w="12700">
            <a:solidFill>
              <a:srgbClr val="000000"/>
            </a:solidFill>
          </a:ln>
        </p:spPr>
        <p:txBody>
          <a:bodyPr rtlCol="0" anchor="ctr"/>
          <a:lstStyle/>
          <a:p>
            <a:pPr algn="ctr"/>
          </a:p>
        </p:txBody>
      </p:sp>
      <p:sp>
        <p:nvSpPr>
          <p:cNvPr id="24" name="Oval 23"/>
          <p:cNvSpPr/>
          <p:nvPr/>
        </p:nvSpPr>
        <p:spPr>
          <a:xfrm>
            <a:off x="12554712" y="5394960"/>
            <a:ext cx="548640" cy="548640"/>
          </a:xfrm>
          <a:prstGeom prst="ellipse">
            <a:avLst/>
          </a:prstGeom>
          <a:solidFill>
            <a:srgbClr val="E8FC2E"/>
          </a:solidFill>
          <a:ln w="12700">
            <a:solidFill>
              <a:srgbClr val="000000"/>
            </a:solidFill>
          </a:ln>
        </p:spPr>
        <p:txBody>
          <a:bodyPr rtlCol="0" anchor="ctr" wrap="none" lIns="0" rIns="0" tIns="0" bIns="0">
            <a:noAutofit/>
          </a:bodyPr>
          <a:lstStyle/>
          <a:p>
            <a:pPr algn="ctr"/>
            <a:r>
              <a:rPr sz="2200" b="1" i="0">
                <a:solidFill>
                  <a:srgbClr val="000000"/>
                </a:solidFill>
                <a:latin typeface="Inter"/>
              </a:rPr>
              <a:t>3</a:t>
            </a:r>
          </a:p>
        </p:txBody>
      </p:sp>
      <p:pic>
        <p:nvPicPr>
          <p:cNvPr id="25" name="Picture 24" descr="send.png"/>
          <p:cNvPicPr>
            <a:picLocks noChangeAspect="1"/>
          </p:cNvPicPr>
          <p:nvPr/>
        </p:nvPicPr>
        <p:blipFill>
          <a:blip r:embed="rId5"/>
          <a:stretch>
            <a:fillRect/>
          </a:stretch>
        </p:blipFill>
        <p:spPr>
          <a:xfrm>
            <a:off x="16806672" y="5394960"/>
            <a:ext cx="640080" cy="640080"/>
          </a:xfrm>
          <a:prstGeom prst="rect">
            <a:avLst/>
          </a:prstGeom>
        </p:spPr>
      </p:pic>
      <p:sp>
        <p:nvSpPr>
          <p:cNvPr id="26" name="TextBox 25"/>
          <p:cNvSpPr txBox="1"/>
          <p:nvPr/>
        </p:nvSpPr>
        <p:spPr>
          <a:xfrm>
            <a:off x="12554712" y="6217920"/>
            <a:ext cx="4937760" cy="548640"/>
          </a:xfrm>
          <a:prstGeom prst="rect">
            <a:avLst/>
          </a:prstGeom>
          <a:noFill/>
        </p:spPr>
        <p:txBody>
          <a:bodyPr wrap="square" lIns="0" rIns="0" tIns="0" bIns="0" anchor="t">
            <a:noAutofit/>
          </a:bodyPr>
          <a:lstStyle/>
          <a:p>
            <a:pPr algn="l"/>
            <a:r>
              <a:rPr sz="3000" b="1" i="0">
                <a:solidFill>
                  <a:srgbClr val="000000"/>
                </a:solidFill>
                <a:latin typeface="Inter"/>
              </a:rPr>
              <a:t>Open it</a:t>
            </a:r>
          </a:p>
        </p:txBody>
      </p:sp>
      <p:sp>
        <p:nvSpPr>
          <p:cNvPr id="27" name="TextBox 26"/>
          <p:cNvSpPr txBox="1"/>
          <p:nvPr/>
        </p:nvSpPr>
        <p:spPr>
          <a:xfrm>
            <a:off x="12554712" y="6858000"/>
            <a:ext cx="4937760" cy="1280160"/>
          </a:xfrm>
          <a:prstGeom prst="rect">
            <a:avLst/>
          </a:prstGeom>
          <a:noFill/>
        </p:spPr>
        <p:txBody>
          <a:bodyPr wrap="square" lIns="0" rIns="0" tIns="0" bIns="0" anchor="t">
            <a:noAutofit/>
          </a:bodyPr>
          <a:lstStyle/>
          <a:p>
            <a:pPr algn="l"/>
            <a:r>
              <a:rPr sz="2100" b="0" i="0">
                <a:solidFill>
                  <a:srgbClr val="2C2825"/>
                </a:solidFill>
                <a:latin typeface="Inter"/>
              </a:rPr>
              <a:t>Collections are on the left. Requests open as tabs in the middle.</a:t>
            </a:r>
          </a:p>
        </p:txBody>
      </p:sp>
      <p:sp>
        <p:nvSpPr>
          <p:cNvPr id="28" name="TextBox 27"/>
          <p:cNvSpPr txBox="1"/>
          <p:nvPr/>
        </p:nvSpPr>
        <p:spPr>
          <a:xfrm>
            <a:off x="12554712" y="8321040"/>
            <a:ext cx="4937760" cy="365760"/>
          </a:xfrm>
          <a:prstGeom prst="rect">
            <a:avLst/>
          </a:prstGeom>
          <a:noFill/>
        </p:spPr>
        <p:txBody>
          <a:bodyPr wrap="square" lIns="0" rIns="0" tIns="0" bIns="0" anchor="t">
            <a:noAutofit/>
          </a:bodyPr>
          <a:lstStyle/>
          <a:p>
            <a:pPr algn="l"/>
            <a:r>
              <a:rPr sz="1400" b="0" i="0">
                <a:solidFill>
                  <a:srgbClr val="5A574F"/>
                </a:solidFill>
                <a:latin typeface="Roboto Mono"/>
              </a:rPr>
              <a:t>THAT'S ALL FOR NOW</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ED"/>
        </a:solidFill>
        <a:effectLst/>
      </p:bgPr>
    </p:bg>
    <p:spTree>
      <p:nvGrpSpPr>
        <p:cNvPr id="1" name=""/>
        <p:cNvGrpSpPr/>
        <p:nvPr/>
      </p:nvGrpSpPr>
      <p:grpSpPr/>
      <p:pic>
        <p:nvPicPr>
          <p:cNvPr id="2" name="Picture 1" descr="s1_0.png"/>
          <p:cNvPicPr>
            <a:picLocks noChangeAspect="1"/>
          </p:cNvPicPr>
          <p:nvPr/>
        </p:nvPicPr>
        <p:blipFill>
          <a:blip r:embed="rId2"/>
          <a:stretch>
            <a:fillRect/>
          </a:stretch>
        </p:blipFill>
        <p:spPr>
          <a:xfrm>
            <a:off x="475488" y="594360"/>
            <a:ext cx="1655064" cy="384048"/>
          </a:xfrm>
          <a:prstGeom prst="rect">
            <a:avLst/>
          </a:prstGeom>
        </p:spPr>
      </p:pic>
      <p:sp>
        <p:nvSpPr>
          <p:cNvPr id="3" name="Rectangle 2"/>
          <p:cNvSpPr/>
          <p:nvPr/>
        </p:nvSpPr>
        <p:spPr>
          <a:xfrm>
            <a:off x="2441448" y="777240"/>
            <a:ext cx="15371064" cy="10972"/>
          </a:xfrm>
          <a:prstGeom prst="rect">
            <a:avLst/>
          </a:prstGeom>
          <a:solidFill>
            <a:srgbClr val="000000"/>
          </a:solidFill>
          <a:ln>
            <a:noFill/>
          </a:ln>
        </p:spPr>
        <p:txBody>
          <a:bodyPr rtlCol="0" anchor="ctr"/>
          <a:lstStyle/>
          <a:p>
            <a:pPr algn="ctr"/>
          </a:p>
        </p:txBody>
      </p:sp>
      <p:sp>
        <p:nvSpPr>
          <p:cNvPr id="4" name="TextBox 3"/>
          <p:cNvSpPr txBox="1"/>
          <p:nvPr/>
        </p:nvSpPr>
        <p:spPr>
          <a:xfrm>
            <a:off x="475488" y="1527048"/>
            <a:ext cx="10972800" cy="365760"/>
          </a:xfrm>
          <a:prstGeom prst="rect">
            <a:avLst/>
          </a:prstGeom>
          <a:noFill/>
        </p:spPr>
        <p:txBody>
          <a:bodyPr wrap="square" lIns="0" rIns="0" tIns="0" bIns="0" anchor="t">
            <a:noAutofit/>
          </a:bodyPr>
          <a:lstStyle/>
          <a:p>
            <a:pPr algn="l"/>
            <a:r>
              <a:rPr sz="1800" b="0" i="0">
                <a:solidFill>
                  <a:srgbClr val="000000"/>
                </a:solidFill>
                <a:latin typeface="Roboto Mono"/>
              </a:rPr>
              <a:t>PART 4 · HANDS-ON WITH POSTMAN</a:t>
            </a:r>
          </a:p>
        </p:txBody>
      </p:sp>
      <p:sp>
        <p:nvSpPr>
          <p:cNvPr id="5" name="Title"/>
          <p:cNvSpPr txBox="1"/>
          <p:nvPr/>
        </p:nvSpPr>
        <p:spPr>
          <a:xfrm>
            <a:off x="475488" y="2011680"/>
            <a:ext cx="17337024" cy="868680"/>
          </a:xfrm>
          <a:prstGeom prst="rect">
            <a:avLst/>
          </a:prstGeom>
          <a:noFill/>
        </p:spPr>
        <p:txBody>
          <a:bodyPr wrap="square" lIns="0" rIns="0" tIns="0" bIns="0" anchor="t">
            <a:noAutofit/>
          </a:bodyPr>
          <a:lstStyle/>
          <a:p>
            <a:pPr algn="l">
              <a:lnSpc>
                <a:spcPct val="95000"/>
              </a:lnSpc>
            </a:pPr>
            <a:r>
              <a:rPr sz="4600" b="1" i="0">
                <a:solidFill>
                  <a:srgbClr val="000000"/>
                </a:solidFill>
                <a:latin typeface="Inter"/>
              </a:rPr>
              <a:t>Import the collection and the environment</a:t>
            </a:r>
          </a:p>
        </p:txBody>
      </p:sp>
      <p:sp>
        <p:nvSpPr>
          <p:cNvPr id="6" name="Rectangle 5"/>
          <p:cNvSpPr/>
          <p:nvPr/>
        </p:nvSpPr>
        <p:spPr>
          <a:xfrm>
            <a:off x="475488" y="9189720"/>
            <a:ext cx="17337024" cy="10972"/>
          </a:xfrm>
          <a:prstGeom prst="rect">
            <a:avLst/>
          </a:prstGeom>
          <a:solidFill>
            <a:srgbClr val="000000"/>
          </a:solidFill>
          <a:ln>
            <a:noFill/>
          </a:ln>
        </p:spPr>
        <p:txBody>
          <a:bodyPr rtlCol="0" anchor="ctr"/>
          <a:lstStyle/>
          <a:p>
            <a:pPr algn="ctr"/>
          </a:p>
        </p:txBody>
      </p:sp>
      <p:sp>
        <p:nvSpPr>
          <p:cNvPr id="7" name="TextBox 6"/>
          <p:cNvSpPr txBox="1"/>
          <p:nvPr/>
        </p:nvSpPr>
        <p:spPr>
          <a:xfrm>
            <a:off x="475488" y="9354312"/>
            <a:ext cx="2743200" cy="338328"/>
          </a:xfrm>
          <a:prstGeom prst="rect">
            <a:avLst/>
          </a:prstGeom>
          <a:noFill/>
        </p:spPr>
        <p:txBody>
          <a:bodyPr wrap="square" lIns="0" rIns="0" tIns="0" bIns="0" anchor="t">
            <a:noAutofit/>
          </a:bodyPr>
          <a:lstStyle/>
          <a:p>
            <a:pPr algn="l"/>
            <a:r>
              <a:rPr sz="1800" b="0" i="0">
                <a:solidFill>
                  <a:srgbClr val="000000"/>
                </a:solidFill>
                <a:latin typeface="Roboto Mono"/>
              </a:rPr>
              <a:t>CALIRA.CO</a:t>
            </a:r>
          </a:p>
        </p:txBody>
      </p:sp>
      <p:sp>
        <p:nvSpPr>
          <p:cNvPr id="8" name="TextBox 7"/>
          <p:cNvSpPr txBox="1"/>
          <p:nvPr/>
        </p:nvSpPr>
        <p:spPr>
          <a:xfrm>
            <a:off x="15983712" y="9354312"/>
            <a:ext cx="1828800" cy="338328"/>
          </a:xfrm>
          <a:prstGeom prst="rect">
            <a:avLst/>
          </a:prstGeom>
          <a:noFill/>
        </p:spPr>
        <p:txBody>
          <a:bodyPr wrap="square" lIns="0" rIns="0" tIns="0" bIns="0" anchor="t">
            <a:noAutofit/>
          </a:bodyPr>
          <a:lstStyle/>
          <a:p>
            <a:pPr algn="r"/>
            <a:r>
              <a:rPr sz="1800" b="0" i="0">
                <a:solidFill>
                  <a:srgbClr val="000000"/>
                </a:solidFill>
                <a:latin typeface="Roboto Mono"/>
              </a:rPr>
              <a:t>23</a:t>
            </a:r>
          </a:p>
        </p:txBody>
      </p:sp>
      <p:sp>
        <p:nvSpPr>
          <p:cNvPr id="9" name="Oval 8"/>
          <p:cNvSpPr/>
          <p:nvPr/>
        </p:nvSpPr>
        <p:spPr>
          <a:xfrm>
            <a:off x="475488" y="3200400"/>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1</a:t>
            </a:r>
          </a:p>
        </p:txBody>
      </p:sp>
      <p:sp>
        <p:nvSpPr>
          <p:cNvPr id="10" name="TextBox 9"/>
          <p:cNvSpPr txBox="1"/>
          <p:nvPr/>
        </p:nvSpPr>
        <p:spPr>
          <a:xfrm>
            <a:off x="1161288" y="3255264"/>
            <a:ext cx="7818120" cy="868680"/>
          </a:xfrm>
          <a:prstGeom prst="rect">
            <a:avLst/>
          </a:prstGeom>
          <a:noFill/>
        </p:spPr>
        <p:txBody>
          <a:bodyPr wrap="square" lIns="0" rIns="0" tIns="0" bIns="0" anchor="t">
            <a:noAutofit/>
          </a:bodyPr>
          <a:lstStyle/>
          <a:p>
            <a:pPr algn="l"/>
            <a:r>
              <a:rPr sz="2000" b="0" i="0">
                <a:solidFill>
                  <a:srgbClr val="000000"/>
                </a:solidFill>
                <a:latin typeface="Inter"/>
              </a:rPr>
              <a:t>Click </a:t>
            </a:r>
            <a:r>
              <a:rPr sz="2000" b="1" i="0">
                <a:solidFill>
                  <a:srgbClr val="000000"/>
                </a:solidFill>
                <a:latin typeface="Inter"/>
              </a:rPr>
              <a:t>Import</a:t>
            </a:r>
            <a:r>
              <a:rPr sz="2000" b="0" i="0">
                <a:solidFill>
                  <a:srgbClr val="000000"/>
                </a:solidFill>
                <a:latin typeface="Inter"/>
              </a:rPr>
              <a:t> at the top of the left sidebar.</a:t>
            </a:r>
          </a:p>
        </p:txBody>
      </p:sp>
      <p:sp>
        <p:nvSpPr>
          <p:cNvPr id="11" name="Oval 10"/>
          <p:cNvSpPr/>
          <p:nvPr/>
        </p:nvSpPr>
        <p:spPr>
          <a:xfrm>
            <a:off x="475488" y="4160520"/>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2</a:t>
            </a:r>
          </a:p>
        </p:txBody>
      </p:sp>
      <p:sp>
        <p:nvSpPr>
          <p:cNvPr id="12" name="TextBox 11"/>
          <p:cNvSpPr txBox="1"/>
          <p:nvPr/>
        </p:nvSpPr>
        <p:spPr>
          <a:xfrm>
            <a:off x="1161288" y="4215383"/>
            <a:ext cx="7818120" cy="868680"/>
          </a:xfrm>
          <a:prstGeom prst="rect">
            <a:avLst/>
          </a:prstGeom>
          <a:noFill/>
        </p:spPr>
        <p:txBody>
          <a:bodyPr wrap="square" lIns="0" rIns="0" tIns="0" bIns="0" anchor="t">
            <a:noAutofit/>
          </a:bodyPr>
          <a:lstStyle/>
          <a:p>
            <a:pPr algn="l"/>
            <a:r>
              <a:rPr sz="2000" b="0" i="0">
                <a:solidFill>
                  <a:srgbClr val="000000"/>
                </a:solidFill>
                <a:latin typeface="Inter"/>
              </a:rPr>
              <a:t>Drag </a:t>
            </a:r>
            <a:r>
              <a:rPr sz="2000" b="1" i="0">
                <a:solidFill>
                  <a:srgbClr val="000000"/>
                </a:solidFill>
                <a:latin typeface="Inter"/>
              </a:rPr>
              <a:t>both files</a:t>
            </a:r>
            <a:r>
              <a:rPr sz="2000" b="0" i="0">
                <a:solidFill>
                  <a:srgbClr val="000000"/>
                </a:solidFill>
                <a:latin typeface="Inter"/>
              </a:rPr>
              <a:t> into the box, then click </a:t>
            </a:r>
            <a:r>
              <a:rPr sz="2000" b="1" i="0">
                <a:solidFill>
                  <a:srgbClr val="000000"/>
                </a:solidFill>
                <a:latin typeface="Inter"/>
              </a:rPr>
              <a:t>Import</a:t>
            </a:r>
            <a:r>
              <a:rPr sz="2000" b="0" i="0">
                <a:solidFill>
                  <a:srgbClr val="000000"/>
                </a:solidFill>
                <a:latin typeface="Inter"/>
              </a:rPr>
              <a:t>.</a:t>
            </a:r>
          </a:p>
        </p:txBody>
      </p:sp>
      <p:sp>
        <p:nvSpPr>
          <p:cNvPr id="13" name="Oval 12"/>
          <p:cNvSpPr/>
          <p:nvPr/>
        </p:nvSpPr>
        <p:spPr>
          <a:xfrm>
            <a:off x="475488" y="5120640"/>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3</a:t>
            </a:r>
          </a:p>
        </p:txBody>
      </p:sp>
      <p:sp>
        <p:nvSpPr>
          <p:cNvPr id="14" name="TextBox 13"/>
          <p:cNvSpPr txBox="1"/>
          <p:nvPr/>
        </p:nvSpPr>
        <p:spPr>
          <a:xfrm>
            <a:off x="1161288" y="5175503"/>
            <a:ext cx="7818120" cy="868680"/>
          </a:xfrm>
          <a:prstGeom prst="rect">
            <a:avLst/>
          </a:prstGeom>
          <a:noFill/>
        </p:spPr>
        <p:txBody>
          <a:bodyPr wrap="square" lIns="0" rIns="0" tIns="0" bIns="0" anchor="t">
            <a:noAutofit/>
          </a:bodyPr>
          <a:lstStyle/>
          <a:p>
            <a:pPr algn="l"/>
            <a:r>
              <a:rPr sz="2000" b="0" i="0">
                <a:solidFill>
                  <a:srgbClr val="000000"/>
                </a:solidFill>
                <a:latin typeface="Inter"/>
              </a:rPr>
              <a:t>Check </a:t>
            </a:r>
            <a:r>
              <a:rPr sz="2000" b="1" i="0">
                <a:solidFill>
                  <a:srgbClr val="000000"/>
                </a:solidFill>
                <a:latin typeface="Inter"/>
              </a:rPr>
              <a:t>Calira API</a:t>
            </a:r>
            <a:r>
              <a:rPr sz="2000" b="0" i="0">
                <a:solidFill>
                  <a:srgbClr val="000000"/>
                </a:solidFill>
                <a:latin typeface="Inter"/>
              </a:rPr>
              <a:t> is under Collections and </a:t>
            </a:r>
            <a:r>
              <a:rPr sz="2000" b="1" i="0">
                <a:solidFill>
                  <a:srgbClr val="000000"/>
                </a:solidFill>
                <a:latin typeface="Inter"/>
              </a:rPr>
              <a:t>Calira</a:t>
            </a:r>
            <a:r>
              <a:rPr sz="2000" b="0" i="0">
                <a:solidFill>
                  <a:srgbClr val="000000"/>
                </a:solidFill>
                <a:latin typeface="Inter"/>
              </a:rPr>
              <a:t> under Environments.</a:t>
            </a:r>
          </a:p>
        </p:txBody>
      </p:sp>
      <p:sp>
        <p:nvSpPr>
          <p:cNvPr id="15" name="Rectangle 14"/>
          <p:cNvSpPr/>
          <p:nvPr/>
        </p:nvSpPr>
        <p:spPr>
          <a:xfrm>
            <a:off x="475488" y="6172200"/>
            <a:ext cx="4114800" cy="2743200"/>
          </a:xfrm>
          <a:prstGeom prst="rect">
            <a:avLst/>
          </a:prstGeom>
          <a:solidFill>
            <a:srgbClr val="FFFFFF"/>
          </a:solidFill>
          <a:ln w="12700">
            <a:solidFill>
              <a:srgbClr val="000000"/>
            </a:solidFill>
          </a:ln>
        </p:spPr>
        <p:txBody>
          <a:bodyPr rtlCol="0" anchor="ctr"/>
          <a:lstStyle/>
          <a:p>
            <a:pPr algn="ctr"/>
          </a:p>
        </p:txBody>
      </p:sp>
      <p:sp>
        <p:nvSpPr>
          <p:cNvPr id="16" name="TextBox 15"/>
          <p:cNvSpPr txBox="1"/>
          <p:nvPr/>
        </p:nvSpPr>
        <p:spPr>
          <a:xfrm>
            <a:off x="749808" y="6446520"/>
            <a:ext cx="3657600" cy="365760"/>
          </a:xfrm>
          <a:prstGeom prst="rect">
            <a:avLst/>
          </a:prstGeom>
          <a:noFill/>
        </p:spPr>
        <p:txBody>
          <a:bodyPr wrap="square" lIns="0" rIns="0" tIns="0" bIns="0" anchor="t">
            <a:noAutofit/>
          </a:bodyPr>
          <a:lstStyle/>
          <a:p>
            <a:pPr algn="l"/>
            <a:r>
              <a:rPr sz="1600" b="0" i="0">
                <a:solidFill>
                  <a:srgbClr val="000000"/>
                </a:solidFill>
                <a:latin typeface="Roboto Mono"/>
              </a:rPr>
              <a:t>COLLECTION</a:t>
            </a:r>
          </a:p>
        </p:txBody>
      </p:sp>
      <p:sp>
        <p:nvSpPr>
          <p:cNvPr id="17" name="TextBox 16"/>
          <p:cNvSpPr txBox="1"/>
          <p:nvPr/>
        </p:nvSpPr>
        <p:spPr>
          <a:xfrm>
            <a:off x="749808" y="6949440"/>
            <a:ext cx="3611880" cy="1920240"/>
          </a:xfrm>
          <a:prstGeom prst="rect">
            <a:avLst/>
          </a:prstGeom>
          <a:noFill/>
        </p:spPr>
        <p:txBody>
          <a:bodyPr wrap="square" lIns="0" rIns="0" tIns="0" bIns="0" anchor="t">
            <a:noAutofit/>
          </a:bodyPr>
          <a:lstStyle/>
          <a:p>
            <a:pPr algn="l"/>
            <a:r>
              <a:rPr sz="1900" b="0" i="0">
                <a:solidFill>
                  <a:srgbClr val="2C2825"/>
                </a:solidFill>
                <a:latin typeface="Inter"/>
              </a:rPr>
              <a:t>The ready-made requests: one for each thing the API can do.</a:t>
            </a:r>
          </a:p>
        </p:txBody>
      </p:sp>
      <p:sp>
        <p:nvSpPr>
          <p:cNvPr id="18" name="Rectangle 17"/>
          <p:cNvSpPr/>
          <p:nvPr/>
        </p:nvSpPr>
        <p:spPr>
          <a:xfrm>
            <a:off x="4864608" y="6172200"/>
            <a:ext cx="4114800" cy="2743200"/>
          </a:xfrm>
          <a:prstGeom prst="rect">
            <a:avLst/>
          </a:prstGeom>
          <a:solidFill>
            <a:srgbClr val="FFFFFF"/>
          </a:solidFill>
          <a:ln w="12700">
            <a:solidFill>
              <a:srgbClr val="000000"/>
            </a:solidFill>
          </a:ln>
        </p:spPr>
        <p:txBody>
          <a:bodyPr rtlCol="0" anchor="ctr"/>
          <a:lstStyle/>
          <a:p>
            <a:pPr algn="ctr"/>
          </a:p>
        </p:txBody>
      </p:sp>
      <p:sp>
        <p:nvSpPr>
          <p:cNvPr id="19" name="TextBox 18"/>
          <p:cNvSpPr txBox="1"/>
          <p:nvPr/>
        </p:nvSpPr>
        <p:spPr>
          <a:xfrm>
            <a:off x="5138928" y="6446520"/>
            <a:ext cx="3657600" cy="365760"/>
          </a:xfrm>
          <a:prstGeom prst="rect">
            <a:avLst/>
          </a:prstGeom>
          <a:noFill/>
        </p:spPr>
        <p:txBody>
          <a:bodyPr wrap="square" lIns="0" rIns="0" tIns="0" bIns="0" anchor="t">
            <a:noAutofit/>
          </a:bodyPr>
          <a:lstStyle/>
          <a:p>
            <a:pPr algn="l"/>
            <a:r>
              <a:rPr sz="1600" b="0" i="0">
                <a:solidFill>
                  <a:srgbClr val="000000"/>
                </a:solidFill>
                <a:latin typeface="Roboto Mono"/>
              </a:rPr>
              <a:t>ENVIRONMENT</a:t>
            </a:r>
          </a:p>
        </p:txBody>
      </p:sp>
      <p:sp>
        <p:nvSpPr>
          <p:cNvPr id="20" name="TextBox 19"/>
          <p:cNvSpPr txBox="1"/>
          <p:nvPr/>
        </p:nvSpPr>
        <p:spPr>
          <a:xfrm>
            <a:off x="5138928" y="6949440"/>
            <a:ext cx="3611880" cy="1920240"/>
          </a:xfrm>
          <a:prstGeom prst="rect">
            <a:avLst/>
          </a:prstGeom>
          <a:noFill/>
        </p:spPr>
        <p:txBody>
          <a:bodyPr wrap="square" lIns="0" rIns="0" tIns="0" bIns="0" anchor="t">
            <a:noAutofit/>
          </a:bodyPr>
          <a:lstStyle/>
          <a:p>
            <a:pPr algn="l"/>
            <a:r>
              <a:rPr sz="1900" b="0" i="0">
                <a:solidFill>
                  <a:srgbClr val="2C2825"/>
                </a:solidFill>
                <a:latin typeface="Inter"/>
              </a:rPr>
              <a:t>The settings sheet: addresses, IDs and your keys. Change it once and every request uses it.</a:t>
            </a:r>
          </a:p>
        </p:txBody>
      </p:sp>
      <p:sp>
        <p:nvSpPr>
          <p:cNvPr id="21" name="Rounded Rectangle 20"/>
          <p:cNvSpPr/>
          <p:nvPr/>
        </p:nvSpPr>
        <p:spPr>
          <a:xfrm>
            <a:off x="9235440" y="3154680"/>
            <a:ext cx="8577072" cy="5760720"/>
          </a:xfrm>
          <a:prstGeom prst="roundRect">
            <a:avLst>
              <a:gd name="adj" fmla="val 2000"/>
            </a:avLst>
          </a:prstGeom>
          <a:solidFill>
            <a:srgbClr val="FFFFFF"/>
          </a:solidFill>
          <a:ln w="15875">
            <a:solidFill>
              <a:srgbClr val="000000"/>
            </a:solidFill>
          </a:ln>
        </p:spPr>
        <p:txBody>
          <a:bodyPr rtlCol="0" anchor="ctr"/>
          <a:lstStyle/>
          <a:p>
            <a:pPr algn="ctr"/>
          </a:p>
        </p:txBody>
      </p:sp>
      <p:sp>
        <p:nvSpPr>
          <p:cNvPr id="22" name="Rectangle 21"/>
          <p:cNvSpPr/>
          <p:nvPr/>
        </p:nvSpPr>
        <p:spPr>
          <a:xfrm>
            <a:off x="9235440" y="3154680"/>
            <a:ext cx="8577072" cy="457200"/>
          </a:xfrm>
          <a:prstGeom prst="rect">
            <a:avLst/>
          </a:prstGeom>
          <a:solidFill>
            <a:srgbClr val="F1F1E6"/>
          </a:solidFill>
          <a:ln>
            <a:noFill/>
          </a:ln>
        </p:spPr>
        <p:txBody>
          <a:bodyPr rtlCol="0" anchor="ctr"/>
          <a:lstStyle/>
          <a:p>
            <a:pPr algn="ctr"/>
          </a:p>
        </p:txBody>
      </p:sp>
      <p:sp>
        <p:nvSpPr>
          <p:cNvPr id="23" name="Rectangle 22"/>
          <p:cNvSpPr/>
          <p:nvPr/>
        </p:nvSpPr>
        <p:spPr>
          <a:xfrm>
            <a:off x="9235440" y="3611880"/>
            <a:ext cx="8577072" cy="9144"/>
          </a:xfrm>
          <a:prstGeom prst="rect">
            <a:avLst/>
          </a:prstGeom>
          <a:solidFill>
            <a:srgbClr val="000000"/>
          </a:solidFill>
          <a:ln>
            <a:noFill/>
          </a:ln>
        </p:spPr>
        <p:txBody>
          <a:bodyPr rtlCol="0" anchor="ctr"/>
          <a:lstStyle/>
          <a:p>
            <a:pPr algn="ctr"/>
          </a:p>
        </p:txBody>
      </p:sp>
      <p:sp>
        <p:nvSpPr>
          <p:cNvPr id="24" name="Oval 23"/>
          <p:cNvSpPr/>
          <p:nvPr/>
        </p:nvSpPr>
        <p:spPr>
          <a:xfrm>
            <a:off x="9436608" y="3319272"/>
            <a:ext cx="128016" cy="128016"/>
          </a:xfrm>
          <a:prstGeom prst="ellipse">
            <a:avLst/>
          </a:prstGeom>
          <a:solidFill>
            <a:srgbClr val="D9D9CC"/>
          </a:solidFill>
          <a:ln>
            <a:noFill/>
          </a:ln>
        </p:spPr>
        <p:txBody>
          <a:bodyPr rtlCol="0" anchor="ctr"/>
          <a:lstStyle/>
          <a:p>
            <a:pPr algn="ctr"/>
          </a:p>
        </p:txBody>
      </p:sp>
      <p:sp>
        <p:nvSpPr>
          <p:cNvPr id="25" name="Oval 24"/>
          <p:cNvSpPr/>
          <p:nvPr/>
        </p:nvSpPr>
        <p:spPr>
          <a:xfrm>
            <a:off x="9674352" y="3319272"/>
            <a:ext cx="128016" cy="128016"/>
          </a:xfrm>
          <a:prstGeom prst="ellipse">
            <a:avLst/>
          </a:prstGeom>
          <a:solidFill>
            <a:srgbClr val="D9D9CC"/>
          </a:solidFill>
          <a:ln>
            <a:noFill/>
          </a:ln>
        </p:spPr>
        <p:txBody>
          <a:bodyPr rtlCol="0" anchor="ctr"/>
          <a:lstStyle/>
          <a:p>
            <a:pPr algn="ctr"/>
          </a:p>
        </p:txBody>
      </p:sp>
      <p:sp>
        <p:nvSpPr>
          <p:cNvPr id="26" name="Oval 25"/>
          <p:cNvSpPr/>
          <p:nvPr/>
        </p:nvSpPr>
        <p:spPr>
          <a:xfrm>
            <a:off x="9912096" y="3319272"/>
            <a:ext cx="128016" cy="128016"/>
          </a:xfrm>
          <a:prstGeom prst="ellipse">
            <a:avLst/>
          </a:prstGeom>
          <a:solidFill>
            <a:srgbClr val="D9D9CC"/>
          </a:solidFill>
          <a:ln>
            <a:noFill/>
          </a:ln>
        </p:spPr>
        <p:txBody>
          <a:bodyPr rtlCol="0" anchor="ctr"/>
          <a:lstStyle/>
          <a:p>
            <a:pPr algn="ctr"/>
          </a:p>
        </p:txBody>
      </p:sp>
      <p:sp>
        <p:nvSpPr>
          <p:cNvPr id="27" name="TextBox 26"/>
          <p:cNvSpPr txBox="1"/>
          <p:nvPr/>
        </p:nvSpPr>
        <p:spPr>
          <a:xfrm>
            <a:off x="10332719" y="3246120"/>
            <a:ext cx="7296912" cy="274320"/>
          </a:xfrm>
          <a:prstGeom prst="rect">
            <a:avLst/>
          </a:prstGeom>
          <a:noFill/>
        </p:spPr>
        <p:txBody>
          <a:bodyPr wrap="none" lIns="0" rIns="0" tIns="0" bIns="0" anchor="ctr">
            <a:noAutofit/>
          </a:bodyPr>
          <a:lstStyle/>
          <a:p>
            <a:pPr algn="l"/>
            <a:r>
              <a:rPr sz="1600" b="0" i="0">
                <a:solidFill>
                  <a:srgbClr val="5A574F"/>
                </a:solidFill>
                <a:latin typeface="Roboto Mono"/>
              </a:rPr>
              <a:t>Postman</a:t>
            </a:r>
          </a:p>
        </p:txBody>
      </p:sp>
      <p:sp>
        <p:nvSpPr>
          <p:cNvPr id="28" name="Rectangle 27"/>
          <p:cNvSpPr/>
          <p:nvPr/>
        </p:nvSpPr>
        <p:spPr>
          <a:xfrm>
            <a:off x="9235440" y="3611880"/>
            <a:ext cx="3017520" cy="5303520"/>
          </a:xfrm>
          <a:prstGeom prst="rect">
            <a:avLst/>
          </a:prstGeom>
          <a:solidFill>
            <a:srgbClr val="F6F6EC"/>
          </a:solidFill>
          <a:ln>
            <a:noFill/>
          </a:ln>
        </p:spPr>
        <p:txBody>
          <a:bodyPr rtlCol="0" anchor="ctr"/>
          <a:lstStyle/>
          <a:p>
            <a:pPr algn="ctr"/>
          </a:p>
        </p:txBody>
      </p:sp>
      <p:sp>
        <p:nvSpPr>
          <p:cNvPr id="29" name="Rectangle 28"/>
          <p:cNvSpPr/>
          <p:nvPr/>
        </p:nvSpPr>
        <p:spPr>
          <a:xfrm>
            <a:off x="12252960" y="3611880"/>
            <a:ext cx="9144" cy="5303520"/>
          </a:xfrm>
          <a:prstGeom prst="rect">
            <a:avLst/>
          </a:prstGeom>
          <a:solidFill>
            <a:srgbClr val="000000"/>
          </a:solidFill>
          <a:ln>
            <a:noFill/>
          </a:ln>
        </p:spPr>
        <p:txBody>
          <a:bodyPr rtlCol="0" anchor="ctr"/>
          <a:lstStyle/>
          <a:p>
            <a:pPr algn="ctr"/>
          </a:p>
        </p:txBody>
      </p:sp>
      <p:sp>
        <p:nvSpPr>
          <p:cNvPr id="30" name="TextBox 29"/>
          <p:cNvSpPr txBox="1"/>
          <p:nvPr/>
        </p:nvSpPr>
        <p:spPr>
          <a:xfrm>
            <a:off x="9418320" y="3794760"/>
            <a:ext cx="2743200" cy="320040"/>
          </a:xfrm>
          <a:prstGeom prst="rect">
            <a:avLst/>
          </a:prstGeom>
          <a:noFill/>
        </p:spPr>
        <p:txBody>
          <a:bodyPr wrap="square" lIns="0" rIns="0" tIns="0" bIns="0" anchor="t">
            <a:noAutofit/>
          </a:bodyPr>
          <a:lstStyle/>
          <a:p>
            <a:pPr algn="l"/>
            <a:r>
              <a:rPr sz="1400" b="0" i="0">
                <a:solidFill>
                  <a:srgbClr val="5A574F"/>
                </a:solidFill>
                <a:latin typeface="Roboto Mono"/>
              </a:rPr>
              <a:t>COLLECTIONS</a:t>
            </a:r>
          </a:p>
        </p:txBody>
      </p:sp>
      <p:pic>
        <p:nvPicPr>
          <p:cNvPr id="31" name="Picture 30" descr="folder.png"/>
          <p:cNvPicPr>
            <a:picLocks noChangeAspect="1"/>
          </p:cNvPicPr>
          <p:nvPr/>
        </p:nvPicPr>
        <p:blipFill>
          <a:blip r:embed="rId3"/>
          <a:stretch>
            <a:fillRect/>
          </a:stretch>
        </p:blipFill>
        <p:spPr>
          <a:xfrm>
            <a:off x="9418320" y="4206240"/>
            <a:ext cx="329184" cy="329184"/>
          </a:xfrm>
          <a:prstGeom prst="rect">
            <a:avLst/>
          </a:prstGeom>
        </p:spPr>
      </p:pic>
      <p:sp>
        <p:nvSpPr>
          <p:cNvPr id="32" name="TextBox 31"/>
          <p:cNvSpPr txBox="1"/>
          <p:nvPr/>
        </p:nvSpPr>
        <p:spPr>
          <a:xfrm>
            <a:off x="9875520" y="4178808"/>
            <a:ext cx="2286000" cy="384048"/>
          </a:xfrm>
          <a:prstGeom prst="rect">
            <a:avLst/>
          </a:prstGeom>
          <a:noFill/>
        </p:spPr>
        <p:txBody>
          <a:bodyPr wrap="square" lIns="0" rIns="0" tIns="0" bIns="0" anchor="ctr">
            <a:noAutofit/>
          </a:bodyPr>
          <a:lstStyle/>
          <a:p>
            <a:pPr algn="l"/>
            <a:r>
              <a:rPr sz="1800" b="1" i="0">
                <a:solidFill>
                  <a:srgbClr val="000000"/>
                </a:solidFill>
                <a:latin typeface="Inter"/>
              </a:rPr>
              <a:t>Calira API</a:t>
            </a:r>
          </a:p>
        </p:txBody>
      </p:sp>
      <p:sp>
        <p:nvSpPr>
          <p:cNvPr id="33" name="TextBox 32"/>
          <p:cNvSpPr txBox="1"/>
          <p:nvPr/>
        </p:nvSpPr>
        <p:spPr>
          <a:xfrm>
            <a:off x="9921240" y="4663440"/>
            <a:ext cx="2194560" cy="338328"/>
          </a:xfrm>
          <a:prstGeom prst="rect">
            <a:avLst/>
          </a:prstGeom>
          <a:noFill/>
        </p:spPr>
        <p:txBody>
          <a:bodyPr wrap="square" lIns="0" rIns="0" tIns="0" bIns="0" anchor="ctr">
            <a:noAutofit/>
          </a:bodyPr>
          <a:lstStyle/>
          <a:p>
            <a:pPr algn="l"/>
            <a:r>
              <a:rPr sz="1600" b="0" i="0">
                <a:solidFill>
                  <a:srgbClr val="2C2825"/>
                </a:solidFill>
                <a:latin typeface="Inter"/>
              </a:rPr>
              <a:t>User</a:t>
            </a:r>
          </a:p>
        </p:txBody>
      </p:sp>
      <p:sp>
        <p:nvSpPr>
          <p:cNvPr id="34" name="TextBox 33"/>
          <p:cNvSpPr txBox="1"/>
          <p:nvPr/>
        </p:nvSpPr>
        <p:spPr>
          <a:xfrm>
            <a:off x="9921240" y="5001768"/>
            <a:ext cx="2194560" cy="338328"/>
          </a:xfrm>
          <a:prstGeom prst="rect">
            <a:avLst/>
          </a:prstGeom>
          <a:noFill/>
        </p:spPr>
        <p:txBody>
          <a:bodyPr wrap="square" lIns="0" rIns="0" tIns="0" bIns="0" anchor="ctr">
            <a:noAutofit/>
          </a:bodyPr>
          <a:lstStyle/>
          <a:p>
            <a:pPr algn="l"/>
            <a:r>
              <a:rPr sz="1600" b="0" i="0">
                <a:solidFill>
                  <a:srgbClr val="2C2825"/>
                </a:solidFill>
                <a:latin typeface="Inter"/>
              </a:rPr>
              <a:t>Accounts</a:t>
            </a:r>
          </a:p>
        </p:txBody>
      </p:sp>
      <p:sp>
        <p:nvSpPr>
          <p:cNvPr id="35" name="TextBox 34"/>
          <p:cNvSpPr txBox="1"/>
          <p:nvPr/>
        </p:nvSpPr>
        <p:spPr>
          <a:xfrm>
            <a:off x="9921240" y="5340096"/>
            <a:ext cx="2194560" cy="338328"/>
          </a:xfrm>
          <a:prstGeom prst="rect">
            <a:avLst/>
          </a:prstGeom>
          <a:noFill/>
        </p:spPr>
        <p:txBody>
          <a:bodyPr wrap="square" lIns="0" rIns="0" tIns="0" bIns="0" anchor="ctr">
            <a:noAutofit/>
          </a:bodyPr>
          <a:lstStyle/>
          <a:p>
            <a:pPr algn="l"/>
            <a:r>
              <a:rPr sz="1600" b="0" i="0">
                <a:solidFill>
                  <a:srgbClr val="2C2825"/>
                </a:solidFill>
                <a:latin typeface="Inter"/>
              </a:rPr>
              <a:t>Projects</a:t>
            </a:r>
          </a:p>
        </p:txBody>
      </p:sp>
      <p:sp>
        <p:nvSpPr>
          <p:cNvPr id="36" name="TextBox 35"/>
          <p:cNvSpPr txBox="1"/>
          <p:nvPr/>
        </p:nvSpPr>
        <p:spPr>
          <a:xfrm>
            <a:off x="9921240" y="5678423"/>
            <a:ext cx="2194560" cy="338328"/>
          </a:xfrm>
          <a:prstGeom prst="rect">
            <a:avLst/>
          </a:prstGeom>
          <a:noFill/>
        </p:spPr>
        <p:txBody>
          <a:bodyPr wrap="square" lIns="0" rIns="0" tIns="0" bIns="0" anchor="ctr">
            <a:noAutofit/>
          </a:bodyPr>
          <a:lstStyle/>
          <a:p>
            <a:pPr algn="l"/>
            <a:r>
              <a:rPr sz="1600" b="0" i="0">
                <a:solidFill>
                  <a:srgbClr val="2C2825"/>
                </a:solidFill>
                <a:latin typeface="Inter"/>
              </a:rPr>
              <a:t>Groups</a:t>
            </a:r>
          </a:p>
        </p:txBody>
      </p:sp>
      <p:sp>
        <p:nvSpPr>
          <p:cNvPr id="37" name="TextBox 36"/>
          <p:cNvSpPr txBox="1"/>
          <p:nvPr/>
        </p:nvSpPr>
        <p:spPr>
          <a:xfrm>
            <a:off x="9921240" y="6016752"/>
            <a:ext cx="2194560" cy="338328"/>
          </a:xfrm>
          <a:prstGeom prst="rect">
            <a:avLst/>
          </a:prstGeom>
          <a:noFill/>
        </p:spPr>
        <p:txBody>
          <a:bodyPr wrap="square" lIns="0" rIns="0" tIns="0" bIns="0" anchor="ctr">
            <a:noAutofit/>
          </a:bodyPr>
          <a:lstStyle/>
          <a:p>
            <a:pPr algn="l"/>
            <a:r>
              <a:rPr sz="1600" b="0" i="0">
                <a:solidFill>
                  <a:srgbClr val="2C2825"/>
                </a:solidFill>
                <a:latin typeface="Inter"/>
              </a:rPr>
              <a:t>Users</a:t>
            </a:r>
          </a:p>
        </p:txBody>
      </p:sp>
      <p:sp>
        <p:nvSpPr>
          <p:cNvPr id="38" name="TextBox 37"/>
          <p:cNvSpPr txBox="1"/>
          <p:nvPr/>
        </p:nvSpPr>
        <p:spPr>
          <a:xfrm>
            <a:off x="9921240" y="6355079"/>
            <a:ext cx="2194560" cy="338328"/>
          </a:xfrm>
          <a:prstGeom prst="rect">
            <a:avLst/>
          </a:prstGeom>
          <a:noFill/>
        </p:spPr>
        <p:txBody>
          <a:bodyPr wrap="square" lIns="0" rIns="0" tIns="0" bIns="0" anchor="ctr">
            <a:noAutofit/>
          </a:bodyPr>
          <a:lstStyle/>
          <a:p>
            <a:pPr algn="l"/>
            <a:r>
              <a:rPr sz="1600" b="0" i="0">
                <a:solidFill>
                  <a:srgbClr val="2C2825"/>
                </a:solidFill>
                <a:latin typeface="Inter"/>
              </a:rPr>
              <a:t>Equipment</a:t>
            </a:r>
          </a:p>
        </p:txBody>
      </p:sp>
      <p:sp>
        <p:nvSpPr>
          <p:cNvPr id="39" name="TextBox 38"/>
          <p:cNvSpPr txBox="1"/>
          <p:nvPr/>
        </p:nvSpPr>
        <p:spPr>
          <a:xfrm>
            <a:off x="9921240" y="6693407"/>
            <a:ext cx="2194560" cy="338328"/>
          </a:xfrm>
          <a:prstGeom prst="rect">
            <a:avLst/>
          </a:prstGeom>
          <a:noFill/>
        </p:spPr>
        <p:txBody>
          <a:bodyPr wrap="square" lIns="0" rIns="0" tIns="0" bIns="0" anchor="ctr">
            <a:noAutofit/>
          </a:bodyPr>
          <a:lstStyle/>
          <a:p>
            <a:pPr algn="l"/>
            <a:r>
              <a:rPr sz="1600" b="0" i="0">
                <a:solidFill>
                  <a:srgbClr val="2C2825"/>
                </a:solidFill>
                <a:latin typeface="Inter"/>
              </a:rPr>
              <a:t>Bookings</a:t>
            </a:r>
          </a:p>
        </p:txBody>
      </p:sp>
      <p:sp>
        <p:nvSpPr>
          <p:cNvPr id="40" name="TextBox 39"/>
          <p:cNvSpPr txBox="1"/>
          <p:nvPr/>
        </p:nvSpPr>
        <p:spPr>
          <a:xfrm>
            <a:off x="9921240" y="7031736"/>
            <a:ext cx="2194560" cy="338328"/>
          </a:xfrm>
          <a:prstGeom prst="rect">
            <a:avLst/>
          </a:prstGeom>
          <a:noFill/>
        </p:spPr>
        <p:txBody>
          <a:bodyPr wrap="square" lIns="0" rIns="0" tIns="0" bIns="0" anchor="ctr">
            <a:noAutofit/>
          </a:bodyPr>
          <a:lstStyle/>
          <a:p>
            <a:pPr algn="l"/>
            <a:r>
              <a:rPr sz="1600" b="0" i="0">
                <a:solidFill>
                  <a:srgbClr val="2C2825"/>
                </a:solidFill>
                <a:latin typeface="Inter"/>
              </a:rPr>
              <a:t>Booking notes</a:t>
            </a:r>
          </a:p>
        </p:txBody>
      </p:sp>
      <p:sp>
        <p:nvSpPr>
          <p:cNvPr id="41" name="TextBox 40"/>
          <p:cNvSpPr txBox="1"/>
          <p:nvPr/>
        </p:nvSpPr>
        <p:spPr>
          <a:xfrm>
            <a:off x="9921240" y="7370063"/>
            <a:ext cx="2194560" cy="338328"/>
          </a:xfrm>
          <a:prstGeom prst="rect">
            <a:avLst/>
          </a:prstGeom>
          <a:noFill/>
        </p:spPr>
        <p:txBody>
          <a:bodyPr wrap="square" lIns="0" rIns="0" tIns="0" bIns="0" anchor="ctr">
            <a:noAutofit/>
          </a:bodyPr>
          <a:lstStyle/>
          <a:p>
            <a:pPr algn="l"/>
            <a:r>
              <a:rPr sz="1600" b="0" i="0">
                <a:solidFill>
                  <a:srgbClr val="2C2825"/>
                </a:solidFill>
                <a:latin typeface="Inter"/>
              </a:rPr>
              <a:t>Uploads</a:t>
            </a:r>
          </a:p>
        </p:txBody>
      </p:sp>
      <p:sp>
        <p:nvSpPr>
          <p:cNvPr id="42" name="TextBox 41"/>
          <p:cNvSpPr txBox="1"/>
          <p:nvPr/>
        </p:nvSpPr>
        <p:spPr>
          <a:xfrm>
            <a:off x="9418320" y="7863840"/>
            <a:ext cx="2743200" cy="320040"/>
          </a:xfrm>
          <a:prstGeom prst="rect">
            <a:avLst/>
          </a:prstGeom>
          <a:noFill/>
        </p:spPr>
        <p:txBody>
          <a:bodyPr wrap="square" lIns="0" rIns="0" tIns="0" bIns="0" anchor="t">
            <a:noAutofit/>
          </a:bodyPr>
          <a:lstStyle/>
          <a:p>
            <a:pPr algn="l"/>
            <a:r>
              <a:rPr sz="1400" b="0" i="0">
                <a:solidFill>
                  <a:srgbClr val="5A574F"/>
                </a:solidFill>
                <a:latin typeface="Roboto Mono"/>
              </a:rPr>
              <a:t>ENVIRONMENTS</a:t>
            </a:r>
          </a:p>
        </p:txBody>
      </p:sp>
      <p:sp>
        <p:nvSpPr>
          <p:cNvPr id="43" name="TextBox 42"/>
          <p:cNvSpPr txBox="1"/>
          <p:nvPr/>
        </p:nvSpPr>
        <p:spPr>
          <a:xfrm>
            <a:off x="9875520" y="8229600"/>
            <a:ext cx="2286000" cy="365760"/>
          </a:xfrm>
          <a:prstGeom prst="rect">
            <a:avLst/>
          </a:prstGeom>
          <a:noFill/>
        </p:spPr>
        <p:txBody>
          <a:bodyPr wrap="square" lIns="0" rIns="0" tIns="0" bIns="0" anchor="ctr">
            <a:noAutofit/>
          </a:bodyPr>
          <a:lstStyle/>
          <a:p>
            <a:pPr algn="l"/>
            <a:r>
              <a:rPr sz="1800" b="1" i="0">
                <a:solidFill>
                  <a:srgbClr val="000000"/>
                </a:solidFill>
                <a:latin typeface="Inter"/>
              </a:rPr>
              <a:t>Calira</a:t>
            </a:r>
          </a:p>
        </p:txBody>
      </p:sp>
      <p:sp>
        <p:nvSpPr>
          <p:cNvPr id="44" name="Rectangle 43"/>
          <p:cNvSpPr/>
          <p:nvPr/>
        </p:nvSpPr>
        <p:spPr>
          <a:xfrm>
            <a:off x="12573000" y="3886200"/>
            <a:ext cx="4937760" cy="4480560"/>
          </a:xfrm>
          <a:prstGeom prst="rect">
            <a:avLst/>
          </a:prstGeom>
          <a:solidFill>
            <a:srgbClr val="FFFFFF"/>
          </a:solidFill>
          <a:ln w="15875">
            <a:solidFill>
              <a:srgbClr val="000000"/>
            </a:solidFill>
          </a:ln>
        </p:spPr>
        <p:txBody>
          <a:bodyPr rtlCol="0" anchor="ctr"/>
          <a:lstStyle/>
          <a:p>
            <a:pPr algn="ctr"/>
          </a:p>
        </p:txBody>
      </p:sp>
      <p:sp>
        <p:nvSpPr>
          <p:cNvPr id="45" name="TextBox 44"/>
          <p:cNvSpPr txBox="1"/>
          <p:nvPr/>
        </p:nvSpPr>
        <p:spPr>
          <a:xfrm>
            <a:off x="12847320" y="4069080"/>
            <a:ext cx="4389120" cy="457200"/>
          </a:xfrm>
          <a:prstGeom prst="rect">
            <a:avLst/>
          </a:prstGeom>
          <a:noFill/>
        </p:spPr>
        <p:txBody>
          <a:bodyPr wrap="square" lIns="0" rIns="0" tIns="0" bIns="0" anchor="t">
            <a:noAutofit/>
          </a:bodyPr>
          <a:lstStyle/>
          <a:p>
            <a:pPr algn="l"/>
            <a:r>
              <a:rPr sz="2400" b="1" i="0">
                <a:solidFill>
                  <a:srgbClr val="000000"/>
                </a:solidFill>
                <a:latin typeface="Inter"/>
              </a:rPr>
              <a:t>Import</a:t>
            </a:r>
          </a:p>
        </p:txBody>
      </p:sp>
      <p:sp>
        <p:nvSpPr>
          <p:cNvPr id="46" name="Rectangle 45"/>
          <p:cNvSpPr/>
          <p:nvPr/>
        </p:nvSpPr>
        <p:spPr>
          <a:xfrm>
            <a:off x="12847320" y="4709160"/>
            <a:ext cx="4389120" cy="1371600"/>
          </a:xfrm>
          <a:prstGeom prst="rect">
            <a:avLst/>
          </a:prstGeom>
          <a:solidFill>
            <a:srgbClr val="FBFBF4"/>
          </a:solidFill>
          <a:ln w="12700">
            <a:solidFill>
              <a:srgbClr val="000000"/>
            </a:solidFill>
            <a:prstDash val="dash"/>
          </a:ln>
        </p:spPr>
        <p:txBody>
          <a:bodyPr rtlCol="0" anchor="ctr"/>
          <a:lstStyle/>
          <a:p>
            <a:pPr algn="ctr"/>
          </a:p>
        </p:txBody>
      </p:sp>
      <p:sp>
        <p:nvSpPr>
          <p:cNvPr id="47" name="TextBox 46"/>
          <p:cNvSpPr txBox="1"/>
          <p:nvPr/>
        </p:nvSpPr>
        <p:spPr>
          <a:xfrm>
            <a:off x="12847320" y="4709160"/>
            <a:ext cx="4389120" cy="1371600"/>
          </a:xfrm>
          <a:prstGeom prst="rect">
            <a:avLst/>
          </a:prstGeom>
          <a:noFill/>
        </p:spPr>
        <p:txBody>
          <a:bodyPr wrap="square" lIns="0" rIns="0" tIns="0" bIns="0" anchor="ctr">
            <a:noAutofit/>
          </a:bodyPr>
          <a:lstStyle/>
          <a:p>
            <a:pPr algn="ctr"/>
            <a:r>
              <a:rPr sz="1900" b="0" i="0">
                <a:solidFill>
                  <a:srgbClr val="5A574F"/>
                </a:solidFill>
                <a:latin typeface="Inter"/>
              </a:rPr>
              <a:t>Drop files here</a:t>
            </a:r>
          </a:p>
        </p:txBody>
      </p:sp>
      <p:pic>
        <p:nvPicPr>
          <p:cNvPr id="48" name="Picture 47" descr="file.png"/>
          <p:cNvPicPr>
            <a:picLocks noChangeAspect="1"/>
          </p:cNvPicPr>
          <p:nvPr/>
        </p:nvPicPr>
        <p:blipFill>
          <a:blip r:embed="rId4"/>
          <a:stretch>
            <a:fillRect/>
          </a:stretch>
        </p:blipFill>
        <p:spPr>
          <a:xfrm>
            <a:off x="12847320" y="6309360"/>
            <a:ext cx="329184" cy="329184"/>
          </a:xfrm>
          <a:prstGeom prst="rect">
            <a:avLst/>
          </a:prstGeom>
        </p:spPr>
      </p:pic>
      <p:sp>
        <p:nvSpPr>
          <p:cNvPr id="49" name="TextBox 48"/>
          <p:cNvSpPr txBox="1"/>
          <p:nvPr/>
        </p:nvSpPr>
        <p:spPr>
          <a:xfrm>
            <a:off x="13304520" y="6309360"/>
            <a:ext cx="4023360" cy="329184"/>
          </a:xfrm>
          <a:prstGeom prst="rect">
            <a:avLst/>
          </a:prstGeom>
          <a:noFill/>
        </p:spPr>
        <p:txBody>
          <a:bodyPr wrap="square" lIns="0" rIns="0" tIns="0" bIns="0" anchor="ctr">
            <a:noAutofit/>
          </a:bodyPr>
          <a:lstStyle/>
          <a:p>
            <a:pPr algn="l"/>
            <a:r>
              <a:rPr sz="1500" b="0" i="0">
                <a:solidFill>
                  <a:srgbClr val="000000"/>
                </a:solidFill>
                <a:latin typeface="Inter"/>
              </a:rPr>
              <a:t>calira-api.postman_collection.json</a:t>
            </a:r>
          </a:p>
        </p:txBody>
      </p:sp>
      <p:pic>
        <p:nvPicPr>
          <p:cNvPr id="50" name="Picture 49" descr="file.png"/>
          <p:cNvPicPr>
            <a:picLocks noChangeAspect="1"/>
          </p:cNvPicPr>
          <p:nvPr/>
        </p:nvPicPr>
        <p:blipFill>
          <a:blip r:embed="rId4"/>
          <a:stretch>
            <a:fillRect/>
          </a:stretch>
        </p:blipFill>
        <p:spPr>
          <a:xfrm>
            <a:off x="12847320" y="6858000"/>
            <a:ext cx="329184" cy="329184"/>
          </a:xfrm>
          <a:prstGeom prst="rect">
            <a:avLst/>
          </a:prstGeom>
        </p:spPr>
      </p:pic>
      <p:sp>
        <p:nvSpPr>
          <p:cNvPr id="51" name="TextBox 50"/>
          <p:cNvSpPr txBox="1"/>
          <p:nvPr/>
        </p:nvSpPr>
        <p:spPr>
          <a:xfrm>
            <a:off x="13304520" y="6858000"/>
            <a:ext cx="4023360" cy="329184"/>
          </a:xfrm>
          <a:prstGeom prst="rect">
            <a:avLst/>
          </a:prstGeom>
          <a:noFill/>
        </p:spPr>
        <p:txBody>
          <a:bodyPr wrap="square" lIns="0" rIns="0" tIns="0" bIns="0" anchor="ctr">
            <a:noAutofit/>
          </a:bodyPr>
          <a:lstStyle/>
          <a:p>
            <a:pPr algn="l"/>
            <a:r>
              <a:rPr sz="1500" b="0" i="0">
                <a:solidFill>
                  <a:srgbClr val="000000"/>
                </a:solidFill>
                <a:latin typeface="Inter"/>
              </a:rPr>
              <a:t>calira-api.postman_environment.json</a:t>
            </a:r>
          </a:p>
        </p:txBody>
      </p:sp>
      <p:sp>
        <p:nvSpPr>
          <p:cNvPr id="52" name="Rounded Rectangle 51"/>
          <p:cNvSpPr/>
          <p:nvPr/>
        </p:nvSpPr>
        <p:spPr>
          <a:xfrm>
            <a:off x="12847320" y="7452360"/>
            <a:ext cx="1554480" cy="502920"/>
          </a:xfrm>
          <a:prstGeom prst="roundRect">
            <a:avLst>
              <a:gd name="adj" fmla="val 20000"/>
            </a:avLst>
          </a:prstGeom>
          <a:solidFill>
            <a:srgbClr val="000000"/>
          </a:solidFill>
          <a:ln>
            <a:noFill/>
          </a:ln>
        </p:spPr>
        <p:txBody>
          <a:bodyPr rtlCol="0" anchor="ctr" wrap="none" lIns="0" rIns="0" tIns="0" bIns="0">
            <a:noAutofit/>
          </a:bodyPr>
          <a:lstStyle/>
          <a:p>
            <a:pPr algn="ctr"/>
            <a:r>
              <a:rPr sz="1800" b="1" i="0">
                <a:solidFill>
                  <a:srgbClr val="FFFFFF"/>
                </a:solidFill>
                <a:latin typeface="Inter"/>
              </a:rPr>
              <a:t>Import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AED"/>
        </a:solidFill>
        <a:effectLst/>
      </p:bgPr>
    </p:bg>
    <p:spTree>
      <p:nvGrpSpPr>
        <p:cNvPr id="1" name=""/>
        <p:cNvGrpSpPr/>
        <p:nvPr/>
      </p:nvGrpSpPr>
      <p:grpSpPr/>
      <p:pic>
        <p:nvPicPr>
          <p:cNvPr id="2" name="Picture 1" descr="s1_0.png"/>
          <p:cNvPicPr>
            <a:picLocks noChangeAspect="1"/>
          </p:cNvPicPr>
          <p:nvPr/>
        </p:nvPicPr>
        <p:blipFill>
          <a:blip r:embed="rId2"/>
          <a:stretch>
            <a:fillRect/>
          </a:stretch>
        </p:blipFill>
        <p:spPr>
          <a:xfrm>
            <a:off x="475488" y="594360"/>
            <a:ext cx="1655064" cy="384048"/>
          </a:xfrm>
          <a:prstGeom prst="rect">
            <a:avLst/>
          </a:prstGeom>
        </p:spPr>
      </p:pic>
      <p:sp>
        <p:nvSpPr>
          <p:cNvPr id="3" name="Rectangle 2"/>
          <p:cNvSpPr/>
          <p:nvPr/>
        </p:nvSpPr>
        <p:spPr>
          <a:xfrm>
            <a:off x="2441448" y="777240"/>
            <a:ext cx="15371064" cy="10972"/>
          </a:xfrm>
          <a:prstGeom prst="rect">
            <a:avLst/>
          </a:prstGeom>
          <a:solidFill>
            <a:srgbClr val="000000"/>
          </a:solidFill>
          <a:ln>
            <a:noFill/>
          </a:ln>
        </p:spPr>
        <p:txBody>
          <a:bodyPr rtlCol="0" anchor="ctr"/>
          <a:lstStyle/>
          <a:p>
            <a:pPr algn="ctr"/>
          </a:p>
        </p:txBody>
      </p:sp>
      <p:sp>
        <p:nvSpPr>
          <p:cNvPr id="4" name="TextBox 3"/>
          <p:cNvSpPr txBox="1"/>
          <p:nvPr/>
        </p:nvSpPr>
        <p:spPr>
          <a:xfrm>
            <a:off x="475488" y="1527048"/>
            <a:ext cx="10972800" cy="365760"/>
          </a:xfrm>
          <a:prstGeom prst="rect">
            <a:avLst/>
          </a:prstGeom>
          <a:noFill/>
        </p:spPr>
        <p:txBody>
          <a:bodyPr wrap="square" lIns="0" rIns="0" tIns="0" bIns="0" anchor="t">
            <a:noAutofit/>
          </a:bodyPr>
          <a:lstStyle/>
          <a:p>
            <a:pPr algn="l"/>
            <a:r>
              <a:rPr sz="1800" b="0" i="0">
                <a:solidFill>
                  <a:srgbClr val="000000"/>
                </a:solidFill>
                <a:latin typeface="Roboto Mono"/>
              </a:rPr>
              <a:t>PART 4 · HANDS-ON WITH POSTMAN</a:t>
            </a:r>
          </a:p>
        </p:txBody>
      </p:sp>
      <p:sp>
        <p:nvSpPr>
          <p:cNvPr id="5" name="Title"/>
          <p:cNvSpPr txBox="1"/>
          <p:nvPr/>
        </p:nvSpPr>
        <p:spPr>
          <a:xfrm>
            <a:off x="475488" y="2011680"/>
            <a:ext cx="17337024" cy="868680"/>
          </a:xfrm>
          <a:prstGeom prst="rect">
            <a:avLst/>
          </a:prstGeom>
          <a:noFill/>
        </p:spPr>
        <p:txBody>
          <a:bodyPr wrap="square" lIns="0" rIns="0" tIns="0" bIns="0" anchor="t">
            <a:noAutofit/>
          </a:bodyPr>
          <a:lstStyle/>
          <a:p>
            <a:pPr algn="l">
              <a:lnSpc>
                <a:spcPct val="95000"/>
              </a:lnSpc>
            </a:pPr>
            <a:r>
              <a:rPr sz="4600" b="1" i="0">
                <a:solidFill>
                  <a:srgbClr val="000000"/>
                </a:solidFill>
                <a:latin typeface="Inter"/>
              </a:rPr>
              <a:t>Choose the environment and fill in your values</a:t>
            </a:r>
          </a:p>
        </p:txBody>
      </p:sp>
      <p:sp>
        <p:nvSpPr>
          <p:cNvPr id="6" name="Rectangle 5"/>
          <p:cNvSpPr/>
          <p:nvPr/>
        </p:nvSpPr>
        <p:spPr>
          <a:xfrm>
            <a:off x="475488" y="9189720"/>
            <a:ext cx="17337024" cy="10972"/>
          </a:xfrm>
          <a:prstGeom prst="rect">
            <a:avLst/>
          </a:prstGeom>
          <a:solidFill>
            <a:srgbClr val="000000"/>
          </a:solidFill>
          <a:ln>
            <a:noFill/>
          </a:ln>
        </p:spPr>
        <p:txBody>
          <a:bodyPr rtlCol="0" anchor="ctr"/>
          <a:lstStyle/>
          <a:p>
            <a:pPr algn="ctr"/>
          </a:p>
        </p:txBody>
      </p:sp>
      <p:sp>
        <p:nvSpPr>
          <p:cNvPr id="7" name="TextBox 6"/>
          <p:cNvSpPr txBox="1"/>
          <p:nvPr/>
        </p:nvSpPr>
        <p:spPr>
          <a:xfrm>
            <a:off x="475488" y="9354312"/>
            <a:ext cx="2743200" cy="338328"/>
          </a:xfrm>
          <a:prstGeom prst="rect">
            <a:avLst/>
          </a:prstGeom>
          <a:noFill/>
        </p:spPr>
        <p:txBody>
          <a:bodyPr wrap="square" lIns="0" rIns="0" tIns="0" bIns="0" anchor="t">
            <a:noAutofit/>
          </a:bodyPr>
          <a:lstStyle/>
          <a:p>
            <a:pPr algn="l"/>
            <a:r>
              <a:rPr sz="1800" b="0" i="0">
                <a:solidFill>
                  <a:srgbClr val="000000"/>
                </a:solidFill>
                <a:latin typeface="Roboto Mono"/>
              </a:rPr>
              <a:t>CALIRA.CO</a:t>
            </a:r>
          </a:p>
        </p:txBody>
      </p:sp>
      <p:sp>
        <p:nvSpPr>
          <p:cNvPr id="8" name="TextBox 7"/>
          <p:cNvSpPr txBox="1"/>
          <p:nvPr/>
        </p:nvSpPr>
        <p:spPr>
          <a:xfrm>
            <a:off x="15983712" y="9354312"/>
            <a:ext cx="1828800" cy="338328"/>
          </a:xfrm>
          <a:prstGeom prst="rect">
            <a:avLst/>
          </a:prstGeom>
          <a:noFill/>
        </p:spPr>
        <p:txBody>
          <a:bodyPr wrap="square" lIns="0" rIns="0" tIns="0" bIns="0" anchor="t">
            <a:noAutofit/>
          </a:bodyPr>
          <a:lstStyle/>
          <a:p>
            <a:pPr algn="r"/>
            <a:r>
              <a:rPr sz="1800" b="0" i="0">
                <a:solidFill>
                  <a:srgbClr val="000000"/>
                </a:solidFill>
                <a:latin typeface="Roboto Mono"/>
              </a:rPr>
              <a:t>24</a:t>
            </a:r>
          </a:p>
        </p:txBody>
      </p:sp>
      <p:sp>
        <p:nvSpPr>
          <p:cNvPr id="9" name="Oval 8"/>
          <p:cNvSpPr/>
          <p:nvPr/>
        </p:nvSpPr>
        <p:spPr>
          <a:xfrm>
            <a:off x="475488" y="3200400"/>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1</a:t>
            </a:r>
          </a:p>
        </p:txBody>
      </p:sp>
      <p:sp>
        <p:nvSpPr>
          <p:cNvPr id="10" name="TextBox 9"/>
          <p:cNvSpPr txBox="1"/>
          <p:nvPr/>
        </p:nvSpPr>
        <p:spPr>
          <a:xfrm>
            <a:off x="1161288" y="3255264"/>
            <a:ext cx="6263640" cy="1005839"/>
          </a:xfrm>
          <a:prstGeom prst="rect">
            <a:avLst/>
          </a:prstGeom>
          <a:noFill/>
        </p:spPr>
        <p:txBody>
          <a:bodyPr wrap="square" lIns="0" rIns="0" tIns="0" bIns="0" anchor="t">
            <a:noAutofit/>
          </a:bodyPr>
          <a:lstStyle/>
          <a:p>
            <a:pPr algn="l"/>
            <a:r>
              <a:rPr sz="1900" b="0" i="0">
                <a:solidFill>
                  <a:srgbClr val="000000"/>
                </a:solidFill>
                <a:latin typeface="Inter"/>
              </a:rPr>
              <a:t>Top right, open the menu that says </a:t>
            </a:r>
            <a:r>
              <a:rPr sz="1900" b="1" i="0">
                <a:solidFill>
                  <a:srgbClr val="000000"/>
                </a:solidFill>
                <a:latin typeface="Inter"/>
              </a:rPr>
              <a:t>No environment</a:t>
            </a:r>
            <a:r>
              <a:rPr sz="1900" b="0" i="0">
                <a:solidFill>
                  <a:srgbClr val="000000"/>
                </a:solidFill>
                <a:latin typeface="Inter"/>
              </a:rPr>
              <a:t> and choose </a:t>
            </a:r>
            <a:r>
              <a:rPr sz="1900" b="1" i="0">
                <a:solidFill>
                  <a:srgbClr val="000000"/>
                </a:solidFill>
                <a:latin typeface="Inter"/>
              </a:rPr>
              <a:t>Calira</a:t>
            </a:r>
            <a:r>
              <a:rPr sz="1900" b="0" i="0">
                <a:solidFill>
                  <a:srgbClr val="000000"/>
                </a:solidFill>
                <a:latin typeface="Inter"/>
              </a:rPr>
              <a:t>.</a:t>
            </a:r>
          </a:p>
        </p:txBody>
      </p:sp>
      <p:sp>
        <p:nvSpPr>
          <p:cNvPr id="11" name="Oval 10"/>
          <p:cNvSpPr/>
          <p:nvPr/>
        </p:nvSpPr>
        <p:spPr>
          <a:xfrm>
            <a:off x="475488" y="4297680"/>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2</a:t>
            </a:r>
          </a:p>
        </p:txBody>
      </p:sp>
      <p:sp>
        <p:nvSpPr>
          <p:cNvPr id="12" name="TextBox 11"/>
          <p:cNvSpPr txBox="1"/>
          <p:nvPr/>
        </p:nvSpPr>
        <p:spPr>
          <a:xfrm>
            <a:off x="1161288" y="4352544"/>
            <a:ext cx="6263640" cy="1005839"/>
          </a:xfrm>
          <a:prstGeom prst="rect">
            <a:avLst/>
          </a:prstGeom>
          <a:noFill/>
        </p:spPr>
        <p:txBody>
          <a:bodyPr wrap="square" lIns="0" rIns="0" tIns="0" bIns="0" anchor="t">
            <a:noAutofit/>
          </a:bodyPr>
          <a:lstStyle/>
          <a:p>
            <a:pPr algn="l"/>
            <a:r>
              <a:rPr sz="1900" b="0" i="0">
                <a:solidFill>
                  <a:srgbClr val="000000"/>
                </a:solidFill>
                <a:latin typeface="Inter"/>
              </a:rPr>
              <a:t>Click </a:t>
            </a:r>
            <a:r>
              <a:rPr sz="1900" b="1" i="0">
                <a:solidFill>
                  <a:srgbClr val="000000"/>
                </a:solidFill>
                <a:latin typeface="Inter"/>
              </a:rPr>
              <a:t>Environments</a:t>
            </a:r>
            <a:r>
              <a:rPr sz="1900" b="0" i="0">
                <a:solidFill>
                  <a:srgbClr val="000000"/>
                </a:solidFill>
                <a:latin typeface="Inter"/>
              </a:rPr>
              <a:t> in the sidebar and open </a:t>
            </a:r>
            <a:r>
              <a:rPr sz="1900" b="1" i="0">
                <a:solidFill>
                  <a:srgbClr val="000000"/>
                </a:solidFill>
                <a:latin typeface="Inter"/>
              </a:rPr>
              <a:t>Calira</a:t>
            </a:r>
            <a:r>
              <a:rPr sz="1900" b="0" i="0">
                <a:solidFill>
                  <a:srgbClr val="000000"/>
                </a:solidFill>
                <a:latin typeface="Inter"/>
              </a:rPr>
              <a:t>.</a:t>
            </a:r>
          </a:p>
        </p:txBody>
      </p:sp>
      <p:sp>
        <p:nvSpPr>
          <p:cNvPr id="13" name="Oval 12"/>
          <p:cNvSpPr/>
          <p:nvPr/>
        </p:nvSpPr>
        <p:spPr>
          <a:xfrm>
            <a:off x="475488" y="5394960"/>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3</a:t>
            </a:r>
          </a:p>
        </p:txBody>
      </p:sp>
      <p:sp>
        <p:nvSpPr>
          <p:cNvPr id="14" name="TextBox 13"/>
          <p:cNvSpPr txBox="1"/>
          <p:nvPr/>
        </p:nvSpPr>
        <p:spPr>
          <a:xfrm>
            <a:off x="1161288" y="5449824"/>
            <a:ext cx="6263640" cy="1005839"/>
          </a:xfrm>
          <a:prstGeom prst="rect">
            <a:avLst/>
          </a:prstGeom>
          <a:noFill/>
        </p:spPr>
        <p:txBody>
          <a:bodyPr wrap="square" lIns="0" rIns="0" tIns="0" bIns="0" anchor="t">
            <a:noAutofit/>
          </a:bodyPr>
          <a:lstStyle/>
          <a:p>
            <a:pPr algn="l"/>
            <a:r>
              <a:rPr sz="1900" b="0" i="0">
                <a:solidFill>
                  <a:srgbClr val="000000"/>
                </a:solidFill>
                <a:latin typeface="Inter"/>
              </a:rPr>
              <a:t>Type your values in the </a:t>
            </a:r>
            <a:r>
              <a:rPr sz="1900" b="1" i="0">
                <a:solidFill>
                  <a:srgbClr val="000000"/>
                </a:solidFill>
                <a:latin typeface="Inter"/>
              </a:rPr>
              <a:t>Current value</a:t>
            </a:r>
            <a:r>
              <a:rPr sz="1900" b="0" i="0">
                <a:solidFill>
                  <a:srgbClr val="000000"/>
                </a:solidFill>
                <a:latin typeface="Inter"/>
              </a:rPr>
              <a:t> column.</a:t>
            </a:r>
          </a:p>
        </p:txBody>
      </p:sp>
      <p:sp>
        <p:nvSpPr>
          <p:cNvPr id="15" name="Oval 14"/>
          <p:cNvSpPr/>
          <p:nvPr/>
        </p:nvSpPr>
        <p:spPr>
          <a:xfrm>
            <a:off x="475488" y="6492240"/>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4</a:t>
            </a:r>
          </a:p>
        </p:txBody>
      </p:sp>
      <p:sp>
        <p:nvSpPr>
          <p:cNvPr id="16" name="TextBox 15"/>
          <p:cNvSpPr txBox="1"/>
          <p:nvPr/>
        </p:nvSpPr>
        <p:spPr>
          <a:xfrm>
            <a:off x="1161288" y="6547103"/>
            <a:ext cx="6263640" cy="1005839"/>
          </a:xfrm>
          <a:prstGeom prst="rect">
            <a:avLst/>
          </a:prstGeom>
          <a:noFill/>
        </p:spPr>
        <p:txBody>
          <a:bodyPr wrap="square" lIns="0" rIns="0" tIns="0" bIns="0" anchor="t">
            <a:noAutofit/>
          </a:bodyPr>
          <a:lstStyle/>
          <a:p>
            <a:pPr algn="l"/>
            <a:r>
              <a:rPr sz="1900" b="0" i="0">
                <a:solidFill>
                  <a:srgbClr val="000000"/>
                </a:solidFill>
                <a:latin typeface="Inter"/>
              </a:rPr>
              <a:t>Press </a:t>
            </a:r>
            <a:r>
              <a:rPr sz="1900" b="1" i="0">
                <a:solidFill>
                  <a:srgbClr val="000000"/>
                </a:solidFill>
                <a:latin typeface="Inter"/>
              </a:rPr>
              <a:t>Save</a:t>
            </a:r>
            <a:r>
              <a:rPr sz="1900" b="0" i="0">
                <a:solidFill>
                  <a:srgbClr val="000000"/>
                </a:solidFill>
                <a:latin typeface="Inter"/>
              </a:rPr>
              <a:t> (Ctrl+S).</a:t>
            </a:r>
          </a:p>
        </p:txBody>
      </p:sp>
      <p:sp>
        <p:nvSpPr>
          <p:cNvPr id="17" name="Rectangle 16"/>
          <p:cNvSpPr/>
          <p:nvPr/>
        </p:nvSpPr>
        <p:spPr>
          <a:xfrm>
            <a:off x="475488" y="7726679"/>
            <a:ext cx="6949440" cy="1188720"/>
          </a:xfrm>
          <a:prstGeom prst="rect">
            <a:avLst/>
          </a:prstGeom>
          <a:solidFill>
            <a:srgbClr val="E8FC2E"/>
          </a:solidFill>
          <a:ln w="15875">
            <a:solidFill>
              <a:srgbClr val="000000"/>
            </a:solidFill>
          </a:ln>
        </p:spPr>
        <p:txBody>
          <a:bodyPr rtlCol="0" anchor="ctr"/>
          <a:lstStyle/>
          <a:p>
            <a:pPr algn="ctr"/>
          </a:p>
        </p:txBody>
      </p:sp>
      <p:sp>
        <p:nvSpPr>
          <p:cNvPr id="18" name="TextBox 17"/>
          <p:cNvSpPr txBox="1"/>
          <p:nvPr/>
        </p:nvSpPr>
        <p:spPr>
          <a:xfrm>
            <a:off x="749808" y="7726679"/>
            <a:ext cx="6400800" cy="1188720"/>
          </a:xfrm>
          <a:prstGeom prst="rect">
            <a:avLst/>
          </a:prstGeom>
          <a:noFill/>
        </p:spPr>
        <p:txBody>
          <a:bodyPr wrap="square" lIns="0" rIns="0" tIns="0" bIns="0" anchor="ctr">
            <a:noAutofit/>
          </a:bodyPr>
          <a:lstStyle/>
          <a:p>
            <a:pPr algn="l"/>
            <a:r>
              <a:rPr sz="1900" b="0" i="0">
                <a:solidFill>
                  <a:srgbClr val="000000"/>
                </a:solidFill>
                <a:latin typeface="Inter"/>
              </a:rPr>
              <a:t>Secrets go in </a:t>
            </a:r>
            <a:r>
              <a:rPr sz="1900" b="1" i="0">
                <a:solidFill>
                  <a:srgbClr val="000000"/>
                </a:solidFill>
                <a:latin typeface="Inter"/>
              </a:rPr>
              <a:t>Current value</a:t>
            </a:r>
            <a:r>
              <a:rPr sz="1900" b="0" i="0">
                <a:solidFill>
                  <a:srgbClr val="000000"/>
                </a:solidFill>
                <a:latin typeface="Inter"/>
              </a:rPr>
              <a:t> only. </a:t>
            </a:r>
            <a:r>
              <a:rPr sz="1900" b="1" i="0">
                <a:solidFill>
                  <a:srgbClr val="000000"/>
                </a:solidFill>
                <a:latin typeface="Inter"/>
              </a:rPr>
              <a:t>Initial value</a:t>
            </a:r>
            <a:r>
              <a:rPr sz="1900" b="0" i="0">
                <a:solidFill>
                  <a:srgbClr val="000000"/>
                </a:solidFill>
                <a:latin typeface="Inter"/>
              </a:rPr>
              <a:t> can be shared with teammates.</a:t>
            </a:r>
          </a:p>
        </p:txBody>
      </p:sp>
      <p:sp>
        <p:nvSpPr>
          <p:cNvPr id="19" name="Rounded Rectangle 18"/>
          <p:cNvSpPr/>
          <p:nvPr/>
        </p:nvSpPr>
        <p:spPr>
          <a:xfrm>
            <a:off x="7863840" y="3154680"/>
            <a:ext cx="9948672" cy="5760720"/>
          </a:xfrm>
          <a:prstGeom prst="roundRect">
            <a:avLst>
              <a:gd name="adj" fmla="val 2000"/>
            </a:avLst>
          </a:prstGeom>
          <a:solidFill>
            <a:srgbClr val="FFFFFF"/>
          </a:solidFill>
          <a:ln w="15875">
            <a:solidFill>
              <a:srgbClr val="000000"/>
            </a:solidFill>
          </a:ln>
        </p:spPr>
        <p:txBody>
          <a:bodyPr rtlCol="0" anchor="ctr"/>
          <a:lstStyle/>
          <a:p>
            <a:pPr algn="ctr"/>
          </a:p>
        </p:txBody>
      </p:sp>
      <p:sp>
        <p:nvSpPr>
          <p:cNvPr id="20" name="Rectangle 19"/>
          <p:cNvSpPr/>
          <p:nvPr/>
        </p:nvSpPr>
        <p:spPr>
          <a:xfrm>
            <a:off x="7863840" y="3154680"/>
            <a:ext cx="9948672" cy="457200"/>
          </a:xfrm>
          <a:prstGeom prst="rect">
            <a:avLst/>
          </a:prstGeom>
          <a:solidFill>
            <a:srgbClr val="F1F1E6"/>
          </a:solidFill>
          <a:ln>
            <a:noFill/>
          </a:ln>
        </p:spPr>
        <p:txBody>
          <a:bodyPr rtlCol="0" anchor="ctr"/>
          <a:lstStyle/>
          <a:p>
            <a:pPr algn="ctr"/>
          </a:p>
        </p:txBody>
      </p:sp>
      <p:sp>
        <p:nvSpPr>
          <p:cNvPr id="21" name="Rectangle 20"/>
          <p:cNvSpPr/>
          <p:nvPr/>
        </p:nvSpPr>
        <p:spPr>
          <a:xfrm>
            <a:off x="7863840" y="3611880"/>
            <a:ext cx="9948672" cy="9144"/>
          </a:xfrm>
          <a:prstGeom prst="rect">
            <a:avLst/>
          </a:prstGeom>
          <a:solidFill>
            <a:srgbClr val="000000"/>
          </a:solidFill>
          <a:ln>
            <a:noFill/>
          </a:ln>
        </p:spPr>
        <p:txBody>
          <a:bodyPr rtlCol="0" anchor="ctr"/>
          <a:lstStyle/>
          <a:p>
            <a:pPr algn="ctr"/>
          </a:p>
        </p:txBody>
      </p:sp>
      <p:sp>
        <p:nvSpPr>
          <p:cNvPr id="22" name="Oval 21"/>
          <p:cNvSpPr/>
          <p:nvPr/>
        </p:nvSpPr>
        <p:spPr>
          <a:xfrm>
            <a:off x="8065008" y="3319272"/>
            <a:ext cx="128016" cy="128016"/>
          </a:xfrm>
          <a:prstGeom prst="ellipse">
            <a:avLst/>
          </a:prstGeom>
          <a:solidFill>
            <a:srgbClr val="D9D9CC"/>
          </a:solidFill>
          <a:ln>
            <a:noFill/>
          </a:ln>
        </p:spPr>
        <p:txBody>
          <a:bodyPr rtlCol="0" anchor="ctr"/>
          <a:lstStyle/>
          <a:p>
            <a:pPr algn="ctr"/>
          </a:p>
        </p:txBody>
      </p:sp>
      <p:sp>
        <p:nvSpPr>
          <p:cNvPr id="23" name="Oval 22"/>
          <p:cNvSpPr/>
          <p:nvPr/>
        </p:nvSpPr>
        <p:spPr>
          <a:xfrm>
            <a:off x="8302752" y="3319272"/>
            <a:ext cx="128016" cy="128016"/>
          </a:xfrm>
          <a:prstGeom prst="ellipse">
            <a:avLst/>
          </a:prstGeom>
          <a:solidFill>
            <a:srgbClr val="D9D9CC"/>
          </a:solidFill>
          <a:ln>
            <a:noFill/>
          </a:ln>
        </p:spPr>
        <p:txBody>
          <a:bodyPr rtlCol="0" anchor="ctr"/>
          <a:lstStyle/>
          <a:p>
            <a:pPr algn="ctr"/>
          </a:p>
        </p:txBody>
      </p:sp>
      <p:sp>
        <p:nvSpPr>
          <p:cNvPr id="24" name="Oval 23"/>
          <p:cNvSpPr/>
          <p:nvPr/>
        </p:nvSpPr>
        <p:spPr>
          <a:xfrm>
            <a:off x="8540496" y="3319272"/>
            <a:ext cx="128016" cy="128016"/>
          </a:xfrm>
          <a:prstGeom prst="ellipse">
            <a:avLst/>
          </a:prstGeom>
          <a:solidFill>
            <a:srgbClr val="D9D9CC"/>
          </a:solidFill>
          <a:ln>
            <a:noFill/>
          </a:ln>
        </p:spPr>
        <p:txBody>
          <a:bodyPr rtlCol="0" anchor="ctr"/>
          <a:lstStyle/>
          <a:p>
            <a:pPr algn="ctr"/>
          </a:p>
        </p:txBody>
      </p:sp>
      <p:sp>
        <p:nvSpPr>
          <p:cNvPr id="25" name="TextBox 24"/>
          <p:cNvSpPr txBox="1"/>
          <p:nvPr/>
        </p:nvSpPr>
        <p:spPr>
          <a:xfrm>
            <a:off x="8961119" y="3246120"/>
            <a:ext cx="8668512" cy="274320"/>
          </a:xfrm>
          <a:prstGeom prst="rect">
            <a:avLst/>
          </a:prstGeom>
          <a:noFill/>
        </p:spPr>
        <p:txBody>
          <a:bodyPr wrap="none" lIns="0" rIns="0" tIns="0" bIns="0" anchor="ctr">
            <a:noAutofit/>
          </a:bodyPr>
          <a:lstStyle/>
          <a:p>
            <a:pPr algn="l"/>
            <a:r>
              <a:rPr sz="1600" b="0" i="0">
                <a:solidFill>
                  <a:srgbClr val="5A574F"/>
                </a:solidFill>
                <a:latin typeface="Roboto Mono"/>
              </a:rPr>
              <a:t>Environments  ›  Calira</a:t>
            </a:r>
          </a:p>
        </p:txBody>
      </p:sp>
      <p:sp>
        <p:nvSpPr>
          <p:cNvPr id="26" name="Rounded Rectangle 25"/>
          <p:cNvSpPr/>
          <p:nvPr/>
        </p:nvSpPr>
        <p:spPr>
          <a:xfrm>
            <a:off x="10287000" y="3840480"/>
            <a:ext cx="4297680" cy="457200"/>
          </a:xfrm>
          <a:prstGeom prst="roundRect">
            <a:avLst>
              <a:gd name="adj" fmla="val 20000"/>
            </a:avLst>
          </a:prstGeom>
          <a:solidFill>
            <a:srgbClr val="E8FC2E"/>
          </a:solidFill>
          <a:ln w="12700">
            <a:solidFill>
              <a:srgbClr val="000000"/>
            </a:solidFill>
          </a:ln>
        </p:spPr>
        <p:txBody>
          <a:bodyPr rtlCol="0" anchor="ctr" wrap="none" lIns="0" rIns="0" tIns="0" bIns="0">
            <a:noAutofit/>
          </a:bodyPr>
          <a:lstStyle/>
          <a:p>
            <a:pPr algn="ctr"/>
            <a:r>
              <a:rPr sz="1400" b="1" i="0">
                <a:solidFill>
                  <a:srgbClr val="000000"/>
                </a:solidFill>
                <a:latin typeface="Roboto Mono"/>
              </a:rPr>
              <a:t>CURRENT VALUE</a:t>
            </a:r>
          </a:p>
        </p:txBody>
      </p:sp>
      <p:sp>
        <p:nvSpPr>
          <p:cNvPr id="27" name="TextBox 26"/>
          <p:cNvSpPr txBox="1"/>
          <p:nvPr/>
        </p:nvSpPr>
        <p:spPr>
          <a:xfrm>
            <a:off x="8138160" y="3886200"/>
            <a:ext cx="2103120" cy="365760"/>
          </a:xfrm>
          <a:prstGeom prst="rect">
            <a:avLst/>
          </a:prstGeom>
          <a:noFill/>
        </p:spPr>
        <p:txBody>
          <a:bodyPr wrap="square" lIns="0" rIns="0" tIns="0" bIns="0" anchor="t">
            <a:noAutofit/>
          </a:bodyPr>
          <a:lstStyle/>
          <a:p>
            <a:pPr algn="l"/>
            <a:r>
              <a:rPr sz="1400" b="0" i="0">
                <a:solidFill>
                  <a:srgbClr val="5A574F"/>
                </a:solidFill>
                <a:latin typeface="Roboto Mono"/>
              </a:rPr>
              <a:t>VARIABLE</a:t>
            </a:r>
          </a:p>
        </p:txBody>
      </p:sp>
      <p:sp>
        <p:nvSpPr>
          <p:cNvPr id="28" name="TextBox 27"/>
          <p:cNvSpPr txBox="1"/>
          <p:nvPr/>
        </p:nvSpPr>
        <p:spPr>
          <a:xfrm>
            <a:off x="14767559" y="3886200"/>
            <a:ext cx="2743200" cy="365760"/>
          </a:xfrm>
          <a:prstGeom prst="rect">
            <a:avLst/>
          </a:prstGeom>
          <a:noFill/>
        </p:spPr>
        <p:txBody>
          <a:bodyPr wrap="square" lIns="0" rIns="0" tIns="0" bIns="0" anchor="t">
            <a:noAutofit/>
          </a:bodyPr>
          <a:lstStyle/>
          <a:p>
            <a:pPr algn="l"/>
            <a:r>
              <a:rPr sz="1400" b="0" i="0">
                <a:solidFill>
                  <a:srgbClr val="5A574F"/>
                </a:solidFill>
                <a:latin typeface="Roboto Mono"/>
              </a:rPr>
              <a:t>WHAT IT IS</a:t>
            </a:r>
          </a:p>
        </p:txBody>
      </p:sp>
      <p:sp>
        <p:nvSpPr>
          <p:cNvPr id="29" name="Rectangle 28"/>
          <p:cNvSpPr/>
          <p:nvPr/>
        </p:nvSpPr>
        <p:spPr>
          <a:xfrm>
            <a:off x="8046719" y="4389120"/>
            <a:ext cx="9582912" cy="10972"/>
          </a:xfrm>
          <a:prstGeom prst="rect">
            <a:avLst/>
          </a:prstGeom>
          <a:solidFill>
            <a:srgbClr val="000000"/>
          </a:solidFill>
          <a:ln>
            <a:noFill/>
          </a:ln>
        </p:spPr>
        <p:txBody>
          <a:bodyPr rtlCol="0" anchor="ctr"/>
          <a:lstStyle/>
          <a:p>
            <a:pPr algn="ctr"/>
          </a:p>
        </p:txBody>
      </p:sp>
      <p:sp>
        <p:nvSpPr>
          <p:cNvPr id="30" name="TextBox 29"/>
          <p:cNvSpPr txBox="1"/>
          <p:nvPr/>
        </p:nvSpPr>
        <p:spPr>
          <a:xfrm>
            <a:off x="8138160" y="4480560"/>
            <a:ext cx="2194560" cy="548640"/>
          </a:xfrm>
          <a:prstGeom prst="rect">
            <a:avLst/>
          </a:prstGeom>
          <a:noFill/>
        </p:spPr>
        <p:txBody>
          <a:bodyPr wrap="square" lIns="0" rIns="0" tIns="0" bIns="0" anchor="ctr">
            <a:noAutofit/>
          </a:bodyPr>
          <a:lstStyle/>
          <a:p>
            <a:pPr algn="l"/>
            <a:r>
              <a:rPr sz="1600" b="1" i="0">
                <a:solidFill>
                  <a:srgbClr val="000000"/>
                </a:solidFill>
                <a:latin typeface="Roboto Mono"/>
              </a:rPr>
              <a:t>base_url</a:t>
            </a:r>
          </a:p>
        </p:txBody>
      </p:sp>
      <p:sp>
        <p:nvSpPr>
          <p:cNvPr id="31" name="Rectangle 30"/>
          <p:cNvSpPr/>
          <p:nvPr/>
        </p:nvSpPr>
        <p:spPr>
          <a:xfrm>
            <a:off x="10287000" y="4526280"/>
            <a:ext cx="4297680" cy="457200"/>
          </a:xfrm>
          <a:prstGeom prst="rect">
            <a:avLst/>
          </a:prstGeom>
          <a:solidFill>
            <a:srgbClr val="FFFFFF"/>
          </a:solidFill>
          <a:ln w="9525">
            <a:solidFill>
              <a:srgbClr val="000000"/>
            </a:solidFill>
          </a:ln>
        </p:spPr>
        <p:txBody>
          <a:bodyPr rtlCol="0" anchor="ctr"/>
          <a:lstStyle/>
          <a:p>
            <a:pPr algn="ctr"/>
          </a:p>
        </p:txBody>
      </p:sp>
      <p:sp>
        <p:nvSpPr>
          <p:cNvPr id="32" name="TextBox 31"/>
          <p:cNvSpPr txBox="1"/>
          <p:nvPr/>
        </p:nvSpPr>
        <p:spPr>
          <a:xfrm>
            <a:off x="10378440" y="4526280"/>
            <a:ext cx="4114800" cy="457200"/>
          </a:xfrm>
          <a:prstGeom prst="rect">
            <a:avLst/>
          </a:prstGeom>
          <a:noFill/>
        </p:spPr>
        <p:txBody>
          <a:bodyPr wrap="none" lIns="0" rIns="0" tIns="0" bIns="0" anchor="ctr">
            <a:noAutofit/>
          </a:bodyPr>
          <a:lstStyle/>
          <a:p>
            <a:pPr algn="l"/>
            <a:r>
              <a:rPr sz="1600" b="0" i="0">
                <a:solidFill>
                  <a:srgbClr val="000000"/>
                </a:solidFill>
                <a:latin typeface="Roboto Mono"/>
              </a:rPr>
              <a:t>https://api.clustermarket.com/v1</a:t>
            </a:r>
          </a:p>
        </p:txBody>
      </p:sp>
      <p:sp>
        <p:nvSpPr>
          <p:cNvPr id="33" name="TextBox 32"/>
          <p:cNvSpPr txBox="1"/>
          <p:nvPr/>
        </p:nvSpPr>
        <p:spPr>
          <a:xfrm>
            <a:off x="14767559" y="4480560"/>
            <a:ext cx="3017520" cy="548640"/>
          </a:xfrm>
          <a:prstGeom prst="rect">
            <a:avLst/>
          </a:prstGeom>
          <a:noFill/>
        </p:spPr>
        <p:txBody>
          <a:bodyPr wrap="square" lIns="0" rIns="0" tIns="0" bIns="0" anchor="ctr">
            <a:noAutofit/>
          </a:bodyPr>
          <a:lstStyle/>
          <a:p>
            <a:pPr algn="l"/>
            <a:r>
              <a:rPr sz="1600" b="0" i="0">
                <a:solidFill>
                  <a:srgbClr val="2C2825"/>
                </a:solidFill>
                <a:latin typeface="Inter"/>
              </a:rPr>
              <a:t>Which Calira: live or test</a:t>
            </a:r>
          </a:p>
        </p:txBody>
      </p:sp>
      <p:sp>
        <p:nvSpPr>
          <p:cNvPr id="34" name="TextBox 33"/>
          <p:cNvSpPr txBox="1"/>
          <p:nvPr/>
        </p:nvSpPr>
        <p:spPr>
          <a:xfrm>
            <a:off x="8138160" y="5120640"/>
            <a:ext cx="2194560" cy="548640"/>
          </a:xfrm>
          <a:prstGeom prst="rect">
            <a:avLst/>
          </a:prstGeom>
          <a:noFill/>
        </p:spPr>
        <p:txBody>
          <a:bodyPr wrap="square" lIns="0" rIns="0" tIns="0" bIns="0" anchor="ctr">
            <a:noAutofit/>
          </a:bodyPr>
          <a:lstStyle/>
          <a:p>
            <a:pPr algn="l"/>
            <a:r>
              <a:rPr sz="1600" b="1" i="0">
                <a:solidFill>
                  <a:srgbClr val="000000"/>
                </a:solidFill>
                <a:latin typeface="Roboto Mono"/>
              </a:rPr>
              <a:t>client_id</a:t>
            </a:r>
          </a:p>
        </p:txBody>
      </p:sp>
      <p:sp>
        <p:nvSpPr>
          <p:cNvPr id="35" name="Rectangle 34"/>
          <p:cNvSpPr/>
          <p:nvPr/>
        </p:nvSpPr>
        <p:spPr>
          <a:xfrm>
            <a:off x="10287000" y="5166360"/>
            <a:ext cx="4297680" cy="457200"/>
          </a:xfrm>
          <a:prstGeom prst="rect">
            <a:avLst/>
          </a:prstGeom>
          <a:solidFill>
            <a:srgbClr val="FFFFFF"/>
          </a:solidFill>
          <a:ln w="9525">
            <a:solidFill>
              <a:srgbClr val="000000"/>
            </a:solidFill>
          </a:ln>
        </p:spPr>
        <p:txBody>
          <a:bodyPr rtlCol="0" anchor="ctr"/>
          <a:lstStyle/>
          <a:p>
            <a:pPr algn="ctr"/>
          </a:p>
        </p:txBody>
      </p:sp>
      <p:sp>
        <p:nvSpPr>
          <p:cNvPr id="36" name="TextBox 35"/>
          <p:cNvSpPr txBox="1"/>
          <p:nvPr/>
        </p:nvSpPr>
        <p:spPr>
          <a:xfrm>
            <a:off x="10378440" y="5166360"/>
            <a:ext cx="4114800" cy="457200"/>
          </a:xfrm>
          <a:prstGeom prst="rect">
            <a:avLst/>
          </a:prstGeom>
          <a:noFill/>
        </p:spPr>
        <p:txBody>
          <a:bodyPr wrap="none" lIns="0" rIns="0" tIns="0" bIns="0" anchor="ctr">
            <a:noAutofit/>
          </a:bodyPr>
          <a:lstStyle/>
          <a:p>
            <a:pPr algn="l"/>
            <a:r>
              <a:rPr sz="1600" b="0" i="0">
                <a:solidFill>
                  <a:srgbClr val="5A574F"/>
                </a:solidFill>
                <a:latin typeface="Roboto Mono"/>
              </a:rPr>
              <a:t>paste yours here</a:t>
            </a:r>
          </a:p>
        </p:txBody>
      </p:sp>
      <p:sp>
        <p:nvSpPr>
          <p:cNvPr id="37" name="TextBox 36"/>
          <p:cNvSpPr txBox="1"/>
          <p:nvPr/>
        </p:nvSpPr>
        <p:spPr>
          <a:xfrm>
            <a:off x="14767559" y="5120640"/>
            <a:ext cx="3017520" cy="548640"/>
          </a:xfrm>
          <a:prstGeom prst="rect">
            <a:avLst/>
          </a:prstGeom>
          <a:noFill/>
        </p:spPr>
        <p:txBody>
          <a:bodyPr wrap="square" lIns="0" rIns="0" tIns="0" bIns="0" anchor="ctr">
            <a:noAutofit/>
          </a:bodyPr>
          <a:lstStyle/>
          <a:p>
            <a:pPr algn="l"/>
            <a:r>
              <a:rPr sz="1600" b="0" i="0">
                <a:solidFill>
                  <a:srgbClr val="2C2825"/>
                </a:solidFill>
                <a:latin typeface="Inter"/>
              </a:rPr>
              <a:t>From your application</a:t>
            </a:r>
          </a:p>
        </p:txBody>
      </p:sp>
      <p:sp>
        <p:nvSpPr>
          <p:cNvPr id="38" name="TextBox 37"/>
          <p:cNvSpPr txBox="1"/>
          <p:nvPr/>
        </p:nvSpPr>
        <p:spPr>
          <a:xfrm>
            <a:off x="8138160" y="5760720"/>
            <a:ext cx="2194560" cy="548640"/>
          </a:xfrm>
          <a:prstGeom prst="rect">
            <a:avLst/>
          </a:prstGeom>
          <a:noFill/>
        </p:spPr>
        <p:txBody>
          <a:bodyPr wrap="square" lIns="0" rIns="0" tIns="0" bIns="0" anchor="ctr">
            <a:noAutofit/>
          </a:bodyPr>
          <a:lstStyle/>
          <a:p>
            <a:pPr algn="l"/>
            <a:r>
              <a:rPr sz="1600" b="1" i="0">
                <a:solidFill>
                  <a:srgbClr val="000000"/>
                </a:solidFill>
                <a:latin typeface="Roboto Mono"/>
              </a:rPr>
              <a:t>client_secret</a:t>
            </a:r>
          </a:p>
        </p:txBody>
      </p:sp>
      <p:sp>
        <p:nvSpPr>
          <p:cNvPr id="39" name="Rectangle 38"/>
          <p:cNvSpPr/>
          <p:nvPr/>
        </p:nvSpPr>
        <p:spPr>
          <a:xfrm>
            <a:off x="10287000" y="5806440"/>
            <a:ext cx="4297680" cy="457200"/>
          </a:xfrm>
          <a:prstGeom prst="rect">
            <a:avLst/>
          </a:prstGeom>
          <a:solidFill>
            <a:srgbClr val="FFFFFF"/>
          </a:solidFill>
          <a:ln w="9525">
            <a:solidFill>
              <a:srgbClr val="000000"/>
            </a:solidFill>
          </a:ln>
        </p:spPr>
        <p:txBody>
          <a:bodyPr rtlCol="0" anchor="ctr"/>
          <a:lstStyle/>
          <a:p>
            <a:pPr algn="ctr"/>
          </a:p>
        </p:txBody>
      </p:sp>
      <p:sp>
        <p:nvSpPr>
          <p:cNvPr id="40" name="TextBox 39"/>
          <p:cNvSpPr txBox="1"/>
          <p:nvPr/>
        </p:nvSpPr>
        <p:spPr>
          <a:xfrm>
            <a:off x="10378440" y="5806440"/>
            <a:ext cx="4114800" cy="457200"/>
          </a:xfrm>
          <a:prstGeom prst="rect">
            <a:avLst/>
          </a:prstGeom>
          <a:noFill/>
        </p:spPr>
        <p:txBody>
          <a:bodyPr wrap="none" lIns="0" rIns="0" tIns="0" bIns="0" anchor="ctr">
            <a:noAutofit/>
          </a:bodyPr>
          <a:lstStyle/>
          <a:p>
            <a:pPr algn="l"/>
            <a:r>
              <a:rPr sz="1600" b="0" i="0">
                <a:solidFill>
                  <a:srgbClr val="5A574F"/>
                </a:solidFill>
                <a:latin typeface="Roboto Mono"/>
              </a:rPr>
              <a:t>paste yours here</a:t>
            </a:r>
          </a:p>
        </p:txBody>
      </p:sp>
      <p:sp>
        <p:nvSpPr>
          <p:cNvPr id="41" name="TextBox 40"/>
          <p:cNvSpPr txBox="1"/>
          <p:nvPr/>
        </p:nvSpPr>
        <p:spPr>
          <a:xfrm>
            <a:off x="14767559" y="5760720"/>
            <a:ext cx="3017520" cy="548640"/>
          </a:xfrm>
          <a:prstGeom prst="rect">
            <a:avLst/>
          </a:prstGeom>
          <a:noFill/>
        </p:spPr>
        <p:txBody>
          <a:bodyPr wrap="square" lIns="0" rIns="0" tIns="0" bIns="0" anchor="ctr">
            <a:noAutofit/>
          </a:bodyPr>
          <a:lstStyle/>
          <a:p>
            <a:pPr algn="l"/>
            <a:r>
              <a:rPr sz="1600" b="0" i="0">
                <a:solidFill>
                  <a:srgbClr val="2C2825"/>
                </a:solidFill>
                <a:latin typeface="Inter"/>
              </a:rPr>
              <a:t>From your application</a:t>
            </a:r>
          </a:p>
        </p:txBody>
      </p:sp>
      <p:sp>
        <p:nvSpPr>
          <p:cNvPr id="42" name="TextBox 41"/>
          <p:cNvSpPr txBox="1"/>
          <p:nvPr/>
        </p:nvSpPr>
        <p:spPr>
          <a:xfrm>
            <a:off x="8138160" y="6400800"/>
            <a:ext cx="2194560" cy="548640"/>
          </a:xfrm>
          <a:prstGeom prst="rect">
            <a:avLst/>
          </a:prstGeom>
          <a:noFill/>
        </p:spPr>
        <p:txBody>
          <a:bodyPr wrap="square" lIns="0" rIns="0" tIns="0" bIns="0" anchor="ctr">
            <a:noAutofit/>
          </a:bodyPr>
          <a:lstStyle/>
          <a:p>
            <a:pPr algn="l"/>
            <a:r>
              <a:rPr sz="1600" b="1" i="0">
                <a:solidFill>
                  <a:srgbClr val="000000"/>
                </a:solidFill>
                <a:latin typeface="Roboto Mono"/>
              </a:rPr>
              <a:t>account_id</a:t>
            </a:r>
          </a:p>
        </p:txBody>
      </p:sp>
      <p:sp>
        <p:nvSpPr>
          <p:cNvPr id="43" name="Rectangle 42"/>
          <p:cNvSpPr/>
          <p:nvPr/>
        </p:nvSpPr>
        <p:spPr>
          <a:xfrm>
            <a:off x="10287000" y="6446520"/>
            <a:ext cx="4297680" cy="457200"/>
          </a:xfrm>
          <a:prstGeom prst="rect">
            <a:avLst/>
          </a:prstGeom>
          <a:solidFill>
            <a:srgbClr val="FFFFFF"/>
          </a:solidFill>
          <a:ln w="9525">
            <a:solidFill>
              <a:srgbClr val="000000"/>
            </a:solidFill>
          </a:ln>
        </p:spPr>
        <p:txBody>
          <a:bodyPr rtlCol="0" anchor="ctr"/>
          <a:lstStyle/>
          <a:p>
            <a:pPr algn="ctr"/>
          </a:p>
        </p:txBody>
      </p:sp>
      <p:sp>
        <p:nvSpPr>
          <p:cNvPr id="44" name="TextBox 43"/>
          <p:cNvSpPr txBox="1"/>
          <p:nvPr/>
        </p:nvSpPr>
        <p:spPr>
          <a:xfrm>
            <a:off x="10378440" y="6446520"/>
            <a:ext cx="4114800" cy="457200"/>
          </a:xfrm>
          <a:prstGeom prst="rect">
            <a:avLst/>
          </a:prstGeom>
          <a:noFill/>
        </p:spPr>
        <p:txBody>
          <a:bodyPr wrap="none" lIns="0" rIns="0" tIns="0" bIns="0" anchor="ctr">
            <a:noAutofit/>
          </a:bodyPr>
          <a:lstStyle/>
          <a:p>
            <a:pPr algn="l"/>
            <a:r>
              <a:rPr sz="1600" b="0" i="0">
                <a:solidFill>
                  <a:srgbClr val="000000"/>
                </a:solidFill>
                <a:latin typeface="Roboto Mono"/>
              </a:rPr>
              <a:t>543</a:t>
            </a:r>
          </a:p>
        </p:txBody>
      </p:sp>
      <p:sp>
        <p:nvSpPr>
          <p:cNvPr id="45" name="TextBox 44"/>
          <p:cNvSpPr txBox="1"/>
          <p:nvPr/>
        </p:nvSpPr>
        <p:spPr>
          <a:xfrm>
            <a:off x="14767559" y="6400800"/>
            <a:ext cx="3017520" cy="548640"/>
          </a:xfrm>
          <a:prstGeom prst="rect">
            <a:avLst/>
          </a:prstGeom>
          <a:noFill/>
        </p:spPr>
        <p:txBody>
          <a:bodyPr wrap="square" lIns="0" rIns="0" tIns="0" bIns="0" anchor="ctr">
            <a:noAutofit/>
          </a:bodyPr>
          <a:lstStyle/>
          <a:p>
            <a:pPr algn="l"/>
            <a:r>
              <a:rPr sz="1600" b="0" i="0">
                <a:solidFill>
                  <a:srgbClr val="2C2825"/>
                </a:solidFill>
                <a:latin typeface="Inter"/>
              </a:rPr>
              <a:t>The lab's ID number</a:t>
            </a:r>
          </a:p>
        </p:txBody>
      </p:sp>
      <p:sp>
        <p:nvSpPr>
          <p:cNvPr id="46" name="TextBox 45"/>
          <p:cNvSpPr txBox="1"/>
          <p:nvPr/>
        </p:nvSpPr>
        <p:spPr>
          <a:xfrm>
            <a:off x="8138160" y="7040880"/>
            <a:ext cx="2194560" cy="548640"/>
          </a:xfrm>
          <a:prstGeom prst="rect">
            <a:avLst/>
          </a:prstGeom>
          <a:noFill/>
        </p:spPr>
        <p:txBody>
          <a:bodyPr wrap="square" lIns="0" rIns="0" tIns="0" bIns="0" anchor="ctr">
            <a:noAutofit/>
          </a:bodyPr>
          <a:lstStyle/>
          <a:p>
            <a:pPr algn="l"/>
            <a:r>
              <a:rPr sz="1600" b="1" i="0">
                <a:solidFill>
                  <a:srgbClr val="000000"/>
                </a:solidFill>
                <a:latin typeface="Roboto Mono"/>
              </a:rPr>
              <a:t>equipment_id</a:t>
            </a:r>
          </a:p>
        </p:txBody>
      </p:sp>
      <p:sp>
        <p:nvSpPr>
          <p:cNvPr id="47" name="Rectangle 46"/>
          <p:cNvSpPr/>
          <p:nvPr/>
        </p:nvSpPr>
        <p:spPr>
          <a:xfrm>
            <a:off x="10287000" y="7086600"/>
            <a:ext cx="4297680" cy="457200"/>
          </a:xfrm>
          <a:prstGeom prst="rect">
            <a:avLst/>
          </a:prstGeom>
          <a:solidFill>
            <a:srgbClr val="FFFFFF"/>
          </a:solidFill>
          <a:ln w="9525">
            <a:solidFill>
              <a:srgbClr val="000000"/>
            </a:solidFill>
          </a:ln>
        </p:spPr>
        <p:txBody>
          <a:bodyPr rtlCol="0" anchor="ctr"/>
          <a:lstStyle/>
          <a:p>
            <a:pPr algn="ctr"/>
          </a:p>
        </p:txBody>
      </p:sp>
      <p:sp>
        <p:nvSpPr>
          <p:cNvPr id="48" name="TextBox 47"/>
          <p:cNvSpPr txBox="1"/>
          <p:nvPr/>
        </p:nvSpPr>
        <p:spPr>
          <a:xfrm>
            <a:off x="10378440" y="7086600"/>
            <a:ext cx="4114800" cy="457200"/>
          </a:xfrm>
          <a:prstGeom prst="rect">
            <a:avLst/>
          </a:prstGeom>
          <a:noFill/>
        </p:spPr>
        <p:txBody>
          <a:bodyPr wrap="none" lIns="0" rIns="0" tIns="0" bIns="0" anchor="ctr">
            <a:noAutofit/>
          </a:bodyPr>
          <a:lstStyle/>
          <a:p>
            <a:pPr algn="l"/>
            <a:r>
              <a:rPr sz="1600" b="0" i="0">
                <a:solidFill>
                  <a:srgbClr val="000000"/>
                </a:solidFill>
                <a:latin typeface="Roboto Mono"/>
              </a:rPr>
              <a:t>18807</a:t>
            </a:r>
          </a:p>
        </p:txBody>
      </p:sp>
      <p:sp>
        <p:nvSpPr>
          <p:cNvPr id="49" name="TextBox 48"/>
          <p:cNvSpPr txBox="1"/>
          <p:nvPr/>
        </p:nvSpPr>
        <p:spPr>
          <a:xfrm>
            <a:off x="14767559" y="7040880"/>
            <a:ext cx="3017520" cy="548640"/>
          </a:xfrm>
          <a:prstGeom prst="rect">
            <a:avLst/>
          </a:prstGeom>
          <a:noFill/>
        </p:spPr>
        <p:txBody>
          <a:bodyPr wrap="square" lIns="0" rIns="0" tIns="0" bIns="0" anchor="ctr">
            <a:noAutofit/>
          </a:bodyPr>
          <a:lstStyle/>
          <a:p>
            <a:pPr algn="l"/>
            <a:r>
              <a:rPr sz="1600" b="0" i="0">
                <a:solidFill>
                  <a:srgbClr val="2C2825"/>
                </a:solidFill>
                <a:latin typeface="Inter"/>
              </a:rPr>
              <a:t>Equipment to work with</a:t>
            </a:r>
          </a:p>
        </p:txBody>
      </p:sp>
      <p:sp>
        <p:nvSpPr>
          <p:cNvPr id="50" name="TextBox 49"/>
          <p:cNvSpPr txBox="1"/>
          <p:nvPr/>
        </p:nvSpPr>
        <p:spPr>
          <a:xfrm>
            <a:off x="8138160" y="7680960"/>
            <a:ext cx="2194560" cy="548640"/>
          </a:xfrm>
          <a:prstGeom prst="rect">
            <a:avLst/>
          </a:prstGeom>
          <a:noFill/>
        </p:spPr>
        <p:txBody>
          <a:bodyPr wrap="square" lIns="0" rIns="0" tIns="0" bIns="0" anchor="ctr">
            <a:noAutofit/>
          </a:bodyPr>
          <a:lstStyle/>
          <a:p>
            <a:pPr algn="l"/>
            <a:r>
              <a:rPr sz="1600" b="1" i="0">
                <a:solidFill>
                  <a:srgbClr val="000000"/>
                </a:solidFill>
                <a:latin typeface="Roboto Mono"/>
              </a:rPr>
              <a:t>booking_id</a:t>
            </a:r>
          </a:p>
        </p:txBody>
      </p:sp>
      <p:sp>
        <p:nvSpPr>
          <p:cNvPr id="51" name="Rectangle 50"/>
          <p:cNvSpPr/>
          <p:nvPr/>
        </p:nvSpPr>
        <p:spPr>
          <a:xfrm>
            <a:off x="10287000" y="7726680"/>
            <a:ext cx="4297680" cy="457200"/>
          </a:xfrm>
          <a:prstGeom prst="rect">
            <a:avLst/>
          </a:prstGeom>
          <a:solidFill>
            <a:srgbClr val="FFFFFF"/>
          </a:solidFill>
          <a:ln w="9525">
            <a:solidFill>
              <a:srgbClr val="000000"/>
            </a:solidFill>
          </a:ln>
        </p:spPr>
        <p:txBody>
          <a:bodyPr rtlCol="0" anchor="ctr"/>
          <a:lstStyle/>
          <a:p>
            <a:pPr algn="ctr"/>
          </a:p>
        </p:txBody>
      </p:sp>
      <p:sp>
        <p:nvSpPr>
          <p:cNvPr id="52" name="TextBox 51"/>
          <p:cNvSpPr txBox="1"/>
          <p:nvPr/>
        </p:nvSpPr>
        <p:spPr>
          <a:xfrm>
            <a:off x="10378440" y="7726680"/>
            <a:ext cx="4114800" cy="457200"/>
          </a:xfrm>
          <a:prstGeom prst="rect">
            <a:avLst/>
          </a:prstGeom>
          <a:noFill/>
        </p:spPr>
        <p:txBody>
          <a:bodyPr wrap="none" lIns="0" rIns="0" tIns="0" bIns="0" anchor="ctr">
            <a:noAutofit/>
          </a:bodyPr>
          <a:lstStyle/>
          <a:p>
            <a:pPr algn="l"/>
            <a:r>
              <a:rPr sz="1600" b="0" i="0">
                <a:solidFill>
                  <a:srgbClr val="000000"/>
                </a:solidFill>
                <a:latin typeface="Roboto Mono"/>
              </a:rPr>
              <a:t/>
            </a:r>
          </a:p>
        </p:txBody>
      </p:sp>
      <p:sp>
        <p:nvSpPr>
          <p:cNvPr id="53" name="TextBox 52"/>
          <p:cNvSpPr txBox="1"/>
          <p:nvPr/>
        </p:nvSpPr>
        <p:spPr>
          <a:xfrm>
            <a:off x="14767559" y="7680960"/>
            <a:ext cx="3017520" cy="548640"/>
          </a:xfrm>
          <a:prstGeom prst="rect">
            <a:avLst/>
          </a:prstGeom>
          <a:noFill/>
        </p:spPr>
        <p:txBody>
          <a:bodyPr wrap="square" lIns="0" rIns="0" tIns="0" bIns="0" anchor="ctr">
            <a:noAutofit/>
          </a:bodyPr>
          <a:lstStyle/>
          <a:p>
            <a:pPr algn="l"/>
            <a:r>
              <a:rPr sz="1600" b="0" i="0">
                <a:solidFill>
                  <a:srgbClr val="2C2825"/>
                </a:solidFill>
                <a:latin typeface="Inter"/>
              </a:rPr>
              <a:t>Filled in after booking</a:t>
            </a:r>
          </a:p>
        </p:txBody>
      </p:sp>
      <p:sp>
        <p:nvSpPr>
          <p:cNvPr id="54" name="TextBox 53"/>
          <p:cNvSpPr txBox="1"/>
          <p:nvPr/>
        </p:nvSpPr>
        <p:spPr>
          <a:xfrm>
            <a:off x="8138160" y="8321040"/>
            <a:ext cx="2194560" cy="548640"/>
          </a:xfrm>
          <a:prstGeom prst="rect">
            <a:avLst/>
          </a:prstGeom>
          <a:noFill/>
        </p:spPr>
        <p:txBody>
          <a:bodyPr wrap="square" lIns="0" rIns="0" tIns="0" bIns="0" anchor="ctr">
            <a:noAutofit/>
          </a:bodyPr>
          <a:lstStyle/>
          <a:p>
            <a:pPr algn="l"/>
            <a:r>
              <a:rPr sz="1600" b="1" i="0">
                <a:solidFill>
                  <a:srgbClr val="000000"/>
                </a:solidFill>
                <a:latin typeface="Roboto Mono"/>
              </a:rPr>
              <a:t>token</a:t>
            </a:r>
          </a:p>
        </p:txBody>
      </p:sp>
      <p:sp>
        <p:nvSpPr>
          <p:cNvPr id="55" name="Rectangle 54"/>
          <p:cNvSpPr/>
          <p:nvPr/>
        </p:nvSpPr>
        <p:spPr>
          <a:xfrm>
            <a:off x="10287000" y="8366760"/>
            <a:ext cx="4297680" cy="457200"/>
          </a:xfrm>
          <a:prstGeom prst="rect">
            <a:avLst/>
          </a:prstGeom>
          <a:solidFill>
            <a:srgbClr val="FFFFFF"/>
          </a:solidFill>
          <a:ln w="9525">
            <a:solidFill>
              <a:srgbClr val="000000"/>
            </a:solidFill>
          </a:ln>
        </p:spPr>
        <p:txBody>
          <a:bodyPr rtlCol="0" anchor="ctr"/>
          <a:lstStyle/>
          <a:p>
            <a:pPr algn="ctr"/>
          </a:p>
        </p:txBody>
      </p:sp>
      <p:sp>
        <p:nvSpPr>
          <p:cNvPr id="56" name="TextBox 55"/>
          <p:cNvSpPr txBox="1"/>
          <p:nvPr/>
        </p:nvSpPr>
        <p:spPr>
          <a:xfrm>
            <a:off x="10378440" y="8366760"/>
            <a:ext cx="4114800" cy="457200"/>
          </a:xfrm>
          <a:prstGeom prst="rect">
            <a:avLst/>
          </a:prstGeom>
          <a:noFill/>
        </p:spPr>
        <p:txBody>
          <a:bodyPr wrap="none" lIns="0" rIns="0" tIns="0" bIns="0" anchor="ctr">
            <a:noAutofit/>
          </a:bodyPr>
          <a:lstStyle/>
          <a:p>
            <a:pPr algn="l"/>
            <a:r>
              <a:rPr sz="1600" b="0" i="0">
                <a:solidFill>
                  <a:srgbClr val="000000"/>
                </a:solidFill>
                <a:latin typeface="Roboto Mono"/>
              </a:rPr>
              <a:t/>
            </a:r>
          </a:p>
        </p:txBody>
      </p:sp>
      <p:sp>
        <p:nvSpPr>
          <p:cNvPr id="57" name="TextBox 56"/>
          <p:cNvSpPr txBox="1"/>
          <p:nvPr/>
        </p:nvSpPr>
        <p:spPr>
          <a:xfrm>
            <a:off x="14767559" y="8321040"/>
            <a:ext cx="3017520" cy="548640"/>
          </a:xfrm>
          <a:prstGeom prst="rect">
            <a:avLst/>
          </a:prstGeom>
          <a:noFill/>
        </p:spPr>
        <p:txBody>
          <a:bodyPr wrap="square" lIns="0" rIns="0" tIns="0" bIns="0" anchor="ctr">
            <a:noAutofit/>
          </a:bodyPr>
          <a:lstStyle/>
          <a:p>
            <a:pPr algn="l"/>
            <a:r>
              <a:rPr sz="1600" b="0" i="0">
                <a:solidFill>
                  <a:srgbClr val="2C2825"/>
                </a:solidFill>
                <a:latin typeface="Inter"/>
              </a:rPr>
              <a:t>Added in the next step</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ED"/>
        </a:solidFill>
        <a:effectLst/>
      </p:bgPr>
    </p:bg>
    <p:spTree>
      <p:nvGrpSpPr>
        <p:cNvPr id="1" name=""/>
        <p:cNvGrpSpPr/>
        <p:nvPr/>
      </p:nvGrpSpPr>
      <p:grpSpPr/>
      <p:pic>
        <p:nvPicPr>
          <p:cNvPr id="2" name="Picture 1" descr="s1_0.png"/>
          <p:cNvPicPr>
            <a:picLocks noChangeAspect="1"/>
          </p:cNvPicPr>
          <p:nvPr/>
        </p:nvPicPr>
        <p:blipFill>
          <a:blip r:embed="rId2"/>
          <a:stretch>
            <a:fillRect/>
          </a:stretch>
        </p:blipFill>
        <p:spPr>
          <a:xfrm>
            <a:off x="475488" y="594360"/>
            <a:ext cx="1655064" cy="384048"/>
          </a:xfrm>
          <a:prstGeom prst="rect">
            <a:avLst/>
          </a:prstGeom>
        </p:spPr>
      </p:pic>
      <p:sp>
        <p:nvSpPr>
          <p:cNvPr id="3" name="Rectangle 2"/>
          <p:cNvSpPr/>
          <p:nvPr/>
        </p:nvSpPr>
        <p:spPr>
          <a:xfrm>
            <a:off x="2441448" y="777240"/>
            <a:ext cx="15371064" cy="10972"/>
          </a:xfrm>
          <a:prstGeom prst="rect">
            <a:avLst/>
          </a:prstGeom>
          <a:solidFill>
            <a:srgbClr val="000000"/>
          </a:solidFill>
          <a:ln>
            <a:noFill/>
          </a:ln>
        </p:spPr>
        <p:txBody>
          <a:bodyPr rtlCol="0" anchor="ctr"/>
          <a:lstStyle/>
          <a:p>
            <a:pPr algn="ctr"/>
          </a:p>
        </p:txBody>
      </p:sp>
      <p:sp>
        <p:nvSpPr>
          <p:cNvPr id="4" name="TextBox 3"/>
          <p:cNvSpPr txBox="1"/>
          <p:nvPr/>
        </p:nvSpPr>
        <p:spPr>
          <a:xfrm>
            <a:off x="475488" y="1527048"/>
            <a:ext cx="10972800" cy="365760"/>
          </a:xfrm>
          <a:prstGeom prst="rect">
            <a:avLst/>
          </a:prstGeom>
          <a:noFill/>
        </p:spPr>
        <p:txBody>
          <a:bodyPr wrap="square" lIns="0" rIns="0" tIns="0" bIns="0" anchor="t">
            <a:noAutofit/>
          </a:bodyPr>
          <a:lstStyle/>
          <a:p>
            <a:pPr algn="l"/>
            <a:r>
              <a:rPr sz="1800" b="0" i="0">
                <a:solidFill>
                  <a:srgbClr val="000000"/>
                </a:solidFill>
                <a:latin typeface="Roboto Mono"/>
              </a:rPr>
              <a:t>PART 4 · HANDS-ON WITH POSTMAN</a:t>
            </a:r>
          </a:p>
        </p:txBody>
      </p:sp>
      <p:sp>
        <p:nvSpPr>
          <p:cNvPr id="5" name="Title"/>
          <p:cNvSpPr txBox="1"/>
          <p:nvPr/>
        </p:nvSpPr>
        <p:spPr>
          <a:xfrm>
            <a:off x="475488" y="2011680"/>
            <a:ext cx="17337024" cy="868680"/>
          </a:xfrm>
          <a:prstGeom prst="rect">
            <a:avLst/>
          </a:prstGeom>
          <a:noFill/>
        </p:spPr>
        <p:txBody>
          <a:bodyPr wrap="square" lIns="0" rIns="0" tIns="0" bIns="0" anchor="t">
            <a:noAutofit/>
          </a:bodyPr>
          <a:lstStyle/>
          <a:p>
            <a:pPr algn="l">
              <a:lnSpc>
                <a:spcPct val="95000"/>
              </a:lnSpc>
            </a:pPr>
            <a:r>
              <a:rPr sz="4600" b="1" i="0">
                <a:solidFill>
                  <a:srgbClr val="000000"/>
                </a:solidFill>
                <a:latin typeface="Inter"/>
              </a:rPr>
              <a:t>Get a new token</a:t>
            </a:r>
          </a:p>
        </p:txBody>
      </p:sp>
      <p:sp>
        <p:nvSpPr>
          <p:cNvPr id="6" name="Rectangle 5"/>
          <p:cNvSpPr/>
          <p:nvPr/>
        </p:nvSpPr>
        <p:spPr>
          <a:xfrm>
            <a:off x="475488" y="9189720"/>
            <a:ext cx="17337024" cy="10972"/>
          </a:xfrm>
          <a:prstGeom prst="rect">
            <a:avLst/>
          </a:prstGeom>
          <a:solidFill>
            <a:srgbClr val="000000"/>
          </a:solidFill>
          <a:ln>
            <a:noFill/>
          </a:ln>
        </p:spPr>
        <p:txBody>
          <a:bodyPr rtlCol="0" anchor="ctr"/>
          <a:lstStyle/>
          <a:p>
            <a:pPr algn="ctr"/>
          </a:p>
        </p:txBody>
      </p:sp>
      <p:sp>
        <p:nvSpPr>
          <p:cNvPr id="7" name="TextBox 6"/>
          <p:cNvSpPr txBox="1"/>
          <p:nvPr/>
        </p:nvSpPr>
        <p:spPr>
          <a:xfrm>
            <a:off x="475488" y="9354312"/>
            <a:ext cx="2743200" cy="338328"/>
          </a:xfrm>
          <a:prstGeom prst="rect">
            <a:avLst/>
          </a:prstGeom>
          <a:noFill/>
        </p:spPr>
        <p:txBody>
          <a:bodyPr wrap="square" lIns="0" rIns="0" tIns="0" bIns="0" anchor="t">
            <a:noAutofit/>
          </a:bodyPr>
          <a:lstStyle/>
          <a:p>
            <a:pPr algn="l"/>
            <a:r>
              <a:rPr sz="1800" b="0" i="0">
                <a:solidFill>
                  <a:srgbClr val="000000"/>
                </a:solidFill>
                <a:latin typeface="Roboto Mono"/>
              </a:rPr>
              <a:t>CALIRA.CO</a:t>
            </a:r>
          </a:p>
        </p:txBody>
      </p:sp>
      <p:sp>
        <p:nvSpPr>
          <p:cNvPr id="8" name="TextBox 7"/>
          <p:cNvSpPr txBox="1"/>
          <p:nvPr/>
        </p:nvSpPr>
        <p:spPr>
          <a:xfrm>
            <a:off x="15983712" y="9354312"/>
            <a:ext cx="1828800" cy="338328"/>
          </a:xfrm>
          <a:prstGeom prst="rect">
            <a:avLst/>
          </a:prstGeom>
          <a:noFill/>
        </p:spPr>
        <p:txBody>
          <a:bodyPr wrap="square" lIns="0" rIns="0" tIns="0" bIns="0" anchor="t">
            <a:noAutofit/>
          </a:bodyPr>
          <a:lstStyle/>
          <a:p>
            <a:pPr algn="r"/>
            <a:r>
              <a:rPr sz="1800" b="0" i="0">
                <a:solidFill>
                  <a:srgbClr val="000000"/>
                </a:solidFill>
                <a:latin typeface="Roboto Mono"/>
              </a:rPr>
              <a:t>25</a:t>
            </a:r>
          </a:p>
        </p:txBody>
      </p:sp>
      <p:sp>
        <p:nvSpPr>
          <p:cNvPr id="9" name="Rounded Rectangle 8"/>
          <p:cNvSpPr/>
          <p:nvPr/>
        </p:nvSpPr>
        <p:spPr>
          <a:xfrm>
            <a:off x="475488" y="3154680"/>
            <a:ext cx="8961120" cy="5760720"/>
          </a:xfrm>
          <a:prstGeom prst="roundRect">
            <a:avLst>
              <a:gd name="adj" fmla="val 2000"/>
            </a:avLst>
          </a:prstGeom>
          <a:solidFill>
            <a:srgbClr val="FFFFFF"/>
          </a:solidFill>
          <a:ln w="15875">
            <a:solidFill>
              <a:srgbClr val="000000"/>
            </a:solidFill>
          </a:ln>
        </p:spPr>
        <p:txBody>
          <a:bodyPr rtlCol="0" anchor="ctr"/>
          <a:lstStyle/>
          <a:p>
            <a:pPr algn="ctr"/>
          </a:p>
        </p:txBody>
      </p:sp>
      <p:sp>
        <p:nvSpPr>
          <p:cNvPr id="10" name="Rectangle 9"/>
          <p:cNvSpPr/>
          <p:nvPr/>
        </p:nvSpPr>
        <p:spPr>
          <a:xfrm>
            <a:off x="475488" y="3154680"/>
            <a:ext cx="8961120" cy="457200"/>
          </a:xfrm>
          <a:prstGeom prst="rect">
            <a:avLst/>
          </a:prstGeom>
          <a:solidFill>
            <a:srgbClr val="F1F1E6"/>
          </a:solidFill>
          <a:ln>
            <a:noFill/>
          </a:ln>
        </p:spPr>
        <p:txBody>
          <a:bodyPr rtlCol="0" anchor="ctr"/>
          <a:lstStyle/>
          <a:p>
            <a:pPr algn="ctr"/>
          </a:p>
        </p:txBody>
      </p:sp>
      <p:sp>
        <p:nvSpPr>
          <p:cNvPr id="11" name="Rectangle 10"/>
          <p:cNvSpPr/>
          <p:nvPr/>
        </p:nvSpPr>
        <p:spPr>
          <a:xfrm>
            <a:off x="475488" y="3611880"/>
            <a:ext cx="8961120" cy="9144"/>
          </a:xfrm>
          <a:prstGeom prst="rect">
            <a:avLst/>
          </a:prstGeom>
          <a:solidFill>
            <a:srgbClr val="000000"/>
          </a:solidFill>
          <a:ln>
            <a:noFill/>
          </a:ln>
        </p:spPr>
        <p:txBody>
          <a:bodyPr rtlCol="0" anchor="ctr"/>
          <a:lstStyle/>
          <a:p>
            <a:pPr algn="ctr"/>
          </a:p>
        </p:txBody>
      </p:sp>
      <p:sp>
        <p:nvSpPr>
          <p:cNvPr id="12" name="Oval 11"/>
          <p:cNvSpPr/>
          <p:nvPr/>
        </p:nvSpPr>
        <p:spPr>
          <a:xfrm>
            <a:off x="676656" y="3319272"/>
            <a:ext cx="128016" cy="128016"/>
          </a:xfrm>
          <a:prstGeom prst="ellipse">
            <a:avLst/>
          </a:prstGeom>
          <a:solidFill>
            <a:srgbClr val="D9D9CC"/>
          </a:solidFill>
          <a:ln>
            <a:noFill/>
          </a:ln>
        </p:spPr>
        <p:txBody>
          <a:bodyPr rtlCol="0" anchor="ctr"/>
          <a:lstStyle/>
          <a:p>
            <a:pPr algn="ctr"/>
          </a:p>
        </p:txBody>
      </p:sp>
      <p:sp>
        <p:nvSpPr>
          <p:cNvPr id="13" name="Oval 12"/>
          <p:cNvSpPr/>
          <p:nvPr/>
        </p:nvSpPr>
        <p:spPr>
          <a:xfrm>
            <a:off x="914400" y="3319272"/>
            <a:ext cx="128016" cy="128016"/>
          </a:xfrm>
          <a:prstGeom prst="ellipse">
            <a:avLst/>
          </a:prstGeom>
          <a:solidFill>
            <a:srgbClr val="D9D9CC"/>
          </a:solidFill>
          <a:ln>
            <a:noFill/>
          </a:ln>
        </p:spPr>
        <p:txBody>
          <a:bodyPr rtlCol="0" anchor="ctr"/>
          <a:lstStyle/>
          <a:p>
            <a:pPr algn="ctr"/>
          </a:p>
        </p:txBody>
      </p:sp>
      <p:sp>
        <p:nvSpPr>
          <p:cNvPr id="14" name="Oval 13"/>
          <p:cNvSpPr/>
          <p:nvPr/>
        </p:nvSpPr>
        <p:spPr>
          <a:xfrm>
            <a:off x="1152144" y="3319272"/>
            <a:ext cx="128016" cy="128016"/>
          </a:xfrm>
          <a:prstGeom prst="ellipse">
            <a:avLst/>
          </a:prstGeom>
          <a:solidFill>
            <a:srgbClr val="D9D9CC"/>
          </a:solidFill>
          <a:ln>
            <a:noFill/>
          </a:ln>
        </p:spPr>
        <p:txBody>
          <a:bodyPr rtlCol="0" anchor="ctr"/>
          <a:lstStyle/>
          <a:p>
            <a:pPr algn="ctr"/>
          </a:p>
        </p:txBody>
      </p:sp>
      <p:sp>
        <p:nvSpPr>
          <p:cNvPr id="15" name="TextBox 14"/>
          <p:cNvSpPr txBox="1"/>
          <p:nvPr/>
        </p:nvSpPr>
        <p:spPr>
          <a:xfrm>
            <a:off x="1572768" y="3246120"/>
            <a:ext cx="7680960" cy="274320"/>
          </a:xfrm>
          <a:prstGeom prst="rect">
            <a:avLst/>
          </a:prstGeom>
          <a:noFill/>
        </p:spPr>
        <p:txBody>
          <a:bodyPr wrap="none" lIns="0" rIns="0" tIns="0" bIns="0" anchor="ctr">
            <a:noAutofit/>
          </a:bodyPr>
          <a:lstStyle/>
          <a:p>
            <a:pPr algn="l"/>
            <a:r>
              <a:rPr sz="1600" b="0" i="0">
                <a:solidFill>
                  <a:srgbClr val="5A574F"/>
                </a:solidFill>
                <a:latin typeface="Roboto Mono"/>
              </a:rPr>
              <a:t>Calira API  ›  Authorization</a:t>
            </a:r>
          </a:p>
        </p:txBody>
      </p:sp>
      <p:sp>
        <p:nvSpPr>
          <p:cNvPr id="16" name="TextBox 15"/>
          <p:cNvSpPr txBox="1"/>
          <p:nvPr/>
        </p:nvSpPr>
        <p:spPr>
          <a:xfrm>
            <a:off x="795528" y="3840480"/>
            <a:ext cx="2926080" cy="384048"/>
          </a:xfrm>
          <a:prstGeom prst="rect">
            <a:avLst/>
          </a:prstGeom>
          <a:noFill/>
        </p:spPr>
        <p:txBody>
          <a:bodyPr wrap="square" lIns="0" rIns="0" tIns="0" bIns="0" anchor="ctr">
            <a:noAutofit/>
          </a:bodyPr>
          <a:lstStyle/>
          <a:p>
            <a:pPr algn="l"/>
            <a:r>
              <a:rPr sz="1600" b="0" i="0">
                <a:solidFill>
                  <a:srgbClr val="5A574F"/>
                </a:solidFill>
                <a:latin typeface="Inter"/>
              </a:rPr>
              <a:t>Type</a:t>
            </a:r>
          </a:p>
        </p:txBody>
      </p:sp>
      <p:sp>
        <p:nvSpPr>
          <p:cNvPr id="17" name="Rectangle 16"/>
          <p:cNvSpPr/>
          <p:nvPr/>
        </p:nvSpPr>
        <p:spPr>
          <a:xfrm>
            <a:off x="3767328" y="3840480"/>
            <a:ext cx="5394960" cy="384048"/>
          </a:xfrm>
          <a:prstGeom prst="rect">
            <a:avLst/>
          </a:prstGeom>
          <a:solidFill>
            <a:srgbClr val="FFFFFF"/>
          </a:solidFill>
          <a:ln w="9525">
            <a:solidFill>
              <a:srgbClr val="000000"/>
            </a:solidFill>
          </a:ln>
        </p:spPr>
        <p:txBody>
          <a:bodyPr rtlCol="0" anchor="ctr"/>
          <a:lstStyle/>
          <a:p>
            <a:pPr algn="ctr"/>
          </a:p>
        </p:txBody>
      </p:sp>
      <p:sp>
        <p:nvSpPr>
          <p:cNvPr id="18" name="TextBox 17"/>
          <p:cNvSpPr txBox="1"/>
          <p:nvPr/>
        </p:nvSpPr>
        <p:spPr>
          <a:xfrm>
            <a:off x="3904487" y="3840480"/>
            <a:ext cx="5120640" cy="384048"/>
          </a:xfrm>
          <a:prstGeom prst="rect">
            <a:avLst/>
          </a:prstGeom>
          <a:noFill/>
        </p:spPr>
        <p:txBody>
          <a:bodyPr wrap="none" lIns="0" rIns="0" tIns="0" bIns="0" anchor="ctr">
            <a:noAutofit/>
          </a:bodyPr>
          <a:lstStyle/>
          <a:p>
            <a:pPr algn="l"/>
            <a:r>
              <a:rPr sz="1500" b="0" i="0">
                <a:solidFill>
                  <a:srgbClr val="000000"/>
                </a:solidFill>
                <a:latin typeface="Roboto Mono"/>
              </a:rPr>
              <a:t>OAuth 2.0</a:t>
            </a:r>
          </a:p>
        </p:txBody>
      </p:sp>
      <p:sp>
        <p:nvSpPr>
          <p:cNvPr id="19" name="TextBox 18"/>
          <p:cNvSpPr txBox="1"/>
          <p:nvPr/>
        </p:nvSpPr>
        <p:spPr>
          <a:xfrm>
            <a:off x="795528" y="4297680"/>
            <a:ext cx="2926080" cy="384048"/>
          </a:xfrm>
          <a:prstGeom prst="rect">
            <a:avLst/>
          </a:prstGeom>
          <a:noFill/>
        </p:spPr>
        <p:txBody>
          <a:bodyPr wrap="square" lIns="0" rIns="0" tIns="0" bIns="0" anchor="ctr">
            <a:noAutofit/>
          </a:bodyPr>
          <a:lstStyle/>
          <a:p>
            <a:pPr algn="l"/>
            <a:r>
              <a:rPr sz="1600" b="0" i="0">
                <a:solidFill>
                  <a:srgbClr val="5A574F"/>
                </a:solidFill>
                <a:latin typeface="Inter"/>
              </a:rPr>
              <a:t>Grant type</a:t>
            </a:r>
          </a:p>
        </p:txBody>
      </p:sp>
      <p:sp>
        <p:nvSpPr>
          <p:cNvPr id="20" name="Rectangle 19"/>
          <p:cNvSpPr/>
          <p:nvPr/>
        </p:nvSpPr>
        <p:spPr>
          <a:xfrm>
            <a:off x="3767328" y="4297680"/>
            <a:ext cx="5394960" cy="384048"/>
          </a:xfrm>
          <a:prstGeom prst="rect">
            <a:avLst/>
          </a:prstGeom>
          <a:solidFill>
            <a:srgbClr val="FFFFFF"/>
          </a:solidFill>
          <a:ln w="9525">
            <a:solidFill>
              <a:srgbClr val="000000"/>
            </a:solidFill>
          </a:ln>
        </p:spPr>
        <p:txBody>
          <a:bodyPr rtlCol="0" anchor="ctr"/>
          <a:lstStyle/>
          <a:p>
            <a:pPr algn="ctr"/>
          </a:p>
        </p:txBody>
      </p:sp>
      <p:sp>
        <p:nvSpPr>
          <p:cNvPr id="21" name="TextBox 20"/>
          <p:cNvSpPr txBox="1"/>
          <p:nvPr/>
        </p:nvSpPr>
        <p:spPr>
          <a:xfrm>
            <a:off x="3904487" y="4297680"/>
            <a:ext cx="5120640" cy="384048"/>
          </a:xfrm>
          <a:prstGeom prst="rect">
            <a:avLst/>
          </a:prstGeom>
          <a:noFill/>
        </p:spPr>
        <p:txBody>
          <a:bodyPr wrap="none" lIns="0" rIns="0" tIns="0" bIns="0" anchor="ctr">
            <a:noAutofit/>
          </a:bodyPr>
          <a:lstStyle/>
          <a:p>
            <a:pPr algn="l"/>
            <a:r>
              <a:rPr sz="1500" b="0" i="0">
                <a:solidFill>
                  <a:srgbClr val="000000"/>
                </a:solidFill>
                <a:latin typeface="Roboto Mono"/>
              </a:rPr>
              <a:t>Authorization Code</a:t>
            </a:r>
          </a:p>
        </p:txBody>
      </p:sp>
      <p:sp>
        <p:nvSpPr>
          <p:cNvPr id="22" name="TextBox 21"/>
          <p:cNvSpPr txBox="1"/>
          <p:nvPr/>
        </p:nvSpPr>
        <p:spPr>
          <a:xfrm>
            <a:off x="795528" y="4754880"/>
            <a:ext cx="2926080" cy="384048"/>
          </a:xfrm>
          <a:prstGeom prst="rect">
            <a:avLst/>
          </a:prstGeom>
          <a:noFill/>
        </p:spPr>
        <p:txBody>
          <a:bodyPr wrap="square" lIns="0" rIns="0" tIns="0" bIns="0" anchor="ctr">
            <a:noAutofit/>
          </a:bodyPr>
          <a:lstStyle/>
          <a:p>
            <a:pPr algn="l"/>
            <a:r>
              <a:rPr sz="1600" b="0" i="0">
                <a:solidFill>
                  <a:srgbClr val="5A574F"/>
                </a:solidFill>
                <a:latin typeface="Inter"/>
              </a:rPr>
              <a:t>Callback URL</a:t>
            </a:r>
          </a:p>
        </p:txBody>
      </p:sp>
      <p:sp>
        <p:nvSpPr>
          <p:cNvPr id="23" name="Rectangle 22"/>
          <p:cNvSpPr/>
          <p:nvPr/>
        </p:nvSpPr>
        <p:spPr>
          <a:xfrm>
            <a:off x="3767328" y="4754880"/>
            <a:ext cx="5394960" cy="384048"/>
          </a:xfrm>
          <a:prstGeom prst="rect">
            <a:avLst/>
          </a:prstGeom>
          <a:solidFill>
            <a:srgbClr val="FFFFFF"/>
          </a:solidFill>
          <a:ln w="9525">
            <a:solidFill>
              <a:srgbClr val="000000"/>
            </a:solidFill>
          </a:ln>
        </p:spPr>
        <p:txBody>
          <a:bodyPr rtlCol="0" anchor="ctr"/>
          <a:lstStyle/>
          <a:p>
            <a:pPr algn="ctr"/>
          </a:p>
        </p:txBody>
      </p:sp>
      <p:sp>
        <p:nvSpPr>
          <p:cNvPr id="24" name="TextBox 23"/>
          <p:cNvSpPr txBox="1"/>
          <p:nvPr/>
        </p:nvSpPr>
        <p:spPr>
          <a:xfrm>
            <a:off x="3904487" y="4754880"/>
            <a:ext cx="5120640" cy="384048"/>
          </a:xfrm>
          <a:prstGeom prst="rect">
            <a:avLst/>
          </a:prstGeom>
          <a:noFill/>
        </p:spPr>
        <p:txBody>
          <a:bodyPr wrap="none" lIns="0" rIns="0" tIns="0" bIns="0" anchor="ctr">
            <a:noAutofit/>
          </a:bodyPr>
          <a:lstStyle/>
          <a:p>
            <a:pPr algn="l"/>
            <a:r>
              <a:rPr sz="1500" b="0" i="0">
                <a:solidFill>
                  <a:srgbClr val="000000"/>
                </a:solidFill>
                <a:latin typeface="Roboto Mono"/>
              </a:rPr>
              <a:t>https://oauth.pstmn.io/v1/callback</a:t>
            </a:r>
          </a:p>
        </p:txBody>
      </p:sp>
      <p:sp>
        <p:nvSpPr>
          <p:cNvPr id="25" name="TextBox 24"/>
          <p:cNvSpPr txBox="1"/>
          <p:nvPr/>
        </p:nvSpPr>
        <p:spPr>
          <a:xfrm>
            <a:off x="795528" y="5212080"/>
            <a:ext cx="2926080" cy="384048"/>
          </a:xfrm>
          <a:prstGeom prst="rect">
            <a:avLst/>
          </a:prstGeom>
          <a:noFill/>
        </p:spPr>
        <p:txBody>
          <a:bodyPr wrap="square" lIns="0" rIns="0" tIns="0" bIns="0" anchor="ctr">
            <a:noAutofit/>
          </a:bodyPr>
          <a:lstStyle/>
          <a:p>
            <a:pPr algn="l"/>
            <a:r>
              <a:rPr sz="1600" b="0" i="0">
                <a:solidFill>
                  <a:srgbClr val="5A574F"/>
                </a:solidFill>
                <a:latin typeface="Inter"/>
              </a:rPr>
              <a:t>Authorize using browser</a:t>
            </a:r>
          </a:p>
        </p:txBody>
      </p:sp>
      <p:sp>
        <p:nvSpPr>
          <p:cNvPr id="26" name="Rectangle 25"/>
          <p:cNvSpPr/>
          <p:nvPr/>
        </p:nvSpPr>
        <p:spPr>
          <a:xfrm>
            <a:off x="3767328" y="5257800"/>
            <a:ext cx="292608" cy="292608"/>
          </a:xfrm>
          <a:prstGeom prst="rect">
            <a:avLst/>
          </a:prstGeom>
          <a:solidFill>
            <a:srgbClr val="E8FC2E"/>
          </a:solidFill>
          <a:ln w="15875">
            <a:solidFill>
              <a:srgbClr val="000000"/>
            </a:solidFill>
          </a:ln>
        </p:spPr>
        <p:txBody>
          <a:bodyPr rtlCol="0" anchor="ctr"/>
          <a:lstStyle/>
          <a:p>
            <a:pPr algn="ctr"/>
          </a:p>
        </p:txBody>
      </p:sp>
      <p:pic>
        <p:nvPicPr>
          <p:cNvPr id="27" name="Picture 26" descr="check.png"/>
          <p:cNvPicPr>
            <a:picLocks noChangeAspect="1"/>
          </p:cNvPicPr>
          <p:nvPr/>
        </p:nvPicPr>
        <p:blipFill>
          <a:blip r:embed="rId3"/>
          <a:stretch>
            <a:fillRect/>
          </a:stretch>
        </p:blipFill>
        <p:spPr>
          <a:xfrm>
            <a:off x="3803904" y="5294376"/>
            <a:ext cx="219456" cy="219456"/>
          </a:xfrm>
          <a:prstGeom prst="rect">
            <a:avLst/>
          </a:prstGeom>
        </p:spPr>
      </p:pic>
      <p:sp>
        <p:nvSpPr>
          <p:cNvPr id="28" name="TextBox 27"/>
          <p:cNvSpPr txBox="1"/>
          <p:nvPr/>
        </p:nvSpPr>
        <p:spPr>
          <a:xfrm>
            <a:off x="795528" y="5669280"/>
            <a:ext cx="2926080" cy="384048"/>
          </a:xfrm>
          <a:prstGeom prst="rect">
            <a:avLst/>
          </a:prstGeom>
          <a:noFill/>
        </p:spPr>
        <p:txBody>
          <a:bodyPr wrap="square" lIns="0" rIns="0" tIns="0" bIns="0" anchor="ctr">
            <a:noAutofit/>
          </a:bodyPr>
          <a:lstStyle/>
          <a:p>
            <a:pPr algn="l"/>
            <a:r>
              <a:rPr sz="1600" b="0" i="0">
                <a:solidFill>
                  <a:srgbClr val="5A574F"/>
                </a:solidFill>
                <a:latin typeface="Inter"/>
              </a:rPr>
              <a:t>Auth URL</a:t>
            </a:r>
          </a:p>
        </p:txBody>
      </p:sp>
      <p:sp>
        <p:nvSpPr>
          <p:cNvPr id="29" name="Rectangle 28"/>
          <p:cNvSpPr/>
          <p:nvPr/>
        </p:nvSpPr>
        <p:spPr>
          <a:xfrm>
            <a:off x="3767328" y="5669280"/>
            <a:ext cx="5394960" cy="384048"/>
          </a:xfrm>
          <a:prstGeom prst="rect">
            <a:avLst/>
          </a:prstGeom>
          <a:solidFill>
            <a:srgbClr val="FFFFFF"/>
          </a:solidFill>
          <a:ln w="9525">
            <a:solidFill>
              <a:srgbClr val="000000"/>
            </a:solidFill>
          </a:ln>
        </p:spPr>
        <p:txBody>
          <a:bodyPr rtlCol="0" anchor="ctr"/>
          <a:lstStyle/>
          <a:p>
            <a:pPr algn="ctr"/>
          </a:p>
        </p:txBody>
      </p:sp>
      <p:sp>
        <p:nvSpPr>
          <p:cNvPr id="30" name="TextBox 29"/>
          <p:cNvSpPr txBox="1"/>
          <p:nvPr/>
        </p:nvSpPr>
        <p:spPr>
          <a:xfrm>
            <a:off x="3904487" y="5669280"/>
            <a:ext cx="5120640" cy="384048"/>
          </a:xfrm>
          <a:prstGeom prst="rect">
            <a:avLst/>
          </a:prstGeom>
          <a:noFill/>
        </p:spPr>
        <p:txBody>
          <a:bodyPr wrap="none" lIns="0" rIns="0" tIns="0" bIns="0" anchor="ctr">
            <a:noAutofit/>
          </a:bodyPr>
          <a:lstStyle/>
          <a:p>
            <a:pPr algn="l"/>
            <a:r>
              <a:rPr sz="1500" b="0" i="0">
                <a:solidFill>
                  <a:srgbClr val="000000"/>
                </a:solidFill>
                <a:latin typeface="Roboto Mono"/>
              </a:rPr>
              <a:t>{{oauth_authorize_url}}</a:t>
            </a:r>
          </a:p>
        </p:txBody>
      </p:sp>
      <p:sp>
        <p:nvSpPr>
          <p:cNvPr id="31" name="TextBox 30"/>
          <p:cNvSpPr txBox="1"/>
          <p:nvPr/>
        </p:nvSpPr>
        <p:spPr>
          <a:xfrm>
            <a:off x="795528" y="6126480"/>
            <a:ext cx="2926080" cy="384048"/>
          </a:xfrm>
          <a:prstGeom prst="rect">
            <a:avLst/>
          </a:prstGeom>
          <a:noFill/>
        </p:spPr>
        <p:txBody>
          <a:bodyPr wrap="square" lIns="0" rIns="0" tIns="0" bIns="0" anchor="ctr">
            <a:noAutofit/>
          </a:bodyPr>
          <a:lstStyle/>
          <a:p>
            <a:pPr algn="l"/>
            <a:r>
              <a:rPr sz="1600" b="0" i="0">
                <a:solidFill>
                  <a:srgbClr val="5A574F"/>
                </a:solidFill>
                <a:latin typeface="Inter"/>
              </a:rPr>
              <a:t>Access Token URL</a:t>
            </a:r>
          </a:p>
        </p:txBody>
      </p:sp>
      <p:sp>
        <p:nvSpPr>
          <p:cNvPr id="32" name="Rectangle 31"/>
          <p:cNvSpPr/>
          <p:nvPr/>
        </p:nvSpPr>
        <p:spPr>
          <a:xfrm>
            <a:off x="3767328" y="6126480"/>
            <a:ext cx="5394960" cy="384048"/>
          </a:xfrm>
          <a:prstGeom prst="rect">
            <a:avLst/>
          </a:prstGeom>
          <a:solidFill>
            <a:srgbClr val="FFFFFF"/>
          </a:solidFill>
          <a:ln w="9525">
            <a:solidFill>
              <a:srgbClr val="000000"/>
            </a:solidFill>
          </a:ln>
        </p:spPr>
        <p:txBody>
          <a:bodyPr rtlCol="0" anchor="ctr"/>
          <a:lstStyle/>
          <a:p>
            <a:pPr algn="ctr"/>
          </a:p>
        </p:txBody>
      </p:sp>
      <p:sp>
        <p:nvSpPr>
          <p:cNvPr id="33" name="TextBox 32"/>
          <p:cNvSpPr txBox="1"/>
          <p:nvPr/>
        </p:nvSpPr>
        <p:spPr>
          <a:xfrm>
            <a:off x="3904487" y="6126480"/>
            <a:ext cx="5120640" cy="384048"/>
          </a:xfrm>
          <a:prstGeom prst="rect">
            <a:avLst/>
          </a:prstGeom>
          <a:noFill/>
        </p:spPr>
        <p:txBody>
          <a:bodyPr wrap="none" lIns="0" rIns="0" tIns="0" bIns="0" anchor="ctr">
            <a:noAutofit/>
          </a:bodyPr>
          <a:lstStyle/>
          <a:p>
            <a:pPr algn="l"/>
            <a:r>
              <a:rPr sz="1500" b="0" i="0">
                <a:solidFill>
                  <a:srgbClr val="000000"/>
                </a:solidFill>
                <a:latin typeface="Roboto Mono"/>
              </a:rPr>
              <a:t>{{oauth_token_url}}</a:t>
            </a:r>
          </a:p>
        </p:txBody>
      </p:sp>
      <p:sp>
        <p:nvSpPr>
          <p:cNvPr id="34" name="TextBox 33"/>
          <p:cNvSpPr txBox="1"/>
          <p:nvPr/>
        </p:nvSpPr>
        <p:spPr>
          <a:xfrm>
            <a:off x="795528" y="6583680"/>
            <a:ext cx="2926080" cy="384048"/>
          </a:xfrm>
          <a:prstGeom prst="rect">
            <a:avLst/>
          </a:prstGeom>
          <a:noFill/>
        </p:spPr>
        <p:txBody>
          <a:bodyPr wrap="square" lIns="0" rIns="0" tIns="0" bIns="0" anchor="ctr">
            <a:noAutofit/>
          </a:bodyPr>
          <a:lstStyle/>
          <a:p>
            <a:pPr algn="l"/>
            <a:r>
              <a:rPr sz="1600" b="0" i="0">
                <a:solidFill>
                  <a:srgbClr val="5A574F"/>
                </a:solidFill>
                <a:latin typeface="Inter"/>
              </a:rPr>
              <a:t>Client ID</a:t>
            </a:r>
          </a:p>
        </p:txBody>
      </p:sp>
      <p:sp>
        <p:nvSpPr>
          <p:cNvPr id="35" name="Rectangle 34"/>
          <p:cNvSpPr/>
          <p:nvPr/>
        </p:nvSpPr>
        <p:spPr>
          <a:xfrm>
            <a:off x="3767328" y="6583680"/>
            <a:ext cx="5394960" cy="384048"/>
          </a:xfrm>
          <a:prstGeom prst="rect">
            <a:avLst/>
          </a:prstGeom>
          <a:solidFill>
            <a:srgbClr val="FFFFFF"/>
          </a:solidFill>
          <a:ln w="9525">
            <a:solidFill>
              <a:srgbClr val="000000"/>
            </a:solidFill>
          </a:ln>
        </p:spPr>
        <p:txBody>
          <a:bodyPr rtlCol="0" anchor="ctr"/>
          <a:lstStyle/>
          <a:p>
            <a:pPr algn="ctr"/>
          </a:p>
        </p:txBody>
      </p:sp>
      <p:sp>
        <p:nvSpPr>
          <p:cNvPr id="36" name="TextBox 35"/>
          <p:cNvSpPr txBox="1"/>
          <p:nvPr/>
        </p:nvSpPr>
        <p:spPr>
          <a:xfrm>
            <a:off x="3904487" y="6583680"/>
            <a:ext cx="5120640" cy="384048"/>
          </a:xfrm>
          <a:prstGeom prst="rect">
            <a:avLst/>
          </a:prstGeom>
          <a:noFill/>
        </p:spPr>
        <p:txBody>
          <a:bodyPr wrap="none" lIns="0" rIns="0" tIns="0" bIns="0" anchor="ctr">
            <a:noAutofit/>
          </a:bodyPr>
          <a:lstStyle/>
          <a:p>
            <a:pPr algn="l"/>
            <a:r>
              <a:rPr sz="1500" b="0" i="0">
                <a:solidFill>
                  <a:srgbClr val="000000"/>
                </a:solidFill>
                <a:latin typeface="Roboto Mono"/>
              </a:rPr>
              <a:t>{{client_id}}</a:t>
            </a:r>
          </a:p>
        </p:txBody>
      </p:sp>
      <p:sp>
        <p:nvSpPr>
          <p:cNvPr id="37" name="TextBox 36"/>
          <p:cNvSpPr txBox="1"/>
          <p:nvPr/>
        </p:nvSpPr>
        <p:spPr>
          <a:xfrm>
            <a:off x="795528" y="7040880"/>
            <a:ext cx="2926080" cy="384048"/>
          </a:xfrm>
          <a:prstGeom prst="rect">
            <a:avLst/>
          </a:prstGeom>
          <a:noFill/>
        </p:spPr>
        <p:txBody>
          <a:bodyPr wrap="square" lIns="0" rIns="0" tIns="0" bIns="0" anchor="ctr">
            <a:noAutofit/>
          </a:bodyPr>
          <a:lstStyle/>
          <a:p>
            <a:pPr algn="l"/>
            <a:r>
              <a:rPr sz="1600" b="0" i="0">
                <a:solidFill>
                  <a:srgbClr val="5A574F"/>
                </a:solidFill>
                <a:latin typeface="Inter"/>
              </a:rPr>
              <a:t>Client Secret</a:t>
            </a:r>
          </a:p>
        </p:txBody>
      </p:sp>
      <p:sp>
        <p:nvSpPr>
          <p:cNvPr id="38" name="Rectangle 37"/>
          <p:cNvSpPr/>
          <p:nvPr/>
        </p:nvSpPr>
        <p:spPr>
          <a:xfrm>
            <a:off x="3767328" y="7040880"/>
            <a:ext cx="5394960" cy="384048"/>
          </a:xfrm>
          <a:prstGeom prst="rect">
            <a:avLst/>
          </a:prstGeom>
          <a:solidFill>
            <a:srgbClr val="FFFFFF"/>
          </a:solidFill>
          <a:ln w="9525">
            <a:solidFill>
              <a:srgbClr val="000000"/>
            </a:solidFill>
          </a:ln>
        </p:spPr>
        <p:txBody>
          <a:bodyPr rtlCol="0" anchor="ctr"/>
          <a:lstStyle/>
          <a:p>
            <a:pPr algn="ctr"/>
          </a:p>
        </p:txBody>
      </p:sp>
      <p:sp>
        <p:nvSpPr>
          <p:cNvPr id="39" name="TextBox 38"/>
          <p:cNvSpPr txBox="1"/>
          <p:nvPr/>
        </p:nvSpPr>
        <p:spPr>
          <a:xfrm>
            <a:off x="3904487" y="7040880"/>
            <a:ext cx="5120640" cy="384048"/>
          </a:xfrm>
          <a:prstGeom prst="rect">
            <a:avLst/>
          </a:prstGeom>
          <a:noFill/>
        </p:spPr>
        <p:txBody>
          <a:bodyPr wrap="none" lIns="0" rIns="0" tIns="0" bIns="0" anchor="ctr">
            <a:noAutofit/>
          </a:bodyPr>
          <a:lstStyle/>
          <a:p>
            <a:pPr algn="l"/>
            <a:r>
              <a:rPr sz="1500" b="0" i="0">
                <a:solidFill>
                  <a:srgbClr val="000000"/>
                </a:solidFill>
                <a:latin typeface="Roboto Mono"/>
              </a:rPr>
              <a:t>{{client_secret}}</a:t>
            </a:r>
          </a:p>
        </p:txBody>
      </p:sp>
      <p:sp>
        <p:nvSpPr>
          <p:cNvPr id="40" name="TextBox 39"/>
          <p:cNvSpPr txBox="1"/>
          <p:nvPr/>
        </p:nvSpPr>
        <p:spPr>
          <a:xfrm>
            <a:off x="795528" y="7498079"/>
            <a:ext cx="2926080" cy="384048"/>
          </a:xfrm>
          <a:prstGeom prst="rect">
            <a:avLst/>
          </a:prstGeom>
          <a:noFill/>
        </p:spPr>
        <p:txBody>
          <a:bodyPr wrap="square" lIns="0" rIns="0" tIns="0" bIns="0" anchor="ctr">
            <a:noAutofit/>
          </a:bodyPr>
          <a:lstStyle/>
          <a:p>
            <a:pPr algn="l"/>
            <a:r>
              <a:rPr sz="1600" b="0" i="0">
                <a:solidFill>
                  <a:srgbClr val="5A574F"/>
                </a:solidFill>
                <a:latin typeface="Inter"/>
              </a:rPr>
              <a:t>Scope</a:t>
            </a:r>
          </a:p>
        </p:txBody>
      </p:sp>
      <p:sp>
        <p:nvSpPr>
          <p:cNvPr id="41" name="Rectangle 40"/>
          <p:cNvSpPr/>
          <p:nvPr/>
        </p:nvSpPr>
        <p:spPr>
          <a:xfrm>
            <a:off x="3767328" y="7498079"/>
            <a:ext cx="5394960" cy="384048"/>
          </a:xfrm>
          <a:prstGeom prst="rect">
            <a:avLst/>
          </a:prstGeom>
          <a:solidFill>
            <a:srgbClr val="FFFFFF"/>
          </a:solidFill>
          <a:ln w="9525">
            <a:solidFill>
              <a:srgbClr val="000000"/>
            </a:solidFill>
          </a:ln>
        </p:spPr>
        <p:txBody>
          <a:bodyPr rtlCol="0" anchor="ctr"/>
          <a:lstStyle/>
          <a:p>
            <a:pPr algn="ctr"/>
          </a:p>
        </p:txBody>
      </p:sp>
      <p:sp>
        <p:nvSpPr>
          <p:cNvPr id="42" name="TextBox 41"/>
          <p:cNvSpPr txBox="1"/>
          <p:nvPr/>
        </p:nvSpPr>
        <p:spPr>
          <a:xfrm>
            <a:off x="3904487" y="7498079"/>
            <a:ext cx="5120640" cy="384048"/>
          </a:xfrm>
          <a:prstGeom prst="rect">
            <a:avLst/>
          </a:prstGeom>
          <a:noFill/>
        </p:spPr>
        <p:txBody>
          <a:bodyPr wrap="none" lIns="0" rIns="0" tIns="0" bIns="0" anchor="ctr">
            <a:noAutofit/>
          </a:bodyPr>
          <a:lstStyle/>
          <a:p>
            <a:pPr algn="l"/>
            <a:r>
              <a:rPr sz="1500" b="0" i="0">
                <a:solidFill>
                  <a:srgbClr val="000000"/>
                </a:solidFill>
                <a:latin typeface="Roboto Mono"/>
              </a:rPr>
              <a:t>{{oauth_scope}}</a:t>
            </a:r>
          </a:p>
        </p:txBody>
      </p:sp>
      <p:sp>
        <p:nvSpPr>
          <p:cNvPr id="43" name="Rounded Rectangle 42"/>
          <p:cNvSpPr/>
          <p:nvPr/>
        </p:nvSpPr>
        <p:spPr>
          <a:xfrm>
            <a:off x="3767328" y="8138160"/>
            <a:ext cx="3840480" cy="566928"/>
          </a:xfrm>
          <a:prstGeom prst="roundRect">
            <a:avLst>
              <a:gd name="adj" fmla="val 20000"/>
            </a:avLst>
          </a:prstGeom>
          <a:solidFill>
            <a:srgbClr val="E8FC2E"/>
          </a:solidFill>
          <a:ln w="19050">
            <a:solidFill>
              <a:srgbClr val="000000"/>
            </a:solidFill>
          </a:ln>
        </p:spPr>
        <p:txBody>
          <a:bodyPr rtlCol="0" anchor="ctr" wrap="none" lIns="0" rIns="0" tIns="0" bIns="0">
            <a:noAutofit/>
          </a:bodyPr>
          <a:lstStyle/>
          <a:p>
            <a:pPr algn="ctr"/>
            <a:r>
              <a:rPr sz="1800" b="1" i="0">
                <a:solidFill>
                  <a:srgbClr val="000000"/>
                </a:solidFill>
                <a:latin typeface="Inter"/>
              </a:rPr>
              <a:t>Get New Access Token</a:t>
            </a:r>
          </a:p>
        </p:txBody>
      </p:sp>
      <p:sp>
        <p:nvSpPr>
          <p:cNvPr id="44" name="Oval 43"/>
          <p:cNvSpPr/>
          <p:nvPr/>
        </p:nvSpPr>
        <p:spPr>
          <a:xfrm>
            <a:off x="9829800" y="3200400"/>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1</a:t>
            </a:r>
          </a:p>
        </p:txBody>
      </p:sp>
      <p:sp>
        <p:nvSpPr>
          <p:cNvPr id="45" name="TextBox 44"/>
          <p:cNvSpPr txBox="1"/>
          <p:nvPr/>
        </p:nvSpPr>
        <p:spPr>
          <a:xfrm>
            <a:off x="10515600" y="3255264"/>
            <a:ext cx="7296912" cy="758952"/>
          </a:xfrm>
          <a:prstGeom prst="rect">
            <a:avLst/>
          </a:prstGeom>
          <a:noFill/>
        </p:spPr>
        <p:txBody>
          <a:bodyPr wrap="square" lIns="0" rIns="0" tIns="0" bIns="0" anchor="t">
            <a:noAutofit/>
          </a:bodyPr>
          <a:lstStyle/>
          <a:p>
            <a:pPr algn="l"/>
            <a:r>
              <a:rPr sz="1900" b="0" i="0">
                <a:solidFill>
                  <a:srgbClr val="000000"/>
                </a:solidFill>
                <a:latin typeface="Inter"/>
              </a:rPr>
              <a:t>Click the </a:t>
            </a:r>
            <a:r>
              <a:rPr sz="1900" b="1" i="0">
                <a:solidFill>
                  <a:srgbClr val="000000"/>
                </a:solidFill>
                <a:latin typeface="Inter"/>
              </a:rPr>
              <a:t>collection name</a:t>
            </a:r>
            <a:r>
              <a:rPr sz="1900" b="0" i="0">
                <a:solidFill>
                  <a:srgbClr val="000000"/>
                </a:solidFill>
                <a:latin typeface="Inter"/>
              </a:rPr>
              <a:t>, then the </a:t>
            </a:r>
            <a:r>
              <a:rPr sz="1900" b="1" i="0">
                <a:solidFill>
                  <a:srgbClr val="000000"/>
                </a:solidFill>
                <a:latin typeface="Inter"/>
              </a:rPr>
              <a:t>Authorization</a:t>
            </a:r>
            <a:r>
              <a:rPr sz="1900" b="0" i="0">
                <a:solidFill>
                  <a:srgbClr val="000000"/>
                </a:solidFill>
                <a:latin typeface="Inter"/>
              </a:rPr>
              <a:t> tab.</a:t>
            </a:r>
          </a:p>
        </p:txBody>
      </p:sp>
      <p:sp>
        <p:nvSpPr>
          <p:cNvPr id="46" name="Oval 45"/>
          <p:cNvSpPr/>
          <p:nvPr/>
        </p:nvSpPr>
        <p:spPr>
          <a:xfrm>
            <a:off x="9829800" y="4050791"/>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2</a:t>
            </a:r>
          </a:p>
        </p:txBody>
      </p:sp>
      <p:sp>
        <p:nvSpPr>
          <p:cNvPr id="47" name="TextBox 46"/>
          <p:cNvSpPr txBox="1"/>
          <p:nvPr/>
        </p:nvSpPr>
        <p:spPr>
          <a:xfrm>
            <a:off x="10515600" y="4105655"/>
            <a:ext cx="7296912" cy="758952"/>
          </a:xfrm>
          <a:prstGeom prst="rect">
            <a:avLst/>
          </a:prstGeom>
          <a:noFill/>
        </p:spPr>
        <p:txBody>
          <a:bodyPr wrap="square" lIns="0" rIns="0" tIns="0" bIns="0" anchor="t">
            <a:noAutofit/>
          </a:bodyPr>
          <a:lstStyle/>
          <a:p>
            <a:pPr algn="l"/>
            <a:r>
              <a:rPr sz="1900" b="0" i="0">
                <a:solidFill>
                  <a:srgbClr val="000000"/>
                </a:solidFill>
                <a:latin typeface="Inter"/>
              </a:rPr>
              <a:t>The grey boxes already show your </a:t>
            </a:r>
            <a:r>
              <a:rPr sz="1900" b="1" i="0">
                <a:solidFill>
                  <a:srgbClr val="000000"/>
                </a:solidFill>
                <a:latin typeface="Inter"/>
              </a:rPr>
              <a:t>{{variables}}</a:t>
            </a:r>
            <a:r>
              <a:rPr sz="1900" b="0" i="0">
                <a:solidFill>
                  <a:srgbClr val="000000"/>
                </a:solidFill>
                <a:latin typeface="Inter"/>
              </a:rPr>
              <a:t>. Nothing to type.</a:t>
            </a:r>
          </a:p>
        </p:txBody>
      </p:sp>
      <p:sp>
        <p:nvSpPr>
          <p:cNvPr id="48" name="Oval 47"/>
          <p:cNvSpPr/>
          <p:nvPr/>
        </p:nvSpPr>
        <p:spPr>
          <a:xfrm>
            <a:off x="9829800" y="4901184"/>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3</a:t>
            </a:r>
          </a:p>
        </p:txBody>
      </p:sp>
      <p:sp>
        <p:nvSpPr>
          <p:cNvPr id="49" name="TextBox 48"/>
          <p:cNvSpPr txBox="1"/>
          <p:nvPr/>
        </p:nvSpPr>
        <p:spPr>
          <a:xfrm>
            <a:off x="10515600" y="4956048"/>
            <a:ext cx="7296912" cy="758952"/>
          </a:xfrm>
          <a:prstGeom prst="rect">
            <a:avLst/>
          </a:prstGeom>
          <a:noFill/>
        </p:spPr>
        <p:txBody>
          <a:bodyPr wrap="square" lIns="0" rIns="0" tIns="0" bIns="0" anchor="t">
            <a:noAutofit/>
          </a:bodyPr>
          <a:lstStyle/>
          <a:p>
            <a:pPr algn="l"/>
            <a:r>
              <a:rPr sz="1900" b="0" i="0">
                <a:solidFill>
                  <a:srgbClr val="000000"/>
                </a:solidFill>
                <a:latin typeface="Inter"/>
              </a:rPr>
              <a:t>Click </a:t>
            </a:r>
            <a:r>
              <a:rPr sz="1900" b="1" i="0">
                <a:solidFill>
                  <a:srgbClr val="000000"/>
                </a:solidFill>
                <a:latin typeface="Inter"/>
              </a:rPr>
              <a:t>Get New Access Token</a:t>
            </a:r>
            <a:r>
              <a:rPr sz="1900" b="0" i="0">
                <a:solidFill>
                  <a:srgbClr val="000000"/>
                </a:solidFill>
                <a:latin typeface="Inter"/>
              </a:rPr>
              <a:t>.</a:t>
            </a:r>
          </a:p>
        </p:txBody>
      </p:sp>
      <p:sp>
        <p:nvSpPr>
          <p:cNvPr id="50" name="Oval 49"/>
          <p:cNvSpPr/>
          <p:nvPr/>
        </p:nvSpPr>
        <p:spPr>
          <a:xfrm>
            <a:off x="9829800" y="5751576"/>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4</a:t>
            </a:r>
          </a:p>
        </p:txBody>
      </p:sp>
      <p:sp>
        <p:nvSpPr>
          <p:cNvPr id="51" name="TextBox 50"/>
          <p:cNvSpPr txBox="1"/>
          <p:nvPr/>
        </p:nvSpPr>
        <p:spPr>
          <a:xfrm>
            <a:off x="10515600" y="5806440"/>
            <a:ext cx="7296912" cy="758952"/>
          </a:xfrm>
          <a:prstGeom prst="rect">
            <a:avLst/>
          </a:prstGeom>
          <a:noFill/>
        </p:spPr>
        <p:txBody>
          <a:bodyPr wrap="square" lIns="0" rIns="0" tIns="0" bIns="0" anchor="t">
            <a:noAutofit/>
          </a:bodyPr>
          <a:lstStyle/>
          <a:p>
            <a:pPr algn="l"/>
            <a:r>
              <a:rPr sz="1900" b="0" i="0">
                <a:solidFill>
                  <a:srgbClr val="000000"/>
                </a:solidFill>
                <a:latin typeface="Inter"/>
              </a:rPr>
              <a:t>In the browser, </a:t>
            </a:r>
            <a:r>
              <a:rPr sz="1900" b="1" i="0">
                <a:solidFill>
                  <a:srgbClr val="000000"/>
                </a:solidFill>
                <a:latin typeface="Inter"/>
              </a:rPr>
              <a:t>log in</a:t>
            </a:r>
            <a:r>
              <a:rPr sz="1900" b="0" i="0">
                <a:solidFill>
                  <a:srgbClr val="000000"/>
                </a:solidFill>
                <a:latin typeface="Inter"/>
              </a:rPr>
              <a:t>, tick the labs and click </a:t>
            </a:r>
            <a:r>
              <a:rPr sz="1900" b="1" i="0">
                <a:solidFill>
                  <a:srgbClr val="000000"/>
                </a:solidFill>
                <a:latin typeface="Inter"/>
              </a:rPr>
              <a:t>Authorise</a:t>
            </a:r>
            <a:r>
              <a:rPr sz="1900" b="0" i="0">
                <a:solidFill>
                  <a:srgbClr val="000000"/>
                </a:solidFill>
                <a:latin typeface="Inter"/>
              </a:rPr>
              <a:t>.</a:t>
            </a:r>
          </a:p>
        </p:txBody>
      </p:sp>
      <p:sp>
        <p:nvSpPr>
          <p:cNvPr id="52" name="Oval 51"/>
          <p:cNvSpPr/>
          <p:nvPr/>
        </p:nvSpPr>
        <p:spPr>
          <a:xfrm>
            <a:off x="9829800" y="6601968"/>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5</a:t>
            </a:r>
          </a:p>
        </p:txBody>
      </p:sp>
      <p:sp>
        <p:nvSpPr>
          <p:cNvPr id="53" name="TextBox 52"/>
          <p:cNvSpPr txBox="1"/>
          <p:nvPr/>
        </p:nvSpPr>
        <p:spPr>
          <a:xfrm>
            <a:off x="10515600" y="6656832"/>
            <a:ext cx="7296912" cy="758952"/>
          </a:xfrm>
          <a:prstGeom prst="rect">
            <a:avLst/>
          </a:prstGeom>
          <a:noFill/>
        </p:spPr>
        <p:txBody>
          <a:bodyPr wrap="square" lIns="0" rIns="0" tIns="0" bIns="0" anchor="t">
            <a:noAutofit/>
          </a:bodyPr>
          <a:lstStyle/>
          <a:p>
            <a:pPr algn="l"/>
            <a:r>
              <a:rPr sz="1900" b="0" i="0">
                <a:solidFill>
                  <a:srgbClr val="000000"/>
                </a:solidFill>
                <a:latin typeface="Inter"/>
              </a:rPr>
              <a:t>Back in Postman, click </a:t>
            </a:r>
            <a:r>
              <a:rPr sz="1900" b="1" i="0">
                <a:solidFill>
                  <a:srgbClr val="000000"/>
                </a:solidFill>
                <a:latin typeface="Inter"/>
              </a:rPr>
              <a:t>Use Token</a:t>
            </a:r>
            <a:r>
              <a:rPr sz="1900" b="0" i="0">
                <a:solidFill>
                  <a:srgbClr val="000000"/>
                </a:solidFill>
                <a:latin typeface="Inter"/>
              </a:rPr>
              <a:t>.</a:t>
            </a:r>
          </a:p>
        </p:txBody>
      </p:sp>
      <p:sp>
        <p:nvSpPr>
          <p:cNvPr id="54" name="Oval 53"/>
          <p:cNvSpPr/>
          <p:nvPr/>
        </p:nvSpPr>
        <p:spPr>
          <a:xfrm>
            <a:off x="9829800" y="7452360"/>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6</a:t>
            </a:r>
          </a:p>
        </p:txBody>
      </p:sp>
      <p:sp>
        <p:nvSpPr>
          <p:cNvPr id="55" name="TextBox 54"/>
          <p:cNvSpPr txBox="1"/>
          <p:nvPr/>
        </p:nvSpPr>
        <p:spPr>
          <a:xfrm>
            <a:off x="10515600" y="7507224"/>
            <a:ext cx="7296912" cy="758952"/>
          </a:xfrm>
          <a:prstGeom prst="rect">
            <a:avLst/>
          </a:prstGeom>
          <a:noFill/>
        </p:spPr>
        <p:txBody>
          <a:bodyPr wrap="square" lIns="0" rIns="0" tIns="0" bIns="0" anchor="t">
            <a:noAutofit/>
          </a:bodyPr>
          <a:lstStyle/>
          <a:p>
            <a:pPr algn="l"/>
            <a:r>
              <a:rPr sz="1900" b="0" i="0">
                <a:solidFill>
                  <a:srgbClr val="000000"/>
                </a:solidFill>
                <a:latin typeface="Inter"/>
              </a:rPr>
              <a:t>Copy the </a:t>
            </a:r>
            <a:r>
              <a:rPr sz="1900" b="1" i="0">
                <a:solidFill>
                  <a:srgbClr val="000000"/>
                </a:solidFill>
                <a:latin typeface="Inter"/>
              </a:rPr>
              <a:t>Access Token</a:t>
            </a:r>
            <a:r>
              <a:rPr sz="1900" b="0" i="0">
                <a:solidFill>
                  <a:srgbClr val="000000"/>
                </a:solidFill>
                <a:latin typeface="Inter"/>
              </a:rPr>
              <a:t> into the </a:t>
            </a:r>
            <a:r>
              <a:rPr sz="1900" b="1" i="0">
                <a:solidFill>
                  <a:srgbClr val="000000"/>
                </a:solidFill>
                <a:latin typeface="Inter"/>
              </a:rPr>
              <a:t>token</a:t>
            </a:r>
            <a:r>
              <a:rPr sz="1900" b="0" i="0">
                <a:solidFill>
                  <a:srgbClr val="000000"/>
                </a:solidFill>
                <a:latin typeface="Inter"/>
              </a:rPr>
              <a:t> variable (Current value) and </a:t>
            </a:r>
            <a:r>
              <a:rPr sz="1900" b="1" i="0">
                <a:solidFill>
                  <a:srgbClr val="000000"/>
                </a:solidFill>
                <a:latin typeface="Inter"/>
              </a:rPr>
              <a:t>Save</a:t>
            </a:r>
            <a:r>
              <a:rPr sz="1900" b="0" i="0">
                <a:solidFill>
                  <a:srgbClr val="000000"/>
                </a:solidFill>
                <a:latin typeface="Inter"/>
              </a:rPr>
              <a:t>.</a:t>
            </a:r>
          </a:p>
        </p:txBody>
      </p:sp>
      <p:sp>
        <p:nvSpPr>
          <p:cNvPr id="56" name="TextBox 55"/>
          <p:cNvSpPr txBox="1"/>
          <p:nvPr/>
        </p:nvSpPr>
        <p:spPr>
          <a:xfrm>
            <a:off x="9829800" y="8595360"/>
            <a:ext cx="7982712" cy="457200"/>
          </a:xfrm>
          <a:prstGeom prst="rect">
            <a:avLst/>
          </a:prstGeom>
          <a:noFill/>
        </p:spPr>
        <p:txBody>
          <a:bodyPr wrap="square" lIns="0" rIns="0" tIns="0" bIns="0" anchor="t">
            <a:noAutofit/>
          </a:bodyPr>
          <a:lstStyle/>
          <a:p>
            <a:pPr algn="l"/>
            <a:r>
              <a:rPr sz="1500" b="0" i="0">
                <a:solidFill>
                  <a:srgbClr val="000000"/>
                </a:solidFill>
                <a:latin typeface="Roboto Mono"/>
              </a:rPr>
              <a:t>TOKENS LAST ABOUT 2 HOURS. A 401 MEANS REPEAT FROM STEP 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ED"/>
        </a:solidFill>
        <a:effectLst/>
      </p:bgPr>
    </p:bg>
    <p:spTree>
      <p:nvGrpSpPr>
        <p:cNvPr id="1" name=""/>
        <p:cNvGrpSpPr/>
        <p:nvPr/>
      </p:nvGrpSpPr>
      <p:grpSpPr/>
      <p:pic>
        <p:nvPicPr>
          <p:cNvPr id="2" name="Picture 1" descr="s1_0.png"/>
          <p:cNvPicPr>
            <a:picLocks noChangeAspect="1"/>
          </p:cNvPicPr>
          <p:nvPr/>
        </p:nvPicPr>
        <p:blipFill>
          <a:blip r:embed="rId2"/>
          <a:stretch>
            <a:fillRect/>
          </a:stretch>
        </p:blipFill>
        <p:spPr>
          <a:xfrm>
            <a:off x="475488" y="594360"/>
            <a:ext cx="1655064" cy="384048"/>
          </a:xfrm>
          <a:prstGeom prst="rect">
            <a:avLst/>
          </a:prstGeom>
        </p:spPr>
      </p:pic>
      <p:sp>
        <p:nvSpPr>
          <p:cNvPr id="3" name="Rectangle 2"/>
          <p:cNvSpPr/>
          <p:nvPr/>
        </p:nvSpPr>
        <p:spPr>
          <a:xfrm>
            <a:off x="2441448" y="777240"/>
            <a:ext cx="15371064" cy="10972"/>
          </a:xfrm>
          <a:prstGeom prst="rect">
            <a:avLst/>
          </a:prstGeom>
          <a:solidFill>
            <a:srgbClr val="000000"/>
          </a:solidFill>
          <a:ln>
            <a:noFill/>
          </a:ln>
        </p:spPr>
        <p:txBody>
          <a:bodyPr rtlCol="0" anchor="ctr"/>
          <a:lstStyle/>
          <a:p>
            <a:pPr algn="ctr"/>
          </a:p>
        </p:txBody>
      </p:sp>
      <p:sp>
        <p:nvSpPr>
          <p:cNvPr id="4" name="TextBox 3"/>
          <p:cNvSpPr txBox="1"/>
          <p:nvPr/>
        </p:nvSpPr>
        <p:spPr>
          <a:xfrm>
            <a:off x="475488" y="1527048"/>
            <a:ext cx="10972800" cy="365760"/>
          </a:xfrm>
          <a:prstGeom prst="rect">
            <a:avLst/>
          </a:prstGeom>
          <a:noFill/>
        </p:spPr>
        <p:txBody>
          <a:bodyPr wrap="square" lIns="0" rIns="0" tIns="0" bIns="0" anchor="t">
            <a:noAutofit/>
          </a:bodyPr>
          <a:lstStyle/>
          <a:p>
            <a:pPr algn="l"/>
            <a:r>
              <a:rPr sz="1800" b="0" i="0">
                <a:solidFill>
                  <a:srgbClr val="000000"/>
                </a:solidFill>
                <a:latin typeface="Roboto Mono"/>
              </a:rPr>
              <a:t>PART 4 · HANDS-ON WITH POSTMAN</a:t>
            </a:r>
          </a:p>
        </p:txBody>
      </p:sp>
      <p:sp>
        <p:nvSpPr>
          <p:cNvPr id="5" name="Title"/>
          <p:cNvSpPr txBox="1"/>
          <p:nvPr/>
        </p:nvSpPr>
        <p:spPr>
          <a:xfrm>
            <a:off x="475488" y="2011680"/>
            <a:ext cx="17337024" cy="868680"/>
          </a:xfrm>
          <a:prstGeom prst="rect">
            <a:avLst/>
          </a:prstGeom>
          <a:noFill/>
        </p:spPr>
        <p:txBody>
          <a:bodyPr wrap="square" lIns="0" rIns="0" tIns="0" bIns="0" anchor="t">
            <a:noAutofit/>
          </a:bodyPr>
          <a:lstStyle/>
          <a:p>
            <a:pPr algn="l">
              <a:lnSpc>
                <a:spcPct val="95000"/>
              </a:lnSpc>
            </a:pPr>
            <a:r>
              <a:rPr sz="4600" b="1" i="0">
                <a:solidFill>
                  <a:srgbClr val="000000"/>
                </a:solidFill>
                <a:latin typeface="Inter"/>
              </a:rPr>
              <a:t>A quick tour of the Postman screen</a:t>
            </a:r>
          </a:p>
        </p:txBody>
      </p:sp>
      <p:sp>
        <p:nvSpPr>
          <p:cNvPr id="6" name="Rectangle 5"/>
          <p:cNvSpPr/>
          <p:nvPr/>
        </p:nvSpPr>
        <p:spPr>
          <a:xfrm>
            <a:off x="475488" y="9189720"/>
            <a:ext cx="17337024" cy="10972"/>
          </a:xfrm>
          <a:prstGeom prst="rect">
            <a:avLst/>
          </a:prstGeom>
          <a:solidFill>
            <a:srgbClr val="000000"/>
          </a:solidFill>
          <a:ln>
            <a:noFill/>
          </a:ln>
        </p:spPr>
        <p:txBody>
          <a:bodyPr rtlCol="0" anchor="ctr"/>
          <a:lstStyle/>
          <a:p>
            <a:pPr algn="ctr"/>
          </a:p>
        </p:txBody>
      </p:sp>
      <p:sp>
        <p:nvSpPr>
          <p:cNvPr id="7" name="TextBox 6"/>
          <p:cNvSpPr txBox="1"/>
          <p:nvPr/>
        </p:nvSpPr>
        <p:spPr>
          <a:xfrm>
            <a:off x="475488" y="9354312"/>
            <a:ext cx="2743200" cy="338328"/>
          </a:xfrm>
          <a:prstGeom prst="rect">
            <a:avLst/>
          </a:prstGeom>
          <a:noFill/>
        </p:spPr>
        <p:txBody>
          <a:bodyPr wrap="square" lIns="0" rIns="0" tIns="0" bIns="0" anchor="t">
            <a:noAutofit/>
          </a:bodyPr>
          <a:lstStyle/>
          <a:p>
            <a:pPr algn="l"/>
            <a:r>
              <a:rPr sz="1800" b="0" i="0">
                <a:solidFill>
                  <a:srgbClr val="000000"/>
                </a:solidFill>
                <a:latin typeface="Roboto Mono"/>
              </a:rPr>
              <a:t>CALIRA.CO</a:t>
            </a:r>
          </a:p>
        </p:txBody>
      </p:sp>
      <p:sp>
        <p:nvSpPr>
          <p:cNvPr id="8" name="TextBox 7"/>
          <p:cNvSpPr txBox="1"/>
          <p:nvPr/>
        </p:nvSpPr>
        <p:spPr>
          <a:xfrm>
            <a:off x="15983712" y="9354312"/>
            <a:ext cx="1828800" cy="338328"/>
          </a:xfrm>
          <a:prstGeom prst="rect">
            <a:avLst/>
          </a:prstGeom>
          <a:noFill/>
        </p:spPr>
        <p:txBody>
          <a:bodyPr wrap="square" lIns="0" rIns="0" tIns="0" bIns="0" anchor="t">
            <a:noAutofit/>
          </a:bodyPr>
          <a:lstStyle/>
          <a:p>
            <a:pPr algn="r"/>
            <a:r>
              <a:rPr sz="1800" b="0" i="0">
                <a:solidFill>
                  <a:srgbClr val="000000"/>
                </a:solidFill>
                <a:latin typeface="Roboto Mono"/>
              </a:rPr>
              <a:t>26</a:t>
            </a:r>
          </a:p>
        </p:txBody>
      </p:sp>
      <p:sp>
        <p:nvSpPr>
          <p:cNvPr id="9" name="Rounded Rectangle 8"/>
          <p:cNvSpPr/>
          <p:nvPr/>
        </p:nvSpPr>
        <p:spPr>
          <a:xfrm>
            <a:off x="475488" y="3154680"/>
            <a:ext cx="12344400" cy="5760720"/>
          </a:xfrm>
          <a:prstGeom prst="roundRect">
            <a:avLst>
              <a:gd name="adj" fmla="val 2000"/>
            </a:avLst>
          </a:prstGeom>
          <a:solidFill>
            <a:srgbClr val="FFFFFF"/>
          </a:solidFill>
          <a:ln w="15875">
            <a:solidFill>
              <a:srgbClr val="000000"/>
            </a:solidFill>
          </a:ln>
        </p:spPr>
        <p:txBody>
          <a:bodyPr rtlCol="0" anchor="ctr"/>
          <a:lstStyle/>
          <a:p>
            <a:pPr algn="ctr"/>
          </a:p>
        </p:txBody>
      </p:sp>
      <p:sp>
        <p:nvSpPr>
          <p:cNvPr id="10" name="Rectangle 9"/>
          <p:cNvSpPr/>
          <p:nvPr/>
        </p:nvSpPr>
        <p:spPr>
          <a:xfrm>
            <a:off x="475488" y="3154680"/>
            <a:ext cx="12344400" cy="457200"/>
          </a:xfrm>
          <a:prstGeom prst="rect">
            <a:avLst/>
          </a:prstGeom>
          <a:solidFill>
            <a:srgbClr val="F1F1E6"/>
          </a:solidFill>
          <a:ln>
            <a:noFill/>
          </a:ln>
        </p:spPr>
        <p:txBody>
          <a:bodyPr rtlCol="0" anchor="ctr"/>
          <a:lstStyle/>
          <a:p>
            <a:pPr algn="ctr"/>
          </a:p>
        </p:txBody>
      </p:sp>
      <p:sp>
        <p:nvSpPr>
          <p:cNvPr id="11" name="Rectangle 10"/>
          <p:cNvSpPr/>
          <p:nvPr/>
        </p:nvSpPr>
        <p:spPr>
          <a:xfrm>
            <a:off x="475488" y="3611880"/>
            <a:ext cx="12344400" cy="9144"/>
          </a:xfrm>
          <a:prstGeom prst="rect">
            <a:avLst/>
          </a:prstGeom>
          <a:solidFill>
            <a:srgbClr val="000000"/>
          </a:solidFill>
          <a:ln>
            <a:noFill/>
          </a:ln>
        </p:spPr>
        <p:txBody>
          <a:bodyPr rtlCol="0" anchor="ctr"/>
          <a:lstStyle/>
          <a:p>
            <a:pPr algn="ctr"/>
          </a:p>
        </p:txBody>
      </p:sp>
      <p:sp>
        <p:nvSpPr>
          <p:cNvPr id="12" name="Oval 11"/>
          <p:cNvSpPr/>
          <p:nvPr/>
        </p:nvSpPr>
        <p:spPr>
          <a:xfrm>
            <a:off x="676656" y="3319272"/>
            <a:ext cx="128016" cy="128016"/>
          </a:xfrm>
          <a:prstGeom prst="ellipse">
            <a:avLst/>
          </a:prstGeom>
          <a:solidFill>
            <a:srgbClr val="D9D9CC"/>
          </a:solidFill>
          <a:ln>
            <a:noFill/>
          </a:ln>
        </p:spPr>
        <p:txBody>
          <a:bodyPr rtlCol="0" anchor="ctr"/>
          <a:lstStyle/>
          <a:p>
            <a:pPr algn="ctr"/>
          </a:p>
        </p:txBody>
      </p:sp>
      <p:sp>
        <p:nvSpPr>
          <p:cNvPr id="13" name="Oval 12"/>
          <p:cNvSpPr/>
          <p:nvPr/>
        </p:nvSpPr>
        <p:spPr>
          <a:xfrm>
            <a:off x="914400" y="3319272"/>
            <a:ext cx="128016" cy="128016"/>
          </a:xfrm>
          <a:prstGeom prst="ellipse">
            <a:avLst/>
          </a:prstGeom>
          <a:solidFill>
            <a:srgbClr val="D9D9CC"/>
          </a:solidFill>
          <a:ln>
            <a:noFill/>
          </a:ln>
        </p:spPr>
        <p:txBody>
          <a:bodyPr rtlCol="0" anchor="ctr"/>
          <a:lstStyle/>
          <a:p>
            <a:pPr algn="ctr"/>
          </a:p>
        </p:txBody>
      </p:sp>
      <p:sp>
        <p:nvSpPr>
          <p:cNvPr id="14" name="Oval 13"/>
          <p:cNvSpPr/>
          <p:nvPr/>
        </p:nvSpPr>
        <p:spPr>
          <a:xfrm>
            <a:off x="1152144" y="3319272"/>
            <a:ext cx="128016" cy="128016"/>
          </a:xfrm>
          <a:prstGeom prst="ellipse">
            <a:avLst/>
          </a:prstGeom>
          <a:solidFill>
            <a:srgbClr val="D9D9CC"/>
          </a:solidFill>
          <a:ln>
            <a:noFill/>
          </a:ln>
        </p:spPr>
        <p:txBody>
          <a:bodyPr rtlCol="0" anchor="ctr"/>
          <a:lstStyle/>
          <a:p>
            <a:pPr algn="ctr"/>
          </a:p>
        </p:txBody>
      </p:sp>
      <p:sp>
        <p:nvSpPr>
          <p:cNvPr id="15" name="TextBox 14"/>
          <p:cNvSpPr txBox="1"/>
          <p:nvPr/>
        </p:nvSpPr>
        <p:spPr>
          <a:xfrm>
            <a:off x="1572768" y="3246120"/>
            <a:ext cx="11064240" cy="274320"/>
          </a:xfrm>
          <a:prstGeom prst="rect">
            <a:avLst/>
          </a:prstGeom>
          <a:noFill/>
        </p:spPr>
        <p:txBody>
          <a:bodyPr wrap="none" lIns="0" rIns="0" tIns="0" bIns="0" anchor="ctr">
            <a:noAutofit/>
          </a:bodyPr>
          <a:lstStyle/>
          <a:p>
            <a:pPr algn="l"/>
            <a:r>
              <a:rPr sz="1600" b="0" i="0">
                <a:solidFill>
                  <a:srgbClr val="5A574F"/>
                </a:solidFill>
                <a:latin typeface="Roboto Mono"/>
              </a:rPr>
              <a:t>Postman</a:t>
            </a:r>
          </a:p>
        </p:txBody>
      </p:sp>
      <p:sp>
        <p:nvSpPr>
          <p:cNvPr id="16" name="Rounded Rectangle 15"/>
          <p:cNvSpPr/>
          <p:nvPr/>
        </p:nvSpPr>
        <p:spPr>
          <a:xfrm>
            <a:off x="9528048" y="3236976"/>
            <a:ext cx="3017520" cy="310896"/>
          </a:xfrm>
          <a:prstGeom prst="roundRect">
            <a:avLst>
              <a:gd name="adj" fmla="val 40000"/>
            </a:avLst>
          </a:prstGeom>
          <a:solidFill>
            <a:srgbClr val="E8FC2E"/>
          </a:solidFill>
          <a:ln w="12700">
            <a:solidFill>
              <a:srgbClr val="000000"/>
            </a:solidFill>
          </a:ln>
        </p:spPr>
        <p:txBody>
          <a:bodyPr rtlCol="0" anchor="ctr" wrap="none" lIns="0" rIns="0" tIns="0" bIns="0">
            <a:noAutofit/>
          </a:bodyPr>
          <a:lstStyle/>
          <a:p>
            <a:pPr algn="ctr"/>
            <a:r>
              <a:rPr sz="1300" b="1" i="0">
                <a:solidFill>
                  <a:srgbClr val="000000"/>
                </a:solidFill>
                <a:latin typeface="Roboto Mono"/>
              </a:rPr>
              <a:t>Environment: Calira</a:t>
            </a:r>
          </a:p>
        </p:txBody>
      </p:sp>
      <p:sp>
        <p:nvSpPr>
          <p:cNvPr id="17" name="Rectangle 16"/>
          <p:cNvSpPr/>
          <p:nvPr/>
        </p:nvSpPr>
        <p:spPr>
          <a:xfrm>
            <a:off x="475488" y="3611880"/>
            <a:ext cx="2926080" cy="5303520"/>
          </a:xfrm>
          <a:prstGeom prst="rect">
            <a:avLst/>
          </a:prstGeom>
          <a:solidFill>
            <a:srgbClr val="F6F6EC"/>
          </a:solidFill>
          <a:ln>
            <a:noFill/>
          </a:ln>
        </p:spPr>
        <p:txBody>
          <a:bodyPr rtlCol="0" anchor="ctr"/>
          <a:lstStyle/>
          <a:p>
            <a:pPr algn="ctr"/>
          </a:p>
        </p:txBody>
      </p:sp>
      <p:sp>
        <p:nvSpPr>
          <p:cNvPr id="18" name="Rectangle 17"/>
          <p:cNvSpPr/>
          <p:nvPr/>
        </p:nvSpPr>
        <p:spPr>
          <a:xfrm>
            <a:off x="3401568" y="3611880"/>
            <a:ext cx="9144" cy="5303520"/>
          </a:xfrm>
          <a:prstGeom prst="rect">
            <a:avLst/>
          </a:prstGeom>
          <a:solidFill>
            <a:srgbClr val="000000"/>
          </a:solidFill>
          <a:ln>
            <a:noFill/>
          </a:ln>
        </p:spPr>
        <p:txBody>
          <a:bodyPr rtlCol="0" anchor="ctr"/>
          <a:lstStyle/>
          <a:p>
            <a:pPr algn="ctr"/>
          </a:p>
        </p:txBody>
      </p:sp>
      <p:sp>
        <p:nvSpPr>
          <p:cNvPr id="19" name="TextBox 18"/>
          <p:cNvSpPr txBox="1"/>
          <p:nvPr/>
        </p:nvSpPr>
        <p:spPr>
          <a:xfrm>
            <a:off x="704088" y="3794760"/>
            <a:ext cx="2743200" cy="320040"/>
          </a:xfrm>
          <a:prstGeom prst="rect">
            <a:avLst/>
          </a:prstGeom>
          <a:noFill/>
        </p:spPr>
        <p:txBody>
          <a:bodyPr wrap="square" lIns="0" rIns="0" tIns="0" bIns="0" anchor="t">
            <a:noAutofit/>
          </a:bodyPr>
          <a:lstStyle/>
          <a:p>
            <a:pPr algn="l"/>
            <a:r>
              <a:rPr sz="1300" b="0" i="0">
                <a:solidFill>
                  <a:srgbClr val="5A574F"/>
                </a:solidFill>
                <a:latin typeface="Roboto Mono"/>
              </a:rPr>
              <a:t>COLLECTIONS</a:t>
            </a:r>
          </a:p>
        </p:txBody>
      </p:sp>
      <p:sp>
        <p:nvSpPr>
          <p:cNvPr id="20" name="TextBox 19"/>
          <p:cNvSpPr txBox="1"/>
          <p:nvPr/>
        </p:nvSpPr>
        <p:spPr>
          <a:xfrm>
            <a:off x="749808" y="4206240"/>
            <a:ext cx="2194560" cy="384048"/>
          </a:xfrm>
          <a:prstGeom prst="rect">
            <a:avLst/>
          </a:prstGeom>
          <a:noFill/>
        </p:spPr>
        <p:txBody>
          <a:bodyPr wrap="square" lIns="0" rIns="0" tIns="0" bIns="0" anchor="ctr">
            <a:noAutofit/>
          </a:bodyPr>
          <a:lstStyle/>
          <a:p>
            <a:pPr algn="l"/>
            <a:r>
              <a:rPr sz="1700" b="1" i="0">
                <a:solidFill>
                  <a:srgbClr val="000000"/>
                </a:solidFill>
                <a:latin typeface="Inter"/>
              </a:rPr>
              <a:t>Calira API</a:t>
            </a:r>
          </a:p>
        </p:txBody>
      </p:sp>
      <p:sp>
        <p:nvSpPr>
          <p:cNvPr id="21" name="TextBox 20"/>
          <p:cNvSpPr txBox="1"/>
          <p:nvPr/>
        </p:nvSpPr>
        <p:spPr>
          <a:xfrm>
            <a:off x="1069848" y="4663440"/>
            <a:ext cx="2194560" cy="384048"/>
          </a:xfrm>
          <a:prstGeom prst="rect">
            <a:avLst/>
          </a:prstGeom>
          <a:noFill/>
        </p:spPr>
        <p:txBody>
          <a:bodyPr wrap="square" lIns="0" rIns="0" tIns="0" bIns="0" anchor="ctr">
            <a:noAutofit/>
          </a:bodyPr>
          <a:lstStyle/>
          <a:p>
            <a:pPr algn="l"/>
            <a:r>
              <a:rPr sz="1700" b="0" i="0">
                <a:solidFill>
                  <a:srgbClr val="000000"/>
                </a:solidFill>
                <a:latin typeface="Inter"/>
              </a:rPr>
              <a:t>User</a:t>
            </a:r>
          </a:p>
        </p:txBody>
      </p:sp>
      <p:sp>
        <p:nvSpPr>
          <p:cNvPr id="22" name="TextBox 21"/>
          <p:cNvSpPr txBox="1"/>
          <p:nvPr/>
        </p:nvSpPr>
        <p:spPr>
          <a:xfrm>
            <a:off x="1069848" y="5120640"/>
            <a:ext cx="2194560" cy="384048"/>
          </a:xfrm>
          <a:prstGeom prst="rect">
            <a:avLst/>
          </a:prstGeom>
          <a:noFill/>
        </p:spPr>
        <p:txBody>
          <a:bodyPr wrap="square" lIns="0" rIns="0" tIns="0" bIns="0" anchor="ctr">
            <a:noAutofit/>
          </a:bodyPr>
          <a:lstStyle/>
          <a:p>
            <a:pPr algn="l"/>
            <a:r>
              <a:rPr sz="1700" b="0" i="0">
                <a:solidFill>
                  <a:srgbClr val="000000"/>
                </a:solidFill>
                <a:latin typeface="Inter"/>
              </a:rPr>
              <a:t>Accounts</a:t>
            </a:r>
          </a:p>
        </p:txBody>
      </p:sp>
      <p:sp>
        <p:nvSpPr>
          <p:cNvPr id="23" name="TextBox 22"/>
          <p:cNvSpPr txBox="1"/>
          <p:nvPr/>
        </p:nvSpPr>
        <p:spPr>
          <a:xfrm>
            <a:off x="1069848" y="5577840"/>
            <a:ext cx="2194560" cy="384048"/>
          </a:xfrm>
          <a:prstGeom prst="rect">
            <a:avLst/>
          </a:prstGeom>
          <a:noFill/>
        </p:spPr>
        <p:txBody>
          <a:bodyPr wrap="square" lIns="0" rIns="0" tIns="0" bIns="0" anchor="ctr">
            <a:noAutofit/>
          </a:bodyPr>
          <a:lstStyle/>
          <a:p>
            <a:pPr algn="l"/>
            <a:r>
              <a:rPr sz="1700" b="0" i="0">
                <a:solidFill>
                  <a:srgbClr val="000000"/>
                </a:solidFill>
                <a:latin typeface="Inter"/>
              </a:rPr>
              <a:t>Equipment</a:t>
            </a:r>
          </a:p>
        </p:txBody>
      </p:sp>
      <p:sp>
        <p:nvSpPr>
          <p:cNvPr id="24" name="TextBox 23"/>
          <p:cNvSpPr txBox="1"/>
          <p:nvPr/>
        </p:nvSpPr>
        <p:spPr>
          <a:xfrm>
            <a:off x="1069848" y="6035040"/>
            <a:ext cx="2194560" cy="384048"/>
          </a:xfrm>
          <a:prstGeom prst="rect">
            <a:avLst/>
          </a:prstGeom>
          <a:noFill/>
        </p:spPr>
        <p:txBody>
          <a:bodyPr wrap="square" lIns="0" rIns="0" tIns="0" bIns="0" anchor="ctr">
            <a:noAutofit/>
          </a:bodyPr>
          <a:lstStyle/>
          <a:p>
            <a:pPr algn="l"/>
            <a:r>
              <a:rPr sz="1700" b="0" i="0">
                <a:solidFill>
                  <a:srgbClr val="000000"/>
                </a:solidFill>
                <a:latin typeface="Inter"/>
              </a:rPr>
              <a:t>Bookings</a:t>
            </a:r>
          </a:p>
        </p:txBody>
      </p:sp>
      <p:sp>
        <p:nvSpPr>
          <p:cNvPr id="25" name="Rectangle 24"/>
          <p:cNvSpPr/>
          <p:nvPr/>
        </p:nvSpPr>
        <p:spPr>
          <a:xfrm>
            <a:off x="566928" y="5943600"/>
            <a:ext cx="2743200" cy="457200"/>
          </a:xfrm>
          <a:prstGeom prst="rect">
            <a:avLst/>
          </a:prstGeom>
          <a:solidFill>
            <a:srgbClr val="E8FC2E"/>
          </a:solidFill>
          <a:ln>
            <a:noFill/>
          </a:ln>
        </p:spPr>
        <p:txBody>
          <a:bodyPr rtlCol="0" anchor="ctr"/>
          <a:lstStyle/>
          <a:p>
            <a:pPr algn="ctr"/>
          </a:p>
        </p:txBody>
      </p:sp>
      <p:sp>
        <p:nvSpPr>
          <p:cNvPr id="26" name="TextBox 25"/>
          <p:cNvSpPr txBox="1"/>
          <p:nvPr/>
        </p:nvSpPr>
        <p:spPr>
          <a:xfrm>
            <a:off x="1069848" y="5943600"/>
            <a:ext cx="2194560" cy="457200"/>
          </a:xfrm>
          <a:prstGeom prst="rect">
            <a:avLst/>
          </a:prstGeom>
          <a:noFill/>
        </p:spPr>
        <p:txBody>
          <a:bodyPr wrap="square" lIns="0" rIns="0" tIns="0" bIns="0" anchor="ctr">
            <a:noAutofit/>
          </a:bodyPr>
          <a:lstStyle/>
          <a:p>
            <a:pPr algn="l"/>
            <a:r>
              <a:rPr sz="1600" b="1" i="0">
                <a:solidFill>
                  <a:srgbClr val="000000"/>
                </a:solidFill>
                <a:latin typeface="Inter"/>
              </a:rPr>
              <a:t>Get current user</a:t>
            </a:r>
          </a:p>
        </p:txBody>
      </p:sp>
      <p:sp>
        <p:nvSpPr>
          <p:cNvPr id="27" name="Rectangle 26"/>
          <p:cNvSpPr/>
          <p:nvPr/>
        </p:nvSpPr>
        <p:spPr>
          <a:xfrm>
            <a:off x="3675887" y="3840480"/>
            <a:ext cx="8869680" cy="566928"/>
          </a:xfrm>
          <a:prstGeom prst="rect">
            <a:avLst/>
          </a:prstGeom>
          <a:solidFill>
            <a:srgbClr val="FFFFFF"/>
          </a:solidFill>
          <a:ln w="12700">
            <a:solidFill>
              <a:srgbClr val="000000"/>
            </a:solidFill>
          </a:ln>
        </p:spPr>
        <p:txBody>
          <a:bodyPr rtlCol="0" anchor="ctr"/>
          <a:lstStyle/>
          <a:p>
            <a:pPr algn="ctr"/>
          </a:p>
        </p:txBody>
      </p:sp>
      <p:sp>
        <p:nvSpPr>
          <p:cNvPr id="28" name="Rounded Rectangle 27"/>
          <p:cNvSpPr/>
          <p:nvPr/>
        </p:nvSpPr>
        <p:spPr>
          <a:xfrm>
            <a:off x="3785615" y="3913632"/>
            <a:ext cx="1143000" cy="420624"/>
          </a:xfrm>
          <a:prstGeom prst="roundRect">
            <a:avLst>
              <a:gd name="adj" fmla="val 20000"/>
            </a:avLst>
          </a:prstGeom>
          <a:solidFill>
            <a:srgbClr val="009E00"/>
          </a:solidFill>
          <a:ln>
            <a:noFill/>
          </a:ln>
        </p:spPr>
        <p:txBody>
          <a:bodyPr rtlCol="0" anchor="ctr" wrap="none" lIns="0" rIns="0" tIns="0" bIns="0">
            <a:noAutofit/>
          </a:bodyPr>
          <a:lstStyle/>
          <a:p>
            <a:pPr algn="ctr"/>
            <a:r>
              <a:rPr sz="1400" b="1" i="0">
                <a:solidFill>
                  <a:srgbClr val="FFFFFF"/>
                </a:solidFill>
                <a:latin typeface="Roboto Mono"/>
              </a:rPr>
              <a:t>GET</a:t>
            </a:r>
          </a:p>
        </p:txBody>
      </p:sp>
      <p:sp>
        <p:nvSpPr>
          <p:cNvPr id="29" name="TextBox 28"/>
          <p:cNvSpPr txBox="1"/>
          <p:nvPr/>
        </p:nvSpPr>
        <p:spPr>
          <a:xfrm>
            <a:off x="5138927" y="3840480"/>
            <a:ext cx="5760719" cy="566928"/>
          </a:xfrm>
          <a:prstGeom prst="rect">
            <a:avLst/>
          </a:prstGeom>
          <a:noFill/>
        </p:spPr>
        <p:txBody>
          <a:bodyPr wrap="none" lIns="0" rIns="0" tIns="0" bIns="0" anchor="ctr">
            <a:noAutofit/>
          </a:bodyPr>
          <a:lstStyle/>
          <a:p>
            <a:pPr algn="l"/>
            <a:r>
              <a:rPr sz="1800" b="0" i="0">
                <a:solidFill>
                  <a:srgbClr val="000000"/>
                </a:solidFill>
                <a:latin typeface="Roboto Mono"/>
              </a:rPr>
              <a:t>{{base_url}}/user</a:t>
            </a:r>
          </a:p>
        </p:txBody>
      </p:sp>
      <p:sp>
        <p:nvSpPr>
          <p:cNvPr id="30" name="Rounded Rectangle 29"/>
          <p:cNvSpPr/>
          <p:nvPr/>
        </p:nvSpPr>
        <p:spPr>
          <a:xfrm>
            <a:off x="11036807" y="3913632"/>
            <a:ext cx="1371600" cy="420624"/>
          </a:xfrm>
          <a:prstGeom prst="roundRect">
            <a:avLst>
              <a:gd name="adj" fmla="val 20000"/>
            </a:avLst>
          </a:prstGeom>
          <a:solidFill>
            <a:srgbClr val="000000"/>
          </a:solidFill>
          <a:ln>
            <a:noFill/>
          </a:ln>
        </p:spPr>
        <p:txBody>
          <a:bodyPr rtlCol="0" anchor="ctr" wrap="none" lIns="0" rIns="0" tIns="0" bIns="0">
            <a:noAutofit/>
          </a:bodyPr>
          <a:lstStyle/>
          <a:p>
            <a:pPr algn="ctr"/>
            <a:r>
              <a:rPr sz="1800" b="1" i="0">
                <a:solidFill>
                  <a:srgbClr val="FFFFFF"/>
                </a:solidFill>
                <a:latin typeface="Inter"/>
              </a:rPr>
              <a:t>Send</a:t>
            </a:r>
          </a:p>
        </p:txBody>
      </p:sp>
      <p:sp>
        <p:nvSpPr>
          <p:cNvPr id="31" name="TextBox 30"/>
          <p:cNvSpPr txBox="1"/>
          <p:nvPr/>
        </p:nvSpPr>
        <p:spPr>
          <a:xfrm>
            <a:off x="3767327" y="4663440"/>
            <a:ext cx="1920240" cy="365760"/>
          </a:xfrm>
          <a:prstGeom prst="rect">
            <a:avLst/>
          </a:prstGeom>
          <a:noFill/>
        </p:spPr>
        <p:txBody>
          <a:bodyPr wrap="square" lIns="0" rIns="0" tIns="0" bIns="0" anchor="t">
            <a:noAutofit/>
          </a:bodyPr>
          <a:lstStyle/>
          <a:p>
            <a:pPr algn="l"/>
            <a:r>
              <a:rPr sz="1500" b="1" i="0">
                <a:solidFill>
                  <a:srgbClr val="000000"/>
                </a:solidFill>
                <a:latin typeface="Roboto Mono"/>
              </a:rPr>
              <a:t>Params</a:t>
            </a:r>
          </a:p>
        </p:txBody>
      </p:sp>
      <p:sp>
        <p:nvSpPr>
          <p:cNvPr id="32" name="TextBox 31"/>
          <p:cNvSpPr txBox="1"/>
          <p:nvPr/>
        </p:nvSpPr>
        <p:spPr>
          <a:xfrm>
            <a:off x="5779007" y="4663440"/>
            <a:ext cx="1920240" cy="365760"/>
          </a:xfrm>
          <a:prstGeom prst="rect">
            <a:avLst/>
          </a:prstGeom>
          <a:noFill/>
        </p:spPr>
        <p:txBody>
          <a:bodyPr wrap="square" lIns="0" rIns="0" tIns="0" bIns="0" anchor="t">
            <a:noAutofit/>
          </a:bodyPr>
          <a:lstStyle/>
          <a:p>
            <a:pPr algn="l"/>
            <a:r>
              <a:rPr sz="1500" b="0" i="0">
                <a:solidFill>
                  <a:srgbClr val="000000"/>
                </a:solidFill>
                <a:latin typeface="Roboto Mono"/>
              </a:rPr>
              <a:t>Authorization</a:t>
            </a:r>
          </a:p>
        </p:txBody>
      </p:sp>
      <p:sp>
        <p:nvSpPr>
          <p:cNvPr id="33" name="TextBox 32"/>
          <p:cNvSpPr txBox="1"/>
          <p:nvPr/>
        </p:nvSpPr>
        <p:spPr>
          <a:xfrm>
            <a:off x="7790688" y="4663440"/>
            <a:ext cx="1920240" cy="365760"/>
          </a:xfrm>
          <a:prstGeom prst="rect">
            <a:avLst/>
          </a:prstGeom>
          <a:noFill/>
        </p:spPr>
        <p:txBody>
          <a:bodyPr wrap="square" lIns="0" rIns="0" tIns="0" bIns="0" anchor="t">
            <a:noAutofit/>
          </a:bodyPr>
          <a:lstStyle/>
          <a:p>
            <a:pPr algn="l"/>
            <a:r>
              <a:rPr sz="1500" b="0" i="0">
                <a:solidFill>
                  <a:srgbClr val="000000"/>
                </a:solidFill>
                <a:latin typeface="Roboto Mono"/>
              </a:rPr>
              <a:t>Headers</a:t>
            </a:r>
          </a:p>
        </p:txBody>
      </p:sp>
      <p:sp>
        <p:nvSpPr>
          <p:cNvPr id="34" name="TextBox 33"/>
          <p:cNvSpPr txBox="1"/>
          <p:nvPr/>
        </p:nvSpPr>
        <p:spPr>
          <a:xfrm>
            <a:off x="9802367" y="4663440"/>
            <a:ext cx="1920240" cy="365760"/>
          </a:xfrm>
          <a:prstGeom prst="rect">
            <a:avLst/>
          </a:prstGeom>
          <a:noFill/>
        </p:spPr>
        <p:txBody>
          <a:bodyPr wrap="square" lIns="0" rIns="0" tIns="0" bIns="0" anchor="t">
            <a:noAutofit/>
          </a:bodyPr>
          <a:lstStyle/>
          <a:p>
            <a:pPr algn="l"/>
            <a:r>
              <a:rPr sz="1500" b="0" i="0">
                <a:solidFill>
                  <a:srgbClr val="000000"/>
                </a:solidFill>
                <a:latin typeface="Roboto Mono"/>
              </a:rPr>
              <a:t>Body</a:t>
            </a:r>
          </a:p>
        </p:txBody>
      </p:sp>
      <p:sp>
        <p:nvSpPr>
          <p:cNvPr id="35" name="Rectangle 34"/>
          <p:cNvSpPr/>
          <p:nvPr/>
        </p:nvSpPr>
        <p:spPr>
          <a:xfrm>
            <a:off x="3675887" y="5074920"/>
            <a:ext cx="8869680" cy="10972"/>
          </a:xfrm>
          <a:prstGeom prst="rect">
            <a:avLst/>
          </a:prstGeom>
          <a:solidFill>
            <a:srgbClr val="D9D9CC"/>
          </a:solidFill>
          <a:ln>
            <a:noFill/>
          </a:ln>
        </p:spPr>
        <p:txBody>
          <a:bodyPr rtlCol="0" anchor="ctr"/>
          <a:lstStyle/>
          <a:p>
            <a:pPr algn="ctr"/>
          </a:p>
        </p:txBody>
      </p:sp>
      <p:sp>
        <p:nvSpPr>
          <p:cNvPr id="36" name="Rectangle 35"/>
          <p:cNvSpPr/>
          <p:nvPr/>
        </p:nvSpPr>
        <p:spPr>
          <a:xfrm>
            <a:off x="3721607" y="5056632"/>
            <a:ext cx="914400" cy="36576"/>
          </a:xfrm>
          <a:prstGeom prst="rect">
            <a:avLst/>
          </a:prstGeom>
          <a:solidFill>
            <a:srgbClr val="000000"/>
          </a:solidFill>
          <a:ln>
            <a:noFill/>
          </a:ln>
        </p:spPr>
        <p:txBody>
          <a:bodyPr rtlCol="0" anchor="ctr"/>
          <a:lstStyle/>
          <a:p>
            <a:pPr algn="ctr"/>
          </a:p>
        </p:txBody>
      </p:sp>
      <p:sp>
        <p:nvSpPr>
          <p:cNvPr id="37" name="TextBox 36"/>
          <p:cNvSpPr txBox="1"/>
          <p:nvPr/>
        </p:nvSpPr>
        <p:spPr>
          <a:xfrm>
            <a:off x="3675887" y="5394960"/>
            <a:ext cx="2743200" cy="320040"/>
          </a:xfrm>
          <a:prstGeom prst="rect">
            <a:avLst/>
          </a:prstGeom>
          <a:noFill/>
        </p:spPr>
        <p:txBody>
          <a:bodyPr wrap="square" lIns="0" rIns="0" tIns="0" bIns="0" anchor="t">
            <a:noAutofit/>
          </a:bodyPr>
          <a:lstStyle/>
          <a:p>
            <a:pPr algn="l"/>
            <a:r>
              <a:rPr sz="1300" b="0" i="0">
                <a:solidFill>
                  <a:srgbClr val="5A574F"/>
                </a:solidFill>
                <a:latin typeface="Roboto Mono"/>
              </a:rPr>
              <a:t>RESPONSE</a:t>
            </a:r>
          </a:p>
        </p:txBody>
      </p:sp>
      <p:sp>
        <p:nvSpPr>
          <p:cNvPr id="38" name="Rounded Rectangle 37"/>
          <p:cNvSpPr/>
          <p:nvPr/>
        </p:nvSpPr>
        <p:spPr>
          <a:xfrm>
            <a:off x="3675887" y="5806440"/>
            <a:ext cx="1463040" cy="384048"/>
          </a:xfrm>
          <a:prstGeom prst="roundRect">
            <a:avLst>
              <a:gd name="adj" fmla="val 20000"/>
            </a:avLst>
          </a:prstGeom>
          <a:solidFill>
            <a:srgbClr val="E2F5E2"/>
          </a:solidFill>
          <a:ln w="12700">
            <a:solidFill>
              <a:srgbClr val="009E00"/>
            </a:solidFill>
          </a:ln>
        </p:spPr>
        <p:txBody>
          <a:bodyPr rtlCol="0" anchor="ctr" wrap="none" lIns="0" rIns="0" tIns="0" bIns="0">
            <a:noAutofit/>
          </a:bodyPr>
          <a:lstStyle/>
          <a:p>
            <a:pPr algn="ctr"/>
            <a:r>
              <a:rPr sz="1500" b="1" i="0">
                <a:solidFill>
                  <a:srgbClr val="009E00"/>
                </a:solidFill>
                <a:latin typeface="Roboto Mono"/>
              </a:rPr>
              <a:t>200 OK</a:t>
            </a:r>
          </a:p>
        </p:txBody>
      </p:sp>
      <p:sp>
        <p:nvSpPr>
          <p:cNvPr id="39" name="TextBox 38"/>
          <p:cNvSpPr txBox="1"/>
          <p:nvPr/>
        </p:nvSpPr>
        <p:spPr>
          <a:xfrm>
            <a:off x="5321807" y="5806440"/>
            <a:ext cx="2743200" cy="384048"/>
          </a:xfrm>
          <a:prstGeom prst="rect">
            <a:avLst/>
          </a:prstGeom>
          <a:noFill/>
        </p:spPr>
        <p:txBody>
          <a:bodyPr wrap="square" lIns="0" rIns="0" tIns="0" bIns="0" anchor="ctr">
            <a:noAutofit/>
          </a:bodyPr>
          <a:lstStyle/>
          <a:p>
            <a:pPr algn="l"/>
            <a:r>
              <a:rPr sz="1400" b="0" i="0">
                <a:solidFill>
                  <a:srgbClr val="5A574F"/>
                </a:solidFill>
                <a:latin typeface="Roboto Mono"/>
              </a:rPr>
              <a:t>312 ms   186 B</a:t>
            </a:r>
          </a:p>
        </p:txBody>
      </p:sp>
      <p:sp>
        <p:nvSpPr>
          <p:cNvPr id="40" name="TextBox 39"/>
          <p:cNvSpPr txBox="1"/>
          <p:nvPr/>
        </p:nvSpPr>
        <p:spPr>
          <a:xfrm>
            <a:off x="3675887" y="6355080"/>
            <a:ext cx="10972800" cy="457200"/>
          </a:xfrm>
          <a:prstGeom prst="rect">
            <a:avLst/>
          </a:prstGeom>
          <a:noFill/>
        </p:spPr>
        <p:txBody>
          <a:bodyPr wrap="none" lIns="0" rIns="0" tIns="0" bIns="0" anchor="t">
            <a:noAutofit/>
          </a:bodyPr>
          <a:lstStyle/>
          <a:p>
            <a:pPr algn="l"/>
            <a:r>
              <a:rPr sz="1700" b="0" i="0">
                <a:solidFill>
                  <a:srgbClr val="000000"/>
                </a:solidFill>
                <a:latin typeface="Roboto Mono"/>
              </a:rPr>
              <a:t>{</a:t>
            </a:r>
          </a:p>
        </p:txBody>
      </p:sp>
      <p:sp>
        <p:nvSpPr>
          <p:cNvPr id="41" name="TextBox 40"/>
          <p:cNvSpPr txBox="1"/>
          <p:nvPr/>
        </p:nvSpPr>
        <p:spPr>
          <a:xfrm>
            <a:off x="3675887" y="6812280"/>
            <a:ext cx="10972800" cy="457200"/>
          </a:xfrm>
          <a:prstGeom prst="rect">
            <a:avLst/>
          </a:prstGeom>
          <a:noFill/>
        </p:spPr>
        <p:txBody>
          <a:bodyPr wrap="none" lIns="0" rIns="0" tIns="0" bIns="0" anchor="t">
            <a:noAutofit/>
          </a:bodyPr>
          <a:lstStyle/>
          <a:p>
            <a:pPr algn="l"/>
            <a:r>
              <a:rPr sz="1700" b="0" i="0">
                <a:solidFill>
                  <a:srgbClr val="000000"/>
                </a:solidFill>
                <a:latin typeface="Roboto Mono"/>
              </a:rPr>
              <a:t>  "id": 214,</a:t>
            </a:r>
          </a:p>
        </p:txBody>
      </p:sp>
      <p:sp>
        <p:nvSpPr>
          <p:cNvPr id="42" name="TextBox 41"/>
          <p:cNvSpPr txBox="1"/>
          <p:nvPr/>
        </p:nvSpPr>
        <p:spPr>
          <a:xfrm>
            <a:off x="3675887" y="7269480"/>
            <a:ext cx="10972800" cy="457200"/>
          </a:xfrm>
          <a:prstGeom prst="rect">
            <a:avLst/>
          </a:prstGeom>
          <a:noFill/>
        </p:spPr>
        <p:txBody>
          <a:bodyPr wrap="none" lIns="0" rIns="0" tIns="0" bIns="0" anchor="t">
            <a:noAutofit/>
          </a:bodyPr>
          <a:lstStyle/>
          <a:p>
            <a:pPr algn="l"/>
            <a:r>
              <a:rPr sz="1700" b="0" i="0">
                <a:solidFill>
                  <a:srgbClr val="000000"/>
                </a:solidFill>
                <a:latin typeface="Roboto Mono"/>
              </a:rPr>
              <a:t>  "first_name": "Demo",</a:t>
            </a:r>
          </a:p>
        </p:txBody>
      </p:sp>
      <p:sp>
        <p:nvSpPr>
          <p:cNvPr id="43" name="TextBox 42"/>
          <p:cNvSpPr txBox="1"/>
          <p:nvPr/>
        </p:nvSpPr>
        <p:spPr>
          <a:xfrm>
            <a:off x="3675887" y="7726679"/>
            <a:ext cx="10972800" cy="457200"/>
          </a:xfrm>
          <a:prstGeom prst="rect">
            <a:avLst/>
          </a:prstGeom>
          <a:noFill/>
        </p:spPr>
        <p:txBody>
          <a:bodyPr wrap="none" lIns="0" rIns="0" tIns="0" bIns="0" anchor="t">
            <a:noAutofit/>
          </a:bodyPr>
          <a:lstStyle/>
          <a:p>
            <a:pPr algn="l"/>
            <a:r>
              <a:rPr sz="1700" b="0" i="0">
                <a:solidFill>
                  <a:srgbClr val="000000"/>
                </a:solidFill>
                <a:latin typeface="Roboto Mono"/>
              </a:rPr>
              <a:t>  "last_name": "Admin"</a:t>
            </a:r>
          </a:p>
        </p:txBody>
      </p:sp>
      <p:sp>
        <p:nvSpPr>
          <p:cNvPr id="44" name="TextBox 43"/>
          <p:cNvSpPr txBox="1"/>
          <p:nvPr/>
        </p:nvSpPr>
        <p:spPr>
          <a:xfrm>
            <a:off x="3675887" y="8183879"/>
            <a:ext cx="10972800" cy="457200"/>
          </a:xfrm>
          <a:prstGeom prst="rect">
            <a:avLst/>
          </a:prstGeom>
          <a:noFill/>
        </p:spPr>
        <p:txBody>
          <a:bodyPr wrap="none" lIns="0" rIns="0" tIns="0" bIns="0" anchor="t">
            <a:noAutofit/>
          </a:bodyPr>
          <a:lstStyle/>
          <a:p>
            <a:pPr algn="l"/>
            <a:r>
              <a:rPr sz="1700" b="0" i="0">
                <a:solidFill>
                  <a:srgbClr val="000000"/>
                </a:solidFill>
                <a:latin typeface="Roboto Mono"/>
              </a:rPr>
              <a:t>}</a:t>
            </a:r>
          </a:p>
        </p:txBody>
      </p:sp>
      <p:sp>
        <p:nvSpPr>
          <p:cNvPr id="45" name="Oval 44"/>
          <p:cNvSpPr/>
          <p:nvPr/>
        </p:nvSpPr>
        <p:spPr>
          <a:xfrm>
            <a:off x="9025128" y="3191256"/>
            <a:ext cx="384048" cy="384048"/>
          </a:xfrm>
          <a:prstGeom prst="ellipse">
            <a:avLst/>
          </a:prstGeom>
          <a:solidFill>
            <a:srgbClr val="E8FC2E"/>
          </a:solidFill>
          <a:ln w="12700">
            <a:solidFill>
              <a:srgbClr val="000000"/>
            </a:solidFill>
          </a:ln>
        </p:spPr>
        <p:txBody>
          <a:bodyPr rtlCol="0" anchor="ctr" wrap="none" lIns="0" rIns="0" tIns="0" bIns="0">
            <a:noAutofit/>
          </a:bodyPr>
          <a:lstStyle/>
          <a:p>
            <a:pPr algn="ctr"/>
            <a:r>
              <a:rPr sz="1500" b="1" i="0">
                <a:solidFill>
                  <a:srgbClr val="000000"/>
                </a:solidFill>
                <a:latin typeface="Inter"/>
              </a:rPr>
              <a:t>1</a:t>
            </a:r>
          </a:p>
        </p:txBody>
      </p:sp>
      <p:sp>
        <p:nvSpPr>
          <p:cNvPr id="46" name="Oval 45"/>
          <p:cNvSpPr/>
          <p:nvPr/>
        </p:nvSpPr>
        <p:spPr>
          <a:xfrm>
            <a:off x="3127248" y="4206240"/>
            <a:ext cx="384048" cy="384048"/>
          </a:xfrm>
          <a:prstGeom prst="ellipse">
            <a:avLst/>
          </a:prstGeom>
          <a:solidFill>
            <a:srgbClr val="E8FC2E"/>
          </a:solidFill>
          <a:ln w="12700">
            <a:solidFill>
              <a:srgbClr val="000000"/>
            </a:solidFill>
          </a:ln>
        </p:spPr>
        <p:txBody>
          <a:bodyPr rtlCol="0" anchor="ctr" wrap="none" lIns="0" rIns="0" tIns="0" bIns="0">
            <a:noAutofit/>
          </a:bodyPr>
          <a:lstStyle/>
          <a:p>
            <a:pPr algn="ctr"/>
            <a:r>
              <a:rPr sz="1500" b="1" i="0">
                <a:solidFill>
                  <a:srgbClr val="000000"/>
                </a:solidFill>
                <a:latin typeface="Inter"/>
              </a:rPr>
              <a:t>2</a:t>
            </a:r>
          </a:p>
        </p:txBody>
      </p:sp>
      <p:sp>
        <p:nvSpPr>
          <p:cNvPr id="47" name="Oval 46"/>
          <p:cNvSpPr/>
          <p:nvPr/>
        </p:nvSpPr>
        <p:spPr>
          <a:xfrm>
            <a:off x="3401568" y="3931920"/>
            <a:ext cx="384048" cy="384048"/>
          </a:xfrm>
          <a:prstGeom prst="ellipse">
            <a:avLst/>
          </a:prstGeom>
          <a:solidFill>
            <a:srgbClr val="E8FC2E"/>
          </a:solidFill>
          <a:ln w="12700">
            <a:solidFill>
              <a:srgbClr val="000000"/>
            </a:solidFill>
          </a:ln>
        </p:spPr>
        <p:txBody>
          <a:bodyPr rtlCol="0" anchor="ctr" wrap="none" lIns="0" rIns="0" tIns="0" bIns="0">
            <a:noAutofit/>
          </a:bodyPr>
          <a:lstStyle/>
          <a:p>
            <a:pPr algn="ctr"/>
            <a:r>
              <a:rPr sz="1500" b="1" i="0">
                <a:solidFill>
                  <a:srgbClr val="000000"/>
                </a:solidFill>
                <a:latin typeface="Inter"/>
              </a:rPr>
              <a:t>3</a:t>
            </a:r>
          </a:p>
        </p:txBody>
      </p:sp>
      <p:sp>
        <p:nvSpPr>
          <p:cNvPr id="48" name="Oval 47"/>
          <p:cNvSpPr/>
          <p:nvPr/>
        </p:nvSpPr>
        <p:spPr>
          <a:xfrm>
            <a:off x="10533888" y="4590288"/>
            <a:ext cx="384048" cy="384048"/>
          </a:xfrm>
          <a:prstGeom prst="ellipse">
            <a:avLst/>
          </a:prstGeom>
          <a:solidFill>
            <a:srgbClr val="E8FC2E"/>
          </a:solidFill>
          <a:ln w="12700">
            <a:solidFill>
              <a:srgbClr val="000000"/>
            </a:solidFill>
          </a:ln>
        </p:spPr>
        <p:txBody>
          <a:bodyPr rtlCol="0" anchor="ctr" wrap="none" lIns="0" rIns="0" tIns="0" bIns="0">
            <a:noAutofit/>
          </a:bodyPr>
          <a:lstStyle/>
          <a:p>
            <a:pPr algn="ctr"/>
            <a:r>
              <a:rPr sz="1500" b="1" i="0">
                <a:solidFill>
                  <a:srgbClr val="000000"/>
                </a:solidFill>
                <a:latin typeface="Inter"/>
              </a:rPr>
              <a:t>4</a:t>
            </a:r>
          </a:p>
        </p:txBody>
      </p:sp>
      <p:sp>
        <p:nvSpPr>
          <p:cNvPr id="49" name="Oval 48"/>
          <p:cNvSpPr/>
          <p:nvPr/>
        </p:nvSpPr>
        <p:spPr>
          <a:xfrm>
            <a:off x="7104888" y="5788152"/>
            <a:ext cx="384048" cy="384048"/>
          </a:xfrm>
          <a:prstGeom prst="ellipse">
            <a:avLst/>
          </a:prstGeom>
          <a:solidFill>
            <a:srgbClr val="E8FC2E"/>
          </a:solidFill>
          <a:ln w="12700">
            <a:solidFill>
              <a:srgbClr val="000000"/>
            </a:solidFill>
          </a:ln>
        </p:spPr>
        <p:txBody>
          <a:bodyPr rtlCol="0" anchor="ctr" wrap="none" lIns="0" rIns="0" tIns="0" bIns="0">
            <a:noAutofit/>
          </a:bodyPr>
          <a:lstStyle/>
          <a:p>
            <a:pPr algn="ctr"/>
            <a:r>
              <a:rPr sz="1500" b="1" i="0">
                <a:solidFill>
                  <a:srgbClr val="000000"/>
                </a:solidFill>
                <a:latin typeface="Inter"/>
              </a:rPr>
              <a:t>5</a:t>
            </a:r>
          </a:p>
        </p:txBody>
      </p:sp>
      <p:sp>
        <p:nvSpPr>
          <p:cNvPr id="50" name="Oval 49"/>
          <p:cNvSpPr/>
          <p:nvPr/>
        </p:nvSpPr>
        <p:spPr>
          <a:xfrm>
            <a:off x="13075920" y="3182112"/>
            <a:ext cx="420624" cy="420624"/>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1</a:t>
            </a:r>
          </a:p>
        </p:txBody>
      </p:sp>
      <p:sp>
        <p:nvSpPr>
          <p:cNvPr id="51" name="TextBox 50"/>
          <p:cNvSpPr txBox="1"/>
          <p:nvPr/>
        </p:nvSpPr>
        <p:spPr>
          <a:xfrm>
            <a:off x="13716000" y="3154680"/>
            <a:ext cx="4096512" cy="411480"/>
          </a:xfrm>
          <a:prstGeom prst="rect">
            <a:avLst/>
          </a:prstGeom>
          <a:noFill/>
        </p:spPr>
        <p:txBody>
          <a:bodyPr wrap="square" lIns="0" rIns="0" tIns="0" bIns="0" anchor="t">
            <a:noAutofit/>
          </a:bodyPr>
          <a:lstStyle/>
          <a:p>
            <a:pPr algn="l"/>
            <a:r>
              <a:rPr sz="2100" b="1" i="0">
                <a:solidFill>
                  <a:srgbClr val="000000"/>
                </a:solidFill>
                <a:latin typeface="Inter"/>
              </a:rPr>
              <a:t>Environment</a:t>
            </a:r>
          </a:p>
        </p:txBody>
      </p:sp>
      <p:sp>
        <p:nvSpPr>
          <p:cNvPr id="52" name="TextBox 51"/>
          <p:cNvSpPr txBox="1"/>
          <p:nvPr/>
        </p:nvSpPr>
        <p:spPr>
          <a:xfrm>
            <a:off x="13716000" y="3566160"/>
            <a:ext cx="4096512" cy="731520"/>
          </a:xfrm>
          <a:prstGeom prst="rect">
            <a:avLst/>
          </a:prstGeom>
          <a:noFill/>
        </p:spPr>
        <p:txBody>
          <a:bodyPr wrap="square" lIns="0" rIns="0" tIns="0" bIns="0" anchor="t">
            <a:noAutofit/>
          </a:bodyPr>
          <a:lstStyle/>
          <a:p>
            <a:pPr algn="l"/>
            <a:r>
              <a:rPr sz="1700" b="0" i="0">
                <a:solidFill>
                  <a:srgbClr val="2C2825"/>
                </a:solidFill>
                <a:latin typeface="Inter"/>
              </a:rPr>
              <a:t>Check this first. It must say Calira.</a:t>
            </a:r>
          </a:p>
        </p:txBody>
      </p:sp>
      <p:sp>
        <p:nvSpPr>
          <p:cNvPr id="53" name="Oval 52"/>
          <p:cNvSpPr/>
          <p:nvPr/>
        </p:nvSpPr>
        <p:spPr>
          <a:xfrm>
            <a:off x="13075920" y="4343400"/>
            <a:ext cx="420624" cy="420624"/>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2</a:t>
            </a:r>
          </a:p>
        </p:txBody>
      </p:sp>
      <p:sp>
        <p:nvSpPr>
          <p:cNvPr id="54" name="TextBox 53"/>
          <p:cNvSpPr txBox="1"/>
          <p:nvPr/>
        </p:nvSpPr>
        <p:spPr>
          <a:xfrm>
            <a:off x="13716000" y="4315968"/>
            <a:ext cx="4096512" cy="411480"/>
          </a:xfrm>
          <a:prstGeom prst="rect">
            <a:avLst/>
          </a:prstGeom>
          <a:noFill/>
        </p:spPr>
        <p:txBody>
          <a:bodyPr wrap="square" lIns="0" rIns="0" tIns="0" bIns="0" anchor="t">
            <a:noAutofit/>
          </a:bodyPr>
          <a:lstStyle/>
          <a:p>
            <a:pPr algn="l"/>
            <a:r>
              <a:rPr sz="2100" b="1" i="0">
                <a:solidFill>
                  <a:srgbClr val="000000"/>
                </a:solidFill>
                <a:latin typeface="Inter"/>
              </a:rPr>
              <a:t>Requests</a:t>
            </a:r>
          </a:p>
        </p:txBody>
      </p:sp>
      <p:sp>
        <p:nvSpPr>
          <p:cNvPr id="55" name="TextBox 54"/>
          <p:cNvSpPr txBox="1"/>
          <p:nvPr/>
        </p:nvSpPr>
        <p:spPr>
          <a:xfrm>
            <a:off x="13716000" y="4727448"/>
            <a:ext cx="4096512" cy="731520"/>
          </a:xfrm>
          <a:prstGeom prst="rect">
            <a:avLst/>
          </a:prstGeom>
          <a:noFill/>
        </p:spPr>
        <p:txBody>
          <a:bodyPr wrap="square" lIns="0" rIns="0" tIns="0" bIns="0" anchor="t">
            <a:noAutofit/>
          </a:bodyPr>
          <a:lstStyle/>
          <a:p>
            <a:pPr algn="l"/>
            <a:r>
              <a:rPr sz="1700" b="0" i="0">
                <a:solidFill>
                  <a:srgbClr val="2C2825"/>
                </a:solidFill>
                <a:latin typeface="Inter"/>
              </a:rPr>
              <a:t>Open a folder, then click a request.</a:t>
            </a:r>
          </a:p>
        </p:txBody>
      </p:sp>
      <p:sp>
        <p:nvSpPr>
          <p:cNvPr id="56" name="Oval 55"/>
          <p:cNvSpPr/>
          <p:nvPr/>
        </p:nvSpPr>
        <p:spPr>
          <a:xfrm>
            <a:off x="13075920" y="5504688"/>
            <a:ext cx="420624" cy="420624"/>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3</a:t>
            </a:r>
          </a:p>
        </p:txBody>
      </p:sp>
      <p:sp>
        <p:nvSpPr>
          <p:cNvPr id="57" name="TextBox 56"/>
          <p:cNvSpPr txBox="1"/>
          <p:nvPr/>
        </p:nvSpPr>
        <p:spPr>
          <a:xfrm>
            <a:off x="13716000" y="5477256"/>
            <a:ext cx="4096512" cy="411480"/>
          </a:xfrm>
          <a:prstGeom prst="rect">
            <a:avLst/>
          </a:prstGeom>
          <a:noFill/>
        </p:spPr>
        <p:txBody>
          <a:bodyPr wrap="square" lIns="0" rIns="0" tIns="0" bIns="0" anchor="t">
            <a:noAutofit/>
          </a:bodyPr>
          <a:lstStyle/>
          <a:p>
            <a:pPr algn="l"/>
            <a:r>
              <a:rPr sz="2100" b="1" i="0">
                <a:solidFill>
                  <a:srgbClr val="000000"/>
                </a:solidFill>
                <a:latin typeface="Inter"/>
              </a:rPr>
              <a:t>Address and Send</a:t>
            </a:r>
          </a:p>
        </p:txBody>
      </p:sp>
      <p:sp>
        <p:nvSpPr>
          <p:cNvPr id="58" name="TextBox 57"/>
          <p:cNvSpPr txBox="1"/>
          <p:nvPr/>
        </p:nvSpPr>
        <p:spPr>
          <a:xfrm>
            <a:off x="13716000" y="5888736"/>
            <a:ext cx="4096512" cy="731520"/>
          </a:xfrm>
          <a:prstGeom prst="rect">
            <a:avLst/>
          </a:prstGeom>
          <a:noFill/>
        </p:spPr>
        <p:txBody>
          <a:bodyPr wrap="square" lIns="0" rIns="0" tIns="0" bIns="0" anchor="t">
            <a:noAutofit/>
          </a:bodyPr>
          <a:lstStyle/>
          <a:p>
            <a:pPr algn="l"/>
            <a:r>
              <a:rPr sz="1700" b="0" i="0">
                <a:solidFill>
                  <a:srgbClr val="2C2825"/>
                </a:solidFill>
                <a:latin typeface="Inter"/>
              </a:rPr>
              <a:t>The action, the address and the Send button.</a:t>
            </a:r>
          </a:p>
        </p:txBody>
      </p:sp>
      <p:sp>
        <p:nvSpPr>
          <p:cNvPr id="59" name="Oval 58"/>
          <p:cNvSpPr/>
          <p:nvPr/>
        </p:nvSpPr>
        <p:spPr>
          <a:xfrm>
            <a:off x="13075920" y="6665976"/>
            <a:ext cx="420624" cy="420624"/>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4</a:t>
            </a:r>
          </a:p>
        </p:txBody>
      </p:sp>
      <p:sp>
        <p:nvSpPr>
          <p:cNvPr id="60" name="TextBox 59"/>
          <p:cNvSpPr txBox="1"/>
          <p:nvPr/>
        </p:nvSpPr>
        <p:spPr>
          <a:xfrm>
            <a:off x="13716000" y="6638544"/>
            <a:ext cx="4096512" cy="411480"/>
          </a:xfrm>
          <a:prstGeom prst="rect">
            <a:avLst/>
          </a:prstGeom>
          <a:noFill/>
        </p:spPr>
        <p:txBody>
          <a:bodyPr wrap="square" lIns="0" rIns="0" tIns="0" bIns="0" anchor="t">
            <a:noAutofit/>
          </a:bodyPr>
          <a:lstStyle/>
          <a:p>
            <a:pPr algn="l"/>
            <a:r>
              <a:rPr sz="2100" b="1" i="0">
                <a:solidFill>
                  <a:srgbClr val="000000"/>
                </a:solidFill>
                <a:latin typeface="Inter"/>
              </a:rPr>
              <a:t>Tabs</a:t>
            </a:r>
          </a:p>
        </p:txBody>
      </p:sp>
      <p:sp>
        <p:nvSpPr>
          <p:cNvPr id="61" name="TextBox 60"/>
          <p:cNvSpPr txBox="1"/>
          <p:nvPr/>
        </p:nvSpPr>
        <p:spPr>
          <a:xfrm>
            <a:off x="13716000" y="7050024"/>
            <a:ext cx="4096512" cy="731520"/>
          </a:xfrm>
          <a:prstGeom prst="rect">
            <a:avLst/>
          </a:prstGeom>
          <a:noFill/>
        </p:spPr>
        <p:txBody>
          <a:bodyPr wrap="square" lIns="0" rIns="0" tIns="0" bIns="0" anchor="t">
            <a:noAutofit/>
          </a:bodyPr>
          <a:lstStyle/>
          <a:p>
            <a:pPr algn="l"/>
            <a:r>
              <a:rPr sz="1700" b="0" i="0">
                <a:solidFill>
                  <a:srgbClr val="2C2825"/>
                </a:solidFill>
                <a:latin typeface="Inter"/>
              </a:rPr>
              <a:t>Params for filters, Body for JSON.</a:t>
            </a:r>
          </a:p>
        </p:txBody>
      </p:sp>
      <p:sp>
        <p:nvSpPr>
          <p:cNvPr id="62" name="Oval 61"/>
          <p:cNvSpPr/>
          <p:nvPr/>
        </p:nvSpPr>
        <p:spPr>
          <a:xfrm>
            <a:off x="13075920" y="7827263"/>
            <a:ext cx="420624" cy="420624"/>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5</a:t>
            </a:r>
          </a:p>
        </p:txBody>
      </p:sp>
      <p:sp>
        <p:nvSpPr>
          <p:cNvPr id="63" name="TextBox 62"/>
          <p:cNvSpPr txBox="1"/>
          <p:nvPr/>
        </p:nvSpPr>
        <p:spPr>
          <a:xfrm>
            <a:off x="13716000" y="7799831"/>
            <a:ext cx="4096512" cy="411480"/>
          </a:xfrm>
          <a:prstGeom prst="rect">
            <a:avLst/>
          </a:prstGeom>
          <a:noFill/>
        </p:spPr>
        <p:txBody>
          <a:bodyPr wrap="square" lIns="0" rIns="0" tIns="0" bIns="0" anchor="t">
            <a:noAutofit/>
          </a:bodyPr>
          <a:lstStyle/>
          <a:p>
            <a:pPr algn="l"/>
            <a:r>
              <a:rPr sz="2100" b="1" i="0">
                <a:solidFill>
                  <a:srgbClr val="000000"/>
                </a:solidFill>
                <a:latin typeface="Inter"/>
              </a:rPr>
              <a:t>Response</a:t>
            </a:r>
          </a:p>
        </p:txBody>
      </p:sp>
      <p:sp>
        <p:nvSpPr>
          <p:cNvPr id="64" name="TextBox 63"/>
          <p:cNvSpPr txBox="1"/>
          <p:nvPr/>
        </p:nvSpPr>
        <p:spPr>
          <a:xfrm>
            <a:off x="13716000" y="8211311"/>
            <a:ext cx="4096512" cy="731520"/>
          </a:xfrm>
          <a:prstGeom prst="rect">
            <a:avLst/>
          </a:prstGeom>
          <a:noFill/>
        </p:spPr>
        <p:txBody>
          <a:bodyPr wrap="square" lIns="0" rIns="0" tIns="0" bIns="0" anchor="t">
            <a:noAutofit/>
          </a:bodyPr>
          <a:lstStyle/>
          <a:p>
            <a:pPr algn="l"/>
            <a:r>
              <a:rPr sz="1700" b="0" i="0">
                <a:solidFill>
                  <a:srgbClr val="2C2825"/>
                </a:solidFill>
                <a:latin typeface="Inter"/>
              </a:rPr>
              <a:t>The status code first, then the data.</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AED"/>
        </a:solidFill>
        <a:effectLst/>
      </p:bgPr>
    </p:bg>
    <p:spTree>
      <p:nvGrpSpPr>
        <p:cNvPr id="1" name=""/>
        <p:cNvGrpSpPr/>
        <p:nvPr/>
      </p:nvGrpSpPr>
      <p:grpSpPr/>
      <p:pic>
        <p:nvPicPr>
          <p:cNvPr id="2" name="Picture 1" descr="s1_0.png"/>
          <p:cNvPicPr>
            <a:picLocks noChangeAspect="1"/>
          </p:cNvPicPr>
          <p:nvPr/>
        </p:nvPicPr>
        <p:blipFill>
          <a:blip r:embed="rId2"/>
          <a:stretch>
            <a:fillRect/>
          </a:stretch>
        </p:blipFill>
        <p:spPr>
          <a:xfrm>
            <a:off x="475488" y="594360"/>
            <a:ext cx="1655064" cy="384048"/>
          </a:xfrm>
          <a:prstGeom prst="rect">
            <a:avLst/>
          </a:prstGeom>
        </p:spPr>
      </p:pic>
      <p:sp>
        <p:nvSpPr>
          <p:cNvPr id="3" name="Rectangle 2"/>
          <p:cNvSpPr/>
          <p:nvPr/>
        </p:nvSpPr>
        <p:spPr>
          <a:xfrm>
            <a:off x="2441448" y="777240"/>
            <a:ext cx="15371064" cy="10972"/>
          </a:xfrm>
          <a:prstGeom prst="rect">
            <a:avLst/>
          </a:prstGeom>
          <a:solidFill>
            <a:srgbClr val="000000"/>
          </a:solidFill>
          <a:ln>
            <a:noFill/>
          </a:ln>
        </p:spPr>
        <p:txBody>
          <a:bodyPr rtlCol="0" anchor="ctr"/>
          <a:lstStyle/>
          <a:p>
            <a:pPr algn="ctr"/>
          </a:p>
        </p:txBody>
      </p:sp>
      <p:sp>
        <p:nvSpPr>
          <p:cNvPr id="4" name="TextBox 3"/>
          <p:cNvSpPr txBox="1"/>
          <p:nvPr/>
        </p:nvSpPr>
        <p:spPr>
          <a:xfrm>
            <a:off x="475488" y="1527048"/>
            <a:ext cx="10972800" cy="365760"/>
          </a:xfrm>
          <a:prstGeom prst="rect">
            <a:avLst/>
          </a:prstGeom>
          <a:noFill/>
        </p:spPr>
        <p:txBody>
          <a:bodyPr wrap="square" lIns="0" rIns="0" tIns="0" bIns="0" anchor="t">
            <a:noAutofit/>
          </a:bodyPr>
          <a:lstStyle/>
          <a:p>
            <a:pPr algn="l"/>
            <a:r>
              <a:rPr sz="1800" b="0" i="0">
                <a:solidFill>
                  <a:srgbClr val="000000"/>
                </a:solidFill>
                <a:latin typeface="Roboto Mono"/>
              </a:rPr>
              <a:t>PART 4 · HANDS-ON WITH POSTMAN</a:t>
            </a:r>
          </a:p>
        </p:txBody>
      </p:sp>
      <p:sp>
        <p:nvSpPr>
          <p:cNvPr id="5" name="Title"/>
          <p:cNvSpPr txBox="1"/>
          <p:nvPr/>
        </p:nvSpPr>
        <p:spPr>
          <a:xfrm>
            <a:off x="475488" y="2011680"/>
            <a:ext cx="17337024" cy="868680"/>
          </a:xfrm>
          <a:prstGeom prst="rect">
            <a:avLst/>
          </a:prstGeom>
          <a:noFill/>
        </p:spPr>
        <p:txBody>
          <a:bodyPr wrap="square" lIns="0" rIns="0" tIns="0" bIns="0" anchor="t">
            <a:noAutofit/>
          </a:bodyPr>
          <a:lstStyle/>
          <a:p>
            <a:pPr algn="l">
              <a:lnSpc>
                <a:spcPct val="95000"/>
              </a:lnSpc>
            </a:pPr>
            <a:r>
              <a:rPr sz="4600" b="1" i="0">
                <a:solidFill>
                  <a:srgbClr val="000000"/>
                </a:solidFill>
                <a:latin typeface="Inter"/>
              </a:rPr>
              <a:t>Send your first request: who am I?</a:t>
            </a:r>
          </a:p>
        </p:txBody>
      </p:sp>
      <p:sp>
        <p:nvSpPr>
          <p:cNvPr id="6" name="Rectangle 5"/>
          <p:cNvSpPr/>
          <p:nvPr/>
        </p:nvSpPr>
        <p:spPr>
          <a:xfrm>
            <a:off x="475488" y="9189720"/>
            <a:ext cx="17337024" cy="10972"/>
          </a:xfrm>
          <a:prstGeom prst="rect">
            <a:avLst/>
          </a:prstGeom>
          <a:solidFill>
            <a:srgbClr val="000000"/>
          </a:solidFill>
          <a:ln>
            <a:noFill/>
          </a:ln>
        </p:spPr>
        <p:txBody>
          <a:bodyPr rtlCol="0" anchor="ctr"/>
          <a:lstStyle/>
          <a:p>
            <a:pPr algn="ctr"/>
          </a:p>
        </p:txBody>
      </p:sp>
      <p:sp>
        <p:nvSpPr>
          <p:cNvPr id="7" name="TextBox 6"/>
          <p:cNvSpPr txBox="1"/>
          <p:nvPr/>
        </p:nvSpPr>
        <p:spPr>
          <a:xfrm>
            <a:off x="475488" y="9354312"/>
            <a:ext cx="2743200" cy="338328"/>
          </a:xfrm>
          <a:prstGeom prst="rect">
            <a:avLst/>
          </a:prstGeom>
          <a:noFill/>
        </p:spPr>
        <p:txBody>
          <a:bodyPr wrap="square" lIns="0" rIns="0" tIns="0" bIns="0" anchor="t">
            <a:noAutofit/>
          </a:bodyPr>
          <a:lstStyle/>
          <a:p>
            <a:pPr algn="l"/>
            <a:r>
              <a:rPr sz="1800" b="0" i="0">
                <a:solidFill>
                  <a:srgbClr val="000000"/>
                </a:solidFill>
                <a:latin typeface="Roboto Mono"/>
              </a:rPr>
              <a:t>CALIRA.CO</a:t>
            </a:r>
          </a:p>
        </p:txBody>
      </p:sp>
      <p:sp>
        <p:nvSpPr>
          <p:cNvPr id="8" name="TextBox 7"/>
          <p:cNvSpPr txBox="1"/>
          <p:nvPr/>
        </p:nvSpPr>
        <p:spPr>
          <a:xfrm>
            <a:off x="15983712" y="9354312"/>
            <a:ext cx="1828800" cy="338328"/>
          </a:xfrm>
          <a:prstGeom prst="rect">
            <a:avLst/>
          </a:prstGeom>
          <a:noFill/>
        </p:spPr>
        <p:txBody>
          <a:bodyPr wrap="square" lIns="0" rIns="0" tIns="0" bIns="0" anchor="t">
            <a:noAutofit/>
          </a:bodyPr>
          <a:lstStyle/>
          <a:p>
            <a:pPr algn="r"/>
            <a:r>
              <a:rPr sz="1800" b="0" i="0">
                <a:solidFill>
                  <a:srgbClr val="000000"/>
                </a:solidFill>
                <a:latin typeface="Roboto Mono"/>
              </a:rPr>
              <a:t>27</a:t>
            </a:r>
          </a:p>
        </p:txBody>
      </p:sp>
      <p:sp>
        <p:nvSpPr>
          <p:cNvPr id="9" name="Oval 8"/>
          <p:cNvSpPr/>
          <p:nvPr/>
        </p:nvSpPr>
        <p:spPr>
          <a:xfrm>
            <a:off x="475488" y="3200400"/>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1</a:t>
            </a:r>
          </a:p>
        </p:txBody>
      </p:sp>
      <p:sp>
        <p:nvSpPr>
          <p:cNvPr id="10" name="TextBox 9"/>
          <p:cNvSpPr txBox="1"/>
          <p:nvPr/>
        </p:nvSpPr>
        <p:spPr>
          <a:xfrm>
            <a:off x="1161288" y="3255264"/>
            <a:ext cx="6903720" cy="960119"/>
          </a:xfrm>
          <a:prstGeom prst="rect">
            <a:avLst/>
          </a:prstGeom>
          <a:noFill/>
        </p:spPr>
        <p:txBody>
          <a:bodyPr wrap="square" lIns="0" rIns="0" tIns="0" bIns="0" anchor="t">
            <a:noAutofit/>
          </a:bodyPr>
          <a:lstStyle/>
          <a:p>
            <a:pPr algn="l"/>
            <a:r>
              <a:rPr sz="2100" b="0" i="0">
                <a:solidFill>
                  <a:srgbClr val="000000"/>
                </a:solidFill>
                <a:latin typeface="Inter"/>
              </a:rPr>
              <a:t>Open </a:t>
            </a:r>
            <a:r>
              <a:rPr sz="2100" b="1" i="0">
                <a:solidFill>
                  <a:srgbClr val="000000"/>
                </a:solidFill>
                <a:latin typeface="Inter"/>
              </a:rPr>
              <a:t>User</a:t>
            </a:r>
            <a:r>
              <a:rPr sz="2100" b="0" i="0">
                <a:solidFill>
                  <a:srgbClr val="000000"/>
                </a:solidFill>
                <a:latin typeface="Inter"/>
              </a:rPr>
              <a:t>, then </a:t>
            </a:r>
            <a:r>
              <a:rPr sz="2100" b="1" i="0">
                <a:solidFill>
                  <a:srgbClr val="000000"/>
                </a:solidFill>
                <a:latin typeface="Inter"/>
              </a:rPr>
              <a:t>Get current user</a:t>
            </a:r>
            <a:r>
              <a:rPr sz="2100" b="0" i="0">
                <a:solidFill>
                  <a:srgbClr val="000000"/>
                </a:solidFill>
                <a:latin typeface="Inter"/>
              </a:rPr>
              <a:t>.</a:t>
            </a:r>
          </a:p>
        </p:txBody>
      </p:sp>
      <p:sp>
        <p:nvSpPr>
          <p:cNvPr id="11" name="Oval 10"/>
          <p:cNvSpPr/>
          <p:nvPr/>
        </p:nvSpPr>
        <p:spPr>
          <a:xfrm>
            <a:off x="475488" y="4251960"/>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2</a:t>
            </a:r>
          </a:p>
        </p:txBody>
      </p:sp>
      <p:sp>
        <p:nvSpPr>
          <p:cNvPr id="12" name="TextBox 11"/>
          <p:cNvSpPr txBox="1"/>
          <p:nvPr/>
        </p:nvSpPr>
        <p:spPr>
          <a:xfrm>
            <a:off x="1161288" y="4306824"/>
            <a:ext cx="6903720" cy="960119"/>
          </a:xfrm>
          <a:prstGeom prst="rect">
            <a:avLst/>
          </a:prstGeom>
          <a:noFill/>
        </p:spPr>
        <p:txBody>
          <a:bodyPr wrap="square" lIns="0" rIns="0" tIns="0" bIns="0" anchor="t">
            <a:noAutofit/>
          </a:bodyPr>
          <a:lstStyle/>
          <a:p>
            <a:pPr algn="l"/>
            <a:r>
              <a:rPr sz="2100" b="0" i="0">
                <a:solidFill>
                  <a:srgbClr val="000000"/>
                </a:solidFill>
                <a:latin typeface="Inter"/>
              </a:rPr>
              <a:t>Check the environment menu says </a:t>
            </a:r>
            <a:r>
              <a:rPr sz="2100" b="1" i="0">
                <a:solidFill>
                  <a:srgbClr val="000000"/>
                </a:solidFill>
                <a:latin typeface="Inter"/>
              </a:rPr>
              <a:t>Calira</a:t>
            </a:r>
            <a:r>
              <a:rPr sz="2100" b="0" i="0">
                <a:solidFill>
                  <a:srgbClr val="000000"/>
                </a:solidFill>
                <a:latin typeface="Inter"/>
              </a:rPr>
              <a:t>.</a:t>
            </a:r>
          </a:p>
        </p:txBody>
      </p:sp>
      <p:sp>
        <p:nvSpPr>
          <p:cNvPr id="13" name="Oval 12"/>
          <p:cNvSpPr/>
          <p:nvPr/>
        </p:nvSpPr>
        <p:spPr>
          <a:xfrm>
            <a:off x="475488" y="5303520"/>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3</a:t>
            </a:r>
          </a:p>
        </p:txBody>
      </p:sp>
      <p:sp>
        <p:nvSpPr>
          <p:cNvPr id="14" name="TextBox 13"/>
          <p:cNvSpPr txBox="1"/>
          <p:nvPr/>
        </p:nvSpPr>
        <p:spPr>
          <a:xfrm>
            <a:off x="1161288" y="5358383"/>
            <a:ext cx="6903720" cy="960119"/>
          </a:xfrm>
          <a:prstGeom prst="rect">
            <a:avLst/>
          </a:prstGeom>
          <a:noFill/>
        </p:spPr>
        <p:txBody>
          <a:bodyPr wrap="square" lIns="0" rIns="0" tIns="0" bIns="0" anchor="t">
            <a:noAutofit/>
          </a:bodyPr>
          <a:lstStyle/>
          <a:p>
            <a:pPr algn="l"/>
            <a:r>
              <a:rPr sz="2100" b="0" i="0">
                <a:solidFill>
                  <a:srgbClr val="000000"/>
                </a:solidFill>
                <a:latin typeface="Inter"/>
              </a:rPr>
              <a:t>Click </a:t>
            </a:r>
            <a:r>
              <a:rPr sz="2100" b="1" i="0">
                <a:solidFill>
                  <a:srgbClr val="000000"/>
                </a:solidFill>
                <a:latin typeface="Inter"/>
              </a:rPr>
              <a:t>Send</a:t>
            </a:r>
            <a:r>
              <a:rPr sz="2100" b="0" i="0">
                <a:solidFill>
                  <a:srgbClr val="000000"/>
                </a:solidFill>
                <a:latin typeface="Inter"/>
              </a:rPr>
              <a:t>.</a:t>
            </a:r>
          </a:p>
        </p:txBody>
      </p:sp>
      <p:sp>
        <p:nvSpPr>
          <p:cNvPr id="15" name="Oval 14"/>
          <p:cNvSpPr/>
          <p:nvPr/>
        </p:nvSpPr>
        <p:spPr>
          <a:xfrm>
            <a:off x="475488" y="6355079"/>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4</a:t>
            </a:r>
          </a:p>
        </p:txBody>
      </p:sp>
      <p:sp>
        <p:nvSpPr>
          <p:cNvPr id="16" name="TextBox 15"/>
          <p:cNvSpPr txBox="1"/>
          <p:nvPr/>
        </p:nvSpPr>
        <p:spPr>
          <a:xfrm>
            <a:off x="1161288" y="6409943"/>
            <a:ext cx="6903720" cy="960119"/>
          </a:xfrm>
          <a:prstGeom prst="rect">
            <a:avLst/>
          </a:prstGeom>
          <a:noFill/>
        </p:spPr>
        <p:txBody>
          <a:bodyPr wrap="square" lIns="0" rIns="0" tIns="0" bIns="0" anchor="t">
            <a:noAutofit/>
          </a:bodyPr>
          <a:lstStyle/>
          <a:p>
            <a:pPr algn="l"/>
            <a:r>
              <a:rPr sz="2100" b="0" i="0">
                <a:solidFill>
                  <a:srgbClr val="000000"/>
                </a:solidFill>
                <a:latin typeface="Inter"/>
              </a:rPr>
              <a:t>Look for </a:t>
            </a:r>
            <a:r>
              <a:rPr sz="2100" b="1" i="0">
                <a:solidFill>
                  <a:srgbClr val="000000"/>
                </a:solidFill>
                <a:latin typeface="Inter"/>
              </a:rPr>
              <a:t>200 OK</a:t>
            </a:r>
            <a:r>
              <a:rPr sz="2100" b="0" i="0">
                <a:solidFill>
                  <a:srgbClr val="000000"/>
                </a:solidFill>
                <a:latin typeface="Inter"/>
              </a:rPr>
              <a:t> and your own name in the answer.</a:t>
            </a:r>
          </a:p>
        </p:txBody>
      </p:sp>
      <p:sp>
        <p:nvSpPr>
          <p:cNvPr id="17" name="Rectangle 16"/>
          <p:cNvSpPr/>
          <p:nvPr/>
        </p:nvSpPr>
        <p:spPr>
          <a:xfrm>
            <a:off x="475488" y="7589520"/>
            <a:ext cx="7589520" cy="1325880"/>
          </a:xfrm>
          <a:prstGeom prst="rect">
            <a:avLst/>
          </a:prstGeom>
          <a:solidFill>
            <a:srgbClr val="FBE3E3"/>
          </a:solidFill>
          <a:ln w="12700">
            <a:solidFill>
              <a:srgbClr val="C62828"/>
            </a:solidFill>
          </a:ln>
        </p:spPr>
        <p:txBody>
          <a:bodyPr rtlCol="0" anchor="ctr"/>
          <a:lstStyle/>
          <a:p>
            <a:pPr algn="ctr"/>
          </a:p>
        </p:txBody>
      </p:sp>
      <p:sp>
        <p:nvSpPr>
          <p:cNvPr id="18" name="TextBox 17"/>
          <p:cNvSpPr txBox="1"/>
          <p:nvPr/>
        </p:nvSpPr>
        <p:spPr>
          <a:xfrm>
            <a:off x="749808" y="7589520"/>
            <a:ext cx="7040880" cy="1325880"/>
          </a:xfrm>
          <a:prstGeom prst="rect">
            <a:avLst/>
          </a:prstGeom>
          <a:noFill/>
        </p:spPr>
        <p:txBody>
          <a:bodyPr wrap="square" lIns="0" rIns="0" tIns="0" bIns="0" anchor="ctr">
            <a:noAutofit/>
          </a:bodyPr>
          <a:lstStyle/>
          <a:p>
            <a:pPr algn="l"/>
            <a:r>
              <a:rPr sz="1900" b="0" i="0">
                <a:solidFill>
                  <a:srgbClr val="000000"/>
                </a:solidFill>
                <a:latin typeface="Inter"/>
              </a:rPr>
              <a:t>Seeing </a:t>
            </a:r>
            <a:r>
              <a:rPr sz="1900" b="1" i="0">
                <a:solidFill>
                  <a:srgbClr val="000000"/>
                </a:solidFill>
                <a:latin typeface="Inter"/>
              </a:rPr>
              <a:t>401</a:t>
            </a:r>
            <a:r>
              <a:rPr sz="1900" b="0" i="0">
                <a:solidFill>
                  <a:srgbClr val="000000"/>
                </a:solidFill>
                <a:latin typeface="Inter"/>
              </a:rPr>
              <a:t>? Your token has expired. Get a new one (Get a new token slide).</a:t>
            </a:r>
          </a:p>
        </p:txBody>
      </p:sp>
      <p:sp>
        <p:nvSpPr>
          <p:cNvPr id="19" name="Rounded Rectangle 18"/>
          <p:cNvSpPr/>
          <p:nvPr/>
        </p:nvSpPr>
        <p:spPr>
          <a:xfrm>
            <a:off x="8595360" y="3154680"/>
            <a:ext cx="9217152" cy="4892040"/>
          </a:xfrm>
          <a:prstGeom prst="roundRect">
            <a:avLst>
              <a:gd name="adj" fmla="val 2000"/>
            </a:avLst>
          </a:prstGeom>
          <a:solidFill>
            <a:srgbClr val="FFFFFF"/>
          </a:solidFill>
          <a:ln w="15875">
            <a:solidFill>
              <a:srgbClr val="000000"/>
            </a:solidFill>
          </a:ln>
        </p:spPr>
        <p:txBody>
          <a:bodyPr rtlCol="0" anchor="ctr"/>
          <a:lstStyle/>
          <a:p>
            <a:pPr algn="ctr"/>
          </a:p>
        </p:txBody>
      </p:sp>
      <p:sp>
        <p:nvSpPr>
          <p:cNvPr id="20" name="Rectangle 19"/>
          <p:cNvSpPr/>
          <p:nvPr/>
        </p:nvSpPr>
        <p:spPr>
          <a:xfrm>
            <a:off x="8595360" y="3154680"/>
            <a:ext cx="9217152" cy="457200"/>
          </a:xfrm>
          <a:prstGeom prst="rect">
            <a:avLst/>
          </a:prstGeom>
          <a:solidFill>
            <a:srgbClr val="F1F1E6"/>
          </a:solidFill>
          <a:ln>
            <a:noFill/>
          </a:ln>
        </p:spPr>
        <p:txBody>
          <a:bodyPr rtlCol="0" anchor="ctr"/>
          <a:lstStyle/>
          <a:p>
            <a:pPr algn="ctr"/>
          </a:p>
        </p:txBody>
      </p:sp>
      <p:sp>
        <p:nvSpPr>
          <p:cNvPr id="21" name="Rectangle 20"/>
          <p:cNvSpPr/>
          <p:nvPr/>
        </p:nvSpPr>
        <p:spPr>
          <a:xfrm>
            <a:off x="8595360" y="3611880"/>
            <a:ext cx="9217152" cy="9144"/>
          </a:xfrm>
          <a:prstGeom prst="rect">
            <a:avLst/>
          </a:prstGeom>
          <a:solidFill>
            <a:srgbClr val="000000"/>
          </a:solidFill>
          <a:ln>
            <a:noFill/>
          </a:ln>
        </p:spPr>
        <p:txBody>
          <a:bodyPr rtlCol="0" anchor="ctr"/>
          <a:lstStyle/>
          <a:p>
            <a:pPr algn="ctr"/>
          </a:p>
        </p:txBody>
      </p:sp>
      <p:sp>
        <p:nvSpPr>
          <p:cNvPr id="22" name="Oval 21"/>
          <p:cNvSpPr/>
          <p:nvPr/>
        </p:nvSpPr>
        <p:spPr>
          <a:xfrm>
            <a:off x="8796528" y="3319272"/>
            <a:ext cx="128016" cy="128016"/>
          </a:xfrm>
          <a:prstGeom prst="ellipse">
            <a:avLst/>
          </a:prstGeom>
          <a:solidFill>
            <a:srgbClr val="D9D9CC"/>
          </a:solidFill>
          <a:ln>
            <a:noFill/>
          </a:ln>
        </p:spPr>
        <p:txBody>
          <a:bodyPr rtlCol="0" anchor="ctr"/>
          <a:lstStyle/>
          <a:p>
            <a:pPr algn="ctr"/>
          </a:p>
        </p:txBody>
      </p:sp>
      <p:sp>
        <p:nvSpPr>
          <p:cNvPr id="23" name="Oval 22"/>
          <p:cNvSpPr/>
          <p:nvPr/>
        </p:nvSpPr>
        <p:spPr>
          <a:xfrm>
            <a:off x="9034272" y="3319272"/>
            <a:ext cx="128016" cy="128016"/>
          </a:xfrm>
          <a:prstGeom prst="ellipse">
            <a:avLst/>
          </a:prstGeom>
          <a:solidFill>
            <a:srgbClr val="D9D9CC"/>
          </a:solidFill>
          <a:ln>
            <a:noFill/>
          </a:ln>
        </p:spPr>
        <p:txBody>
          <a:bodyPr rtlCol="0" anchor="ctr"/>
          <a:lstStyle/>
          <a:p>
            <a:pPr algn="ctr"/>
          </a:p>
        </p:txBody>
      </p:sp>
      <p:sp>
        <p:nvSpPr>
          <p:cNvPr id="24" name="Oval 23"/>
          <p:cNvSpPr/>
          <p:nvPr/>
        </p:nvSpPr>
        <p:spPr>
          <a:xfrm>
            <a:off x="9272016" y="3319272"/>
            <a:ext cx="128016" cy="128016"/>
          </a:xfrm>
          <a:prstGeom prst="ellipse">
            <a:avLst/>
          </a:prstGeom>
          <a:solidFill>
            <a:srgbClr val="D9D9CC"/>
          </a:solidFill>
          <a:ln>
            <a:noFill/>
          </a:ln>
        </p:spPr>
        <p:txBody>
          <a:bodyPr rtlCol="0" anchor="ctr"/>
          <a:lstStyle/>
          <a:p>
            <a:pPr algn="ctr"/>
          </a:p>
        </p:txBody>
      </p:sp>
      <p:sp>
        <p:nvSpPr>
          <p:cNvPr id="25" name="TextBox 24"/>
          <p:cNvSpPr txBox="1"/>
          <p:nvPr/>
        </p:nvSpPr>
        <p:spPr>
          <a:xfrm>
            <a:off x="9692640" y="3246120"/>
            <a:ext cx="7936992" cy="274320"/>
          </a:xfrm>
          <a:prstGeom prst="rect">
            <a:avLst/>
          </a:prstGeom>
          <a:noFill/>
        </p:spPr>
        <p:txBody>
          <a:bodyPr wrap="none" lIns="0" rIns="0" tIns="0" bIns="0" anchor="ctr">
            <a:noAutofit/>
          </a:bodyPr>
          <a:lstStyle/>
          <a:p>
            <a:pPr algn="l"/>
            <a:r>
              <a:rPr sz="1600" b="0" i="0">
                <a:solidFill>
                  <a:srgbClr val="5A574F"/>
                </a:solidFill>
                <a:latin typeface="Roboto Mono"/>
              </a:rPr>
              <a:t>User  ›  Get current user</a:t>
            </a:r>
          </a:p>
        </p:txBody>
      </p:sp>
      <p:sp>
        <p:nvSpPr>
          <p:cNvPr id="26" name="Rectangle 25"/>
          <p:cNvSpPr/>
          <p:nvPr/>
        </p:nvSpPr>
        <p:spPr>
          <a:xfrm>
            <a:off x="8869680" y="3886200"/>
            <a:ext cx="8686800" cy="566928"/>
          </a:xfrm>
          <a:prstGeom prst="rect">
            <a:avLst/>
          </a:prstGeom>
          <a:solidFill>
            <a:srgbClr val="FFFFFF"/>
          </a:solidFill>
          <a:ln w="12700">
            <a:solidFill>
              <a:srgbClr val="000000"/>
            </a:solidFill>
          </a:ln>
        </p:spPr>
        <p:txBody>
          <a:bodyPr rtlCol="0" anchor="ctr"/>
          <a:lstStyle/>
          <a:p>
            <a:pPr algn="ctr"/>
          </a:p>
        </p:txBody>
      </p:sp>
      <p:sp>
        <p:nvSpPr>
          <p:cNvPr id="27" name="Rounded Rectangle 26"/>
          <p:cNvSpPr/>
          <p:nvPr/>
        </p:nvSpPr>
        <p:spPr>
          <a:xfrm>
            <a:off x="8979407" y="3959352"/>
            <a:ext cx="1143000" cy="420624"/>
          </a:xfrm>
          <a:prstGeom prst="roundRect">
            <a:avLst>
              <a:gd name="adj" fmla="val 20000"/>
            </a:avLst>
          </a:prstGeom>
          <a:solidFill>
            <a:srgbClr val="009E00"/>
          </a:solidFill>
          <a:ln>
            <a:noFill/>
          </a:ln>
        </p:spPr>
        <p:txBody>
          <a:bodyPr rtlCol="0" anchor="ctr" wrap="none" lIns="0" rIns="0" tIns="0" bIns="0">
            <a:noAutofit/>
          </a:bodyPr>
          <a:lstStyle/>
          <a:p>
            <a:pPr algn="ctr"/>
            <a:r>
              <a:rPr sz="1400" b="1" i="0">
                <a:solidFill>
                  <a:srgbClr val="FFFFFF"/>
                </a:solidFill>
                <a:latin typeface="Roboto Mono"/>
              </a:rPr>
              <a:t>GET</a:t>
            </a:r>
          </a:p>
        </p:txBody>
      </p:sp>
      <p:sp>
        <p:nvSpPr>
          <p:cNvPr id="28" name="TextBox 27"/>
          <p:cNvSpPr txBox="1"/>
          <p:nvPr/>
        </p:nvSpPr>
        <p:spPr>
          <a:xfrm>
            <a:off x="10332719" y="3886200"/>
            <a:ext cx="5577840" cy="566928"/>
          </a:xfrm>
          <a:prstGeom prst="rect">
            <a:avLst/>
          </a:prstGeom>
          <a:noFill/>
        </p:spPr>
        <p:txBody>
          <a:bodyPr wrap="none" lIns="0" rIns="0" tIns="0" bIns="0" anchor="ctr">
            <a:noAutofit/>
          </a:bodyPr>
          <a:lstStyle/>
          <a:p>
            <a:pPr algn="l"/>
            <a:r>
              <a:rPr sz="1800" b="0" i="0">
                <a:solidFill>
                  <a:srgbClr val="000000"/>
                </a:solidFill>
                <a:latin typeface="Roboto Mono"/>
              </a:rPr>
              <a:t>{{base_url}}/user</a:t>
            </a:r>
          </a:p>
        </p:txBody>
      </p:sp>
      <p:sp>
        <p:nvSpPr>
          <p:cNvPr id="29" name="Rounded Rectangle 28"/>
          <p:cNvSpPr/>
          <p:nvPr/>
        </p:nvSpPr>
        <p:spPr>
          <a:xfrm>
            <a:off x="16047720" y="3959352"/>
            <a:ext cx="1371600" cy="420624"/>
          </a:xfrm>
          <a:prstGeom prst="roundRect">
            <a:avLst>
              <a:gd name="adj" fmla="val 20000"/>
            </a:avLst>
          </a:prstGeom>
          <a:solidFill>
            <a:srgbClr val="000000"/>
          </a:solidFill>
          <a:ln>
            <a:noFill/>
          </a:ln>
        </p:spPr>
        <p:txBody>
          <a:bodyPr rtlCol="0" anchor="ctr" wrap="none" lIns="0" rIns="0" tIns="0" bIns="0">
            <a:noAutofit/>
          </a:bodyPr>
          <a:lstStyle/>
          <a:p>
            <a:pPr algn="ctr"/>
            <a:r>
              <a:rPr sz="1800" b="1" i="0">
                <a:solidFill>
                  <a:srgbClr val="FFFFFF"/>
                </a:solidFill>
                <a:latin typeface="Inter"/>
              </a:rPr>
              <a:t>Send</a:t>
            </a:r>
          </a:p>
        </p:txBody>
      </p:sp>
      <p:sp>
        <p:nvSpPr>
          <p:cNvPr id="30" name="TextBox 29"/>
          <p:cNvSpPr txBox="1"/>
          <p:nvPr/>
        </p:nvSpPr>
        <p:spPr>
          <a:xfrm>
            <a:off x="8869680" y="4617720"/>
            <a:ext cx="2743200" cy="320040"/>
          </a:xfrm>
          <a:prstGeom prst="rect">
            <a:avLst/>
          </a:prstGeom>
          <a:noFill/>
        </p:spPr>
        <p:txBody>
          <a:bodyPr wrap="square" lIns="0" rIns="0" tIns="0" bIns="0" anchor="t">
            <a:noAutofit/>
          </a:bodyPr>
          <a:lstStyle/>
          <a:p>
            <a:pPr algn="l"/>
            <a:r>
              <a:rPr sz="1300" b="0" i="0">
                <a:solidFill>
                  <a:srgbClr val="5A574F"/>
                </a:solidFill>
                <a:latin typeface="Roboto Mono"/>
              </a:rPr>
              <a:t>RESPONSE</a:t>
            </a:r>
          </a:p>
        </p:txBody>
      </p:sp>
      <p:sp>
        <p:nvSpPr>
          <p:cNvPr id="31" name="Rounded Rectangle 30"/>
          <p:cNvSpPr/>
          <p:nvPr/>
        </p:nvSpPr>
        <p:spPr>
          <a:xfrm>
            <a:off x="8869680" y="4983480"/>
            <a:ext cx="1463040" cy="384048"/>
          </a:xfrm>
          <a:prstGeom prst="roundRect">
            <a:avLst>
              <a:gd name="adj" fmla="val 20000"/>
            </a:avLst>
          </a:prstGeom>
          <a:solidFill>
            <a:srgbClr val="E2F5E2"/>
          </a:solidFill>
          <a:ln w="12700">
            <a:solidFill>
              <a:srgbClr val="009E00"/>
            </a:solidFill>
          </a:ln>
        </p:spPr>
        <p:txBody>
          <a:bodyPr rtlCol="0" anchor="ctr" wrap="none" lIns="0" rIns="0" tIns="0" bIns="0">
            <a:noAutofit/>
          </a:bodyPr>
          <a:lstStyle/>
          <a:p>
            <a:pPr algn="ctr"/>
            <a:r>
              <a:rPr sz="1500" b="1" i="0">
                <a:solidFill>
                  <a:srgbClr val="009E00"/>
                </a:solidFill>
                <a:latin typeface="Roboto Mono"/>
              </a:rPr>
              <a:t>200 OK</a:t>
            </a:r>
          </a:p>
        </p:txBody>
      </p:sp>
      <p:sp>
        <p:nvSpPr>
          <p:cNvPr id="32" name="TextBox 31"/>
          <p:cNvSpPr txBox="1"/>
          <p:nvPr/>
        </p:nvSpPr>
        <p:spPr>
          <a:xfrm>
            <a:off x="10515600" y="4983480"/>
            <a:ext cx="2743200" cy="384048"/>
          </a:xfrm>
          <a:prstGeom prst="rect">
            <a:avLst/>
          </a:prstGeom>
          <a:noFill/>
        </p:spPr>
        <p:txBody>
          <a:bodyPr wrap="square" lIns="0" rIns="0" tIns="0" bIns="0" anchor="ctr">
            <a:noAutofit/>
          </a:bodyPr>
          <a:lstStyle/>
          <a:p>
            <a:pPr algn="l"/>
            <a:r>
              <a:rPr sz="1400" b="0" i="0">
                <a:solidFill>
                  <a:srgbClr val="5A574F"/>
                </a:solidFill>
                <a:latin typeface="Roboto Mono"/>
              </a:rPr>
              <a:t>312 ms   186 B</a:t>
            </a:r>
          </a:p>
        </p:txBody>
      </p:sp>
      <p:sp>
        <p:nvSpPr>
          <p:cNvPr id="33" name="TextBox 32"/>
          <p:cNvSpPr txBox="1"/>
          <p:nvPr/>
        </p:nvSpPr>
        <p:spPr>
          <a:xfrm>
            <a:off x="8869680" y="5577840"/>
            <a:ext cx="9400032" cy="457200"/>
          </a:xfrm>
          <a:prstGeom prst="rect">
            <a:avLst/>
          </a:prstGeom>
          <a:noFill/>
        </p:spPr>
        <p:txBody>
          <a:bodyPr wrap="none" lIns="0" rIns="0" tIns="0" bIns="0" anchor="t">
            <a:noAutofit/>
          </a:bodyPr>
          <a:lstStyle/>
          <a:p>
            <a:pPr algn="l"/>
            <a:r>
              <a:rPr sz="2200" b="0" i="0">
                <a:solidFill>
                  <a:srgbClr val="000000"/>
                </a:solidFill>
                <a:latin typeface="Roboto Mono"/>
              </a:rPr>
              <a:t>{</a:t>
            </a:r>
          </a:p>
        </p:txBody>
      </p:sp>
      <p:sp>
        <p:nvSpPr>
          <p:cNvPr id="34" name="TextBox 33"/>
          <p:cNvSpPr txBox="1"/>
          <p:nvPr/>
        </p:nvSpPr>
        <p:spPr>
          <a:xfrm>
            <a:off x="8869680" y="6035040"/>
            <a:ext cx="9400032" cy="457200"/>
          </a:xfrm>
          <a:prstGeom prst="rect">
            <a:avLst/>
          </a:prstGeom>
          <a:noFill/>
        </p:spPr>
        <p:txBody>
          <a:bodyPr wrap="none" lIns="0" rIns="0" tIns="0" bIns="0" anchor="t">
            <a:noAutofit/>
          </a:bodyPr>
          <a:lstStyle/>
          <a:p>
            <a:pPr algn="l"/>
            <a:r>
              <a:rPr sz="2200" b="0" i="0">
                <a:solidFill>
                  <a:srgbClr val="000000"/>
                </a:solidFill>
                <a:latin typeface="Roboto Mono"/>
              </a:rPr>
              <a:t>  "id": </a:t>
            </a:r>
            <a:r>
              <a:rPr sz="2200" b="0" i="0">
                <a:solidFill>
                  <a:srgbClr val="000000"/>
                </a:solidFill>
                <a:highlight>
                  <a:srgbClr val="E8FC2E"/>
                </a:highlight>
                <a:latin typeface="Roboto Mono"/>
              </a:rPr>
              <a:t>214</a:t>
            </a:r>
            <a:r>
              <a:rPr sz="2200" b="0" i="0">
                <a:solidFill>
                  <a:srgbClr val="000000"/>
                </a:solidFill>
                <a:latin typeface="Roboto Mono"/>
              </a:rPr>
              <a:t>,</a:t>
            </a:r>
          </a:p>
        </p:txBody>
      </p:sp>
      <p:sp>
        <p:nvSpPr>
          <p:cNvPr id="35" name="TextBox 34"/>
          <p:cNvSpPr txBox="1"/>
          <p:nvPr/>
        </p:nvSpPr>
        <p:spPr>
          <a:xfrm>
            <a:off x="8869680" y="6492240"/>
            <a:ext cx="9400032" cy="457200"/>
          </a:xfrm>
          <a:prstGeom prst="rect">
            <a:avLst/>
          </a:prstGeom>
          <a:noFill/>
        </p:spPr>
        <p:txBody>
          <a:bodyPr wrap="none" lIns="0" rIns="0" tIns="0" bIns="0" anchor="t">
            <a:noAutofit/>
          </a:bodyPr>
          <a:lstStyle/>
          <a:p>
            <a:pPr algn="l"/>
            <a:r>
              <a:rPr sz="2200" b="0" i="0">
                <a:solidFill>
                  <a:srgbClr val="000000"/>
                </a:solidFill>
                <a:latin typeface="Roboto Mono"/>
              </a:rPr>
              <a:t>  "first_name": </a:t>
            </a:r>
            <a:r>
              <a:rPr sz="2200" b="0" i="0">
                <a:solidFill>
                  <a:srgbClr val="000000"/>
                </a:solidFill>
                <a:highlight>
                  <a:srgbClr val="E8FC2E"/>
                </a:highlight>
                <a:latin typeface="Roboto Mono"/>
              </a:rPr>
              <a:t>"Demo"</a:t>
            </a:r>
            <a:r>
              <a:rPr sz="2200" b="0" i="0">
                <a:solidFill>
                  <a:srgbClr val="000000"/>
                </a:solidFill>
                <a:latin typeface="Roboto Mono"/>
              </a:rPr>
              <a:t>,</a:t>
            </a:r>
          </a:p>
        </p:txBody>
      </p:sp>
      <p:sp>
        <p:nvSpPr>
          <p:cNvPr id="36" name="TextBox 35"/>
          <p:cNvSpPr txBox="1"/>
          <p:nvPr/>
        </p:nvSpPr>
        <p:spPr>
          <a:xfrm>
            <a:off x="8869680" y="6949440"/>
            <a:ext cx="9400032" cy="457200"/>
          </a:xfrm>
          <a:prstGeom prst="rect">
            <a:avLst/>
          </a:prstGeom>
          <a:noFill/>
        </p:spPr>
        <p:txBody>
          <a:bodyPr wrap="none" lIns="0" rIns="0" tIns="0" bIns="0" anchor="t">
            <a:noAutofit/>
          </a:bodyPr>
          <a:lstStyle/>
          <a:p>
            <a:pPr algn="l"/>
            <a:r>
              <a:rPr sz="2200" b="0" i="0">
                <a:solidFill>
                  <a:srgbClr val="000000"/>
                </a:solidFill>
                <a:latin typeface="Roboto Mono"/>
              </a:rPr>
              <a:t>  "last_name": </a:t>
            </a:r>
            <a:r>
              <a:rPr sz="2200" b="0" i="0">
                <a:solidFill>
                  <a:srgbClr val="000000"/>
                </a:solidFill>
                <a:highlight>
                  <a:srgbClr val="E8FC2E"/>
                </a:highlight>
                <a:latin typeface="Roboto Mono"/>
              </a:rPr>
              <a:t>"Admin"</a:t>
            </a:r>
          </a:p>
        </p:txBody>
      </p:sp>
      <p:sp>
        <p:nvSpPr>
          <p:cNvPr id="37" name="TextBox 36"/>
          <p:cNvSpPr txBox="1"/>
          <p:nvPr/>
        </p:nvSpPr>
        <p:spPr>
          <a:xfrm>
            <a:off x="8869680" y="7406640"/>
            <a:ext cx="9400032" cy="457200"/>
          </a:xfrm>
          <a:prstGeom prst="rect">
            <a:avLst/>
          </a:prstGeom>
          <a:noFill/>
        </p:spPr>
        <p:txBody>
          <a:bodyPr wrap="none" lIns="0" rIns="0" tIns="0" bIns="0" anchor="t">
            <a:noAutofit/>
          </a:bodyPr>
          <a:lstStyle/>
          <a:p>
            <a:pPr algn="l"/>
            <a:r>
              <a:rPr sz="2200" b="0" i="0">
                <a:solidFill>
                  <a:srgbClr val="000000"/>
                </a:solidFill>
                <a:latin typeface="Roboto Mono"/>
              </a:rPr>
              <a:t>}</a:t>
            </a:r>
          </a:p>
        </p:txBody>
      </p:sp>
      <p:sp>
        <p:nvSpPr>
          <p:cNvPr id="38" name="Rectangle 37"/>
          <p:cNvSpPr/>
          <p:nvPr/>
        </p:nvSpPr>
        <p:spPr>
          <a:xfrm>
            <a:off x="8595360" y="8183879"/>
            <a:ext cx="9217152" cy="731520"/>
          </a:xfrm>
          <a:prstGeom prst="rect">
            <a:avLst/>
          </a:prstGeom>
          <a:solidFill>
            <a:srgbClr val="E8FC2E"/>
          </a:solidFill>
          <a:ln w="15875">
            <a:solidFill>
              <a:srgbClr val="000000"/>
            </a:solidFill>
          </a:ln>
        </p:spPr>
        <p:txBody>
          <a:bodyPr rtlCol="0" anchor="ctr"/>
          <a:lstStyle/>
          <a:p>
            <a:pPr algn="ctr"/>
          </a:p>
        </p:txBody>
      </p:sp>
      <p:sp>
        <p:nvSpPr>
          <p:cNvPr id="39" name="TextBox 38"/>
          <p:cNvSpPr txBox="1"/>
          <p:nvPr/>
        </p:nvSpPr>
        <p:spPr>
          <a:xfrm>
            <a:off x="8915400" y="8183879"/>
            <a:ext cx="8595360" cy="731520"/>
          </a:xfrm>
          <a:prstGeom prst="rect">
            <a:avLst/>
          </a:prstGeom>
          <a:noFill/>
        </p:spPr>
        <p:txBody>
          <a:bodyPr wrap="square" lIns="0" rIns="0" tIns="0" bIns="0" anchor="ctr">
            <a:noAutofit/>
          </a:bodyPr>
          <a:lstStyle/>
          <a:p>
            <a:pPr algn="l"/>
            <a:r>
              <a:rPr sz="2100" b="1" i="0">
                <a:solidFill>
                  <a:srgbClr val="000000"/>
                </a:solidFill>
                <a:latin typeface="Inter"/>
              </a:rPr>
              <a:t>If you can see your name, everything is set up correctly.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AED"/>
        </a:solidFill>
        <a:effectLst/>
      </p:bgPr>
    </p:bg>
    <p:spTree>
      <p:nvGrpSpPr>
        <p:cNvPr id="1" name=""/>
        <p:cNvGrpSpPr/>
        <p:nvPr/>
      </p:nvGrpSpPr>
      <p:grpSpPr/>
      <p:pic>
        <p:nvPicPr>
          <p:cNvPr id="2" name="Picture 1" descr="s1_0.png"/>
          <p:cNvPicPr>
            <a:picLocks noChangeAspect="1"/>
          </p:cNvPicPr>
          <p:nvPr/>
        </p:nvPicPr>
        <p:blipFill>
          <a:blip r:embed="rId2"/>
          <a:stretch>
            <a:fillRect/>
          </a:stretch>
        </p:blipFill>
        <p:spPr>
          <a:xfrm>
            <a:off x="475488" y="594360"/>
            <a:ext cx="1655064" cy="384048"/>
          </a:xfrm>
          <a:prstGeom prst="rect">
            <a:avLst/>
          </a:prstGeom>
        </p:spPr>
      </p:pic>
      <p:sp>
        <p:nvSpPr>
          <p:cNvPr id="3" name="Rectangle 2"/>
          <p:cNvSpPr/>
          <p:nvPr/>
        </p:nvSpPr>
        <p:spPr>
          <a:xfrm>
            <a:off x="2441448" y="777240"/>
            <a:ext cx="15371064" cy="10972"/>
          </a:xfrm>
          <a:prstGeom prst="rect">
            <a:avLst/>
          </a:prstGeom>
          <a:solidFill>
            <a:srgbClr val="000000"/>
          </a:solidFill>
          <a:ln>
            <a:noFill/>
          </a:ln>
        </p:spPr>
        <p:txBody>
          <a:bodyPr rtlCol="0" anchor="ctr"/>
          <a:lstStyle/>
          <a:p>
            <a:pPr algn="ctr"/>
          </a:p>
        </p:txBody>
      </p:sp>
      <p:sp>
        <p:nvSpPr>
          <p:cNvPr id="4" name="TextBox 3"/>
          <p:cNvSpPr txBox="1"/>
          <p:nvPr/>
        </p:nvSpPr>
        <p:spPr>
          <a:xfrm>
            <a:off x="475488" y="1527048"/>
            <a:ext cx="10972800" cy="365760"/>
          </a:xfrm>
          <a:prstGeom prst="rect">
            <a:avLst/>
          </a:prstGeom>
          <a:noFill/>
        </p:spPr>
        <p:txBody>
          <a:bodyPr wrap="square" lIns="0" rIns="0" tIns="0" bIns="0" anchor="t">
            <a:noAutofit/>
          </a:bodyPr>
          <a:lstStyle/>
          <a:p>
            <a:pPr algn="l"/>
            <a:r>
              <a:rPr sz="1800" b="0" i="0">
                <a:solidFill>
                  <a:srgbClr val="000000"/>
                </a:solidFill>
                <a:latin typeface="Roboto Mono"/>
              </a:rPr>
              <a:t>PART 4 · HANDS-ON WITH POSTMAN</a:t>
            </a:r>
          </a:p>
        </p:txBody>
      </p:sp>
      <p:sp>
        <p:nvSpPr>
          <p:cNvPr id="5" name="Title"/>
          <p:cNvSpPr txBox="1"/>
          <p:nvPr/>
        </p:nvSpPr>
        <p:spPr>
          <a:xfrm>
            <a:off x="475488" y="2011680"/>
            <a:ext cx="17337024" cy="868680"/>
          </a:xfrm>
          <a:prstGeom prst="rect">
            <a:avLst/>
          </a:prstGeom>
          <a:noFill/>
        </p:spPr>
        <p:txBody>
          <a:bodyPr wrap="square" lIns="0" rIns="0" tIns="0" bIns="0" anchor="t">
            <a:noAutofit/>
          </a:bodyPr>
          <a:lstStyle/>
          <a:p>
            <a:pPr algn="l">
              <a:lnSpc>
                <a:spcPct val="95000"/>
              </a:lnSpc>
            </a:pPr>
            <a:r>
              <a:rPr sz="4600" b="1" i="0">
                <a:solidFill>
                  <a:srgbClr val="000000"/>
                </a:solidFill>
                <a:latin typeface="Inter"/>
              </a:rPr>
              <a:t>Change the parameters to narrow your question</a:t>
            </a:r>
          </a:p>
        </p:txBody>
      </p:sp>
      <p:sp>
        <p:nvSpPr>
          <p:cNvPr id="6" name="Rectangle 5"/>
          <p:cNvSpPr/>
          <p:nvPr/>
        </p:nvSpPr>
        <p:spPr>
          <a:xfrm>
            <a:off x="475488" y="9189720"/>
            <a:ext cx="17337024" cy="10972"/>
          </a:xfrm>
          <a:prstGeom prst="rect">
            <a:avLst/>
          </a:prstGeom>
          <a:solidFill>
            <a:srgbClr val="000000"/>
          </a:solidFill>
          <a:ln>
            <a:noFill/>
          </a:ln>
        </p:spPr>
        <p:txBody>
          <a:bodyPr rtlCol="0" anchor="ctr"/>
          <a:lstStyle/>
          <a:p>
            <a:pPr algn="ctr"/>
          </a:p>
        </p:txBody>
      </p:sp>
      <p:sp>
        <p:nvSpPr>
          <p:cNvPr id="7" name="TextBox 6"/>
          <p:cNvSpPr txBox="1"/>
          <p:nvPr/>
        </p:nvSpPr>
        <p:spPr>
          <a:xfrm>
            <a:off x="475488" y="9354312"/>
            <a:ext cx="2743200" cy="338328"/>
          </a:xfrm>
          <a:prstGeom prst="rect">
            <a:avLst/>
          </a:prstGeom>
          <a:noFill/>
        </p:spPr>
        <p:txBody>
          <a:bodyPr wrap="square" lIns="0" rIns="0" tIns="0" bIns="0" anchor="t">
            <a:noAutofit/>
          </a:bodyPr>
          <a:lstStyle/>
          <a:p>
            <a:pPr algn="l"/>
            <a:r>
              <a:rPr sz="1800" b="0" i="0">
                <a:solidFill>
                  <a:srgbClr val="000000"/>
                </a:solidFill>
                <a:latin typeface="Roboto Mono"/>
              </a:rPr>
              <a:t>CALIRA.CO</a:t>
            </a:r>
          </a:p>
        </p:txBody>
      </p:sp>
      <p:sp>
        <p:nvSpPr>
          <p:cNvPr id="8" name="TextBox 7"/>
          <p:cNvSpPr txBox="1"/>
          <p:nvPr/>
        </p:nvSpPr>
        <p:spPr>
          <a:xfrm>
            <a:off x="15983712" y="9354312"/>
            <a:ext cx="1828800" cy="338328"/>
          </a:xfrm>
          <a:prstGeom prst="rect">
            <a:avLst/>
          </a:prstGeom>
          <a:noFill/>
        </p:spPr>
        <p:txBody>
          <a:bodyPr wrap="square" lIns="0" rIns="0" tIns="0" bIns="0" anchor="t">
            <a:noAutofit/>
          </a:bodyPr>
          <a:lstStyle/>
          <a:p>
            <a:pPr algn="r"/>
            <a:r>
              <a:rPr sz="1800" b="0" i="0">
                <a:solidFill>
                  <a:srgbClr val="000000"/>
                </a:solidFill>
                <a:latin typeface="Roboto Mono"/>
              </a:rPr>
              <a:t>28</a:t>
            </a:r>
          </a:p>
        </p:txBody>
      </p:sp>
      <p:sp>
        <p:nvSpPr>
          <p:cNvPr id="9" name="Rounded Rectangle 8"/>
          <p:cNvSpPr/>
          <p:nvPr/>
        </p:nvSpPr>
        <p:spPr>
          <a:xfrm>
            <a:off x="475488" y="3154680"/>
            <a:ext cx="10607040" cy="5760720"/>
          </a:xfrm>
          <a:prstGeom prst="roundRect">
            <a:avLst>
              <a:gd name="adj" fmla="val 2000"/>
            </a:avLst>
          </a:prstGeom>
          <a:solidFill>
            <a:srgbClr val="FFFFFF"/>
          </a:solidFill>
          <a:ln w="15875">
            <a:solidFill>
              <a:srgbClr val="000000"/>
            </a:solidFill>
          </a:ln>
        </p:spPr>
        <p:txBody>
          <a:bodyPr rtlCol="0" anchor="ctr"/>
          <a:lstStyle/>
          <a:p>
            <a:pPr algn="ctr"/>
          </a:p>
        </p:txBody>
      </p:sp>
      <p:sp>
        <p:nvSpPr>
          <p:cNvPr id="10" name="Rectangle 9"/>
          <p:cNvSpPr/>
          <p:nvPr/>
        </p:nvSpPr>
        <p:spPr>
          <a:xfrm>
            <a:off x="475488" y="3154680"/>
            <a:ext cx="10607040" cy="457200"/>
          </a:xfrm>
          <a:prstGeom prst="rect">
            <a:avLst/>
          </a:prstGeom>
          <a:solidFill>
            <a:srgbClr val="F1F1E6"/>
          </a:solidFill>
          <a:ln>
            <a:noFill/>
          </a:ln>
        </p:spPr>
        <p:txBody>
          <a:bodyPr rtlCol="0" anchor="ctr"/>
          <a:lstStyle/>
          <a:p>
            <a:pPr algn="ctr"/>
          </a:p>
        </p:txBody>
      </p:sp>
      <p:sp>
        <p:nvSpPr>
          <p:cNvPr id="11" name="Rectangle 10"/>
          <p:cNvSpPr/>
          <p:nvPr/>
        </p:nvSpPr>
        <p:spPr>
          <a:xfrm>
            <a:off x="475488" y="3611880"/>
            <a:ext cx="10607040" cy="9144"/>
          </a:xfrm>
          <a:prstGeom prst="rect">
            <a:avLst/>
          </a:prstGeom>
          <a:solidFill>
            <a:srgbClr val="000000"/>
          </a:solidFill>
          <a:ln>
            <a:noFill/>
          </a:ln>
        </p:spPr>
        <p:txBody>
          <a:bodyPr rtlCol="0" anchor="ctr"/>
          <a:lstStyle/>
          <a:p>
            <a:pPr algn="ctr"/>
          </a:p>
        </p:txBody>
      </p:sp>
      <p:sp>
        <p:nvSpPr>
          <p:cNvPr id="12" name="Oval 11"/>
          <p:cNvSpPr/>
          <p:nvPr/>
        </p:nvSpPr>
        <p:spPr>
          <a:xfrm>
            <a:off x="676656" y="3319272"/>
            <a:ext cx="128016" cy="128016"/>
          </a:xfrm>
          <a:prstGeom prst="ellipse">
            <a:avLst/>
          </a:prstGeom>
          <a:solidFill>
            <a:srgbClr val="D9D9CC"/>
          </a:solidFill>
          <a:ln>
            <a:noFill/>
          </a:ln>
        </p:spPr>
        <p:txBody>
          <a:bodyPr rtlCol="0" anchor="ctr"/>
          <a:lstStyle/>
          <a:p>
            <a:pPr algn="ctr"/>
          </a:p>
        </p:txBody>
      </p:sp>
      <p:sp>
        <p:nvSpPr>
          <p:cNvPr id="13" name="Oval 12"/>
          <p:cNvSpPr/>
          <p:nvPr/>
        </p:nvSpPr>
        <p:spPr>
          <a:xfrm>
            <a:off x="914400" y="3319272"/>
            <a:ext cx="128016" cy="128016"/>
          </a:xfrm>
          <a:prstGeom prst="ellipse">
            <a:avLst/>
          </a:prstGeom>
          <a:solidFill>
            <a:srgbClr val="D9D9CC"/>
          </a:solidFill>
          <a:ln>
            <a:noFill/>
          </a:ln>
        </p:spPr>
        <p:txBody>
          <a:bodyPr rtlCol="0" anchor="ctr"/>
          <a:lstStyle/>
          <a:p>
            <a:pPr algn="ctr"/>
          </a:p>
        </p:txBody>
      </p:sp>
      <p:sp>
        <p:nvSpPr>
          <p:cNvPr id="14" name="Oval 13"/>
          <p:cNvSpPr/>
          <p:nvPr/>
        </p:nvSpPr>
        <p:spPr>
          <a:xfrm>
            <a:off x="1152144" y="3319272"/>
            <a:ext cx="128016" cy="128016"/>
          </a:xfrm>
          <a:prstGeom prst="ellipse">
            <a:avLst/>
          </a:prstGeom>
          <a:solidFill>
            <a:srgbClr val="D9D9CC"/>
          </a:solidFill>
          <a:ln>
            <a:noFill/>
          </a:ln>
        </p:spPr>
        <p:txBody>
          <a:bodyPr rtlCol="0" anchor="ctr"/>
          <a:lstStyle/>
          <a:p>
            <a:pPr algn="ctr"/>
          </a:p>
        </p:txBody>
      </p:sp>
      <p:sp>
        <p:nvSpPr>
          <p:cNvPr id="15" name="TextBox 14"/>
          <p:cNvSpPr txBox="1"/>
          <p:nvPr/>
        </p:nvSpPr>
        <p:spPr>
          <a:xfrm>
            <a:off x="1572768" y="3246120"/>
            <a:ext cx="9326880" cy="274320"/>
          </a:xfrm>
          <a:prstGeom prst="rect">
            <a:avLst/>
          </a:prstGeom>
          <a:noFill/>
        </p:spPr>
        <p:txBody>
          <a:bodyPr wrap="none" lIns="0" rIns="0" tIns="0" bIns="0" anchor="ctr">
            <a:noAutofit/>
          </a:bodyPr>
          <a:lstStyle/>
          <a:p>
            <a:pPr algn="l"/>
            <a:r>
              <a:rPr sz="1600" b="0" i="0">
                <a:solidFill>
                  <a:srgbClr val="5A574F"/>
                </a:solidFill>
                <a:latin typeface="Roboto Mono"/>
              </a:rPr>
              <a:t>Equipment  ›  List equipment</a:t>
            </a:r>
          </a:p>
        </p:txBody>
      </p:sp>
      <p:sp>
        <p:nvSpPr>
          <p:cNvPr id="16" name="Rectangle 15"/>
          <p:cNvSpPr/>
          <p:nvPr/>
        </p:nvSpPr>
        <p:spPr>
          <a:xfrm>
            <a:off x="749808" y="3886200"/>
            <a:ext cx="10058400" cy="566928"/>
          </a:xfrm>
          <a:prstGeom prst="rect">
            <a:avLst/>
          </a:prstGeom>
          <a:solidFill>
            <a:srgbClr val="FFFFFF"/>
          </a:solidFill>
          <a:ln w="12700">
            <a:solidFill>
              <a:srgbClr val="000000"/>
            </a:solidFill>
          </a:ln>
        </p:spPr>
        <p:txBody>
          <a:bodyPr rtlCol="0" anchor="ctr"/>
          <a:lstStyle/>
          <a:p>
            <a:pPr algn="ctr"/>
          </a:p>
        </p:txBody>
      </p:sp>
      <p:sp>
        <p:nvSpPr>
          <p:cNvPr id="17" name="Rounded Rectangle 16"/>
          <p:cNvSpPr/>
          <p:nvPr/>
        </p:nvSpPr>
        <p:spPr>
          <a:xfrm>
            <a:off x="859536" y="3959352"/>
            <a:ext cx="1143000" cy="420624"/>
          </a:xfrm>
          <a:prstGeom prst="roundRect">
            <a:avLst>
              <a:gd name="adj" fmla="val 20000"/>
            </a:avLst>
          </a:prstGeom>
          <a:solidFill>
            <a:srgbClr val="009E00"/>
          </a:solidFill>
          <a:ln>
            <a:noFill/>
          </a:ln>
        </p:spPr>
        <p:txBody>
          <a:bodyPr rtlCol="0" anchor="ctr" wrap="none" lIns="0" rIns="0" tIns="0" bIns="0">
            <a:noAutofit/>
          </a:bodyPr>
          <a:lstStyle/>
          <a:p>
            <a:pPr algn="ctr"/>
            <a:r>
              <a:rPr sz="1400" b="1" i="0">
                <a:solidFill>
                  <a:srgbClr val="FFFFFF"/>
                </a:solidFill>
                <a:latin typeface="Roboto Mono"/>
              </a:rPr>
              <a:t>GET</a:t>
            </a:r>
          </a:p>
        </p:txBody>
      </p:sp>
      <p:sp>
        <p:nvSpPr>
          <p:cNvPr id="18" name="TextBox 17"/>
          <p:cNvSpPr txBox="1"/>
          <p:nvPr/>
        </p:nvSpPr>
        <p:spPr>
          <a:xfrm>
            <a:off x="2212848" y="3886200"/>
            <a:ext cx="6949440" cy="566928"/>
          </a:xfrm>
          <a:prstGeom prst="rect">
            <a:avLst/>
          </a:prstGeom>
          <a:noFill/>
        </p:spPr>
        <p:txBody>
          <a:bodyPr wrap="none" lIns="0" rIns="0" tIns="0" bIns="0" anchor="ctr">
            <a:noAutofit/>
          </a:bodyPr>
          <a:lstStyle/>
          <a:p>
            <a:pPr algn="l"/>
            <a:r>
              <a:rPr sz="1700" b="0" i="0">
                <a:solidFill>
                  <a:srgbClr val="000000"/>
                </a:solidFill>
                <a:latin typeface="Roboto Mono"/>
              </a:rPr>
              <a:t>{{base_url}}/equipment?account=543&amp;per_page=25</a:t>
            </a:r>
          </a:p>
        </p:txBody>
      </p:sp>
      <p:sp>
        <p:nvSpPr>
          <p:cNvPr id="19" name="Rounded Rectangle 18"/>
          <p:cNvSpPr/>
          <p:nvPr/>
        </p:nvSpPr>
        <p:spPr>
          <a:xfrm>
            <a:off x="9299448" y="3959352"/>
            <a:ext cx="1371600" cy="420624"/>
          </a:xfrm>
          <a:prstGeom prst="roundRect">
            <a:avLst>
              <a:gd name="adj" fmla="val 20000"/>
            </a:avLst>
          </a:prstGeom>
          <a:solidFill>
            <a:srgbClr val="000000"/>
          </a:solidFill>
          <a:ln>
            <a:noFill/>
          </a:ln>
        </p:spPr>
        <p:txBody>
          <a:bodyPr rtlCol="0" anchor="ctr" wrap="none" lIns="0" rIns="0" tIns="0" bIns="0">
            <a:noAutofit/>
          </a:bodyPr>
          <a:lstStyle/>
          <a:p>
            <a:pPr algn="ctr"/>
            <a:r>
              <a:rPr sz="1800" b="1" i="0">
                <a:solidFill>
                  <a:srgbClr val="FFFFFF"/>
                </a:solidFill>
                <a:latin typeface="Inter"/>
              </a:rPr>
              <a:t>Send</a:t>
            </a:r>
          </a:p>
        </p:txBody>
      </p:sp>
      <p:sp>
        <p:nvSpPr>
          <p:cNvPr id="20" name="TextBox 19"/>
          <p:cNvSpPr txBox="1"/>
          <p:nvPr/>
        </p:nvSpPr>
        <p:spPr>
          <a:xfrm>
            <a:off x="841248" y="4709160"/>
            <a:ext cx="1920240" cy="365760"/>
          </a:xfrm>
          <a:prstGeom prst="rect">
            <a:avLst/>
          </a:prstGeom>
          <a:noFill/>
        </p:spPr>
        <p:txBody>
          <a:bodyPr wrap="square" lIns="0" rIns="0" tIns="0" bIns="0" anchor="t">
            <a:noAutofit/>
          </a:bodyPr>
          <a:lstStyle/>
          <a:p>
            <a:pPr algn="l"/>
            <a:r>
              <a:rPr sz="1500" b="1" i="0">
                <a:solidFill>
                  <a:srgbClr val="000000"/>
                </a:solidFill>
                <a:latin typeface="Roboto Mono"/>
              </a:rPr>
              <a:t>Params</a:t>
            </a:r>
          </a:p>
        </p:txBody>
      </p:sp>
      <p:sp>
        <p:nvSpPr>
          <p:cNvPr id="21" name="TextBox 20"/>
          <p:cNvSpPr txBox="1"/>
          <p:nvPr/>
        </p:nvSpPr>
        <p:spPr>
          <a:xfrm>
            <a:off x="2852928" y="4709160"/>
            <a:ext cx="1920240" cy="365760"/>
          </a:xfrm>
          <a:prstGeom prst="rect">
            <a:avLst/>
          </a:prstGeom>
          <a:noFill/>
        </p:spPr>
        <p:txBody>
          <a:bodyPr wrap="square" lIns="0" rIns="0" tIns="0" bIns="0" anchor="t">
            <a:noAutofit/>
          </a:bodyPr>
          <a:lstStyle/>
          <a:p>
            <a:pPr algn="l"/>
            <a:r>
              <a:rPr sz="1500" b="0" i="0">
                <a:solidFill>
                  <a:srgbClr val="000000"/>
                </a:solidFill>
                <a:latin typeface="Roboto Mono"/>
              </a:rPr>
              <a:t>Authorization</a:t>
            </a:r>
          </a:p>
        </p:txBody>
      </p:sp>
      <p:sp>
        <p:nvSpPr>
          <p:cNvPr id="22" name="TextBox 21"/>
          <p:cNvSpPr txBox="1"/>
          <p:nvPr/>
        </p:nvSpPr>
        <p:spPr>
          <a:xfrm>
            <a:off x="4864608" y="4709160"/>
            <a:ext cx="1920240" cy="365760"/>
          </a:xfrm>
          <a:prstGeom prst="rect">
            <a:avLst/>
          </a:prstGeom>
          <a:noFill/>
        </p:spPr>
        <p:txBody>
          <a:bodyPr wrap="square" lIns="0" rIns="0" tIns="0" bIns="0" anchor="t">
            <a:noAutofit/>
          </a:bodyPr>
          <a:lstStyle/>
          <a:p>
            <a:pPr algn="l"/>
            <a:r>
              <a:rPr sz="1500" b="0" i="0">
                <a:solidFill>
                  <a:srgbClr val="000000"/>
                </a:solidFill>
                <a:latin typeface="Roboto Mono"/>
              </a:rPr>
              <a:t>Headers</a:t>
            </a:r>
          </a:p>
        </p:txBody>
      </p:sp>
      <p:sp>
        <p:nvSpPr>
          <p:cNvPr id="23" name="TextBox 22"/>
          <p:cNvSpPr txBox="1"/>
          <p:nvPr/>
        </p:nvSpPr>
        <p:spPr>
          <a:xfrm>
            <a:off x="6876288" y="4709160"/>
            <a:ext cx="1920240" cy="365760"/>
          </a:xfrm>
          <a:prstGeom prst="rect">
            <a:avLst/>
          </a:prstGeom>
          <a:noFill/>
        </p:spPr>
        <p:txBody>
          <a:bodyPr wrap="square" lIns="0" rIns="0" tIns="0" bIns="0" anchor="t">
            <a:noAutofit/>
          </a:bodyPr>
          <a:lstStyle/>
          <a:p>
            <a:pPr algn="l"/>
            <a:r>
              <a:rPr sz="1500" b="0" i="0">
                <a:solidFill>
                  <a:srgbClr val="000000"/>
                </a:solidFill>
                <a:latin typeface="Roboto Mono"/>
              </a:rPr>
              <a:t>Body</a:t>
            </a:r>
          </a:p>
        </p:txBody>
      </p:sp>
      <p:sp>
        <p:nvSpPr>
          <p:cNvPr id="24" name="Rectangle 23"/>
          <p:cNvSpPr/>
          <p:nvPr/>
        </p:nvSpPr>
        <p:spPr>
          <a:xfrm>
            <a:off x="749808" y="5120640"/>
            <a:ext cx="10058400" cy="10972"/>
          </a:xfrm>
          <a:prstGeom prst="rect">
            <a:avLst/>
          </a:prstGeom>
          <a:solidFill>
            <a:srgbClr val="D9D9CC"/>
          </a:solidFill>
          <a:ln>
            <a:noFill/>
          </a:ln>
        </p:spPr>
        <p:txBody>
          <a:bodyPr rtlCol="0" anchor="ctr"/>
          <a:lstStyle/>
          <a:p>
            <a:pPr algn="ctr"/>
          </a:p>
        </p:txBody>
      </p:sp>
      <p:sp>
        <p:nvSpPr>
          <p:cNvPr id="25" name="Rectangle 24"/>
          <p:cNvSpPr/>
          <p:nvPr/>
        </p:nvSpPr>
        <p:spPr>
          <a:xfrm>
            <a:off x="795528" y="5102352"/>
            <a:ext cx="914400" cy="36576"/>
          </a:xfrm>
          <a:prstGeom prst="rect">
            <a:avLst/>
          </a:prstGeom>
          <a:solidFill>
            <a:srgbClr val="000000"/>
          </a:solidFill>
          <a:ln>
            <a:noFill/>
          </a:ln>
        </p:spPr>
        <p:txBody>
          <a:bodyPr rtlCol="0" anchor="ctr"/>
          <a:lstStyle/>
          <a:p>
            <a:pPr algn="ctr"/>
          </a:p>
        </p:txBody>
      </p:sp>
      <p:sp>
        <p:nvSpPr>
          <p:cNvPr id="26" name="TextBox 25"/>
          <p:cNvSpPr txBox="1"/>
          <p:nvPr/>
        </p:nvSpPr>
        <p:spPr>
          <a:xfrm>
            <a:off x="1481328" y="5394960"/>
            <a:ext cx="2743200" cy="320040"/>
          </a:xfrm>
          <a:prstGeom prst="rect">
            <a:avLst/>
          </a:prstGeom>
          <a:noFill/>
        </p:spPr>
        <p:txBody>
          <a:bodyPr wrap="square" lIns="0" rIns="0" tIns="0" bIns="0" anchor="t">
            <a:noAutofit/>
          </a:bodyPr>
          <a:lstStyle/>
          <a:p>
            <a:pPr algn="l"/>
            <a:r>
              <a:rPr sz="1300" b="0" i="0">
                <a:solidFill>
                  <a:srgbClr val="5A574F"/>
                </a:solidFill>
                <a:latin typeface="Roboto Mono"/>
              </a:rPr>
              <a:t>KEY</a:t>
            </a:r>
          </a:p>
        </p:txBody>
      </p:sp>
      <p:sp>
        <p:nvSpPr>
          <p:cNvPr id="27" name="TextBox 26"/>
          <p:cNvSpPr txBox="1"/>
          <p:nvPr/>
        </p:nvSpPr>
        <p:spPr>
          <a:xfrm>
            <a:off x="4498848" y="5394960"/>
            <a:ext cx="2743200" cy="320040"/>
          </a:xfrm>
          <a:prstGeom prst="rect">
            <a:avLst/>
          </a:prstGeom>
          <a:noFill/>
        </p:spPr>
        <p:txBody>
          <a:bodyPr wrap="square" lIns="0" rIns="0" tIns="0" bIns="0" anchor="t">
            <a:noAutofit/>
          </a:bodyPr>
          <a:lstStyle/>
          <a:p>
            <a:pPr algn="l"/>
            <a:r>
              <a:rPr sz="1300" b="0" i="0">
                <a:solidFill>
                  <a:srgbClr val="5A574F"/>
                </a:solidFill>
                <a:latin typeface="Roboto Mono"/>
              </a:rPr>
              <a:t>VALUE</a:t>
            </a:r>
          </a:p>
        </p:txBody>
      </p:sp>
      <p:sp>
        <p:nvSpPr>
          <p:cNvPr id="28" name="TextBox 27"/>
          <p:cNvSpPr txBox="1"/>
          <p:nvPr/>
        </p:nvSpPr>
        <p:spPr>
          <a:xfrm>
            <a:off x="6876288" y="5394960"/>
            <a:ext cx="2743200" cy="320040"/>
          </a:xfrm>
          <a:prstGeom prst="rect">
            <a:avLst/>
          </a:prstGeom>
          <a:noFill/>
        </p:spPr>
        <p:txBody>
          <a:bodyPr wrap="square" lIns="0" rIns="0" tIns="0" bIns="0" anchor="t">
            <a:noAutofit/>
          </a:bodyPr>
          <a:lstStyle/>
          <a:p>
            <a:pPr algn="l"/>
            <a:r>
              <a:rPr sz="1300" b="0" i="0">
                <a:solidFill>
                  <a:srgbClr val="5A574F"/>
                </a:solidFill>
                <a:latin typeface="Roboto Mono"/>
              </a:rPr>
              <a:t>DESCRIPTION</a:t>
            </a:r>
          </a:p>
        </p:txBody>
      </p:sp>
      <p:sp>
        <p:nvSpPr>
          <p:cNvPr id="29" name="Rectangle 28"/>
          <p:cNvSpPr/>
          <p:nvPr/>
        </p:nvSpPr>
        <p:spPr>
          <a:xfrm>
            <a:off x="841248" y="5989320"/>
            <a:ext cx="292608" cy="292608"/>
          </a:xfrm>
          <a:prstGeom prst="rect">
            <a:avLst/>
          </a:prstGeom>
          <a:solidFill>
            <a:srgbClr val="E8FC2E"/>
          </a:solidFill>
          <a:ln w="15875">
            <a:solidFill>
              <a:srgbClr val="000000"/>
            </a:solidFill>
          </a:ln>
        </p:spPr>
        <p:txBody>
          <a:bodyPr rtlCol="0" anchor="ctr"/>
          <a:lstStyle/>
          <a:p>
            <a:pPr algn="ctr"/>
          </a:p>
        </p:txBody>
      </p:sp>
      <p:pic>
        <p:nvPicPr>
          <p:cNvPr id="30" name="Picture 29" descr="check.png"/>
          <p:cNvPicPr>
            <a:picLocks noChangeAspect="1"/>
          </p:cNvPicPr>
          <p:nvPr/>
        </p:nvPicPr>
        <p:blipFill>
          <a:blip r:embed="rId3"/>
          <a:stretch>
            <a:fillRect/>
          </a:stretch>
        </p:blipFill>
        <p:spPr>
          <a:xfrm>
            <a:off x="877824" y="6025896"/>
            <a:ext cx="219456" cy="219456"/>
          </a:xfrm>
          <a:prstGeom prst="rect">
            <a:avLst/>
          </a:prstGeom>
        </p:spPr>
      </p:pic>
      <p:sp>
        <p:nvSpPr>
          <p:cNvPr id="31" name="Rectangle 30"/>
          <p:cNvSpPr/>
          <p:nvPr/>
        </p:nvSpPr>
        <p:spPr>
          <a:xfrm>
            <a:off x="1389888" y="5852159"/>
            <a:ext cx="2834640" cy="548640"/>
          </a:xfrm>
          <a:prstGeom prst="rect">
            <a:avLst/>
          </a:prstGeom>
          <a:solidFill>
            <a:srgbClr val="FFFFFF"/>
          </a:solidFill>
          <a:ln w="9525">
            <a:solidFill>
              <a:srgbClr val="000000"/>
            </a:solidFill>
          </a:ln>
        </p:spPr>
        <p:txBody>
          <a:bodyPr rtlCol="0" anchor="ctr"/>
          <a:lstStyle/>
          <a:p>
            <a:pPr algn="ctr"/>
          </a:p>
        </p:txBody>
      </p:sp>
      <p:sp>
        <p:nvSpPr>
          <p:cNvPr id="32" name="TextBox 31"/>
          <p:cNvSpPr txBox="1"/>
          <p:nvPr/>
        </p:nvSpPr>
        <p:spPr>
          <a:xfrm>
            <a:off x="1527048" y="5852159"/>
            <a:ext cx="2651760" cy="548640"/>
          </a:xfrm>
          <a:prstGeom prst="rect">
            <a:avLst/>
          </a:prstGeom>
          <a:noFill/>
        </p:spPr>
        <p:txBody>
          <a:bodyPr wrap="none" lIns="0" rIns="0" tIns="0" bIns="0" anchor="ctr">
            <a:noAutofit/>
          </a:bodyPr>
          <a:lstStyle/>
          <a:p>
            <a:pPr algn="l"/>
            <a:r>
              <a:rPr sz="1600" b="0" i="0">
                <a:solidFill>
                  <a:srgbClr val="000000"/>
                </a:solidFill>
                <a:latin typeface="Roboto Mono"/>
              </a:rPr>
              <a:t>account</a:t>
            </a:r>
          </a:p>
        </p:txBody>
      </p:sp>
      <p:sp>
        <p:nvSpPr>
          <p:cNvPr id="33" name="Rectangle 32"/>
          <p:cNvSpPr/>
          <p:nvPr/>
        </p:nvSpPr>
        <p:spPr>
          <a:xfrm>
            <a:off x="4407408" y="5852159"/>
            <a:ext cx="2194560" cy="548640"/>
          </a:xfrm>
          <a:prstGeom prst="rect">
            <a:avLst/>
          </a:prstGeom>
          <a:solidFill>
            <a:srgbClr val="E8FC2E"/>
          </a:solidFill>
          <a:ln w="9525">
            <a:solidFill>
              <a:srgbClr val="000000"/>
            </a:solidFill>
          </a:ln>
        </p:spPr>
        <p:txBody>
          <a:bodyPr rtlCol="0" anchor="ctr"/>
          <a:lstStyle/>
          <a:p>
            <a:pPr algn="ctr"/>
          </a:p>
        </p:txBody>
      </p:sp>
      <p:sp>
        <p:nvSpPr>
          <p:cNvPr id="34" name="TextBox 33"/>
          <p:cNvSpPr txBox="1"/>
          <p:nvPr/>
        </p:nvSpPr>
        <p:spPr>
          <a:xfrm>
            <a:off x="4544568" y="5852159"/>
            <a:ext cx="2011680" cy="548640"/>
          </a:xfrm>
          <a:prstGeom prst="rect">
            <a:avLst/>
          </a:prstGeom>
          <a:noFill/>
        </p:spPr>
        <p:txBody>
          <a:bodyPr wrap="square" lIns="0" rIns="0" tIns="0" bIns="0" anchor="ctr">
            <a:noAutofit/>
          </a:bodyPr>
          <a:lstStyle/>
          <a:p>
            <a:pPr algn="l"/>
            <a:r>
              <a:rPr sz="1600" b="0" i="0">
                <a:solidFill>
                  <a:srgbClr val="000000"/>
                </a:solidFill>
                <a:latin typeface="Roboto Mono"/>
              </a:rPr>
              <a:t>543</a:t>
            </a:r>
          </a:p>
        </p:txBody>
      </p:sp>
      <p:sp>
        <p:nvSpPr>
          <p:cNvPr id="35" name="TextBox 34"/>
          <p:cNvSpPr txBox="1"/>
          <p:nvPr/>
        </p:nvSpPr>
        <p:spPr>
          <a:xfrm>
            <a:off x="6876288" y="5852159"/>
            <a:ext cx="4023360" cy="548640"/>
          </a:xfrm>
          <a:prstGeom prst="rect">
            <a:avLst/>
          </a:prstGeom>
          <a:noFill/>
        </p:spPr>
        <p:txBody>
          <a:bodyPr wrap="square" lIns="0" rIns="0" tIns="0" bIns="0" anchor="ctr">
            <a:noAutofit/>
          </a:bodyPr>
          <a:lstStyle/>
          <a:p>
            <a:pPr algn="l"/>
            <a:r>
              <a:rPr sz="1600" b="0" i="0">
                <a:solidFill>
                  <a:srgbClr val="2C2825"/>
                </a:solidFill>
                <a:latin typeface="Inter"/>
              </a:rPr>
              <a:t>The lab's ID</a:t>
            </a:r>
          </a:p>
        </p:txBody>
      </p:sp>
      <p:sp>
        <p:nvSpPr>
          <p:cNvPr id="36" name="Rectangle 35"/>
          <p:cNvSpPr/>
          <p:nvPr/>
        </p:nvSpPr>
        <p:spPr>
          <a:xfrm>
            <a:off x="841248" y="6766559"/>
            <a:ext cx="292608" cy="292608"/>
          </a:xfrm>
          <a:prstGeom prst="rect">
            <a:avLst/>
          </a:prstGeom>
          <a:solidFill>
            <a:srgbClr val="E8FC2E"/>
          </a:solidFill>
          <a:ln w="15875">
            <a:solidFill>
              <a:srgbClr val="000000"/>
            </a:solidFill>
          </a:ln>
        </p:spPr>
        <p:txBody>
          <a:bodyPr rtlCol="0" anchor="ctr"/>
          <a:lstStyle/>
          <a:p>
            <a:pPr algn="ctr"/>
          </a:p>
        </p:txBody>
      </p:sp>
      <p:pic>
        <p:nvPicPr>
          <p:cNvPr id="37" name="Picture 36" descr="check.png"/>
          <p:cNvPicPr>
            <a:picLocks noChangeAspect="1"/>
          </p:cNvPicPr>
          <p:nvPr/>
        </p:nvPicPr>
        <p:blipFill>
          <a:blip r:embed="rId3"/>
          <a:stretch>
            <a:fillRect/>
          </a:stretch>
        </p:blipFill>
        <p:spPr>
          <a:xfrm>
            <a:off x="877824" y="6803136"/>
            <a:ext cx="219456" cy="219456"/>
          </a:xfrm>
          <a:prstGeom prst="rect">
            <a:avLst/>
          </a:prstGeom>
        </p:spPr>
      </p:pic>
      <p:sp>
        <p:nvSpPr>
          <p:cNvPr id="38" name="Rectangle 37"/>
          <p:cNvSpPr/>
          <p:nvPr/>
        </p:nvSpPr>
        <p:spPr>
          <a:xfrm>
            <a:off x="1389888" y="6629399"/>
            <a:ext cx="2834640" cy="548640"/>
          </a:xfrm>
          <a:prstGeom prst="rect">
            <a:avLst/>
          </a:prstGeom>
          <a:solidFill>
            <a:srgbClr val="FFFFFF"/>
          </a:solidFill>
          <a:ln w="9525">
            <a:solidFill>
              <a:srgbClr val="000000"/>
            </a:solidFill>
          </a:ln>
        </p:spPr>
        <p:txBody>
          <a:bodyPr rtlCol="0" anchor="ctr"/>
          <a:lstStyle/>
          <a:p>
            <a:pPr algn="ctr"/>
          </a:p>
        </p:txBody>
      </p:sp>
      <p:sp>
        <p:nvSpPr>
          <p:cNvPr id="39" name="TextBox 38"/>
          <p:cNvSpPr txBox="1"/>
          <p:nvPr/>
        </p:nvSpPr>
        <p:spPr>
          <a:xfrm>
            <a:off x="1527048" y="6629399"/>
            <a:ext cx="2651760" cy="548640"/>
          </a:xfrm>
          <a:prstGeom prst="rect">
            <a:avLst/>
          </a:prstGeom>
          <a:noFill/>
        </p:spPr>
        <p:txBody>
          <a:bodyPr wrap="none" lIns="0" rIns="0" tIns="0" bIns="0" anchor="ctr">
            <a:noAutofit/>
          </a:bodyPr>
          <a:lstStyle/>
          <a:p>
            <a:pPr algn="l"/>
            <a:r>
              <a:rPr sz="1600" b="0" i="0">
                <a:solidFill>
                  <a:srgbClr val="000000"/>
                </a:solidFill>
                <a:latin typeface="Roboto Mono"/>
              </a:rPr>
              <a:t>per_page</a:t>
            </a:r>
          </a:p>
        </p:txBody>
      </p:sp>
      <p:sp>
        <p:nvSpPr>
          <p:cNvPr id="40" name="Rectangle 39"/>
          <p:cNvSpPr/>
          <p:nvPr/>
        </p:nvSpPr>
        <p:spPr>
          <a:xfrm>
            <a:off x="4407408" y="6629399"/>
            <a:ext cx="2194560" cy="548640"/>
          </a:xfrm>
          <a:prstGeom prst="rect">
            <a:avLst/>
          </a:prstGeom>
          <a:solidFill>
            <a:srgbClr val="E8FC2E"/>
          </a:solidFill>
          <a:ln w="9525">
            <a:solidFill>
              <a:srgbClr val="000000"/>
            </a:solidFill>
          </a:ln>
        </p:spPr>
        <p:txBody>
          <a:bodyPr rtlCol="0" anchor="ctr"/>
          <a:lstStyle/>
          <a:p>
            <a:pPr algn="ctr"/>
          </a:p>
        </p:txBody>
      </p:sp>
      <p:sp>
        <p:nvSpPr>
          <p:cNvPr id="41" name="TextBox 40"/>
          <p:cNvSpPr txBox="1"/>
          <p:nvPr/>
        </p:nvSpPr>
        <p:spPr>
          <a:xfrm>
            <a:off x="4544568" y="6629399"/>
            <a:ext cx="2011680" cy="548640"/>
          </a:xfrm>
          <a:prstGeom prst="rect">
            <a:avLst/>
          </a:prstGeom>
          <a:noFill/>
        </p:spPr>
        <p:txBody>
          <a:bodyPr wrap="square" lIns="0" rIns="0" tIns="0" bIns="0" anchor="ctr">
            <a:noAutofit/>
          </a:bodyPr>
          <a:lstStyle/>
          <a:p>
            <a:pPr algn="l"/>
            <a:r>
              <a:rPr sz="1600" b="0" i="0">
                <a:solidFill>
                  <a:srgbClr val="000000"/>
                </a:solidFill>
                <a:latin typeface="Roboto Mono"/>
              </a:rPr>
              <a:t>25</a:t>
            </a:r>
          </a:p>
        </p:txBody>
      </p:sp>
      <p:sp>
        <p:nvSpPr>
          <p:cNvPr id="42" name="TextBox 41"/>
          <p:cNvSpPr txBox="1"/>
          <p:nvPr/>
        </p:nvSpPr>
        <p:spPr>
          <a:xfrm>
            <a:off x="6876288" y="6629399"/>
            <a:ext cx="4023360" cy="548640"/>
          </a:xfrm>
          <a:prstGeom prst="rect">
            <a:avLst/>
          </a:prstGeom>
          <a:noFill/>
        </p:spPr>
        <p:txBody>
          <a:bodyPr wrap="square" lIns="0" rIns="0" tIns="0" bIns="0" anchor="ctr">
            <a:noAutofit/>
          </a:bodyPr>
          <a:lstStyle/>
          <a:p>
            <a:pPr algn="l"/>
            <a:r>
              <a:rPr sz="1600" b="0" i="0">
                <a:solidFill>
                  <a:srgbClr val="2C2825"/>
                </a:solidFill>
                <a:latin typeface="Inter"/>
              </a:rPr>
              <a:t>Results per page (max 100)</a:t>
            </a:r>
          </a:p>
        </p:txBody>
      </p:sp>
      <p:sp>
        <p:nvSpPr>
          <p:cNvPr id="43" name="Rectangle 42"/>
          <p:cNvSpPr/>
          <p:nvPr/>
        </p:nvSpPr>
        <p:spPr>
          <a:xfrm>
            <a:off x="841248" y="7543799"/>
            <a:ext cx="292608" cy="292608"/>
          </a:xfrm>
          <a:prstGeom prst="rect">
            <a:avLst/>
          </a:prstGeom>
          <a:solidFill>
            <a:srgbClr val="FFFFFF"/>
          </a:solidFill>
          <a:ln w="15875">
            <a:solidFill>
              <a:srgbClr val="000000"/>
            </a:solidFill>
          </a:ln>
        </p:spPr>
        <p:txBody>
          <a:bodyPr rtlCol="0" anchor="ctr"/>
          <a:lstStyle/>
          <a:p>
            <a:pPr algn="ctr"/>
          </a:p>
        </p:txBody>
      </p:sp>
      <p:sp>
        <p:nvSpPr>
          <p:cNvPr id="44" name="Rectangle 43"/>
          <p:cNvSpPr/>
          <p:nvPr/>
        </p:nvSpPr>
        <p:spPr>
          <a:xfrm>
            <a:off x="1389888" y="7406640"/>
            <a:ext cx="2834640" cy="548640"/>
          </a:xfrm>
          <a:prstGeom prst="rect">
            <a:avLst/>
          </a:prstGeom>
          <a:solidFill>
            <a:srgbClr val="F1F1E6"/>
          </a:solidFill>
          <a:ln w="9525">
            <a:solidFill>
              <a:srgbClr val="000000"/>
            </a:solidFill>
          </a:ln>
        </p:spPr>
        <p:txBody>
          <a:bodyPr rtlCol="0" anchor="ctr"/>
          <a:lstStyle/>
          <a:p>
            <a:pPr algn="ctr"/>
          </a:p>
        </p:txBody>
      </p:sp>
      <p:sp>
        <p:nvSpPr>
          <p:cNvPr id="45" name="TextBox 44"/>
          <p:cNvSpPr txBox="1"/>
          <p:nvPr/>
        </p:nvSpPr>
        <p:spPr>
          <a:xfrm>
            <a:off x="1527048" y="7406640"/>
            <a:ext cx="2651760" cy="548640"/>
          </a:xfrm>
          <a:prstGeom prst="rect">
            <a:avLst/>
          </a:prstGeom>
          <a:noFill/>
        </p:spPr>
        <p:txBody>
          <a:bodyPr wrap="none" lIns="0" rIns="0" tIns="0" bIns="0" anchor="ctr">
            <a:noAutofit/>
          </a:bodyPr>
          <a:lstStyle/>
          <a:p>
            <a:pPr algn="l"/>
            <a:r>
              <a:rPr sz="1600" b="0" i="0">
                <a:solidFill>
                  <a:srgbClr val="5A574F"/>
                </a:solidFill>
                <a:latin typeface="Roboto Mono"/>
              </a:rPr>
              <a:t>page</a:t>
            </a:r>
          </a:p>
        </p:txBody>
      </p:sp>
      <p:sp>
        <p:nvSpPr>
          <p:cNvPr id="46" name="Rectangle 45"/>
          <p:cNvSpPr/>
          <p:nvPr/>
        </p:nvSpPr>
        <p:spPr>
          <a:xfrm>
            <a:off x="4407408" y="7406640"/>
            <a:ext cx="2194560" cy="548640"/>
          </a:xfrm>
          <a:prstGeom prst="rect">
            <a:avLst/>
          </a:prstGeom>
          <a:solidFill>
            <a:srgbClr val="F1F1E6"/>
          </a:solidFill>
          <a:ln w="9525">
            <a:solidFill>
              <a:srgbClr val="000000"/>
            </a:solidFill>
          </a:ln>
        </p:spPr>
        <p:txBody>
          <a:bodyPr rtlCol="0" anchor="ctr"/>
          <a:lstStyle/>
          <a:p>
            <a:pPr algn="ctr"/>
          </a:p>
        </p:txBody>
      </p:sp>
      <p:sp>
        <p:nvSpPr>
          <p:cNvPr id="47" name="TextBox 46"/>
          <p:cNvSpPr txBox="1"/>
          <p:nvPr/>
        </p:nvSpPr>
        <p:spPr>
          <a:xfrm>
            <a:off x="4544568" y="7406640"/>
            <a:ext cx="2011680" cy="548640"/>
          </a:xfrm>
          <a:prstGeom prst="rect">
            <a:avLst/>
          </a:prstGeom>
          <a:noFill/>
        </p:spPr>
        <p:txBody>
          <a:bodyPr wrap="square" lIns="0" rIns="0" tIns="0" bIns="0" anchor="ctr">
            <a:noAutofit/>
          </a:bodyPr>
          <a:lstStyle/>
          <a:p>
            <a:pPr algn="l"/>
            <a:r>
              <a:rPr sz="1600" b="0" i="0">
                <a:solidFill>
                  <a:srgbClr val="5A574F"/>
                </a:solidFill>
                <a:latin typeface="Roboto Mono"/>
              </a:rPr>
              <a:t>2</a:t>
            </a:r>
          </a:p>
        </p:txBody>
      </p:sp>
      <p:sp>
        <p:nvSpPr>
          <p:cNvPr id="48" name="TextBox 47"/>
          <p:cNvSpPr txBox="1"/>
          <p:nvPr/>
        </p:nvSpPr>
        <p:spPr>
          <a:xfrm>
            <a:off x="6876288" y="7406640"/>
            <a:ext cx="4023360" cy="548640"/>
          </a:xfrm>
          <a:prstGeom prst="rect">
            <a:avLst/>
          </a:prstGeom>
          <a:noFill/>
        </p:spPr>
        <p:txBody>
          <a:bodyPr wrap="square" lIns="0" rIns="0" tIns="0" bIns="0" anchor="ctr">
            <a:noAutofit/>
          </a:bodyPr>
          <a:lstStyle/>
          <a:p>
            <a:pPr algn="l"/>
            <a:r>
              <a:rPr sz="1600" b="0" i="0">
                <a:solidFill>
                  <a:srgbClr val="5A574F"/>
                </a:solidFill>
                <a:latin typeface="Inter"/>
              </a:rPr>
              <a:t>Which page of results</a:t>
            </a:r>
          </a:p>
        </p:txBody>
      </p:sp>
      <p:sp>
        <p:nvSpPr>
          <p:cNvPr id="49" name="Rectangle 48"/>
          <p:cNvSpPr/>
          <p:nvPr/>
        </p:nvSpPr>
        <p:spPr>
          <a:xfrm>
            <a:off x="841248" y="8321039"/>
            <a:ext cx="292608" cy="292608"/>
          </a:xfrm>
          <a:prstGeom prst="rect">
            <a:avLst/>
          </a:prstGeom>
          <a:solidFill>
            <a:srgbClr val="FFFFFF"/>
          </a:solidFill>
          <a:ln w="15875">
            <a:solidFill>
              <a:srgbClr val="000000"/>
            </a:solidFill>
          </a:ln>
        </p:spPr>
        <p:txBody>
          <a:bodyPr rtlCol="0" anchor="ctr"/>
          <a:lstStyle/>
          <a:p>
            <a:pPr algn="ctr"/>
          </a:p>
        </p:txBody>
      </p:sp>
      <p:sp>
        <p:nvSpPr>
          <p:cNvPr id="50" name="Rectangle 49"/>
          <p:cNvSpPr/>
          <p:nvPr/>
        </p:nvSpPr>
        <p:spPr>
          <a:xfrm>
            <a:off x="1389888" y="8183879"/>
            <a:ext cx="2834640" cy="548640"/>
          </a:xfrm>
          <a:prstGeom prst="rect">
            <a:avLst/>
          </a:prstGeom>
          <a:solidFill>
            <a:srgbClr val="F1F1E6"/>
          </a:solidFill>
          <a:ln w="9525">
            <a:solidFill>
              <a:srgbClr val="000000"/>
            </a:solidFill>
          </a:ln>
        </p:spPr>
        <p:txBody>
          <a:bodyPr rtlCol="0" anchor="ctr"/>
          <a:lstStyle/>
          <a:p>
            <a:pPr algn="ctr"/>
          </a:p>
        </p:txBody>
      </p:sp>
      <p:sp>
        <p:nvSpPr>
          <p:cNvPr id="51" name="TextBox 50"/>
          <p:cNvSpPr txBox="1"/>
          <p:nvPr/>
        </p:nvSpPr>
        <p:spPr>
          <a:xfrm>
            <a:off x="1527048" y="8183879"/>
            <a:ext cx="2651760" cy="548640"/>
          </a:xfrm>
          <a:prstGeom prst="rect">
            <a:avLst/>
          </a:prstGeom>
          <a:noFill/>
        </p:spPr>
        <p:txBody>
          <a:bodyPr wrap="none" lIns="0" rIns="0" tIns="0" bIns="0" anchor="ctr">
            <a:noAutofit/>
          </a:bodyPr>
          <a:lstStyle/>
          <a:p>
            <a:pPr algn="l"/>
            <a:r>
              <a:rPr sz="1600" b="0" i="0">
                <a:solidFill>
                  <a:srgbClr val="5A574F"/>
                </a:solidFill>
                <a:latin typeface="Roboto Mono"/>
              </a:rPr>
              <a:t>exclude_parents</a:t>
            </a:r>
          </a:p>
        </p:txBody>
      </p:sp>
      <p:sp>
        <p:nvSpPr>
          <p:cNvPr id="52" name="Rectangle 51"/>
          <p:cNvSpPr/>
          <p:nvPr/>
        </p:nvSpPr>
        <p:spPr>
          <a:xfrm>
            <a:off x="4407408" y="8183879"/>
            <a:ext cx="2194560" cy="548640"/>
          </a:xfrm>
          <a:prstGeom prst="rect">
            <a:avLst/>
          </a:prstGeom>
          <a:solidFill>
            <a:srgbClr val="F1F1E6"/>
          </a:solidFill>
          <a:ln w="9525">
            <a:solidFill>
              <a:srgbClr val="000000"/>
            </a:solidFill>
          </a:ln>
        </p:spPr>
        <p:txBody>
          <a:bodyPr rtlCol="0" anchor="ctr"/>
          <a:lstStyle/>
          <a:p>
            <a:pPr algn="ctr"/>
          </a:p>
        </p:txBody>
      </p:sp>
      <p:sp>
        <p:nvSpPr>
          <p:cNvPr id="53" name="TextBox 52"/>
          <p:cNvSpPr txBox="1"/>
          <p:nvPr/>
        </p:nvSpPr>
        <p:spPr>
          <a:xfrm>
            <a:off x="4544568" y="8183879"/>
            <a:ext cx="2011680" cy="548640"/>
          </a:xfrm>
          <a:prstGeom prst="rect">
            <a:avLst/>
          </a:prstGeom>
          <a:noFill/>
        </p:spPr>
        <p:txBody>
          <a:bodyPr wrap="square" lIns="0" rIns="0" tIns="0" bIns="0" anchor="ctr">
            <a:noAutofit/>
          </a:bodyPr>
          <a:lstStyle/>
          <a:p>
            <a:pPr algn="l"/>
            <a:r>
              <a:rPr sz="1600" b="0" i="0">
                <a:solidFill>
                  <a:srgbClr val="5A574F"/>
                </a:solidFill>
                <a:latin typeface="Roboto Mono"/>
              </a:rPr>
              <a:t>true</a:t>
            </a:r>
          </a:p>
        </p:txBody>
      </p:sp>
      <p:sp>
        <p:nvSpPr>
          <p:cNvPr id="54" name="TextBox 53"/>
          <p:cNvSpPr txBox="1"/>
          <p:nvPr/>
        </p:nvSpPr>
        <p:spPr>
          <a:xfrm>
            <a:off x="6876288" y="8183879"/>
            <a:ext cx="4023360" cy="548640"/>
          </a:xfrm>
          <a:prstGeom prst="rect">
            <a:avLst/>
          </a:prstGeom>
          <a:noFill/>
        </p:spPr>
        <p:txBody>
          <a:bodyPr wrap="square" lIns="0" rIns="0" tIns="0" bIns="0" anchor="ctr">
            <a:noAutofit/>
          </a:bodyPr>
          <a:lstStyle/>
          <a:p>
            <a:pPr algn="l"/>
            <a:r>
              <a:rPr sz="1600" b="0" i="0">
                <a:solidFill>
                  <a:srgbClr val="5A574F"/>
                </a:solidFill>
                <a:latin typeface="Inter"/>
              </a:rPr>
              <a:t>Hide parent equipment</a:t>
            </a:r>
          </a:p>
        </p:txBody>
      </p:sp>
      <p:pic>
        <p:nvPicPr>
          <p:cNvPr id="55" name="Picture 54" descr="check.png"/>
          <p:cNvPicPr>
            <a:picLocks noChangeAspect="1"/>
          </p:cNvPicPr>
          <p:nvPr/>
        </p:nvPicPr>
        <p:blipFill>
          <a:blip r:embed="rId3"/>
          <a:stretch>
            <a:fillRect/>
          </a:stretch>
        </p:blipFill>
        <p:spPr>
          <a:xfrm>
            <a:off x="11521440" y="3200400"/>
            <a:ext cx="457200" cy="457200"/>
          </a:xfrm>
          <a:prstGeom prst="rect">
            <a:avLst/>
          </a:prstGeom>
        </p:spPr>
      </p:pic>
      <p:sp>
        <p:nvSpPr>
          <p:cNvPr id="56" name="TextBox 55"/>
          <p:cNvSpPr txBox="1"/>
          <p:nvPr/>
        </p:nvSpPr>
        <p:spPr>
          <a:xfrm>
            <a:off x="12207240" y="3154680"/>
            <a:ext cx="5605272" cy="1371600"/>
          </a:xfrm>
          <a:prstGeom prst="rect">
            <a:avLst/>
          </a:prstGeom>
          <a:noFill/>
        </p:spPr>
        <p:txBody>
          <a:bodyPr wrap="square" lIns="0" rIns="0" tIns="0" bIns="0" anchor="t">
            <a:noAutofit/>
          </a:bodyPr>
          <a:lstStyle/>
          <a:p>
            <a:pPr algn="l"/>
            <a:r>
              <a:rPr sz="1900" b="1" i="0">
                <a:solidFill>
                  <a:srgbClr val="000000"/>
                </a:solidFill>
                <a:latin typeface="Inter"/>
              </a:rPr>
              <a:t>Tick</a:t>
            </a:r>
            <a:r>
              <a:rPr sz="1900" b="0" i="0">
                <a:solidFill>
                  <a:srgbClr val="000000"/>
                </a:solidFill>
                <a:latin typeface="Inter"/>
              </a:rPr>
              <a:t> a row to use it. </a:t>
            </a:r>
            <a:r>
              <a:rPr sz="1900" b="1" i="0">
                <a:solidFill>
                  <a:srgbClr val="000000"/>
                </a:solidFill>
                <a:latin typeface="Inter"/>
              </a:rPr>
              <a:t>Untick</a:t>
            </a:r>
            <a:r>
              <a:rPr sz="1900" b="0" i="0">
                <a:solidFill>
                  <a:srgbClr val="000000"/>
                </a:solidFill>
                <a:latin typeface="Inter"/>
              </a:rPr>
              <a:t> it to ignore it.</a:t>
            </a:r>
          </a:p>
        </p:txBody>
      </p:sp>
      <p:pic>
        <p:nvPicPr>
          <p:cNvPr id="57" name="Picture 56" descr="pencil.png"/>
          <p:cNvPicPr>
            <a:picLocks noChangeAspect="1"/>
          </p:cNvPicPr>
          <p:nvPr/>
        </p:nvPicPr>
        <p:blipFill>
          <a:blip r:embed="rId4"/>
          <a:stretch>
            <a:fillRect/>
          </a:stretch>
        </p:blipFill>
        <p:spPr>
          <a:xfrm>
            <a:off x="11521440" y="4663440"/>
            <a:ext cx="457200" cy="457200"/>
          </a:xfrm>
          <a:prstGeom prst="rect">
            <a:avLst/>
          </a:prstGeom>
        </p:spPr>
      </p:pic>
      <p:sp>
        <p:nvSpPr>
          <p:cNvPr id="58" name="TextBox 57"/>
          <p:cNvSpPr txBox="1"/>
          <p:nvPr/>
        </p:nvSpPr>
        <p:spPr>
          <a:xfrm>
            <a:off x="12207240" y="4617720"/>
            <a:ext cx="5605272" cy="1371600"/>
          </a:xfrm>
          <a:prstGeom prst="rect">
            <a:avLst/>
          </a:prstGeom>
          <a:noFill/>
        </p:spPr>
        <p:txBody>
          <a:bodyPr wrap="square" lIns="0" rIns="0" tIns="0" bIns="0" anchor="t">
            <a:noAutofit/>
          </a:bodyPr>
          <a:lstStyle/>
          <a:p>
            <a:pPr algn="l"/>
            <a:r>
              <a:rPr sz="1900" b="0" i="0">
                <a:solidFill>
                  <a:srgbClr val="000000"/>
                </a:solidFill>
                <a:latin typeface="Inter"/>
              </a:rPr>
              <a:t>Change the </a:t>
            </a:r>
            <a:r>
              <a:rPr sz="1900" b="1" i="0">
                <a:solidFill>
                  <a:srgbClr val="000000"/>
                </a:solidFill>
                <a:latin typeface="Inter"/>
              </a:rPr>
              <a:t>Value</a:t>
            </a:r>
            <a:r>
              <a:rPr sz="1900" b="0" i="0">
                <a:solidFill>
                  <a:srgbClr val="000000"/>
                </a:solidFill>
                <a:latin typeface="Inter"/>
              </a:rPr>
              <a:t>. The address updates by itself.</a:t>
            </a:r>
          </a:p>
        </p:txBody>
      </p:sp>
      <p:pic>
        <p:nvPicPr>
          <p:cNvPr id="59" name="Picture 58" descr="list.png"/>
          <p:cNvPicPr>
            <a:picLocks noChangeAspect="1"/>
          </p:cNvPicPr>
          <p:nvPr/>
        </p:nvPicPr>
        <p:blipFill>
          <a:blip r:embed="rId5"/>
          <a:stretch>
            <a:fillRect/>
          </a:stretch>
        </p:blipFill>
        <p:spPr>
          <a:xfrm>
            <a:off x="11521440" y="6126480"/>
            <a:ext cx="457200" cy="457200"/>
          </a:xfrm>
          <a:prstGeom prst="rect">
            <a:avLst/>
          </a:prstGeom>
        </p:spPr>
      </p:pic>
      <p:sp>
        <p:nvSpPr>
          <p:cNvPr id="60" name="TextBox 59"/>
          <p:cNvSpPr txBox="1"/>
          <p:nvPr/>
        </p:nvSpPr>
        <p:spPr>
          <a:xfrm>
            <a:off x="12207240" y="6080760"/>
            <a:ext cx="5605272" cy="1371600"/>
          </a:xfrm>
          <a:prstGeom prst="rect">
            <a:avLst/>
          </a:prstGeom>
          <a:noFill/>
        </p:spPr>
        <p:txBody>
          <a:bodyPr wrap="square" lIns="0" rIns="0" tIns="0" bIns="0" anchor="t">
            <a:noAutofit/>
          </a:bodyPr>
          <a:lstStyle/>
          <a:p>
            <a:pPr algn="l"/>
            <a:r>
              <a:rPr sz="1900" b="0" i="0">
                <a:solidFill>
                  <a:srgbClr val="000000"/>
                </a:solidFill>
                <a:latin typeface="Inter"/>
              </a:rPr>
              <a:t>Lists come </a:t>
            </a:r>
            <a:r>
              <a:rPr sz="1900" b="1" i="0">
                <a:solidFill>
                  <a:srgbClr val="000000"/>
                </a:solidFill>
                <a:latin typeface="Inter"/>
              </a:rPr>
              <a:t>100 at a time</a:t>
            </a:r>
            <a:r>
              <a:rPr sz="1900" b="0" i="0">
                <a:solidFill>
                  <a:srgbClr val="000000"/>
                </a:solidFill>
                <a:latin typeface="Inter"/>
              </a:rPr>
              <a:t>. Change </a:t>
            </a:r>
            <a:r>
              <a:rPr sz="1900" b="1" i="0">
                <a:solidFill>
                  <a:srgbClr val="000000"/>
                </a:solidFill>
                <a:latin typeface="Inter"/>
              </a:rPr>
              <a:t>page</a:t>
            </a:r>
            <a:r>
              <a:rPr sz="1900" b="0" i="0">
                <a:solidFill>
                  <a:srgbClr val="000000"/>
                </a:solidFill>
                <a:latin typeface="Inter"/>
              </a:rPr>
              <a:t> to see the next 100.</a:t>
            </a:r>
          </a:p>
        </p:txBody>
      </p:sp>
      <p:pic>
        <p:nvPicPr>
          <p:cNvPr id="61" name="Picture 60" descr="settings.png"/>
          <p:cNvPicPr>
            <a:picLocks noChangeAspect="1"/>
          </p:cNvPicPr>
          <p:nvPr/>
        </p:nvPicPr>
        <p:blipFill>
          <a:blip r:embed="rId6"/>
          <a:stretch>
            <a:fillRect/>
          </a:stretch>
        </p:blipFill>
        <p:spPr>
          <a:xfrm>
            <a:off x="11521440" y="7589520"/>
            <a:ext cx="457200" cy="457200"/>
          </a:xfrm>
          <a:prstGeom prst="rect">
            <a:avLst/>
          </a:prstGeom>
        </p:spPr>
      </p:pic>
      <p:sp>
        <p:nvSpPr>
          <p:cNvPr id="62" name="TextBox 61"/>
          <p:cNvSpPr txBox="1"/>
          <p:nvPr/>
        </p:nvSpPr>
        <p:spPr>
          <a:xfrm>
            <a:off x="12207240" y="7543800"/>
            <a:ext cx="5605272" cy="1371600"/>
          </a:xfrm>
          <a:prstGeom prst="rect">
            <a:avLst/>
          </a:prstGeom>
          <a:noFill/>
        </p:spPr>
        <p:txBody>
          <a:bodyPr wrap="square" lIns="0" rIns="0" tIns="0" bIns="0" anchor="t">
            <a:noAutofit/>
          </a:bodyPr>
          <a:lstStyle/>
          <a:p>
            <a:pPr algn="l"/>
            <a:r>
              <a:rPr sz="1900" b="0" i="0">
                <a:solidFill>
                  <a:srgbClr val="000000"/>
                </a:solidFill>
                <a:latin typeface="Inter"/>
              </a:rPr>
              <a:t>Numbers inside the address, like /equipment/</a:t>
            </a:r>
            <a:r>
              <a:rPr sz="1900" b="1" i="0">
                <a:solidFill>
                  <a:srgbClr val="000000"/>
                </a:solidFill>
                <a:latin typeface="Inter"/>
              </a:rPr>
              <a:t>18807</a:t>
            </a:r>
            <a:r>
              <a:rPr sz="1900" b="0" i="0">
                <a:solidFill>
                  <a:srgbClr val="000000"/>
                </a:solidFill>
                <a:latin typeface="Inter"/>
              </a:rPr>
              <a:t>, come from environment variables. Change them there, or type over them.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AED"/>
        </a:solidFill>
        <a:effectLst/>
      </p:bgPr>
    </p:bg>
    <p:spTree>
      <p:nvGrpSpPr>
        <p:cNvPr id="1" name=""/>
        <p:cNvGrpSpPr/>
        <p:nvPr/>
      </p:nvGrpSpPr>
      <p:grpSpPr/>
      <p:pic>
        <p:nvPicPr>
          <p:cNvPr id="2" name="Picture 1" descr="s1_0.png"/>
          <p:cNvPicPr>
            <a:picLocks noChangeAspect="1"/>
          </p:cNvPicPr>
          <p:nvPr/>
        </p:nvPicPr>
        <p:blipFill>
          <a:blip r:embed="rId2"/>
          <a:stretch>
            <a:fillRect/>
          </a:stretch>
        </p:blipFill>
        <p:spPr>
          <a:xfrm>
            <a:off x="475488" y="594360"/>
            <a:ext cx="1655064" cy="384048"/>
          </a:xfrm>
          <a:prstGeom prst="rect">
            <a:avLst/>
          </a:prstGeom>
        </p:spPr>
      </p:pic>
      <p:sp>
        <p:nvSpPr>
          <p:cNvPr id="3" name="Rectangle 2"/>
          <p:cNvSpPr/>
          <p:nvPr/>
        </p:nvSpPr>
        <p:spPr>
          <a:xfrm>
            <a:off x="2441448" y="777240"/>
            <a:ext cx="15371064" cy="10972"/>
          </a:xfrm>
          <a:prstGeom prst="rect">
            <a:avLst/>
          </a:prstGeom>
          <a:solidFill>
            <a:srgbClr val="000000"/>
          </a:solidFill>
          <a:ln>
            <a:noFill/>
          </a:ln>
        </p:spPr>
        <p:txBody>
          <a:bodyPr rtlCol="0" anchor="ctr"/>
          <a:lstStyle/>
          <a:p>
            <a:pPr algn="ctr"/>
          </a:p>
        </p:txBody>
      </p:sp>
      <p:sp>
        <p:nvSpPr>
          <p:cNvPr id="4" name="TextBox 3"/>
          <p:cNvSpPr txBox="1"/>
          <p:nvPr/>
        </p:nvSpPr>
        <p:spPr>
          <a:xfrm>
            <a:off x="475488" y="1527048"/>
            <a:ext cx="10972800" cy="365760"/>
          </a:xfrm>
          <a:prstGeom prst="rect">
            <a:avLst/>
          </a:prstGeom>
          <a:noFill/>
        </p:spPr>
        <p:txBody>
          <a:bodyPr wrap="square" lIns="0" rIns="0" tIns="0" bIns="0" anchor="t">
            <a:noAutofit/>
          </a:bodyPr>
          <a:lstStyle/>
          <a:p>
            <a:pPr algn="l"/>
            <a:r>
              <a:rPr sz="1800" b="0" i="0">
                <a:solidFill>
                  <a:srgbClr val="000000"/>
                </a:solidFill>
                <a:latin typeface="Roboto Mono"/>
              </a:rPr>
              <a:t>PART 4 · HANDS-ON WITH POSTMAN</a:t>
            </a:r>
          </a:p>
        </p:txBody>
      </p:sp>
      <p:sp>
        <p:nvSpPr>
          <p:cNvPr id="5" name="Title"/>
          <p:cNvSpPr txBox="1"/>
          <p:nvPr/>
        </p:nvSpPr>
        <p:spPr>
          <a:xfrm>
            <a:off x="475488" y="2011680"/>
            <a:ext cx="17337024" cy="868680"/>
          </a:xfrm>
          <a:prstGeom prst="rect">
            <a:avLst/>
          </a:prstGeom>
          <a:noFill/>
        </p:spPr>
        <p:txBody>
          <a:bodyPr wrap="square" lIns="0" rIns="0" tIns="0" bIns="0" anchor="t">
            <a:noAutofit/>
          </a:bodyPr>
          <a:lstStyle/>
          <a:p>
            <a:pPr algn="l">
              <a:lnSpc>
                <a:spcPct val="95000"/>
              </a:lnSpc>
            </a:pPr>
            <a:r>
              <a:rPr sz="4600" b="1" i="0">
                <a:solidFill>
                  <a:srgbClr val="000000"/>
                </a:solidFill>
                <a:latin typeface="Inter"/>
              </a:rPr>
              <a:t>Change the JSON in the Body tab</a:t>
            </a:r>
          </a:p>
        </p:txBody>
      </p:sp>
      <p:sp>
        <p:nvSpPr>
          <p:cNvPr id="6" name="Rectangle 5"/>
          <p:cNvSpPr/>
          <p:nvPr/>
        </p:nvSpPr>
        <p:spPr>
          <a:xfrm>
            <a:off x="475488" y="9189720"/>
            <a:ext cx="17337024" cy="10972"/>
          </a:xfrm>
          <a:prstGeom prst="rect">
            <a:avLst/>
          </a:prstGeom>
          <a:solidFill>
            <a:srgbClr val="000000"/>
          </a:solidFill>
          <a:ln>
            <a:noFill/>
          </a:ln>
        </p:spPr>
        <p:txBody>
          <a:bodyPr rtlCol="0" anchor="ctr"/>
          <a:lstStyle/>
          <a:p>
            <a:pPr algn="ctr"/>
          </a:p>
        </p:txBody>
      </p:sp>
      <p:sp>
        <p:nvSpPr>
          <p:cNvPr id="7" name="TextBox 6"/>
          <p:cNvSpPr txBox="1"/>
          <p:nvPr/>
        </p:nvSpPr>
        <p:spPr>
          <a:xfrm>
            <a:off x="475488" y="9354312"/>
            <a:ext cx="2743200" cy="338328"/>
          </a:xfrm>
          <a:prstGeom prst="rect">
            <a:avLst/>
          </a:prstGeom>
          <a:noFill/>
        </p:spPr>
        <p:txBody>
          <a:bodyPr wrap="square" lIns="0" rIns="0" tIns="0" bIns="0" anchor="t">
            <a:noAutofit/>
          </a:bodyPr>
          <a:lstStyle/>
          <a:p>
            <a:pPr algn="l"/>
            <a:r>
              <a:rPr sz="1800" b="0" i="0">
                <a:solidFill>
                  <a:srgbClr val="000000"/>
                </a:solidFill>
                <a:latin typeface="Roboto Mono"/>
              </a:rPr>
              <a:t>CALIRA.CO</a:t>
            </a:r>
          </a:p>
        </p:txBody>
      </p:sp>
      <p:sp>
        <p:nvSpPr>
          <p:cNvPr id="8" name="TextBox 7"/>
          <p:cNvSpPr txBox="1"/>
          <p:nvPr/>
        </p:nvSpPr>
        <p:spPr>
          <a:xfrm>
            <a:off x="15983712" y="9354312"/>
            <a:ext cx="1828800" cy="338328"/>
          </a:xfrm>
          <a:prstGeom prst="rect">
            <a:avLst/>
          </a:prstGeom>
          <a:noFill/>
        </p:spPr>
        <p:txBody>
          <a:bodyPr wrap="square" lIns="0" rIns="0" tIns="0" bIns="0" anchor="t">
            <a:noAutofit/>
          </a:bodyPr>
          <a:lstStyle/>
          <a:p>
            <a:pPr algn="r"/>
            <a:r>
              <a:rPr sz="1800" b="0" i="0">
                <a:solidFill>
                  <a:srgbClr val="000000"/>
                </a:solidFill>
                <a:latin typeface="Roboto Mono"/>
              </a:rPr>
              <a:t>29</a:t>
            </a:r>
          </a:p>
        </p:txBody>
      </p:sp>
      <p:sp>
        <p:nvSpPr>
          <p:cNvPr id="9" name="Rounded Rectangle 8"/>
          <p:cNvSpPr/>
          <p:nvPr/>
        </p:nvSpPr>
        <p:spPr>
          <a:xfrm>
            <a:off x="475488" y="3154680"/>
            <a:ext cx="10607040" cy="5760720"/>
          </a:xfrm>
          <a:prstGeom prst="roundRect">
            <a:avLst>
              <a:gd name="adj" fmla="val 2000"/>
            </a:avLst>
          </a:prstGeom>
          <a:solidFill>
            <a:srgbClr val="FFFFFF"/>
          </a:solidFill>
          <a:ln w="15875">
            <a:solidFill>
              <a:srgbClr val="000000"/>
            </a:solidFill>
          </a:ln>
        </p:spPr>
        <p:txBody>
          <a:bodyPr rtlCol="0" anchor="ctr"/>
          <a:lstStyle/>
          <a:p>
            <a:pPr algn="ctr"/>
          </a:p>
        </p:txBody>
      </p:sp>
      <p:sp>
        <p:nvSpPr>
          <p:cNvPr id="10" name="Rectangle 9"/>
          <p:cNvSpPr/>
          <p:nvPr/>
        </p:nvSpPr>
        <p:spPr>
          <a:xfrm>
            <a:off x="475488" y="3154680"/>
            <a:ext cx="10607040" cy="457200"/>
          </a:xfrm>
          <a:prstGeom prst="rect">
            <a:avLst/>
          </a:prstGeom>
          <a:solidFill>
            <a:srgbClr val="F1F1E6"/>
          </a:solidFill>
          <a:ln>
            <a:noFill/>
          </a:ln>
        </p:spPr>
        <p:txBody>
          <a:bodyPr rtlCol="0" anchor="ctr"/>
          <a:lstStyle/>
          <a:p>
            <a:pPr algn="ctr"/>
          </a:p>
        </p:txBody>
      </p:sp>
      <p:sp>
        <p:nvSpPr>
          <p:cNvPr id="11" name="Rectangle 10"/>
          <p:cNvSpPr/>
          <p:nvPr/>
        </p:nvSpPr>
        <p:spPr>
          <a:xfrm>
            <a:off x="475488" y="3611880"/>
            <a:ext cx="10607040" cy="9144"/>
          </a:xfrm>
          <a:prstGeom prst="rect">
            <a:avLst/>
          </a:prstGeom>
          <a:solidFill>
            <a:srgbClr val="000000"/>
          </a:solidFill>
          <a:ln>
            <a:noFill/>
          </a:ln>
        </p:spPr>
        <p:txBody>
          <a:bodyPr rtlCol="0" anchor="ctr"/>
          <a:lstStyle/>
          <a:p>
            <a:pPr algn="ctr"/>
          </a:p>
        </p:txBody>
      </p:sp>
      <p:sp>
        <p:nvSpPr>
          <p:cNvPr id="12" name="Oval 11"/>
          <p:cNvSpPr/>
          <p:nvPr/>
        </p:nvSpPr>
        <p:spPr>
          <a:xfrm>
            <a:off x="676656" y="3319272"/>
            <a:ext cx="128016" cy="128016"/>
          </a:xfrm>
          <a:prstGeom prst="ellipse">
            <a:avLst/>
          </a:prstGeom>
          <a:solidFill>
            <a:srgbClr val="D9D9CC"/>
          </a:solidFill>
          <a:ln>
            <a:noFill/>
          </a:ln>
        </p:spPr>
        <p:txBody>
          <a:bodyPr rtlCol="0" anchor="ctr"/>
          <a:lstStyle/>
          <a:p>
            <a:pPr algn="ctr"/>
          </a:p>
        </p:txBody>
      </p:sp>
      <p:sp>
        <p:nvSpPr>
          <p:cNvPr id="13" name="Oval 12"/>
          <p:cNvSpPr/>
          <p:nvPr/>
        </p:nvSpPr>
        <p:spPr>
          <a:xfrm>
            <a:off x="914400" y="3319272"/>
            <a:ext cx="128016" cy="128016"/>
          </a:xfrm>
          <a:prstGeom prst="ellipse">
            <a:avLst/>
          </a:prstGeom>
          <a:solidFill>
            <a:srgbClr val="D9D9CC"/>
          </a:solidFill>
          <a:ln>
            <a:noFill/>
          </a:ln>
        </p:spPr>
        <p:txBody>
          <a:bodyPr rtlCol="0" anchor="ctr"/>
          <a:lstStyle/>
          <a:p>
            <a:pPr algn="ctr"/>
          </a:p>
        </p:txBody>
      </p:sp>
      <p:sp>
        <p:nvSpPr>
          <p:cNvPr id="14" name="Oval 13"/>
          <p:cNvSpPr/>
          <p:nvPr/>
        </p:nvSpPr>
        <p:spPr>
          <a:xfrm>
            <a:off x="1152144" y="3319272"/>
            <a:ext cx="128016" cy="128016"/>
          </a:xfrm>
          <a:prstGeom prst="ellipse">
            <a:avLst/>
          </a:prstGeom>
          <a:solidFill>
            <a:srgbClr val="D9D9CC"/>
          </a:solidFill>
          <a:ln>
            <a:noFill/>
          </a:ln>
        </p:spPr>
        <p:txBody>
          <a:bodyPr rtlCol="0" anchor="ctr"/>
          <a:lstStyle/>
          <a:p>
            <a:pPr algn="ctr"/>
          </a:p>
        </p:txBody>
      </p:sp>
      <p:sp>
        <p:nvSpPr>
          <p:cNvPr id="15" name="TextBox 14"/>
          <p:cNvSpPr txBox="1"/>
          <p:nvPr/>
        </p:nvSpPr>
        <p:spPr>
          <a:xfrm>
            <a:off x="1572768" y="3246120"/>
            <a:ext cx="9326880" cy="274320"/>
          </a:xfrm>
          <a:prstGeom prst="rect">
            <a:avLst/>
          </a:prstGeom>
          <a:noFill/>
        </p:spPr>
        <p:txBody>
          <a:bodyPr wrap="none" lIns="0" rIns="0" tIns="0" bIns="0" anchor="ctr">
            <a:noAutofit/>
          </a:bodyPr>
          <a:lstStyle/>
          <a:p>
            <a:pPr algn="l"/>
            <a:r>
              <a:rPr sz="1600" b="0" i="0">
                <a:solidFill>
                  <a:srgbClr val="5A574F"/>
                </a:solidFill>
                <a:latin typeface="Roboto Mono"/>
              </a:rPr>
              <a:t>Bookings  ›  Create booking</a:t>
            </a:r>
          </a:p>
        </p:txBody>
      </p:sp>
      <p:sp>
        <p:nvSpPr>
          <p:cNvPr id="16" name="Rectangle 15"/>
          <p:cNvSpPr/>
          <p:nvPr/>
        </p:nvSpPr>
        <p:spPr>
          <a:xfrm>
            <a:off x="749808" y="3886200"/>
            <a:ext cx="10058400" cy="566928"/>
          </a:xfrm>
          <a:prstGeom prst="rect">
            <a:avLst/>
          </a:prstGeom>
          <a:solidFill>
            <a:srgbClr val="FFFFFF"/>
          </a:solidFill>
          <a:ln w="12700">
            <a:solidFill>
              <a:srgbClr val="000000"/>
            </a:solidFill>
          </a:ln>
        </p:spPr>
        <p:txBody>
          <a:bodyPr rtlCol="0" anchor="ctr"/>
          <a:lstStyle/>
          <a:p>
            <a:pPr algn="ctr"/>
          </a:p>
        </p:txBody>
      </p:sp>
      <p:sp>
        <p:nvSpPr>
          <p:cNvPr id="17" name="Rounded Rectangle 16"/>
          <p:cNvSpPr/>
          <p:nvPr/>
        </p:nvSpPr>
        <p:spPr>
          <a:xfrm>
            <a:off x="859536" y="3959352"/>
            <a:ext cx="1143000" cy="420624"/>
          </a:xfrm>
          <a:prstGeom prst="roundRect">
            <a:avLst>
              <a:gd name="adj" fmla="val 20000"/>
            </a:avLst>
          </a:prstGeom>
          <a:solidFill>
            <a:srgbClr val="D9730D"/>
          </a:solidFill>
          <a:ln>
            <a:noFill/>
          </a:ln>
        </p:spPr>
        <p:txBody>
          <a:bodyPr rtlCol="0" anchor="ctr" wrap="none" lIns="0" rIns="0" tIns="0" bIns="0">
            <a:noAutofit/>
          </a:bodyPr>
          <a:lstStyle/>
          <a:p>
            <a:pPr algn="ctr"/>
            <a:r>
              <a:rPr sz="1400" b="1" i="0">
                <a:solidFill>
                  <a:srgbClr val="FFFFFF"/>
                </a:solidFill>
                <a:latin typeface="Roboto Mono"/>
              </a:rPr>
              <a:t>POST</a:t>
            </a:r>
          </a:p>
        </p:txBody>
      </p:sp>
      <p:sp>
        <p:nvSpPr>
          <p:cNvPr id="18" name="TextBox 17"/>
          <p:cNvSpPr txBox="1"/>
          <p:nvPr/>
        </p:nvSpPr>
        <p:spPr>
          <a:xfrm>
            <a:off x="2212848" y="3886200"/>
            <a:ext cx="6949440" cy="566928"/>
          </a:xfrm>
          <a:prstGeom prst="rect">
            <a:avLst/>
          </a:prstGeom>
          <a:noFill/>
        </p:spPr>
        <p:txBody>
          <a:bodyPr wrap="none" lIns="0" rIns="0" tIns="0" bIns="0" anchor="ctr">
            <a:noAutofit/>
          </a:bodyPr>
          <a:lstStyle/>
          <a:p>
            <a:pPr algn="l"/>
            <a:r>
              <a:rPr sz="1800" b="0" i="0">
                <a:solidFill>
                  <a:srgbClr val="000000"/>
                </a:solidFill>
                <a:latin typeface="Roboto Mono"/>
              </a:rPr>
              <a:t>{{base_url}}/bookings</a:t>
            </a:r>
          </a:p>
        </p:txBody>
      </p:sp>
      <p:sp>
        <p:nvSpPr>
          <p:cNvPr id="19" name="Rounded Rectangle 18"/>
          <p:cNvSpPr/>
          <p:nvPr/>
        </p:nvSpPr>
        <p:spPr>
          <a:xfrm>
            <a:off x="9299448" y="3959352"/>
            <a:ext cx="1371600" cy="420624"/>
          </a:xfrm>
          <a:prstGeom prst="roundRect">
            <a:avLst>
              <a:gd name="adj" fmla="val 20000"/>
            </a:avLst>
          </a:prstGeom>
          <a:solidFill>
            <a:srgbClr val="000000"/>
          </a:solidFill>
          <a:ln>
            <a:noFill/>
          </a:ln>
        </p:spPr>
        <p:txBody>
          <a:bodyPr rtlCol="0" anchor="ctr" wrap="none" lIns="0" rIns="0" tIns="0" bIns="0">
            <a:noAutofit/>
          </a:bodyPr>
          <a:lstStyle/>
          <a:p>
            <a:pPr algn="ctr"/>
            <a:r>
              <a:rPr sz="1800" b="1" i="0">
                <a:solidFill>
                  <a:srgbClr val="FFFFFF"/>
                </a:solidFill>
                <a:latin typeface="Inter"/>
              </a:rPr>
              <a:t>Send</a:t>
            </a:r>
          </a:p>
        </p:txBody>
      </p:sp>
      <p:sp>
        <p:nvSpPr>
          <p:cNvPr id="20" name="TextBox 19"/>
          <p:cNvSpPr txBox="1"/>
          <p:nvPr/>
        </p:nvSpPr>
        <p:spPr>
          <a:xfrm>
            <a:off x="841248" y="4709160"/>
            <a:ext cx="1920240" cy="365760"/>
          </a:xfrm>
          <a:prstGeom prst="rect">
            <a:avLst/>
          </a:prstGeom>
          <a:noFill/>
        </p:spPr>
        <p:txBody>
          <a:bodyPr wrap="square" lIns="0" rIns="0" tIns="0" bIns="0" anchor="t">
            <a:noAutofit/>
          </a:bodyPr>
          <a:lstStyle/>
          <a:p>
            <a:pPr algn="l"/>
            <a:r>
              <a:rPr sz="1500" b="0" i="0">
                <a:solidFill>
                  <a:srgbClr val="000000"/>
                </a:solidFill>
                <a:latin typeface="Roboto Mono"/>
              </a:rPr>
              <a:t>Params</a:t>
            </a:r>
          </a:p>
        </p:txBody>
      </p:sp>
      <p:sp>
        <p:nvSpPr>
          <p:cNvPr id="21" name="TextBox 20"/>
          <p:cNvSpPr txBox="1"/>
          <p:nvPr/>
        </p:nvSpPr>
        <p:spPr>
          <a:xfrm>
            <a:off x="2852928" y="4709160"/>
            <a:ext cx="1920240" cy="365760"/>
          </a:xfrm>
          <a:prstGeom prst="rect">
            <a:avLst/>
          </a:prstGeom>
          <a:noFill/>
        </p:spPr>
        <p:txBody>
          <a:bodyPr wrap="square" lIns="0" rIns="0" tIns="0" bIns="0" anchor="t">
            <a:noAutofit/>
          </a:bodyPr>
          <a:lstStyle/>
          <a:p>
            <a:pPr algn="l"/>
            <a:r>
              <a:rPr sz="1500" b="0" i="0">
                <a:solidFill>
                  <a:srgbClr val="000000"/>
                </a:solidFill>
                <a:latin typeface="Roboto Mono"/>
              </a:rPr>
              <a:t>Authorization</a:t>
            </a:r>
          </a:p>
        </p:txBody>
      </p:sp>
      <p:sp>
        <p:nvSpPr>
          <p:cNvPr id="22" name="TextBox 21"/>
          <p:cNvSpPr txBox="1"/>
          <p:nvPr/>
        </p:nvSpPr>
        <p:spPr>
          <a:xfrm>
            <a:off x="4864608" y="4709160"/>
            <a:ext cx="1920240" cy="365760"/>
          </a:xfrm>
          <a:prstGeom prst="rect">
            <a:avLst/>
          </a:prstGeom>
          <a:noFill/>
        </p:spPr>
        <p:txBody>
          <a:bodyPr wrap="square" lIns="0" rIns="0" tIns="0" bIns="0" anchor="t">
            <a:noAutofit/>
          </a:bodyPr>
          <a:lstStyle/>
          <a:p>
            <a:pPr algn="l"/>
            <a:r>
              <a:rPr sz="1500" b="0" i="0">
                <a:solidFill>
                  <a:srgbClr val="000000"/>
                </a:solidFill>
                <a:latin typeface="Roboto Mono"/>
              </a:rPr>
              <a:t>Headers</a:t>
            </a:r>
          </a:p>
        </p:txBody>
      </p:sp>
      <p:sp>
        <p:nvSpPr>
          <p:cNvPr id="23" name="TextBox 22"/>
          <p:cNvSpPr txBox="1"/>
          <p:nvPr/>
        </p:nvSpPr>
        <p:spPr>
          <a:xfrm>
            <a:off x="6876288" y="4709160"/>
            <a:ext cx="1920240" cy="365760"/>
          </a:xfrm>
          <a:prstGeom prst="rect">
            <a:avLst/>
          </a:prstGeom>
          <a:noFill/>
        </p:spPr>
        <p:txBody>
          <a:bodyPr wrap="square" lIns="0" rIns="0" tIns="0" bIns="0" anchor="t">
            <a:noAutofit/>
          </a:bodyPr>
          <a:lstStyle/>
          <a:p>
            <a:pPr algn="l"/>
            <a:r>
              <a:rPr sz="1500" b="1" i="0">
                <a:solidFill>
                  <a:srgbClr val="000000"/>
                </a:solidFill>
                <a:latin typeface="Roboto Mono"/>
              </a:rPr>
              <a:t>Body</a:t>
            </a:r>
          </a:p>
        </p:txBody>
      </p:sp>
      <p:sp>
        <p:nvSpPr>
          <p:cNvPr id="24" name="Rectangle 23"/>
          <p:cNvSpPr/>
          <p:nvPr/>
        </p:nvSpPr>
        <p:spPr>
          <a:xfrm>
            <a:off x="749808" y="5120640"/>
            <a:ext cx="10058400" cy="10972"/>
          </a:xfrm>
          <a:prstGeom prst="rect">
            <a:avLst/>
          </a:prstGeom>
          <a:solidFill>
            <a:srgbClr val="D9D9CC"/>
          </a:solidFill>
          <a:ln>
            <a:noFill/>
          </a:ln>
        </p:spPr>
        <p:txBody>
          <a:bodyPr rtlCol="0" anchor="ctr"/>
          <a:lstStyle/>
          <a:p>
            <a:pPr algn="ctr"/>
          </a:p>
        </p:txBody>
      </p:sp>
      <p:sp>
        <p:nvSpPr>
          <p:cNvPr id="25" name="Rectangle 24"/>
          <p:cNvSpPr/>
          <p:nvPr/>
        </p:nvSpPr>
        <p:spPr>
          <a:xfrm>
            <a:off x="6556248" y="5102352"/>
            <a:ext cx="914400" cy="36576"/>
          </a:xfrm>
          <a:prstGeom prst="rect">
            <a:avLst/>
          </a:prstGeom>
          <a:solidFill>
            <a:srgbClr val="000000"/>
          </a:solidFill>
          <a:ln>
            <a:noFill/>
          </a:ln>
        </p:spPr>
        <p:txBody>
          <a:bodyPr rtlCol="0" anchor="ctr"/>
          <a:lstStyle/>
          <a:p>
            <a:pPr algn="ctr"/>
          </a:p>
        </p:txBody>
      </p:sp>
      <p:sp>
        <p:nvSpPr>
          <p:cNvPr id="26" name="Rounded Rectangle 25"/>
          <p:cNvSpPr/>
          <p:nvPr/>
        </p:nvSpPr>
        <p:spPr>
          <a:xfrm>
            <a:off x="749808" y="5394960"/>
            <a:ext cx="1005840" cy="420624"/>
          </a:xfrm>
          <a:prstGeom prst="roundRect">
            <a:avLst>
              <a:gd name="adj" fmla="val 30000"/>
            </a:avLst>
          </a:prstGeom>
          <a:solidFill>
            <a:srgbClr val="000000"/>
          </a:solidFill>
          <a:ln>
            <a:noFill/>
          </a:ln>
        </p:spPr>
        <p:txBody>
          <a:bodyPr rtlCol="0" anchor="ctr" wrap="none" lIns="0" rIns="0" tIns="0" bIns="0">
            <a:noAutofit/>
          </a:bodyPr>
          <a:lstStyle/>
          <a:p>
            <a:pPr algn="ctr"/>
            <a:r>
              <a:rPr sz="1500" b="1" i="0">
                <a:solidFill>
                  <a:srgbClr val="FFFFFF"/>
                </a:solidFill>
                <a:latin typeface="Roboto Mono"/>
              </a:rPr>
              <a:t>raw</a:t>
            </a:r>
          </a:p>
        </p:txBody>
      </p:sp>
      <p:sp>
        <p:nvSpPr>
          <p:cNvPr id="27" name="Rounded Rectangle 26"/>
          <p:cNvSpPr/>
          <p:nvPr/>
        </p:nvSpPr>
        <p:spPr>
          <a:xfrm>
            <a:off x="1892808" y="5394960"/>
            <a:ext cx="1371600" cy="420624"/>
          </a:xfrm>
          <a:prstGeom prst="roundRect">
            <a:avLst>
              <a:gd name="adj" fmla="val 30000"/>
            </a:avLst>
          </a:prstGeom>
          <a:solidFill>
            <a:srgbClr val="FFFFFF"/>
          </a:solidFill>
          <a:ln w="12700">
            <a:solidFill>
              <a:srgbClr val="000000"/>
            </a:solidFill>
          </a:ln>
        </p:spPr>
        <p:txBody>
          <a:bodyPr rtlCol="0" anchor="ctr" wrap="none" lIns="0" rIns="0" tIns="0" bIns="0">
            <a:noAutofit/>
          </a:bodyPr>
          <a:lstStyle/>
          <a:p>
            <a:pPr algn="ctr"/>
            <a:r>
              <a:rPr sz="1500" b="1" i="0">
                <a:solidFill>
                  <a:srgbClr val="000000"/>
                </a:solidFill>
                <a:latin typeface="Roboto Mono"/>
              </a:rPr>
              <a:t>JSON</a:t>
            </a:r>
          </a:p>
        </p:txBody>
      </p:sp>
      <p:sp>
        <p:nvSpPr>
          <p:cNvPr id="28" name="TextBox 27"/>
          <p:cNvSpPr txBox="1"/>
          <p:nvPr/>
        </p:nvSpPr>
        <p:spPr>
          <a:xfrm>
            <a:off x="8796528" y="5394960"/>
            <a:ext cx="2011680" cy="420624"/>
          </a:xfrm>
          <a:prstGeom prst="rect">
            <a:avLst/>
          </a:prstGeom>
          <a:noFill/>
        </p:spPr>
        <p:txBody>
          <a:bodyPr wrap="square" lIns="0" rIns="0" tIns="0" bIns="0" anchor="ctr">
            <a:noAutofit/>
          </a:bodyPr>
          <a:lstStyle/>
          <a:p>
            <a:pPr algn="r"/>
            <a:r>
              <a:rPr sz="1500" b="0" i="0">
                <a:solidFill>
                  <a:srgbClr val="5A574F"/>
                </a:solidFill>
                <a:latin typeface="Roboto Mono"/>
              </a:rPr>
              <a:t>Beautify</a:t>
            </a:r>
          </a:p>
        </p:txBody>
      </p:sp>
      <p:sp>
        <p:nvSpPr>
          <p:cNvPr id="29" name="Rectangle 28"/>
          <p:cNvSpPr/>
          <p:nvPr/>
        </p:nvSpPr>
        <p:spPr>
          <a:xfrm>
            <a:off x="749808" y="5989320"/>
            <a:ext cx="10058400" cy="2743200"/>
          </a:xfrm>
          <a:prstGeom prst="rect">
            <a:avLst/>
          </a:prstGeom>
          <a:solidFill>
            <a:srgbClr val="FBFBF4"/>
          </a:solidFill>
          <a:ln w="9525">
            <a:solidFill>
              <a:srgbClr val="000000"/>
            </a:solidFill>
          </a:ln>
        </p:spPr>
        <p:txBody>
          <a:bodyPr rtlCol="0" anchor="ctr"/>
          <a:lstStyle/>
          <a:p>
            <a:pPr algn="ctr"/>
          </a:p>
        </p:txBody>
      </p:sp>
      <p:sp>
        <p:nvSpPr>
          <p:cNvPr id="30" name="Rectangle 29"/>
          <p:cNvSpPr/>
          <p:nvPr/>
        </p:nvSpPr>
        <p:spPr>
          <a:xfrm>
            <a:off x="749808" y="5989320"/>
            <a:ext cx="640080" cy="2743200"/>
          </a:xfrm>
          <a:prstGeom prst="rect">
            <a:avLst/>
          </a:prstGeom>
          <a:solidFill>
            <a:srgbClr val="F1F1E6"/>
          </a:solidFill>
          <a:ln>
            <a:noFill/>
          </a:ln>
        </p:spPr>
        <p:txBody>
          <a:bodyPr rtlCol="0" anchor="ctr"/>
          <a:lstStyle/>
          <a:p>
            <a:pPr algn="ctr"/>
          </a:p>
        </p:txBody>
      </p:sp>
      <p:sp>
        <p:nvSpPr>
          <p:cNvPr id="31" name="TextBox 30"/>
          <p:cNvSpPr txBox="1"/>
          <p:nvPr/>
        </p:nvSpPr>
        <p:spPr>
          <a:xfrm>
            <a:off x="841248" y="6080760"/>
            <a:ext cx="457200" cy="457200"/>
          </a:xfrm>
          <a:prstGeom prst="rect">
            <a:avLst/>
          </a:prstGeom>
          <a:noFill/>
        </p:spPr>
        <p:txBody>
          <a:bodyPr wrap="square" lIns="0" rIns="0" tIns="0" bIns="0" anchor="t">
            <a:noAutofit/>
          </a:bodyPr>
          <a:lstStyle/>
          <a:p>
            <a:pPr algn="r"/>
            <a:r>
              <a:rPr sz="1500" b="0" i="0">
                <a:solidFill>
                  <a:srgbClr val="5A574F"/>
                </a:solidFill>
                <a:latin typeface="Roboto Mono"/>
              </a:rPr>
              <a:t>1</a:t>
            </a:r>
          </a:p>
        </p:txBody>
      </p:sp>
      <p:sp>
        <p:nvSpPr>
          <p:cNvPr id="32" name="TextBox 31"/>
          <p:cNvSpPr txBox="1"/>
          <p:nvPr/>
        </p:nvSpPr>
        <p:spPr>
          <a:xfrm>
            <a:off x="841248" y="6583680"/>
            <a:ext cx="457200" cy="457200"/>
          </a:xfrm>
          <a:prstGeom prst="rect">
            <a:avLst/>
          </a:prstGeom>
          <a:noFill/>
        </p:spPr>
        <p:txBody>
          <a:bodyPr wrap="square" lIns="0" rIns="0" tIns="0" bIns="0" anchor="t">
            <a:noAutofit/>
          </a:bodyPr>
          <a:lstStyle/>
          <a:p>
            <a:pPr algn="r"/>
            <a:r>
              <a:rPr sz="1500" b="0" i="0">
                <a:solidFill>
                  <a:srgbClr val="5A574F"/>
                </a:solidFill>
                <a:latin typeface="Roboto Mono"/>
              </a:rPr>
              <a:t>2</a:t>
            </a:r>
          </a:p>
        </p:txBody>
      </p:sp>
      <p:sp>
        <p:nvSpPr>
          <p:cNvPr id="33" name="TextBox 32"/>
          <p:cNvSpPr txBox="1"/>
          <p:nvPr/>
        </p:nvSpPr>
        <p:spPr>
          <a:xfrm>
            <a:off x="841248" y="7086600"/>
            <a:ext cx="457200" cy="457200"/>
          </a:xfrm>
          <a:prstGeom prst="rect">
            <a:avLst/>
          </a:prstGeom>
          <a:noFill/>
        </p:spPr>
        <p:txBody>
          <a:bodyPr wrap="square" lIns="0" rIns="0" tIns="0" bIns="0" anchor="t">
            <a:noAutofit/>
          </a:bodyPr>
          <a:lstStyle/>
          <a:p>
            <a:pPr algn="r"/>
            <a:r>
              <a:rPr sz="1500" b="0" i="0">
                <a:solidFill>
                  <a:srgbClr val="5A574F"/>
                </a:solidFill>
                <a:latin typeface="Roboto Mono"/>
              </a:rPr>
              <a:t>3</a:t>
            </a:r>
          </a:p>
        </p:txBody>
      </p:sp>
      <p:sp>
        <p:nvSpPr>
          <p:cNvPr id="34" name="TextBox 33"/>
          <p:cNvSpPr txBox="1"/>
          <p:nvPr/>
        </p:nvSpPr>
        <p:spPr>
          <a:xfrm>
            <a:off x="841248" y="7589520"/>
            <a:ext cx="457200" cy="457200"/>
          </a:xfrm>
          <a:prstGeom prst="rect">
            <a:avLst/>
          </a:prstGeom>
          <a:noFill/>
        </p:spPr>
        <p:txBody>
          <a:bodyPr wrap="square" lIns="0" rIns="0" tIns="0" bIns="0" anchor="t">
            <a:noAutofit/>
          </a:bodyPr>
          <a:lstStyle/>
          <a:p>
            <a:pPr algn="r"/>
            <a:r>
              <a:rPr sz="1500" b="0" i="0">
                <a:solidFill>
                  <a:srgbClr val="5A574F"/>
                </a:solidFill>
                <a:latin typeface="Roboto Mono"/>
              </a:rPr>
              <a:t>4</a:t>
            </a:r>
          </a:p>
        </p:txBody>
      </p:sp>
      <p:sp>
        <p:nvSpPr>
          <p:cNvPr id="35" name="TextBox 34"/>
          <p:cNvSpPr txBox="1"/>
          <p:nvPr/>
        </p:nvSpPr>
        <p:spPr>
          <a:xfrm>
            <a:off x="841248" y="8092440"/>
            <a:ext cx="457200" cy="457200"/>
          </a:xfrm>
          <a:prstGeom prst="rect">
            <a:avLst/>
          </a:prstGeom>
          <a:noFill/>
        </p:spPr>
        <p:txBody>
          <a:bodyPr wrap="square" lIns="0" rIns="0" tIns="0" bIns="0" anchor="t">
            <a:noAutofit/>
          </a:bodyPr>
          <a:lstStyle/>
          <a:p>
            <a:pPr algn="r"/>
            <a:r>
              <a:rPr sz="1500" b="0" i="0">
                <a:solidFill>
                  <a:srgbClr val="5A574F"/>
                </a:solidFill>
                <a:latin typeface="Roboto Mono"/>
              </a:rPr>
              <a:t>5</a:t>
            </a:r>
          </a:p>
        </p:txBody>
      </p:sp>
      <p:sp>
        <p:nvSpPr>
          <p:cNvPr id="36" name="TextBox 35"/>
          <p:cNvSpPr txBox="1"/>
          <p:nvPr/>
        </p:nvSpPr>
        <p:spPr>
          <a:xfrm>
            <a:off x="1618488" y="6080760"/>
            <a:ext cx="10972800" cy="502920"/>
          </a:xfrm>
          <a:prstGeom prst="rect">
            <a:avLst/>
          </a:prstGeom>
          <a:noFill/>
        </p:spPr>
        <p:txBody>
          <a:bodyPr wrap="none" lIns="0" rIns="0" tIns="0" bIns="0" anchor="t">
            <a:noAutofit/>
          </a:bodyPr>
          <a:lstStyle/>
          <a:p>
            <a:pPr algn="l"/>
            <a:r>
              <a:rPr sz="2100" b="0" i="0">
                <a:solidFill>
                  <a:srgbClr val="000000"/>
                </a:solidFill>
                <a:latin typeface="Roboto Mono"/>
              </a:rPr>
              <a:t>{</a:t>
            </a:r>
          </a:p>
        </p:txBody>
      </p:sp>
      <p:sp>
        <p:nvSpPr>
          <p:cNvPr id="37" name="TextBox 36"/>
          <p:cNvSpPr txBox="1"/>
          <p:nvPr/>
        </p:nvSpPr>
        <p:spPr>
          <a:xfrm>
            <a:off x="1618488" y="6583680"/>
            <a:ext cx="10972800" cy="502920"/>
          </a:xfrm>
          <a:prstGeom prst="rect">
            <a:avLst/>
          </a:prstGeom>
          <a:noFill/>
        </p:spPr>
        <p:txBody>
          <a:bodyPr wrap="none" lIns="0" rIns="0" tIns="0" bIns="0" anchor="t">
            <a:noAutofit/>
          </a:bodyPr>
          <a:lstStyle/>
          <a:p>
            <a:pPr algn="l"/>
            <a:r>
              <a:rPr sz="2100" b="0" i="0">
                <a:solidFill>
                  <a:srgbClr val="000000"/>
                </a:solidFill>
                <a:latin typeface="Roboto Mono"/>
              </a:rPr>
              <a:t>  "equipment_id": </a:t>
            </a:r>
            <a:r>
              <a:rPr sz="2100" b="0" i="0">
                <a:solidFill>
                  <a:srgbClr val="000000"/>
                </a:solidFill>
                <a:highlight>
                  <a:srgbClr val="E8FC2E"/>
                </a:highlight>
                <a:latin typeface="Roboto Mono"/>
              </a:rPr>
              <a:t>{{equipment_id}}</a:t>
            </a:r>
            <a:r>
              <a:rPr sz="2100" b="0" i="0">
                <a:solidFill>
                  <a:srgbClr val="000000"/>
                </a:solidFill>
                <a:latin typeface="Roboto Mono"/>
              </a:rPr>
              <a:t>,</a:t>
            </a:r>
          </a:p>
        </p:txBody>
      </p:sp>
      <p:sp>
        <p:nvSpPr>
          <p:cNvPr id="38" name="TextBox 37"/>
          <p:cNvSpPr txBox="1"/>
          <p:nvPr/>
        </p:nvSpPr>
        <p:spPr>
          <a:xfrm>
            <a:off x="1618488" y="7086600"/>
            <a:ext cx="10972800" cy="502920"/>
          </a:xfrm>
          <a:prstGeom prst="rect">
            <a:avLst/>
          </a:prstGeom>
          <a:noFill/>
        </p:spPr>
        <p:txBody>
          <a:bodyPr wrap="none" lIns="0" rIns="0" tIns="0" bIns="0" anchor="t">
            <a:noAutofit/>
          </a:bodyPr>
          <a:lstStyle/>
          <a:p>
            <a:pPr algn="l"/>
            <a:r>
              <a:rPr sz="2100" b="0" i="0">
                <a:solidFill>
                  <a:srgbClr val="000000"/>
                </a:solidFill>
                <a:latin typeface="Roboto Mono"/>
              </a:rPr>
              <a:t>  "start_time": </a:t>
            </a:r>
            <a:r>
              <a:rPr sz="2100" b="0" i="0">
                <a:solidFill>
                  <a:srgbClr val="000000"/>
                </a:solidFill>
                <a:highlight>
                  <a:srgbClr val="E8FC2E"/>
                </a:highlight>
                <a:latin typeface="Roboto Mono"/>
              </a:rPr>
              <a:t>"2026-10-15T10:00:00Z"</a:t>
            </a:r>
            <a:r>
              <a:rPr sz="2100" b="0" i="0">
                <a:solidFill>
                  <a:srgbClr val="000000"/>
                </a:solidFill>
                <a:latin typeface="Roboto Mono"/>
              </a:rPr>
              <a:t>,</a:t>
            </a:r>
          </a:p>
        </p:txBody>
      </p:sp>
      <p:sp>
        <p:nvSpPr>
          <p:cNvPr id="39" name="TextBox 38"/>
          <p:cNvSpPr txBox="1"/>
          <p:nvPr/>
        </p:nvSpPr>
        <p:spPr>
          <a:xfrm>
            <a:off x="1618488" y="7589520"/>
            <a:ext cx="10972800" cy="502920"/>
          </a:xfrm>
          <a:prstGeom prst="rect">
            <a:avLst/>
          </a:prstGeom>
          <a:noFill/>
        </p:spPr>
        <p:txBody>
          <a:bodyPr wrap="none" lIns="0" rIns="0" tIns="0" bIns="0" anchor="t">
            <a:noAutofit/>
          </a:bodyPr>
          <a:lstStyle/>
          <a:p>
            <a:pPr algn="l"/>
            <a:r>
              <a:rPr sz="2100" b="0" i="0">
                <a:solidFill>
                  <a:srgbClr val="000000"/>
                </a:solidFill>
                <a:latin typeface="Roboto Mono"/>
              </a:rPr>
              <a:t>  "end_time": </a:t>
            </a:r>
            <a:r>
              <a:rPr sz="2100" b="0" i="0">
                <a:solidFill>
                  <a:srgbClr val="000000"/>
                </a:solidFill>
                <a:highlight>
                  <a:srgbClr val="E8FC2E"/>
                </a:highlight>
                <a:latin typeface="Roboto Mono"/>
              </a:rPr>
              <a:t>"2026-10-15T11:00:00Z"</a:t>
            </a:r>
          </a:p>
        </p:txBody>
      </p:sp>
      <p:sp>
        <p:nvSpPr>
          <p:cNvPr id="40" name="TextBox 39"/>
          <p:cNvSpPr txBox="1"/>
          <p:nvPr/>
        </p:nvSpPr>
        <p:spPr>
          <a:xfrm>
            <a:off x="1618488" y="8092440"/>
            <a:ext cx="10972800" cy="502920"/>
          </a:xfrm>
          <a:prstGeom prst="rect">
            <a:avLst/>
          </a:prstGeom>
          <a:noFill/>
        </p:spPr>
        <p:txBody>
          <a:bodyPr wrap="none" lIns="0" rIns="0" tIns="0" bIns="0" anchor="t">
            <a:noAutofit/>
          </a:bodyPr>
          <a:lstStyle/>
          <a:p>
            <a:pPr algn="l"/>
            <a:r>
              <a:rPr sz="2100" b="0" i="0">
                <a:solidFill>
                  <a:srgbClr val="000000"/>
                </a:solidFill>
                <a:latin typeface="Roboto Mono"/>
              </a:rPr>
              <a:t>}</a:t>
            </a:r>
          </a:p>
        </p:txBody>
      </p:sp>
      <p:sp>
        <p:nvSpPr>
          <p:cNvPr id="41" name="Oval 40"/>
          <p:cNvSpPr/>
          <p:nvPr/>
        </p:nvSpPr>
        <p:spPr>
          <a:xfrm>
            <a:off x="11475720" y="3200400"/>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1</a:t>
            </a:r>
          </a:p>
        </p:txBody>
      </p:sp>
      <p:sp>
        <p:nvSpPr>
          <p:cNvPr id="42" name="TextBox 41"/>
          <p:cNvSpPr txBox="1"/>
          <p:nvPr/>
        </p:nvSpPr>
        <p:spPr>
          <a:xfrm>
            <a:off x="12161520" y="3255264"/>
            <a:ext cx="5650992" cy="1325880"/>
          </a:xfrm>
          <a:prstGeom prst="rect">
            <a:avLst/>
          </a:prstGeom>
          <a:noFill/>
        </p:spPr>
        <p:txBody>
          <a:bodyPr wrap="square" lIns="0" rIns="0" tIns="0" bIns="0" anchor="t">
            <a:noAutofit/>
          </a:bodyPr>
          <a:lstStyle/>
          <a:p>
            <a:pPr algn="l"/>
            <a:r>
              <a:rPr sz="1900" b="0" i="0">
                <a:solidFill>
                  <a:srgbClr val="000000"/>
                </a:solidFill>
                <a:latin typeface="Inter"/>
              </a:rPr>
              <a:t>Open </a:t>
            </a:r>
            <a:r>
              <a:rPr sz="1900" b="1" i="0">
                <a:solidFill>
                  <a:srgbClr val="000000"/>
                </a:solidFill>
                <a:latin typeface="Inter"/>
              </a:rPr>
              <a:t>Body</a:t>
            </a:r>
            <a:r>
              <a:rPr sz="1900" b="0" i="0">
                <a:solidFill>
                  <a:srgbClr val="000000"/>
                </a:solidFill>
                <a:latin typeface="Inter"/>
              </a:rPr>
              <a:t>, then pick </a:t>
            </a:r>
            <a:r>
              <a:rPr sz="1900" b="1" i="0">
                <a:solidFill>
                  <a:srgbClr val="000000"/>
                </a:solidFill>
                <a:latin typeface="Inter"/>
              </a:rPr>
              <a:t>raw</a:t>
            </a:r>
            <a:r>
              <a:rPr sz="1900" b="0" i="0">
                <a:solidFill>
                  <a:srgbClr val="000000"/>
                </a:solidFill>
                <a:latin typeface="Inter"/>
              </a:rPr>
              <a:t> and </a:t>
            </a:r>
            <a:r>
              <a:rPr sz="1900" b="1" i="0">
                <a:solidFill>
                  <a:srgbClr val="000000"/>
                </a:solidFill>
                <a:latin typeface="Inter"/>
              </a:rPr>
              <a:t>JSON</a:t>
            </a:r>
            <a:r>
              <a:rPr sz="1900" b="0" i="0">
                <a:solidFill>
                  <a:srgbClr val="000000"/>
                </a:solidFill>
                <a:latin typeface="Inter"/>
              </a:rPr>
              <a:t>.</a:t>
            </a:r>
          </a:p>
        </p:txBody>
      </p:sp>
      <p:sp>
        <p:nvSpPr>
          <p:cNvPr id="43" name="Oval 42"/>
          <p:cNvSpPr/>
          <p:nvPr/>
        </p:nvSpPr>
        <p:spPr>
          <a:xfrm>
            <a:off x="11475720" y="4617720"/>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2</a:t>
            </a:r>
          </a:p>
        </p:txBody>
      </p:sp>
      <p:sp>
        <p:nvSpPr>
          <p:cNvPr id="44" name="TextBox 43"/>
          <p:cNvSpPr txBox="1"/>
          <p:nvPr/>
        </p:nvSpPr>
        <p:spPr>
          <a:xfrm>
            <a:off x="12161520" y="4672583"/>
            <a:ext cx="5650992" cy="1325880"/>
          </a:xfrm>
          <a:prstGeom prst="rect">
            <a:avLst/>
          </a:prstGeom>
          <a:noFill/>
        </p:spPr>
        <p:txBody>
          <a:bodyPr wrap="square" lIns="0" rIns="0" tIns="0" bIns="0" anchor="t">
            <a:noAutofit/>
          </a:bodyPr>
          <a:lstStyle/>
          <a:p>
            <a:pPr algn="l"/>
            <a:r>
              <a:rPr sz="1900" b="0" i="0">
                <a:solidFill>
                  <a:srgbClr val="000000"/>
                </a:solidFill>
                <a:latin typeface="Inter"/>
              </a:rPr>
              <a:t>Change only the </a:t>
            </a:r>
            <a:r>
              <a:rPr sz="1900" b="1" i="0">
                <a:solidFill>
                  <a:srgbClr val="000000"/>
                </a:solidFill>
                <a:latin typeface="Inter"/>
              </a:rPr>
              <a:t>values</a:t>
            </a:r>
            <a:r>
              <a:rPr sz="1900" b="0" i="0">
                <a:solidFill>
                  <a:srgbClr val="000000"/>
                </a:solidFill>
                <a:latin typeface="Inter"/>
              </a:rPr>
              <a:t>: numbers, and text between quotes.</a:t>
            </a:r>
          </a:p>
        </p:txBody>
      </p:sp>
      <p:sp>
        <p:nvSpPr>
          <p:cNvPr id="45" name="Oval 44"/>
          <p:cNvSpPr/>
          <p:nvPr/>
        </p:nvSpPr>
        <p:spPr>
          <a:xfrm>
            <a:off x="11475720" y="6035040"/>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3</a:t>
            </a:r>
          </a:p>
        </p:txBody>
      </p:sp>
      <p:sp>
        <p:nvSpPr>
          <p:cNvPr id="46" name="TextBox 45"/>
          <p:cNvSpPr txBox="1"/>
          <p:nvPr/>
        </p:nvSpPr>
        <p:spPr>
          <a:xfrm>
            <a:off x="12161520" y="6089903"/>
            <a:ext cx="5650992" cy="1325880"/>
          </a:xfrm>
          <a:prstGeom prst="rect">
            <a:avLst/>
          </a:prstGeom>
          <a:noFill/>
        </p:spPr>
        <p:txBody>
          <a:bodyPr wrap="square" lIns="0" rIns="0" tIns="0" bIns="0" anchor="t">
            <a:noAutofit/>
          </a:bodyPr>
          <a:lstStyle/>
          <a:p>
            <a:pPr algn="l"/>
            <a:r>
              <a:rPr sz="1900" b="0" i="0">
                <a:solidFill>
                  <a:srgbClr val="000000"/>
                </a:solidFill>
                <a:latin typeface="Inter"/>
              </a:rPr>
              <a:t>{{Variables}} fill in from your environment. Or type a number over them.</a:t>
            </a:r>
          </a:p>
        </p:txBody>
      </p:sp>
      <p:sp>
        <p:nvSpPr>
          <p:cNvPr id="47" name="Oval 46"/>
          <p:cNvSpPr/>
          <p:nvPr/>
        </p:nvSpPr>
        <p:spPr>
          <a:xfrm>
            <a:off x="11475720" y="7452360"/>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4</a:t>
            </a:r>
          </a:p>
        </p:txBody>
      </p:sp>
      <p:sp>
        <p:nvSpPr>
          <p:cNvPr id="48" name="TextBox 47"/>
          <p:cNvSpPr txBox="1"/>
          <p:nvPr/>
        </p:nvSpPr>
        <p:spPr>
          <a:xfrm>
            <a:off x="12161520" y="7507224"/>
            <a:ext cx="5650992" cy="1325880"/>
          </a:xfrm>
          <a:prstGeom prst="rect">
            <a:avLst/>
          </a:prstGeom>
          <a:noFill/>
        </p:spPr>
        <p:txBody>
          <a:bodyPr wrap="square" lIns="0" rIns="0" tIns="0" bIns="0" anchor="t">
            <a:noAutofit/>
          </a:bodyPr>
          <a:lstStyle/>
          <a:p>
            <a:pPr algn="l"/>
            <a:r>
              <a:rPr sz="1900" b="0" i="0">
                <a:solidFill>
                  <a:srgbClr val="000000"/>
                </a:solidFill>
                <a:latin typeface="Inter"/>
              </a:rPr>
              <a:t>Click </a:t>
            </a:r>
            <a:r>
              <a:rPr sz="1900" b="1" i="0">
                <a:solidFill>
                  <a:srgbClr val="000000"/>
                </a:solidFill>
                <a:latin typeface="Inter"/>
              </a:rPr>
              <a:t>Send</a:t>
            </a:r>
            <a:r>
              <a:rPr sz="1900" b="0" i="0">
                <a:solidFill>
                  <a:srgbClr val="000000"/>
                </a:solidFill>
                <a:latin typeface="Inter"/>
              </a:rPr>
              <a:t>. A </a:t>
            </a:r>
            <a:r>
              <a:rPr sz="1900" b="1" i="0">
                <a:solidFill>
                  <a:srgbClr val="000000"/>
                </a:solidFill>
                <a:latin typeface="Inter"/>
              </a:rPr>
              <a:t>red underline</a:t>
            </a:r>
            <a:r>
              <a:rPr sz="1900" b="0" i="0">
                <a:solidFill>
                  <a:srgbClr val="000000"/>
                </a:solidFill>
                <a:latin typeface="Inter"/>
              </a:rPr>
              <a:t> is a JSON mistake: fix it first.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AED"/>
        </a:solidFill>
        <a:effectLst/>
      </p:bgPr>
    </p:bg>
    <p:spTree>
      <p:nvGrpSpPr>
        <p:cNvPr id="1" name=""/>
        <p:cNvGrpSpPr/>
        <p:nvPr/>
      </p:nvGrpSpPr>
      <p:grpSpPr/>
      <p:pic>
        <p:nvPicPr>
          <p:cNvPr id="2" name="Picture 1" descr="s1_0.png"/>
          <p:cNvPicPr>
            <a:picLocks noChangeAspect="1"/>
          </p:cNvPicPr>
          <p:nvPr/>
        </p:nvPicPr>
        <p:blipFill>
          <a:blip r:embed="rId2"/>
          <a:stretch>
            <a:fillRect/>
          </a:stretch>
        </p:blipFill>
        <p:spPr>
          <a:xfrm>
            <a:off x="475488" y="594360"/>
            <a:ext cx="1655064" cy="384048"/>
          </a:xfrm>
          <a:prstGeom prst="rect">
            <a:avLst/>
          </a:prstGeom>
        </p:spPr>
      </p:pic>
      <p:sp>
        <p:nvSpPr>
          <p:cNvPr id="3" name="Rectangle 2"/>
          <p:cNvSpPr/>
          <p:nvPr/>
        </p:nvSpPr>
        <p:spPr>
          <a:xfrm>
            <a:off x="2441448" y="777240"/>
            <a:ext cx="15371064" cy="10972"/>
          </a:xfrm>
          <a:prstGeom prst="rect">
            <a:avLst/>
          </a:prstGeom>
          <a:solidFill>
            <a:srgbClr val="000000"/>
          </a:solidFill>
          <a:ln>
            <a:noFill/>
          </a:ln>
        </p:spPr>
        <p:txBody>
          <a:bodyPr rtlCol="0" anchor="ctr"/>
          <a:lstStyle/>
          <a:p>
            <a:pPr algn="ctr"/>
          </a:p>
        </p:txBody>
      </p:sp>
      <p:sp>
        <p:nvSpPr>
          <p:cNvPr id="4" name="TextBox 3"/>
          <p:cNvSpPr txBox="1"/>
          <p:nvPr/>
        </p:nvSpPr>
        <p:spPr>
          <a:xfrm>
            <a:off x="475488" y="1527048"/>
            <a:ext cx="10972800" cy="365760"/>
          </a:xfrm>
          <a:prstGeom prst="rect">
            <a:avLst/>
          </a:prstGeom>
          <a:noFill/>
        </p:spPr>
        <p:txBody>
          <a:bodyPr wrap="square" lIns="0" rIns="0" tIns="0" bIns="0" anchor="t">
            <a:noAutofit/>
          </a:bodyPr>
          <a:lstStyle/>
          <a:p>
            <a:pPr algn="l"/>
            <a:r>
              <a:rPr sz="1800" b="0" i="0">
                <a:solidFill>
                  <a:srgbClr val="000000"/>
                </a:solidFill>
                <a:latin typeface="Roboto Mono"/>
              </a:rPr>
              <a:t>PART 4 · HANDS-ON WITH POSTMAN</a:t>
            </a:r>
          </a:p>
        </p:txBody>
      </p:sp>
      <p:sp>
        <p:nvSpPr>
          <p:cNvPr id="5" name="Title"/>
          <p:cNvSpPr txBox="1"/>
          <p:nvPr/>
        </p:nvSpPr>
        <p:spPr>
          <a:xfrm>
            <a:off x="475488" y="2011680"/>
            <a:ext cx="17337024" cy="868680"/>
          </a:xfrm>
          <a:prstGeom prst="rect">
            <a:avLst/>
          </a:prstGeom>
          <a:noFill/>
        </p:spPr>
        <p:txBody>
          <a:bodyPr wrap="square" lIns="0" rIns="0" tIns="0" bIns="0" anchor="t">
            <a:noAutofit/>
          </a:bodyPr>
          <a:lstStyle/>
          <a:p>
            <a:pPr algn="l">
              <a:lnSpc>
                <a:spcPct val="95000"/>
              </a:lnSpc>
            </a:pPr>
            <a:r>
              <a:rPr sz="4600" b="1" i="0">
                <a:solidFill>
                  <a:srgbClr val="000000"/>
                </a:solidFill>
                <a:latin typeface="Inter"/>
              </a:rPr>
              <a:t>Walk-through: book equipment in four calls</a:t>
            </a:r>
          </a:p>
        </p:txBody>
      </p:sp>
      <p:sp>
        <p:nvSpPr>
          <p:cNvPr id="6" name="Rectangle 5"/>
          <p:cNvSpPr/>
          <p:nvPr/>
        </p:nvSpPr>
        <p:spPr>
          <a:xfrm>
            <a:off x="475488" y="9189720"/>
            <a:ext cx="17337024" cy="10972"/>
          </a:xfrm>
          <a:prstGeom prst="rect">
            <a:avLst/>
          </a:prstGeom>
          <a:solidFill>
            <a:srgbClr val="000000"/>
          </a:solidFill>
          <a:ln>
            <a:noFill/>
          </a:ln>
        </p:spPr>
        <p:txBody>
          <a:bodyPr rtlCol="0" anchor="ctr"/>
          <a:lstStyle/>
          <a:p>
            <a:pPr algn="ctr"/>
          </a:p>
        </p:txBody>
      </p:sp>
      <p:sp>
        <p:nvSpPr>
          <p:cNvPr id="7" name="TextBox 6"/>
          <p:cNvSpPr txBox="1"/>
          <p:nvPr/>
        </p:nvSpPr>
        <p:spPr>
          <a:xfrm>
            <a:off x="475488" y="9354312"/>
            <a:ext cx="2743200" cy="338328"/>
          </a:xfrm>
          <a:prstGeom prst="rect">
            <a:avLst/>
          </a:prstGeom>
          <a:noFill/>
        </p:spPr>
        <p:txBody>
          <a:bodyPr wrap="square" lIns="0" rIns="0" tIns="0" bIns="0" anchor="t">
            <a:noAutofit/>
          </a:bodyPr>
          <a:lstStyle/>
          <a:p>
            <a:pPr algn="l"/>
            <a:r>
              <a:rPr sz="1800" b="0" i="0">
                <a:solidFill>
                  <a:srgbClr val="000000"/>
                </a:solidFill>
                <a:latin typeface="Roboto Mono"/>
              </a:rPr>
              <a:t>CALIRA.CO</a:t>
            </a:r>
          </a:p>
        </p:txBody>
      </p:sp>
      <p:sp>
        <p:nvSpPr>
          <p:cNvPr id="8" name="TextBox 7"/>
          <p:cNvSpPr txBox="1"/>
          <p:nvPr/>
        </p:nvSpPr>
        <p:spPr>
          <a:xfrm>
            <a:off x="15983712" y="9354312"/>
            <a:ext cx="1828800" cy="338328"/>
          </a:xfrm>
          <a:prstGeom prst="rect">
            <a:avLst/>
          </a:prstGeom>
          <a:noFill/>
        </p:spPr>
        <p:txBody>
          <a:bodyPr wrap="square" lIns="0" rIns="0" tIns="0" bIns="0" anchor="t">
            <a:noAutofit/>
          </a:bodyPr>
          <a:lstStyle/>
          <a:p>
            <a:pPr algn="r"/>
            <a:r>
              <a:rPr sz="1800" b="0" i="0">
                <a:solidFill>
                  <a:srgbClr val="000000"/>
                </a:solidFill>
                <a:latin typeface="Roboto Mono"/>
              </a:rPr>
              <a:t>30</a:t>
            </a:r>
          </a:p>
        </p:txBody>
      </p:sp>
      <p:sp>
        <p:nvSpPr>
          <p:cNvPr id="9" name="Rectangle 8"/>
          <p:cNvSpPr/>
          <p:nvPr/>
        </p:nvSpPr>
        <p:spPr>
          <a:xfrm>
            <a:off x="475488" y="3154680"/>
            <a:ext cx="3840480" cy="4846320"/>
          </a:xfrm>
          <a:prstGeom prst="rect">
            <a:avLst/>
          </a:prstGeom>
          <a:solidFill>
            <a:srgbClr val="FFFFFF"/>
          </a:solidFill>
          <a:ln w="15875">
            <a:solidFill>
              <a:srgbClr val="000000"/>
            </a:solidFill>
          </a:ln>
        </p:spPr>
        <p:txBody>
          <a:bodyPr rtlCol="0" anchor="ctr"/>
          <a:lstStyle/>
          <a:p>
            <a:pPr algn="ctr"/>
          </a:p>
        </p:txBody>
      </p:sp>
      <p:sp>
        <p:nvSpPr>
          <p:cNvPr id="10" name="Oval 9"/>
          <p:cNvSpPr/>
          <p:nvPr/>
        </p:nvSpPr>
        <p:spPr>
          <a:xfrm>
            <a:off x="749808" y="3429000"/>
            <a:ext cx="502920" cy="502920"/>
          </a:xfrm>
          <a:prstGeom prst="ellipse">
            <a:avLst/>
          </a:prstGeom>
          <a:solidFill>
            <a:srgbClr val="E8FC2E"/>
          </a:solidFill>
          <a:ln w="12700">
            <a:solidFill>
              <a:srgbClr val="000000"/>
            </a:solidFill>
          </a:ln>
        </p:spPr>
        <p:txBody>
          <a:bodyPr rtlCol="0" anchor="ctr" wrap="none" lIns="0" rIns="0" tIns="0" bIns="0">
            <a:noAutofit/>
          </a:bodyPr>
          <a:lstStyle/>
          <a:p>
            <a:pPr algn="ctr"/>
            <a:r>
              <a:rPr sz="2000" b="1" i="0">
                <a:solidFill>
                  <a:srgbClr val="000000"/>
                </a:solidFill>
                <a:latin typeface="Inter"/>
              </a:rPr>
              <a:t>1</a:t>
            </a:r>
          </a:p>
        </p:txBody>
      </p:sp>
      <p:sp>
        <p:nvSpPr>
          <p:cNvPr id="11" name="Rounded Rectangle 10"/>
          <p:cNvSpPr/>
          <p:nvPr/>
        </p:nvSpPr>
        <p:spPr>
          <a:xfrm>
            <a:off x="1481328" y="3465576"/>
            <a:ext cx="1280160" cy="438912"/>
          </a:xfrm>
          <a:prstGeom prst="roundRect">
            <a:avLst>
              <a:gd name="adj" fmla="val 20000"/>
            </a:avLst>
          </a:prstGeom>
          <a:solidFill>
            <a:srgbClr val="009E00"/>
          </a:solidFill>
          <a:ln>
            <a:noFill/>
          </a:ln>
        </p:spPr>
        <p:txBody>
          <a:bodyPr rtlCol="0" anchor="ctr" wrap="none" lIns="0" rIns="0" tIns="0" bIns="0">
            <a:noAutofit/>
          </a:bodyPr>
          <a:lstStyle/>
          <a:p>
            <a:pPr algn="ctr"/>
            <a:r>
              <a:rPr sz="1500" b="1" i="0">
                <a:solidFill>
                  <a:srgbClr val="FFFFFF"/>
                </a:solidFill>
                <a:latin typeface="Roboto Mono"/>
              </a:rPr>
              <a:t>GET</a:t>
            </a:r>
          </a:p>
        </p:txBody>
      </p:sp>
      <p:sp>
        <p:nvSpPr>
          <p:cNvPr id="12" name="TextBox 11"/>
          <p:cNvSpPr txBox="1"/>
          <p:nvPr/>
        </p:nvSpPr>
        <p:spPr>
          <a:xfrm>
            <a:off x="749808" y="4160520"/>
            <a:ext cx="3474720" cy="411480"/>
          </a:xfrm>
          <a:prstGeom prst="rect">
            <a:avLst/>
          </a:prstGeom>
          <a:noFill/>
        </p:spPr>
        <p:txBody>
          <a:bodyPr wrap="none" lIns="0" rIns="0" tIns="0" bIns="0" anchor="t">
            <a:noAutofit/>
          </a:bodyPr>
          <a:lstStyle/>
          <a:p>
            <a:pPr algn="l"/>
            <a:r>
              <a:rPr sz="1400" b="0" i="0">
                <a:solidFill>
                  <a:srgbClr val="000000"/>
                </a:solidFill>
                <a:latin typeface="Roboto Mono"/>
              </a:rPr>
              <a:t>/equipment_available_slots</a:t>
            </a:r>
          </a:p>
        </p:txBody>
      </p:sp>
      <p:sp>
        <p:nvSpPr>
          <p:cNvPr id="13" name="TextBox 12"/>
          <p:cNvSpPr txBox="1"/>
          <p:nvPr/>
        </p:nvSpPr>
        <p:spPr>
          <a:xfrm>
            <a:off x="749808" y="4800600"/>
            <a:ext cx="3383280" cy="548640"/>
          </a:xfrm>
          <a:prstGeom prst="rect">
            <a:avLst/>
          </a:prstGeom>
          <a:noFill/>
        </p:spPr>
        <p:txBody>
          <a:bodyPr wrap="square" lIns="0" rIns="0" tIns="0" bIns="0" anchor="t">
            <a:noAutofit/>
          </a:bodyPr>
          <a:lstStyle/>
          <a:p>
            <a:pPr algn="l"/>
            <a:r>
              <a:rPr sz="3000" b="1" i="0">
                <a:solidFill>
                  <a:srgbClr val="000000"/>
                </a:solidFill>
                <a:latin typeface="Inter"/>
              </a:rPr>
              <a:t>Find free time</a:t>
            </a:r>
          </a:p>
        </p:txBody>
      </p:sp>
      <p:sp>
        <p:nvSpPr>
          <p:cNvPr id="14" name="TextBox 13"/>
          <p:cNvSpPr txBox="1"/>
          <p:nvPr/>
        </p:nvSpPr>
        <p:spPr>
          <a:xfrm>
            <a:off x="749808" y="5486400"/>
            <a:ext cx="3337560" cy="1554480"/>
          </a:xfrm>
          <a:prstGeom prst="rect">
            <a:avLst/>
          </a:prstGeom>
          <a:noFill/>
        </p:spPr>
        <p:txBody>
          <a:bodyPr wrap="square" lIns="0" rIns="0" tIns="0" bIns="0" anchor="t">
            <a:noAutofit/>
          </a:bodyPr>
          <a:lstStyle/>
          <a:p>
            <a:pPr algn="l"/>
            <a:r>
              <a:rPr sz="1900" b="0" i="0">
                <a:solidFill>
                  <a:srgbClr val="2C2825"/>
                </a:solidFill>
                <a:latin typeface="Inter"/>
              </a:rPr>
              <a:t>Copy a start time and an end time from the free slots listed.</a:t>
            </a:r>
          </a:p>
        </p:txBody>
      </p:sp>
      <p:sp>
        <p:nvSpPr>
          <p:cNvPr id="15" name="Rectangle 14"/>
          <p:cNvSpPr/>
          <p:nvPr/>
        </p:nvSpPr>
        <p:spPr>
          <a:xfrm>
            <a:off x="749808" y="7178040"/>
            <a:ext cx="3291840" cy="13716"/>
          </a:xfrm>
          <a:prstGeom prst="rect">
            <a:avLst/>
          </a:prstGeom>
          <a:solidFill>
            <a:srgbClr val="D9D9CC"/>
          </a:solidFill>
          <a:ln>
            <a:noFill/>
          </a:ln>
        </p:spPr>
        <p:txBody>
          <a:bodyPr rtlCol="0" anchor="ctr"/>
          <a:lstStyle/>
          <a:p>
            <a:pPr algn="ctr"/>
          </a:p>
        </p:txBody>
      </p:sp>
      <p:sp>
        <p:nvSpPr>
          <p:cNvPr id="16" name="TextBox 15"/>
          <p:cNvSpPr txBox="1"/>
          <p:nvPr/>
        </p:nvSpPr>
        <p:spPr>
          <a:xfrm>
            <a:off x="749808" y="7360920"/>
            <a:ext cx="1645920" cy="365760"/>
          </a:xfrm>
          <a:prstGeom prst="rect">
            <a:avLst/>
          </a:prstGeom>
          <a:noFill/>
        </p:spPr>
        <p:txBody>
          <a:bodyPr wrap="square" lIns="0" rIns="0" tIns="0" bIns="0" anchor="t">
            <a:noAutofit/>
          </a:bodyPr>
          <a:lstStyle/>
          <a:p>
            <a:pPr algn="l"/>
            <a:r>
              <a:rPr sz="1400" b="0" i="0">
                <a:solidFill>
                  <a:srgbClr val="5A574F"/>
                </a:solidFill>
                <a:latin typeface="Roboto Mono"/>
              </a:rPr>
              <a:t>EXPECT</a:t>
            </a:r>
          </a:p>
        </p:txBody>
      </p:sp>
      <p:sp>
        <p:nvSpPr>
          <p:cNvPr id="17" name="Rounded Rectangle 16"/>
          <p:cNvSpPr/>
          <p:nvPr/>
        </p:nvSpPr>
        <p:spPr>
          <a:xfrm>
            <a:off x="1938528" y="7315200"/>
            <a:ext cx="914400" cy="420624"/>
          </a:xfrm>
          <a:prstGeom prst="roundRect">
            <a:avLst>
              <a:gd name="adj" fmla="val 20000"/>
            </a:avLst>
          </a:prstGeom>
          <a:solidFill>
            <a:srgbClr val="E2F5E2"/>
          </a:solidFill>
          <a:ln w="12700">
            <a:solidFill>
              <a:srgbClr val="009E00"/>
            </a:solidFill>
          </a:ln>
        </p:spPr>
        <p:txBody>
          <a:bodyPr rtlCol="0" anchor="ctr" wrap="none" lIns="0" rIns="0" tIns="0" bIns="0">
            <a:noAutofit/>
          </a:bodyPr>
          <a:lstStyle/>
          <a:p>
            <a:pPr algn="ctr"/>
            <a:r>
              <a:rPr sz="1700" b="1" i="0">
                <a:solidFill>
                  <a:srgbClr val="009E00"/>
                </a:solidFill>
                <a:latin typeface="Roboto Mono"/>
              </a:rPr>
              <a:t>200</a:t>
            </a:r>
          </a:p>
        </p:txBody>
      </p:sp>
      <p:cxnSp>
        <p:nvCxnSpPr>
          <p:cNvPr id="18" name="Connector 17"/>
          <p:cNvCxnSpPr/>
          <p:nvPr/>
        </p:nvCxnSpPr>
        <p:spPr>
          <a:xfrm>
            <a:off x="4352544" y="5532120"/>
            <a:ext cx="585216" cy="0"/>
          </a:xfrm>
          <a:prstGeom prst="line">
            <a:avLst/>
          </a:prstGeom>
          <a:ln w="31750">
            <a:solidFill>
              <a:srgbClr val="000000"/>
            </a:solidFill>
            <a:tailEnd type="triangle" w="med" len="med"/>
          </a:ln>
        </p:spPr>
      </p:cxnSp>
      <p:sp>
        <p:nvSpPr>
          <p:cNvPr id="19" name="Rectangle 18"/>
          <p:cNvSpPr/>
          <p:nvPr/>
        </p:nvSpPr>
        <p:spPr>
          <a:xfrm>
            <a:off x="4974336" y="3154680"/>
            <a:ext cx="3840480" cy="4846320"/>
          </a:xfrm>
          <a:prstGeom prst="rect">
            <a:avLst/>
          </a:prstGeom>
          <a:solidFill>
            <a:srgbClr val="FFFFFF"/>
          </a:solidFill>
          <a:ln w="15875">
            <a:solidFill>
              <a:srgbClr val="000000"/>
            </a:solidFill>
          </a:ln>
        </p:spPr>
        <p:txBody>
          <a:bodyPr rtlCol="0" anchor="ctr"/>
          <a:lstStyle/>
          <a:p>
            <a:pPr algn="ctr"/>
          </a:p>
        </p:txBody>
      </p:sp>
      <p:sp>
        <p:nvSpPr>
          <p:cNvPr id="20" name="Oval 19"/>
          <p:cNvSpPr/>
          <p:nvPr/>
        </p:nvSpPr>
        <p:spPr>
          <a:xfrm>
            <a:off x="5248656" y="3429000"/>
            <a:ext cx="502920" cy="502920"/>
          </a:xfrm>
          <a:prstGeom prst="ellipse">
            <a:avLst/>
          </a:prstGeom>
          <a:solidFill>
            <a:srgbClr val="E8FC2E"/>
          </a:solidFill>
          <a:ln w="12700">
            <a:solidFill>
              <a:srgbClr val="000000"/>
            </a:solidFill>
          </a:ln>
        </p:spPr>
        <p:txBody>
          <a:bodyPr rtlCol="0" anchor="ctr" wrap="none" lIns="0" rIns="0" tIns="0" bIns="0">
            <a:noAutofit/>
          </a:bodyPr>
          <a:lstStyle/>
          <a:p>
            <a:pPr algn="ctr"/>
            <a:r>
              <a:rPr sz="2000" b="1" i="0">
                <a:solidFill>
                  <a:srgbClr val="000000"/>
                </a:solidFill>
                <a:latin typeface="Inter"/>
              </a:rPr>
              <a:t>2</a:t>
            </a:r>
          </a:p>
        </p:txBody>
      </p:sp>
      <p:sp>
        <p:nvSpPr>
          <p:cNvPr id="21" name="Rounded Rectangle 20"/>
          <p:cNvSpPr/>
          <p:nvPr/>
        </p:nvSpPr>
        <p:spPr>
          <a:xfrm>
            <a:off x="5980176" y="3465576"/>
            <a:ext cx="1280160" cy="438912"/>
          </a:xfrm>
          <a:prstGeom prst="roundRect">
            <a:avLst>
              <a:gd name="adj" fmla="val 20000"/>
            </a:avLst>
          </a:prstGeom>
          <a:solidFill>
            <a:srgbClr val="D9730D"/>
          </a:solidFill>
          <a:ln>
            <a:noFill/>
          </a:ln>
        </p:spPr>
        <p:txBody>
          <a:bodyPr rtlCol="0" anchor="ctr" wrap="none" lIns="0" rIns="0" tIns="0" bIns="0">
            <a:noAutofit/>
          </a:bodyPr>
          <a:lstStyle/>
          <a:p>
            <a:pPr algn="ctr"/>
            <a:r>
              <a:rPr sz="1500" b="1" i="0">
                <a:solidFill>
                  <a:srgbClr val="FFFFFF"/>
                </a:solidFill>
                <a:latin typeface="Roboto Mono"/>
              </a:rPr>
              <a:t>POST</a:t>
            </a:r>
          </a:p>
        </p:txBody>
      </p:sp>
      <p:sp>
        <p:nvSpPr>
          <p:cNvPr id="22" name="TextBox 21"/>
          <p:cNvSpPr txBox="1"/>
          <p:nvPr/>
        </p:nvSpPr>
        <p:spPr>
          <a:xfrm>
            <a:off x="5248656" y="4160520"/>
            <a:ext cx="3474720" cy="411480"/>
          </a:xfrm>
          <a:prstGeom prst="rect">
            <a:avLst/>
          </a:prstGeom>
          <a:noFill/>
        </p:spPr>
        <p:txBody>
          <a:bodyPr wrap="none" lIns="0" rIns="0" tIns="0" bIns="0" anchor="t">
            <a:noAutofit/>
          </a:bodyPr>
          <a:lstStyle/>
          <a:p>
            <a:pPr algn="l"/>
            <a:r>
              <a:rPr sz="1400" b="0" i="0">
                <a:solidFill>
                  <a:srgbClr val="000000"/>
                </a:solidFill>
                <a:latin typeface="Roboto Mono"/>
              </a:rPr>
              <a:t>/bookings</a:t>
            </a:r>
          </a:p>
        </p:txBody>
      </p:sp>
      <p:sp>
        <p:nvSpPr>
          <p:cNvPr id="23" name="TextBox 22"/>
          <p:cNvSpPr txBox="1"/>
          <p:nvPr/>
        </p:nvSpPr>
        <p:spPr>
          <a:xfrm>
            <a:off x="5248656" y="4800600"/>
            <a:ext cx="3383280" cy="548640"/>
          </a:xfrm>
          <a:prstGeom prst="rect">
            <a:avLst/>
          </a:prstGeom>
          <a:noFill/>
        </p:spPr>
        <p:txBody>
          <a:bodyPr wrap="square" lIns="0" rIns="0" tIns="0" bIns="0" anchor="t">
            <a:noAutofit/>
          </a:bodyPr>
          <a:lstStyle/>
          <a:p>
            <a:pPr algn="l"/>
            <a:r>
              <a:rPr sz="3000" b="1" i="0">
                <a:solidFill>
                  <a:srgbClr val="000000"/>
                </a:solidFill>
                <a:latin typeface="Inter"/>
              </a:rPr>
              <a:t>Book it</a:t>
            </a:r>
          </a:p>
        </p:txBody>
      </p:sp>
      <p:sp>
        <p:nvSpPr>
          <p:cNvPr id="24" name="TextBox 23"/>
          <p:cNvSpPr txBox="1"/>
          <p:nvPr/>
        </p:nvSpPr>
        <p:spPr>
          <a:xfrm>
            <a:off x="5248656" y="5486400"/>
            <a:ext cx="3337560" cy="1554480"/>
          </a:xfrm>
          <a:prstGeom prst="rect">
            <a:avLst/>
          </a:prstGeom>
          <a:noFill/>
        </p:spPr>
        <p:txBody>
          <a:bodyPr wrap="square" lIns="0" rIns="0" tIns="0" bIns="0" anchor="t">
            <a:noAutofit/>
          </a:bodyPr>
          <a:lstStyle/>
          <a:p>
            <a:pPr algn="l"/>
            <a:r>
              <a:rPr sz="1900" b="0" i="0">
                <a:solidFill>
                  <a:srgbClr val="2C2825"/>
                </a:solidFill>
                <a:latin typeface="Inter"/>
              </a:rPr>
              <a:t>Paste your times into the body and send.</a:t>
            </a:r>
          </a:p>
        </p:txBody>
      </p:sp>
      <p:sp>
        <p:nvSpPr>
          <p:cNvPr id="25" name="Rectangle 24"/>
          <p:cNvSpPr/>
          <p:nvPr/>
        </p:nvSpPr>
        <p:spPr>
          <a:xfrm>
            <a:off x="5248656" y="7178040"/>
            <a:ext cx="3291840" cy="13716"/>
          </a:xfrm>
          <a:prstGeom prst="rect">
            <a:avLst/>
          </a:prstGeom>
          <a:solidFill>
            <a:srgbClr val="D9D9CC"/>
          </a:solidFill>
          <a:ln>
            <a:noFill/>
          </a:ln>
        </p:spPr>
        <p:txBody>
          <a:bodyPr rtlCol="0" anchor="ctr"/>
          <a:lstStyle/>
          <a:p>
            <a:pPr algn="ctr"/>
          </a:p>
        </p:txBody>
      </p:sp>
      <p:sp>
        <p:nvSpPr>
          <p:cNvPr id="26" name="TextBox 25"/>
          <p:cNvSpPr txBox="1"/>
          <p:nvPr/>
        </p:nvSpPr>
        <p:spPr>
          <a:xfrm>
            <a:off x="5248656" y="7360920"/>
            <a:ext cx="1645920" cy="365760"/>
          </a:xfrm>
          <a:prstGeom prst="rect">
            <a:avLst/>
          </a:prstGeom>
          <a:noFill/>
        </p:spPr>
        <p:txBody>
          <a:bodyPr wrap="square" lIns="0" rIns="0" tIns="0" bIns="0" anchor="t">
            <a:noAutofit/>
          </a:bodyPr>
          <a:lstStyle/>
          <a:p>
            <a:pPr algn="l"/>
            <a:r>
              <a:rPr sz="1400" b="0" i="0">
                <a:solidFill>
                  <a:srgbClr val="5A574F"/>
                </a:solidFill>
                <a:latin typeface="Roboto Mono"/>
              </a:rPr>
              <a:t>EXPECT</a:t>
            </a:r>
          </a:p>
        </p:txBody>
      </p:sp>
      <p:sp>
        <p:nvSpPr>
          <p:cNvPr id="27" name="Rounded Rectangle 26"/>
          <p:cNvSpPr/>
          <p:nvPr/>
        </p:nvSpPr>
        <p:spPr>
          <a:xfrm>
            <a:off x="6437376" y="7315200"/>
            <a:ext cx="914400" cy="420624"/>
          </a:xfrm>
          <a:prstGeom prst="roundRect">
            <a:avLst>
              <a:gd name="adj" fmla="val 20000"/>
            </a:avLst>
          </a:prstGeom>
          <a:solidFill>
            <a:srgbClr val="E2F5E2"/>
          </a:solidFill>
          <a:ln w="12700">
            <a:solidFill>
              <a:srgbClr val="009E00"/>
            </a:solidFill>
          </a:ln>
        </p:spPr>
        <p:txBody>
          <a:bodyPr rtlCol="0" anchor="ctr" wrap="none" lIns="0" rIns="0" tIns="0" bIns="0">
            <a:noAutofit/>
          </a:bodyPr>
          <a:lstStyle/>
          <a:p>
            <a:pPr algn="ctr"/>
            <a:r>
              <a:rPr sz="1700" b="1" i="0">
                <a:solidFill>
                  <a:srgbClr val="009E00"/>
                </a:solidFill>
                <a:latin typeface="Roboto Mono"/>
              </a:rPr>
              <a:t>201</a:t>
            </a:r>
          </a:p>
        </p:txBody>
      </p:sp>
      <p:cxnSp>
        <p:nvCxnSpPr>
          <p:cNvPr id="28" name="Connector 27"/>
          <p:cNvCxnSpPr/>
          <p:nvPr/>
        </p:nvCxnSpPr>
        <p:spPr>
          <a:xfrm>
            <a:off x="8851392" y="5532120"/>
            <a:ext cx="585216" cy="0"/>
          </a:xfrm>
          <a:prstGeom prst="line">
            <a:avLst/>
          </a:prstGeom>
          <a:ln w="31750">
            <a:solidFill>
              <a:srgbClr val="000000"/>
            </a:solidFill>
            <a:tailEnd type="triangle" w="med" len="med"/>
          </a:ln>
        </p:spPr>
      </p:cxnSp>
      <p:sp>
        <p:nvSpPr>
          <p:cNvPr id="29" name="Rectangle 28"/>
          <p:cNvSpPr/>
          <p:nvPr/>
        </p:nvSpPr>
        <p:spPr>
          <a:xfrm>
            <a:off x="9473184" y="3154680"/>
            <a:ext cx="3840480" cy="4846320"/>
          </a:xfrm>
          <a:prstGeom prst="rect">
            <a:avLst/>
          </a:prstGeom>
          <a:solidFill>
            <a:srgbClr val="FFFFFF"/>
          </a:solidFill>
          <a:ln w="15875">
            <a:solidFill>
              <a:srgbClr val="000000"/>
            </a:solidFill>
          </a:ln>
        </p:spPr>
        <p:txBody>
          <a:bodyPr rtlCol="0" anchor="ctr"/>
          <a:lstStyle/>
          <a:p>
            <a:pPr algn="ctr"/>
          </a:p>
        </p:txBody>
      </p:sp>
      <p:sp>
        <p:nvSpPr>
          <p:cNvPr id="30" name="Oval 29"/>
          <p:cNvSpPr/>
          <p:nvPr/>
        </p:nvSpPr>
        <p:spPr>
          <a:xfrm>
            <a:off x="9747504" y="3429000"/>
            <a:ext cx="502920" cy="502920"/>
          </a:xfrm>
          <a:prstGeom prst="ellipse">
            <a:avLst/>
          </a:prstGeom>
          <a:solidFill>
            <a:srgbClr val="E8FC2E"/>
          </a:solidFill>
          <a:ln w="12700">
            <a:solidFill>
              <a:srgbClr val="000000"/>
            </a:solidFill>
          </a:ln>
        </p:spPr>
        <p:txBody>
          <a:bodyPr rtlCol="0" anchor="ctr" wrap="none" lIns="0" rIns="0" tIns="0" bIns="0">
            <a:noAutofit/>
          </a:bodyPr>
          <a:lstStyle/>
          <a:p>
            <a:pPr algn="ctr"/>
            <a:r>
              <a:rPr sz="2000" b="1" i="0">
                <a:solidFill>
                  <a:srgbClr val="000000"/>
                </a:solidFill>
                <a:latin typeface="Inter"/>
              </a:rPr>
              <a:t>3</a:t>
            </a:r>
          </a:p>
        </p:txBody>
      </p:sp>
      <p:sp>
        <p:nvSpPr>
          <p:cNvPr id="31" name="Rounded Rectangle 30"/>
          <p:cNvSpPr/>
          <p:nvPr/>
        </p:nvSpPr>
        <p:spPr>
          <a:xfrm>
            <a:off x="10479024" y="3465576"/>
            <a:ext cx="1280160" cy="438912"/>
          </a:xfrm>
          <a:prstGeom prst="roundRect">
            <a:avLst>
              <a:gd name="adj" fmla="val 20000"/>
            </a:avLst>
          </a:prstGeom>
          <a:solidFill>
            <a:srgbClr val="009E00"/>
          </a:solidFill>
          <a:ln>
            <a:noFill/>
          </a:ln>
        </p:spPr>
        <p:txBody>
          <a:bodyPr rtlCol="0" anchor="ctr" wrap="none" lIns="0" rIns="0" tIns="0" bIns="0">
            <a:noAutofit/>
          </a:bodyPr>
          <a:lstStyle/>
          <a:p>
            <a:pPr algn="ctr"/>
            <a:r>
              <a:rPr sz="1500" b="1" i="0">
                <a:solidFill>
                  <a:srgbClr val="FFFFFF"/>
                </a:solidFill>
                <a:latin typeface="Roboto Mono"/>
              </a:rPr>
              <a:t>GET</a:t>
            </a:r>
          </a:p>
        </p:txBody>
      </p:sp>
      <p:sp>
        <p:nvSpPr>
          <p:cNvPr id="32" name="TextBox 31"/>
          <p:cNvSpPr txBox="1"/>
          <p:nvPr/>
        </p:nvSpPr>
        <p:spPr>
          <a:xfrm>
            <a:off x="9747504" y="4160520"/>
            <a:ext cx="3474720" cy="411480"/>
          </a:xfrm>
          <a:prstGeom prst="rect">
            <a:avLst/>
          </a:prstGeom>
          <a:noFill/>
        </p:spPr>
        <p:txBody>
          <a:bodyPr wrap="none" lIns="0" rIns="0" tIns="0" bIns="0" anchor="t">
            <a:noAutofit/>
          </a:bodyPr>
          <a:lstStyle/>
          <a:p>
            <a:pPr algn="l"/>
            <a:r>
              <a:rPr sz="1400" b="0" i="0">
                <a:solidFill>
                  <a:srgbClr val="000000"/>
                </a:solidFill>
                <a:latin typeface="Roboto Mono"/>
              </a:rPr>
              <a:t>/bookings/{{booking_id}}</a:t>
            </a:r>
          </a:p>
        </p:txBody>
      </p:sp>
      <p:sp>
        <p:nvSpPr>
          <p:cNvPr id="33" name="TextBox 32"/>
          <p:cNvSpPr txBox="1"/>
          <p:nvPr/>
        </p:nvSpPr>
        <p:spPr>
          <a:xfrm>
            <a:off x="9747504" y="4800600"/>
            <a:ext cx="3383280" cy="548640"/>
          </a:xfrm>
          <a:prstGeom prst="rect">
            <a:avLst/>
          </a:prstGeom>
          <a:noFill/>
        </p:spPr>
        <p:txBody>
          <a:bodyPr wrap="square" lIns="0" rIns="0" tIns="0" bIns="0" anchor="t">
            <a:noAutofit/>
          </a:bodyPr>
          <a:lstStyle/>
          <a:p>
            <a:pPr algn="l"/>
            <a:r>
              <a:rPr sz="3000" b="1" i="0">
                <a:solidFill>
                  <a:srgbClr val="000000"/>
                </a:solidFill>
                <a:latin typeface="Inter"/>
              </a:rPr>
              <a:t>Check it</a:t>
            </a:r>
          </a:p>
        </p:txBody>
      </p:sp>
      <p:sp>
        <p:nvSpPr>
          <p:cNvPr id="34" name="TextBox 33"/>
          <p:cNvSpPr txBox="1"/>
          <p:nvPr/>
        </p:nvSpPr>
        <p:spPr>
          <a:xfrm>
            <a:off x="9747504" y="5486400"/>
            <a:ext cx="3337560" cy="1554480"/>
          </a:xfrm>
          <a:prstGeom prst="rect">
            <a:avLst/>
          </a:prstGeom>
          <a:noFill/>
        </p:spPr>
        <p:txBody>
          <a:bodyPr wrap="square" lIns="0" rIns="0" tIns="0" bIns="0" anchor="t">
            <a:noAutofit/>
          </a:bodyPr>
          <a:lstStyle/>
          <a:p>
            <a:pPr algn="l"/>
            <a:r>
              <a:rPr sz="1900" b="0" i="0">
                <a:solidFill>
                  <a:srgbClr val="2C2825"/>
                </a:solidFill>
                <a:latin typeface="Inter"/>
              </a:rPr>
              <a:t>Copy the new booking's id into booking_id, then send.</a:t>
            </a:r>
          </a:p>
        </p:txBody>
      </p:sp>
      <p:sp>
        <p:nvSpPr>
          <p:cNvPr id="35" name="Rectangle 34"/>
          <p:cNvSpPr/>
          <p:nvPr/>
        </p:nvSpPr>
        <p:spPr>
          <a:xfrm>
            <a:off x="9747504" y="7178040"/>
            <a:ext cx="3291840" cy="13716"/>
          </a:xfrm>
          <a:prstGeom prst="rect">
            <a:avLst/>
          </a:prstGeom>
          <a:solidFill>
            <a:srgbClr val="D9D9CC"/>
          </a:solidFill>
          <a:ln>
            <a:noFill/>
          </a:ln>
        </p:spPr>
        <p:txBody>
          <a:bodyPr rtlCol="0" anchor="ctr"/>
          <a:lstStyle/>
          <a:p>
            <a:pPr algn="ctr"/>
          </a:p>
        </p:txBody>
      </p:sp>
      <p:sp>
        <p:nvSpPr>
          <p:cNvPr id="36" name="TextBox 35"/>
          <p:cNvSpPr txBox="1"/>
          <p:nvPr/>
        </p:nvSpPr>
        <p:spPr>
          <a:xfrm>
            <a:off x="9747504" y="7360920"/>
            <a:ext cx="1645920" cy="365760"/>
          </a:xfrm>
          <a:prstGeom prst="rect">
            <a:avLst/>
          </a:prstGeom>
          <a:noFill/>
        </p:spPr>
        <p:txBody>
          <a:bodyPr wrap="square" lIns="0" rIns="0" tIns="0" bIns="0" anchor="t">
            <a:noAutofit/>
          </a:bodyPr>
          <a:lstStyle/>
          <a:p>
            <a:pPr algn="l"/>
            <a:r>
              <a:rPr sz="1400" b="0" i="0">
                <a:solidFill>
                  <a:srgbClr val="5A574F"/>
                </a:solidFill>
                <a:latin typeface="Roboto Mono"/>
              </a:rPr>
              <a:t>EXPECT</a:t>
            </a:r>
          </a:p>
        </p:txBody>
      </p:sp>
      <p:sp>
        <p:nvSpPr>
          <p:cNvPr id="37" name="Rounded Rectangle 36"/>
          <p:cNvSpPr/>
          <p:nvPr/>
        </p:nvSpPr>
        <p:spPr>
          <a:xfrm>
            <a:off x="10936224" y="7315200"/>
            <a:ext cx="914400" cy="420624"/>
          </a:xfrm>
          <a:prstGeom prst="roundRect">
            <a:avLst>
              <a:gd name="adj" fmla="val 20000"/>
            </a:avLst>
          </a:prstGeom>
          <a:solidFill>
            <a:srgbClr val="E2F5E2"/>
          </a:solidFill>
          <a:ln w="12700">
            <a:solidFill>
              <a:srgbClr val="009E00"/>
            </a:solidFill>
          </a:ln>
        </p:spPr>
        <p:txBody>
          <a:bodyPr rtlCol="0" anchor="ctr" wrap="none" lIns="0" rIns="0" tIns="0" bIns="0">
            <a:noAutofit/>
          </a:bodyPr>
          <a:lstStyle/>
          <a:p>
            <a:pPr algn="ctr"/>
            <a:r>
              <a:rPr sz="1700" b="1" i="0">
                <a:solidFill>
                  <a:srgbClr val="009E00"/>
                </a:solidFill>
                <a:latin typeface="Roboto Mono"/>
              </a:rPr>
              <a:t>200</a:t>
            </a:r>
          </a:p>
        </p:txBody>
      </p:sp>
      <p:cxnSp>
        <p:nvCxnSpPr>
          <p:cNvPr id="38" name="Connector 37"/>
          <p:cNvCxnSpPr/>
          <p:nvPr/>
        </p:nvCxnSpPr>
        <p:spPr>
          <a:xfrm>
            <a:off x="13350240" y="5532120"/>
            <a:ext cx="585216" cy="0"/>
          </a:xfrm>
          <a:prstGeom prst="line">
            <a:avLst/>
          </a:prstGeom>
          <a:ln w="31750">
            <a:solidFill>
              <a:srgbClr val="000000"/>
            </a:solidFill>
            <a:tailEnd type="triangle" w="med" len="med"/>
          </a:ln>
        </p:spPr>
      </p:cxnSp>
      <p:sp>
        <p:nvSpPr>
          <p:cNvPr id="39" name="Rectangle 38"/>
          <p:cNvSpPr/>
          <p:nvPr/>
        </p:nvSpPr>
        <p:spPr>
          <a:xfrm>
            <a:off x="13972032" y="3154680"/>
            <a:ext cx="3840480" cy="4846320"/>
          </a:xfrm>
          <a:prstGeom prst="rect">
            <a:avLst/>
          </a:prstGeom>
          <a:solidFill>
            <a:srgbClr val="FFFFFF"/>
          </a:solidFill>
          <a:ln w="15875">
            <a:solidFill>
              <a:srgbClr val="000000"/>
            </a:solidFill>
          </a:ln>
        </p:spPr>
        <p:txBody>
          <a:bodyPr rtlCol="0" anchor="ctr"/>
          <a:lstStyle/>
          <a:p>
            <a:pPr algn="ctr"/>
          </a:p>
        </p:txBody>
      </p:sp>
      <p:sp>
        <p:nvSpPr>
          <p:cNvPr id="40" name="Oval 39"/>
          <p:cNvSpPr/>
          <p:nvPr/>
        </p:nvSpPr>
        <p:spPr>
          <a:xfrm>
            <a:off x="14246352" y="3429000"/>
            <a:ext cx="502920" cy="502920"/>
          </a:xfrm>
          <a:prstGeom prst="ellipse">
            <a:avLst/>
          </a:prstGeom>
          <a:solidFill>
            <a:srgbClr val="E8FC2E"/>
          </a:solidFill>
          <a:ln w="12700">
            <a:solidFill>
              <a:srgbClr val="000000"/>
            </a:solidFill>
          </a:ln>
        </p:spPr>
        <p:txBody>
          <a:bodyPr rtlCol="0" anchor="ctr" wrap="none" lIns="0" rIns="0" tIns="0" bIns="0">
            <a:noAutofit/>
          </a:bodyPr>
          <a:lstStyle/>
          <a:p>
            <a:pPr algn="ctr"/>
            <a:r>
              <a:rPr sz="2000" b="1" i="0">
                <a:solidFill>
                  <a:srgbClr val="000000"/>
                </a:solidFill>
                <a:latin typeface="Inter"/>
              </a:rPr>
              <a:t>4</a:t>
            </a:r>
          </a:p>
        </p:txBody>
      </p:sp>
      <p:sp>
        <p:nvSpPr>
          <p:cNvPr id="41" name="Rounded Rectangle 40"/>
          <p:cNvSpPr/>
          <p:nvPr/>
        </p:nvSpPr>
        <p:spPr>
          <a:xfrm>
            <a:off x="14977872" y="3465576"/>
            <a:ext cx="1280160" cy="438912"/>
          </a:xfrm>
          <a:prstGeom prst="roundRect">
            <a:avLst>
              <a:gd name="adj" fmla="val 20000"/>
            </a:avLst>
          </a:prstGeom>
          <a:solidFill>
            <a:srgbClr val="7B4BD6"/>
          </a:solidFill>
          <a:ln>
            <a:noFill/>
          </a:ln>
        </p:spPr>
        <p:txBody>
          <a:bodyPr rtlCol="0" anchor="ctr" wrap="none" lIns="0" rIns="0" tIns="0" bIns="0">
            <a:noAutofit/>
          </a:bodyPr>
          <a:lstStyle/>
          <a:p>
            <a:pPr algn="ctr"/>
            <a:r>
              <a:rPr sz="1500" b="1" i="0">
                <a:solidFill>
                  <a:srgbClr val="FFFFFF"/>
                </a:solidFill>
                <a:latin typeface="Roboto Mono"/>
              </a:rPr>
              <a:t>PATCH</a:t>
            </a:r>
          </a:p>
        </p:txBody>
      </p:sp>
      <p:sp>
        <p:nvSpPr>
          <p:cNvPr id="42" name="TextBox 41"/>
          <p:cNvSpPr txBox="1"/>
          <p:nvPr/>
        </p:nvSpPr>
        <p:spPr>
          <a:xfrm>
            <a:off x="14246352" y="4160520"/>
            <a:ext cx="3474720" cy="411480"/>
          </a:xfrm>
          <a:prstGeom prst="rect">
            <a:avLst/>
          </a:prstGeom>
          <a:noFill/>
        </p:spPr>
        <p:txBody>
          <a:bodyPr wrap="none" lIns="0" rIns="0" tIns="0" bIns="0" anchor="t">
            <a:noAutofit/>
          </a:bodyPr>
          <a:lstStyle/>
          <a:p>
            <a:pPr algn="l"/>
            <a:r>
              <a:rPr sz="1400" b="0" i="0">
                <a:solidFill>
                  <a:srgbClr val="000000"/>
                </a:solidFill>
                <a:latin typeface="Roboto Mono"/>
              </a:rPr>
              <a:t>/bookings/{{booking_id}}</a:t>
            </a:r>
          </a:p>
        </p:txBody>
      </p:sp>
      <p:sp>
        <p:nvSpPr>
          <p:cNvPr id="43" name="TextBox 42"/>
          <p:cNvSpPr txBox="1"/>
          <p:nvPr/>
        </p:nvSpPr>
        <p:spPr>
          <a:xfrm>
            <a:off x="14246352" y="4800600"/>
            <a:ext cx="3383280" cy="548640"/>
          </a:xfrm>
          <a:prstGeom prst="rect">
            <a:avLst/>
          </a:prstGeom>
          <a:noFill/>
        </p:spPr>
        <p:txBody>
          <a:bodyPr wrap="square" lIns="0" rIns="0" tIns="0" bIns="0" anchor="t">
            <a:noAutofit/>
          </a:bodyPr>
          <a:lstStyle/>
          <a:p>
            <a:pPr algn="l"/>
            <a:r>
              <a:rPr sz="3000" b="1" i="0">
                <a:solidFill>
                  <a:srgbClr val="000000"/>
                </a:solidFill>
                <a:latin typeface="Inter"/>
              </a:rPr>
              <a:t>Change it</a:t>
            </a:r>
          </a:p>
        </p:txBody>
      </p:sp>
      <p:sp>
        <p:nvSpPr>
          <p:cNvPr id="44" name="TextBox 43"/>
          <p:cNvSpPr txBox="1"/>
          <p:nvPr/>
        </p:nvSpPr>
        <p:spPr>
          <a:xfrm>
            <a:off x="14246352" y="5486400"/>
            <a:ext cx="3337560" cy="1554480"/>
          </a:xfrm>
          <a:prstGeom prst="rect">
            <a:avLst/>
          </a:prstGeom>
          <a:noFill/>
        </p:spPr>
        <p:txBody>
          <a:bodyPr wrap="square" lIns="0" rIns="0" tIns="0" bIns="0" anchor="t">
            <a:noAutofit/>
          </a:bodyPr>
          <a:lstStyle/>
          <a:p>
            <a:pPr algn="l"/>
            <a:r>
              <a:rPr sz="1900" b="0" i="0">
                <a:solidFill>
                  <a:srgbClr val="2C2825"/>
                </a:solidFill>
                <a:latin typeface="Inter"/>
              </a:rPr>
              <a:t>Edit end_time in the body and send.</a:t>
            </a:r>
          </a:p>
        </p:txBody>
      </p:sp>
      <p:sp>
        <p:nvSpPr>
          <p:cNvPr id="45" name="Rectangle 44"/>
          <p:cNvSpPr/>
          <p:nvPr/>
        </p:nvSpPr>
        <p:spPr>
          <a:xfrm>
            <a:off x="14246352" y="7178040"/>
            <a:ext cx="3291840" cy="13716"/>
          </a:xfrm>
          <a:prstGeom prst="rect">
            <a:avLst/>
          </a:prstGeom>
          <a:solidFill>
            <a:srgbClr val="D9D9CC"/>
          </a:solidFill>
          <a:ln>
            <a:noFill/>
          </a:ln>
        </p:spPr>
        <p:txBody>
          <a:bodyPr rtlCol="0" anchor="ctr"/>
          <a:lstStyle/>
          <a:p>
            <a:pPr algn="ctr"/>
          </a:p>
        </p:txBody>
      </p:sp>
      <p:sp>
        <p:nvSpPr>
          <p:cNvPr id="46" name="TextBox 45"/>
          <p:cNvSpPr txBox="1"/>
          <p:nvPr/>
        </p:nvSpPr>
        <p:spPr>
          <a:xfrm>
            <a:off x="14246352" y="7360920"/>
            <a:ext cx="1645920" cy="365760"/>
          </a:xfrm>
          <a:prstGeom prst="rect">
            <a:avLst/>
          </a:prstGeom>
          <a:noFill/>
        </p:spPr>
        <p:txBody>
          <a:bodyPr wrap="square" lIns="0" rIns="0" tIns="0" bIns="0" anchor="t">
            <a:noAutofit/>
          </a:bodyPr>
          <a:lstStyle/>
          <a:p>
            <a:pPr algn="l"/>
            <a:r>
              <a:rPr sz="1400" b="0" i="0">
                <a:solidFill>
                  <a:srgbClr val="5A574F"/>
                </a:solidFill>
                <a:latin typeface="Roboto Mono"/>
              </a:rPr>
              <a:t>EXPECT</a:t>
            </a:r>
          </a:p>
        </p:txBody>
      </p:sp>
      <p:sp>
        <p:nvSpPr>
          <p:cNvPr id="47" name="Rounded Rectangle 46"/>
          <p:cNvSpPr/>
          <p:nvPr/>
        </p:nvSpPr>
        <p:spPr>
          <a:xfrm>
            <a:off x="15435072" y="7315200"/>
            <a:ext cx="914400" cy="420624"/>
          </a:xfrm>
          <a:prstGeom prst="roundRect">
            <a:avLst>
              <a:gd name="adj" fmla="val 20000"/>
            </a:avLst>
          </a:prstGeom>
          <a:solidFill>
            <a:srgbClr val="E2F5E2"/>
          </a:solidFill>
          <a:ln w="12700">
            <a:solidFill>
              <a:srgbClr val="009E00"/>
            </a:solidFill>
          </a:ln>
        </p:spPr>
        <p:txBody>
          <a:bodyPr rtlCol="0" anchor="ctr" wrap="none" lIns="0" rIns="0" tIns="0" bIns="0">
            <a:noAutofit/>
          </a:bodyPr>
          <a:lstStyle/>
          <a:p>
            <a:pPr algn="ctr"/>
            <a:r>
              <a:rPr sz="1700" b="1" i="0">
                <a:solidFill>
                  <a:srgbClr val="009E00"/>
                </a:solidFill>
                <a:latin typeface="Roboto Mono"/>
              </a:rPr>
              <a:t>200</a:t>
            </a:r>
          </a:p>
        </p:txBody>
      </p:sp>
      <p:sp>
        <p:nvSpPr>
          <p:cNvPr id="48" name="Rectangle 47"/>
          <p:cNvSpPr/>
          <p:nvPr/>
        </p:nvSpPr>
        <p:spPr>
          <a:xfrm>
            <a:off x="475488" y="8183879"/>
            <a:ext cx="17337024" cy="731520"/>
          </a:xfrm>
          <a:prstGeom prst="rect">
            <a:avLst/>
          </a:prstGeom>
          <a:solidFill>
            <a:srgbClr val="E8FC2E"/>
          </a:solidFill>
          <a:ln w="12700">
            <a:solidFill>
              <a:srgbClr val="000000"/>
            </a:solidFill>
          </a:ln>
        </p:spPr>
        <p:txBody>
          <a:bodyPr rtlCol="0" anchor="ctr"/>
          <a:lstStyle/>
          <a:p>
            <a:pPr algn="ctr"/>
          </a:p>
        </p:txBody>
      </p:sp>
      <p:sp>
        <p:nvSpPr>
          <p:cNvPr id="49" name="TextBox 48"/>
          <p:cNvSpPr txBox="1"/>
          <p:nvPr/>
        </p:nvSpPr>
        <p:spPr>
          <a:xfrm>
            <a:off x="777240" y="8183879"/>
            <a:ext cx="16733520" cy="731520"/>
          </a:xfrm>
          <a:prstGeom prst="rect">
            <a:avLst/>
          </a:prstGeom>
          <a:noFill/>
        </p:spPr>
        <p:txBody>
          <a:bodyPr wrap="square" lIns="0" rIns="0" tIns="0" bIns="0" anchor="ctr">
            <a:noAutofit/>
          </a:bodyPr>
          <a:lstStyle/>
          <a:p>
            <a:pPr algn="l"/>
            <a:r>
              <a:rPr sz="2200" b="0" i="0">
                <a:solidFill>
                  <a:srgbClr val="000000"/>
                </a:solidFill>
                <a:latin typeface="Inter"/>
              </a:rPr>
              <a:t>The only skill: </a:t>
            </a:r>
            <a:r>
              <a:rPr sz="2200" b="1" i="0">
                <a:solidFill>
                  <a:srgbClr val="000000"/>
                </a:solidFill>
                <a:latin typeface="Inter"/>
              </a:rPr>
              <a:t>copy values from one answer into the next request.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AED"/>
        </a:solidFill>
        <a:effectLst/>
      </p:bgPr>
    </p:bg>
    <p:spTree>
      <p:nvGrpSpPr>
        <p:cNvPr id="1" name=""/>
        <p:cNvGrpSpPr/>
        <p:nvPr/>
      </p:nvGrpSpPr>
      <p:grpSpPr/>
      <p:pic>
        <p:nvPicPr>
          <p:cNvPr id="2" name="Picture 1" descr="s1_0.png"/>
          <p:cNvPicPr>
            <a:picLocks noChangeAspect="1"/>
          </p:cNvPicPr>
          <p:nvPr/>
        </p:nvPicPr>
        <p:blipFill>
          <a:blip r:embed="rId2"/>
          <a:stretch>
            <a:fillRect/>
          </a:stretch>
        </p:blipFill>
        <p:spPr>
          <a:xfrm>
            <a:off x="475488" y="594360"/>
            <a:ext cx="1655064" cy="384048"/>
          </a:xfrm>
          <a:prstGeom prst="rect">
            <a:avLst/>
          </a:prstGeom>
        </p:spPr>
      </p:pic>
      <p:sp>
        <p:nvSpPr>
          <p:cNvPr id="3" name="Rectangle 2"/>
          <p:cNvSpPr/>
          <p:nvPr/>
        </p:nvSpPr>
        <p:spPr>
          <a:xfrm>
            <a:off x="2441448" y="777240"/>
            <a:ext cx="15371064" cy="10972"/>
          </a:xfrm>
          <a:prstGeom prst="rect">
            <a:avLst/>
          </a:prstGeom>
          <a:solidFill>
            <a:srgbClr val="000000"/>
          </a:solidFill>
          <a:ln>
            <a:noFill/>
          </a:ln>
        </p:spPr>
        <p:txBody>
          <a:bodyPr rtlCol="0" anchor="ctr"/>
          <a:lstStyle/>
          <a:p>
            <a:pPr algn="ctr"/>
          </a:p>
        </p:txBody>
      </p:sp>
      <p:sp>
        <p:nvSpPr>
          <p:cNvPr id="4" name="TextBox 3"/>
          <p:cNvSpPr txBox="1"/>
          <p:nvPr/>
        </p:nvSpPr>
        <p:spPr>
          <a:xfrm>
            <a:off x="475488" y="1527048"/>
            <a:ext cx="10972800" cy="365760"/>
          </a:xfrm>
          <a:prstGeom prst="rect">
            <a:avLst/>
          </a:prstGeom>
          <a:noFill/>
        </p:spPr>
        <p:txBody>
          <a:bodyPr wrap="square" lIns="0" rIns="0" tIns="0" bIns="0" anchor="t">
            <a:noAutofit/>
          </a:bodyPr>
          <a:lstStyle/>
          <a:p>
            <a:pPr algn="l"/>
            <a:r>
              <a:rPr sz="1800" b="0" i="0">
                <a:solidFill>
                  <a:srgbClr val="000000"/>
                </a:solidFill>
                <a:latin typeface="Roboto Mono"/>
              </a:rPr>
              <a:t>PART 4 · HANDS-ON WITH POSTMAN</a:t>
            </a:r>
          </a:p>
        </p:txBody>
      </p:sp>
      <p:sp>
        <p:nvSpPr>
          <p:cNvPr id="5" name="Title"/>
          <p:cNvSpPr txBox="1"/>
          <p:nvPr/>
        </p:nvSpPr>
        <p:spPr>
          <a:xfrm>
            <a:off x="475488" y="2011680"/>
            <a:ext cx="17337024" cy="868680"/>
          </a:xfrm>
          <a:prstGeom prst="rect">
            <a:avLst/>
          </a:prstGeom>
          <a:noFill/>
        </p:spPr>
        <p:txBody>
          <a:bodyPr wrap="square" lIns="0" rIns="0" tIns="0" bIns="0" anchor="t">
            <a:noAutofit/>
          </a:bodyPr>
          <a:lstStyle/>
          <a:p>
            <a:pPr algn="l">
              <a:lnSpc>
                <a:spcPct val="95000"/>
              </a:lnSpc>
            </a:pPr>
            <a:r>
              <a:rPr sz="4600" b="1" i="0">
                <a:solidFill>
                  <a:srgbClr val="000000"/>
                </a:solidFill>
                <a:latin typeface="Inter"/>
              </a:rPr>
              <a:t>When it goes wrong: five things to check</a:t>
            </a:r>
          </a:p>
        </p:txBody>
      </p:sp>
      <p:sp>
        <p:nvSpPr>
          <p:cNvPr id="6" name="Rectangle 5"/>
          <p:cNvSpPr/>
          <p:nvPr/>
        </p:nvSpPr>
        <p:spPr>
          <a:xfrm>
            <a:off x="475488" y="9189720"/>
            <a:ext cx="17337024" cy="10972"/>
          </a:xfrm>
          <a:prstGeom prst="rect">
            <a:avLst/>
          </a:prstGeom>
          <a:solidFill>
            <a:srgbClr val="000000"/>
          </a:solidFill>
          <a:ln>
            <a:noFill/>
          </a:ln>
        </p:spPr>
        <p:txBody>
          <a:bodyPr rtlCol="0" anchor="ctr"/>
          <a:lstStyle/>
          <a:p>
            <a:pPr algn="ctr"/>
          </a:p>
        </p:txBody>
      </p:sp>
      <p:sp>
        <p:nvSpPr>
          <p:cNvPr id="7" name="TextBox 6"/>
          <p:cNvSpPr txBox="1"/>
          <p:nvPr/>
        </p:nvSpPr>
        <p:spPr>
          <a:xfrm>
            <a:off x="475488" y="9354312"/>
            <a:ext cx="2743200" cy="338328"/>
          </a:xfrm>
          <a:prstGeom prst="rect">
            <a:avLst/>
          </a:prstGeom>
          <a:noFill/>
        </p:spPr>
        <p:txBody>
          <a:bodyPr wrap="square" lIns="0" rIns="0" tIns="0" bIns="0" anchor="t">
            <a:noAutofit/>
          </a:bodyPr>
          <a:lstStyle/>
          <a:p>
            <a:pPr algn="l"/>
            <a:r>
              <a:rPr sz="1800" b="0" i="0">
                <a:solidFill>
                  <a:srgbClr val="000000"/>
                </a:solidFill>
                <a:latin typeface="Roboto Mono"/>
              </a:rPr>
              <a:t>CALIRA.CO</a:t>
            </a:r>
          </a:p>
        </p:txBody>
      </p:sp>
      <p:sp>
        <p:nvSpPr>
          <p:cNvPr id="8" name="TextBox 7"/>
          <p:cNvSpPr txBox="1"/>
          <p:nvPr/>
        </p:nvSpPr>
        <p:spPr>
          <a:xfrm>
            <a:off x="15983712" y="9354312"/>
            <a:ext cx="1828800" cy="338328"/>
          </a:xfrm>
          <a:prstGeom prst="rect">
            <a:avLst/>
          </a:prstGeom>
          <a:noFill/>
        </p:spPr>
        <p:txBody>
          <a:bodyPr wrap="square" lIns="0" rIns="0" tIns="0" bIns="0" anchor="t">
            <a:noAutofit/>
          </a:bodyPr>
          <a:lstStyle/>
          <a:p>
            <a:pPr algn="r"/>
            <a:r>
              <a:rPr sz="1800" b="0" i="0">
                <a:solidFill>
                  <a:srgbClr val="000000"/>
                </a:solidFill>
                <a:latin typeface="Roboto Mono"/>
              </a:rPr>
              <a:t>31</a:t>
            </a:r>
          </a:p>
        </p:txBody>
      </p:sp>
      <p:sp>
        <p:nvSpPr>
          <p:cNvPr id="9" name="Oval 8"/>
          <p:cNvSpPr/>
          <p:nvPr/>
        </p:nvSpPr>
        <p:spPr>
          <a:xfrm>
            <a:off x="475488" y="3246120"/>
            <a:ext cx="566928" cy="566928"/>
          </a:xfrm>
          <a:prstGeom prst="ellipse">
            <a:avLst/>
          </a:prstGeom>
          <a:solidFill>
            <a:srgbClr val="E8FC2E"/>
          </a:solidFill>
          <a:ln w="12700">
            <a:solidFill>
              <a:srgbClr val="000000"/>
            </a:solidFill>
          </a:ln>
        </p:spPr>
        <p:txBody>
          <a:bodyPr rtlCol="0" anchor="ctr" wrap="none" lIns="0" rIns="0" tIns="0" bIns="0">
            <a:noAutofit/>
          </a:bodyPr>
          <a:lstStyle/>
          <a:p>
            <a:pPr algn="ctr"/>
            <a:r>
              <a:rPr sz="2200" b="1" i="0">
                <a:solidFill>
                  <a:srgbClr val="000000"/>
                </a:solidFill>
                <a:latin typeface="Inter"/>
              </a:rPr>
              <a:t>1</a:t>
            </a:r>
          </a:p>
        </p:txBody>
      </p:sp>
      <p:sp>
        <p:nvSpPr>
          <p:cNvPr id="10" name="TextBox 9"/>
          <p:cNvSpPr txBox="1"/>
          <p:nvPr/>
        </p:nvSpPr>
        <p:spPr>
          <a:xfrm>
            <a:off x="1344168" y="3154680"/>
            <a:ext cx="10607040" cy="457200"/>
          </a:xfrm>
          <a:prstGeom prst="rect">
            <a:avLst/>
          </a:prstGeom>
          <a:noFill/>
        </p:spPr>
        <p:txBody>
          <a:bodyPr wrap="square" lIns="0" rIns="0" tIns="0" bIns="0" anchor="t">
            <a:noAutofit/>
          </a:bodyPr>
          <a:lstStyle/>
          <a:p>
            <a:pPr algn="l"/>
            <a:r>
              <a:rPr sz="2300" b="1" i="0">
                <a:solidFill>
                  <a:srgbClr val="000000"/>
                </a:solidFill>
                <a:latin typeface="Inter"/>
              </a:rPr>
              <a:t>Is the right environment selected?</a:t>
            </a:r>
          </a:p>
        </p:txBody>
      </p:sp>
      <p:sp>
        <p:nvSpPr>
          <p:cNvPr id="11" name="TextBox 10"/>
          <p:cNvSpPr txBox="1"/>
          <p:nvPr/>
        </p:nvSpPr>
        <p:spPr>
          <a:xfrm>
            <a:off x="1344168" y="3611880"/>
            <a:ext cx="10607040" cy="640080"/>
          </a:xfrm>
          <a:prstGeom prst="rect">
            <a:avLst/>
          </a:prstGeom>
          <a:noFill/>
        </p:spPr>
        <p:txBody>
          <a:bodyPr wrap="square" lIns="0" rIns="0" tIns="0" bIns="0" anchor="t">
            <a:noAutofit/>
          </a:bodyPr>
          <a:lstStyle/>
          <a:p>
            <a:pPr algn="l"/>
            <a:r>
              <a:rPr sz="1900" b="0" i="0">
                <a:solidFill>
                  <a:srgbClr val="2C2825"/>
                </a:solidFill>
                <a:latin typeface="Inter"/>
              </a:rPr>
              <a:t>Top right of Postman. 'No environment' means nothing will work.</a:t>
            </a:r>
          </a:p>
        </p:txBody>
      </p:sp>
      <p:sp>
        <p:nvSpPr>
          <p:cNvPr id="12" name="Rectangle 11"/>
          <p:cNvSpPr/>
          <p:nvPr/>
        </p:nvSpPr>
        <p:spPr>
          <a:xfrm>
            <a:off x="1344168" y="4251960"/>
            <a:ext cx="10607040" cy="10972"/>
          </a:xfrm>
          <a:prstGeom prst="rect">
            <a:avLst/>
          </a:prstGeom>
          <a:solidFill>
            <a:srgbClr val="D9D9CC"/>
          </a:solidFill>
          <a:ln>
            <a:noFill/>
          </a:ln>
        </p:spPr>
        <p:txBody>
          <a:bodyPr rtlCol="0" anchor="ctr"/>
          <a:lstStyle/>
          <a:p>
            <a:pPr algn="ctr"/>
          </a:p>
        </p:txBody>
      </p:sp>
      <p:sp>
        <p:nvSpPr>
          <p:cNvPr id="13" name="Oval 12"/>
          <p:cNvSpPr/>
          <p:nvPr/>
        </p:nvSpPr>
        <p:spPr>
          <a:xfrm>
            <a:off x="475488" y="4407408"/>
            <a:ext cx="566928" cy="566928"/>
          </a:xfrm>
          <a:prstGeom prst="ellipse">
            <a:avLst/>
          </a:prstGeom>
          <a:solidFill>
            <a:srgbClr val="E8FC2E"/>
          </a:solidFill>
          <a:ln w="12700">
            <a:solidFill>
              <a:srgbClr val="000000"/>
            </a:solidFill>
          </a:ln>
        </p:spPr>
        <p:txBody>
          <a:bodyPr rtlCol="0" anchor="ctr" wrap="none" lIns="0" rIns="0" tIns="0" bIns="0">
            <a:noAutofit/>
          </a:bodyPr>
          <a:lstStyle/>
          <a:p>
            <a:pPr algn="ctr"/>
            <a:r>
              <a:rPr sz="2200" b="1" i="0">
                <a:solidFill>
                  <a:srgbClr val="000000"/>
                </a:solidFill>
                <a:latin typeface="Inter"/>
              </a:rPr>
              <a:t>2</a:t>
            </a:r>
          </a:p>
        </p:txBody>
      </p:sp>
      <p:sp>
        <p:nvSpPr>
          <p:cNvPr id="14" name="TextBox 13"/>
          <p:cNvSpPr txBox="1"/>
          <p:nvPr/>
        </p:nvSpPr>
        <p:spPr>
          <a:xfrm>
            <a:off x="1344168" y="4315968"/>
            <a:ext cx="10607040" cy="457200"/>
          </a:xfrm>
          <a:prstGeom prst="rect">
            <a:avLst/>
          </a:prstGeom>
          <a:noFill/>
        </p:spPr>
        <p:txBody>
          <a:bodyPr wrap="square" lIns="0" rIns="0" tIns="0" bIns="0" anchor="t">
            <a:noAutofit/>
          </a:bodyPr>
          <a:lstStyle/>
          <a:p>
            <a:pPr algn="l"/>
            <a:r>
              <a:rPr sz="2300" b="1" i="0">
                <a:solidFill>
                  <a:srgbClr val="000000"/>
                </a:solidFill>
                <a:latin typeface="Inter"/>
              </a:rPr>
              <a:t>Is your token fresh?  (401)</a:t>
            </a:r>
          </a:p>
        </p:txBody>
      </p:sp>
      <p:sp>
        <p:nvSpPr>
          <p:cNvPr id="15" name="TextBox 14"/>
          <p:cNvSpPr txBox="1"/>
          <p:nvPr/>
        </p:nvSpPr>
        <p:spPr>
          <a:xfrm>
            <a:off x="1344168" y="4773168"/>
            <a:ext cx="10607040" cy="640080"/>
          </a:xfrm>
          <a:prstGeom prst="rect">
            <a:avLst/>
          </a:prstGeom>
          <a:noFill/>
        </p:spPr>
        <p:txBody>
          <a:bodyPr wrap="square" lIns="0" rIns="0" tIns="0" bIns="0" anchor="t">
            <a:noAutofit/>
          </a:bodyPr>
          <a:lstStyle/>
          <a:p>
            <a:pPr algn="l"/>
            <a:r>
              <a:rPr sz="1900" b="0" i="0">
                <a:solidFill>
                  <a:srgbClr val="2C2825"/>
                </a:solidFill>
                <a:latin typeface="Inter"/>
              </a:rPr>
              <a:t>Tokens last about 2 hours. Get a new one.</a:t>
            </a:r>
          </a:p>
        </p:txBody>
      </p:sp>
      <p:sp>
        <p:nvSpPr>
          <p:cNvPr id="16" name="Rectangle 15"/>
          <p:cNvSpPr/>
          <p:nvPr/>
        </p:nvSpPr>
        <p:spPr>
          <a:xfrm>
            <a:off x="1344168" y="5413248"/>
            <a:ext cx="10607040" cy="10972"/>
          </a:xfrm>
          <a:prstGeom prst="rect">
            <a:avLst/>
          </a:prstGeom>
          <a:solidFill>
            <a:srgbClr val="D9D9CC"/>
          </a:solidFill>
          <a:ln>
            <a:noFill/>
          </a:ln>
        </p:spPr>
        <p:txBody>
          <a:bodyPr rtlCol="0" anchor="ctr"/>
          <a:lstStyle/>
          <a:p>
            <a:pPr algn="ctr"/>
          </a:p>
        </p:txBody>
      </p:sp>
      <p:sp>
        <p:nvSpPr>
          <p:cNvPr id="17" name="Oval 16"/>
          <p:cNvSpPr/>
          <p:nvPr/>
        </p:nvSpPr>
        <p:spPr>
          <a:xfrm>
            <a:off x="475488" y="5568696"/>
            <a:ext cx="566928" cy="566928"/>
          </a:xfrm>
          <a:prstGeom prst="ellipse">
            <a:avLst/>
          </a:prstGeom>
          <a:solidFill>
            <a:srgbClr val="E8FC2E"/>
          </a:solidFill>
          <a:ln w="12700">
            <a:solidFill>
              <a:srgbClr val="000000"/>
            </a:solidFill>
          </a:ln>
        </p:spPr>
        <p:txBody>
          <a:bodyPr rtlCol="0" anchor="ctr" wrap="none" lIns="0" rIns="0" tIns="0" bIns="0">
            <a:noAutofit/>
          </a:bodyPr>
          <a:lstStyle/>
          <a:p>
            <a:pPr algn="ctr"/>
            <a:r>
              <a:rPr sz="2200" b="1" i="0">
                <a:solidFill>
                  <a:srgbClr val="000000"/>
                </a:solidFill>
                <a:latin typeface="Inter"/>
              </a:rPr>
              <a:t>3</a:t>
            </a:r>
          </a:p>
        </p:txBody>
      </p:sp>
      <p:sp>
        <p:nvSpPr>
          <p:cNvPr id="18" name="TextBox 17"/>
          <p:cNvSpPr txBox="1"/>
          <p:nvPr/>
        </p:nvSpPr>
        <p:spPr>
          <a:xfrm>
            <a:off x="1344168" y="5477256"/>
            <a:ext cx="10607040" cy="457200"/>
          </a:xfrm>
          <a:prstGeom prst="rect">
            <a:avLst/>
          </a:prstGeom>
          <a:noFill/>
        </p:spPr>
        <p:txBody>
          <a:bodyPr wrap="square" lIns="0" rIns="0" tIns="0" bIns="0" anchor="t">
            <a:noAutofit/>
          </a:bodyPr>
          <a:lstStyle/>
          <a:p>
            <a:pPr algn="l"/>
            <a:r>
              <a:rPr sz="2300" b="1" i="0">
                <a:solidFill>
                  <a:srgbClr val="000000"/>
                </a:solidFill>
                <a:latin typeface="Inter"/>
              </a:rPr>
              <a:t>Is the application approved and the lab authorised?  (403)</a:t>
            </a:r>
          </a:p>
        </p:txBody>
      </p:sp>
      <p:sp>
        <p:nvSpPr>
          <p:cNvPr id="19" name="TextBox 18"/>
          <p:cNvSpPr txBox="1"/>
          <p:nvPr/>
        </p:nvSpPr>
        <p:spPr>
          <a:xfrm>
            <a:off x="1344168" y="5934456"/>
            <a:ext cx="10607040" cy="640080"/>
          </a:xfrm>
          <a:prstGeom prst="rect">
            <a:avLst/>
          </a:prstGeom>
          <a:noFill/>
        </p:spPr>
        <p:txBody>
          <a:bodyPr wrap="square" lIns="0" rIns="0" tIns="0" bIns="0" anchor="t">
            <a:noAutofit/>
          </a:bodyPr>
          <a:lstStyle/>
          <a:p>
            <a:pPr algn="l"/>
            <a:r>
              <a:rPr sz="1900" b="0" i="0">
                <a:solidFill>
                  <a:srgbClr val="2C2825"/>
                </a:solidFill>
                <a:latin typeface="Inter"/>
              </a:rPr>
              <a:t>Check Control Room, then repeat the authorise step.</a:t>
            </a:r>
          </a:p>
        </p:txBody>
      </p:sp>
      <p:sp>
        <p:nvSpPr>
          <p:cNvPr id="20" name="Rectangle 19"/>
          <p:cNvSpPr/>
          <p:nvPr/>
        </p:nvSpPr>
        <p:spPr>
          <a:xfrm>
            <a:off x="1344168" y="6574536"/>
            <a:ext cx="10607040" cy="10972"/>
          </a:xfrm>
          <a:prstGeom prst="rect">
            <a:avLst/>
          </a:prstGeom>
          <a:solidFill>
            <a:srgbClr val="D9D9CC"/>
          </a:solidFill>
          <a:ln>
            <a:noFill/>
          </a:ln>
        </p:spPr>
        <p:txBody>
          <a:bodyPr rtlCol="0" anchor="ctr"/>
          <a:lstStyle/>
          <a:p>
            <a:pPr algn="ctr"/>
          </a:p>
        </p:txBody>
      </p:sp>
      <p:sp>
        <p:nvSpPr>
          <p:cNvPr id="21" name="Oval 20"/>
          <p:cNvSpPr/>
          <p:nvPr/>
        </p:nvSpPr>
        <p:spPr>
          <a:xfrm>
            <a:off x="475488" y="6729983"/>
            <a:ext cx="566928" cy="566928"/>
          </a:xfrm>
          <a:prstGeom prst="ellipse">
            <a:avLst/>
          </a:prstGeom>
          <a:solidFill>
            <a:srgbClr val="E8FC2E"/>
          </a:solidFill>
          <a:ln w="12700">
            <a:solidFill>
              <a:srgbClr val="000000"/>
            </a:solidFill>
          </a:ln>
        </p:spPr>
        <p:txBody>
          <a:bodyPr rtlCol="0" anchor="ctr" wrap="none" lIns="0" rIns="0" tIns="0" bIns="0">
            <a:noAutofit/>
          </a:bodyPr>
          <a:lstStyle/>
          <a:p>
            <a:pPr algn="ctr"/>
            <a:r>
              <a:rPr sz="2200" b="1" i="0">
                <a:solidFill>
                  <a:srgbClr val="000000"/>
                </a:solidFill>
                <a:latin typeface="Inter"/>
              </a:rPr>
              <a:t>4</a:t>
            </a:r>
          </a:p>
        </p:txBody>
      </p:sp>
      <p:sp>
        <p:nvSpPr>
          <p:cNvPr id="22" name="TextBox 21"/>
          <p:cNvSpPr txBox="1"/>
          <p:nvPr/>
        </p:nvSpPr>
        <p:spPr>
          <a:xfrm>
            <a:off x="1344168" y="6638544"/>
            <a:ext cx="10607040" cy="457200"/>
          </a:xfrm>
          <a:prstGeom prst="rect">
            <a:avLst/>
          </a:prstGeom>
          <a:noFill/>
        </p:spPr>
        <p:txBody>
          <a:bodyPr wrap="square" lIns="0" rIns="0" tIns="0" bIns="0" anchor="t">
            <a:noAutofit/>
          </a:bodyPr>
          <a:lstStyle/>
          <a:p>
            <a:pPr algn="l"/>
            <a:r>
              <a:rPr sz="2300" b="1" i="0">
                <a:solidFill>
                  <a:srgbClr val="000000"/>
                </a:solidFill>
                <a:latin typeface="Inter"/>
              </a:rPr>
              <a:t>Are the IDs right?  (404)</a:t>
            </a:r>
          </a:p>
        </p:txBody>
      </p:sp>
      <p:sp>
        <p:nvSpPr>
          <p:cNvPr id="23" name="TextBox 22"/>
          <p:cNvSpPr txBox="1"/>
          <p:nvPr/>
        </p:nvSpPr>
        <p:spPr>
          <a:xfrm>
            <a:off x="1344168" y="7095744"/>
            <a:ext cx="10607040" cy="640080"/>
          </a:xfrm>
          <a:prstGeom prst="rect">
            <a:avLst/>
          </a:prstGeom>
          <a:noFill/>
        </p:spPr>
        <p:txBody>
          <a:bodyPr wrap="square" lIns="0" rIns="0" tIns="0" bIns="0" anchor="t">
            <a:noAutofit/>
          </a:bodyPr>
          <a:lstStyle/>
          <a:p>
            <a:pPr algn="l"/>
            <a:r>
              <a:rPr sz="1900" b="0" i="0">
                <a:solidFill>
                  <a:srgbClr val="2C2825"/>
                </a:solidFill>
                <a:latin typeface="Inter"/>
              </a:rPr>
              <a:t>The equipment or booking must belong to a lab you authorised.</a:t>
            </a:r>
          </a:p>
        </p:txBody>
      </p:sp>
      <p:sp>
        <p:nvSpPr>
          <p:cNvPr id="24" name="Rectangle 23"/>
          <p:cNvSpPr/>
          <p:nvPr/>
        </p:nvSpPr>
        <p:spPr>
          <a:xfrm>
            <a:off x="1344168" y="7735823"/>
            <a:ext cx="10607040" cy="10972"/>
          </a:xfrm>
          <a:prstGeom prst="rect">
            <a:avLst/>
          </a:prstGeom>
          <a:solidFill>
            <a:srgbClr val="D9D9CC"/>
          </a:solidFill>
          <a:ln>
            <a:noFill/>
          </a:ln>
        </p:spPr>
        <p:txBody>
          <a:bodyPr rtlCol="0" anchor="ctr"/>
          <a:lstStyle/>
          <a:p>
            <a:pPr algn="ctr"/>
          </a:p>
        </p:txBody>
      </p:sp>
      <p:sp>
        <p:nvSpPr>
          <p:cNvPr id="25" name="Oval 24"/>
          <p:cNvSpPr/>
          <p:nvPr/>
        </p:nvSpPr>
        <p:spPr>
          <a:xfrm>
            <a:off x="475488" y="7891271"/>
            <a:ext cx="566928" cy="566928"/>
          </a:xfrm>
          <a:prstGeom prst="ellipse">
            <a:avLst/>
          </a:prstGeom>
          <a:solidFill>
            <a:srgbClr val="E8FC2E"/>
          </a:solidFill>
          <a:ln w="12700">
            <a:solidFill>
              <a:srgbClr val="000000"/>
            </a:solidFill>
          </a:ln>
        </p:spPr>
        <p:txBody>
          <a:bodyPr rtlCol="0" anchor="ctr" wrap="none" lIns="0" rIns="0" tIns="0" bIns="0">
            <a:noAutofit/>
          </a:bodyPr>
          <a:lstStyle/>
          <a:p>
            <a:pPr algn="ctr"/>
            <a:r>
              <a:rPr sz="2200" b="1" i="0">
                <a:solidFill>
                  <a:srgbClr val="000000"/>
                </a:solidFill>
                <a:latin typeface="Inter"/>
              </a:rPr>
              <a:t>5</a:t>
            </a:r>
          </a:p>
        </p:txBody>
      </p:sp>
      <p:sp>
        <p:nvSpPr>
          <p:cNvPr id="26" name="TextBox 25"/>
          <p:cNvSpPr txBox="1"/>
          <p:nvPr/>
        </p:nvSpPr>
        <p:spPr>
          <a:xfrm>
            <a:off x="1344168" y="7799831"/>
            <a:ext cx="10607040" cy="457200"/>
          </a:xfrm>
          <a:prstGeom prst="rect">
            <a:avLst/>
          </a:prstGeom>
          <a:noFill/>
        </p:spPr>
        <p:txBody>
          <a:bodyPr wrap="square" lIns="0" rIns="0" tIns="0" bIns="0" anchor="t">
            <a:noAutofit/>
          </a:bodyPr>
          <a:lstStyle/>
          <a:p>
            <a:pPr algn="l"/>
            <a:r>
              <a:rPr sz="2300" b="1" i="0">
                <a:solidFill>
                  <a:srgbClr val="000000"/>
                </a:solidFill>
                <a:latin typeface="Inter"/>
              </a:rPr>
              <a:t>Is the JSON tidy and are the times valid?  (422)</a:t>
            </a:r>
          </a:p>
        </p:txBody>
      </p:sp>
      <p:sp>
        <p:nvSpPr>
          <p:cNvPr id="27" name="TextBox 26"/>
          <p:cNvSpPr txBox="1"/>
          <p:nvPr/>
        </p:nvSpPr>
        <p:spPr>
          <a:xfrm>
            <a:off x="1344168" y="8257031"/>
            <a:ext cx="10607040" cy="640080"/>
          </a:xfrm>
          <a:prstGeom prst="rect">
            <a:avLst/>
          </a:prstGeom>
          <a:noFill/>
        </p:spPr>
        <p:txBody>
          <a:bodyPr wrap="square" lIns="0" rIns="0" tIns="0" bIns="0" anchor="t">
            <a:noAutofit/>
          </a:bodyPr>
          <a:lstStyle/>
          <a:p>
            <a:pPr algn="l"/>
            <a:r>
              <a:rPr sz="1900" b="0" i="0">
                <a:solidFill>
                  <a:srgbClr val="2C2825"/>
                </a:solidFill>
                <a:latin typeface="Inter"/>
              </a:rPr>
              <a:t>Straight quotes, commas in the right places, times in the future ending in Z.</a:t>
            </a:r>
          </a:p>
        </p:txBody>
      </p:sp>
      <p:sp>
        <p:nvSpPr>
          <p:cNvPr id="28" name="Rectangle 27"/>
          <p:cNvSpPr/>
          <p:nvPr/>
        </p:nvSpPr>
        <p:spPr>
          <a:xfrm>
            <a:off x="12527280" y="3154680"/>
            <a:ext cx="5285232" cy="5760720"/>
          </a:xfrm>
          <a:prstGeom prst="rect">
            <a:avLst/>
          </a:prstGeom>
          <a:solidFill>
            <a:srgbClr val="E8FC2E"/>
          </a:solidFill>
          <a:ln w="15875">
            <a:solidFill>
              <a:srgbClr val="000000"/>
            </a:solidFill>
          </a:ln>
        </p:spPr>
        <p:txBody>
          <a:bodyPr rtlCol="0" anchor="ctr"/>
          <a:lstStyle/>
          <a:p>
            <a:pPr algn="ctr"/>
          </a:p>
        </p:txBody>
      </p:sp>
      <p:pic>
        <p:nvPicPr>
          <p:cNvPr id="29" name="Picture 28" descr="question.png"/>
          <p:cNvPicPr>
            <a:picLocks noChangeAspect="1"/>
          </p:cNvPicPr>
          <p:nvPr/>
        </p:nvPicPr>
        <p:blipFill>
          <a:blip r:embed="rId3"/>
          <a:stretch>
            <a:fillRect/>
          </a:stretch>
        </p:blipFill>
        <p:spPr>
          <a:xfrm>
            <a:off x="12847320" y="3474720"/>
            <a:ext cx="640080" cy="640080"/>
          </a:xfrm>
          <a:prstGeom prst="rect">
            <a:avLst/>
          </a:prstGeom>
        </p:spPr>
      </p:pic>
      <p:sp>
        <p:nvSpPr>
          <p:cNvPr id="30" name="TextBox 29"/>
          <p:cNvSpPr txBox="1"/>
          <p:nvPr/>
        </p:nvSpPr>
        <p:spPr>
          <a:xfrm>
            <a:off x="12847320" y="4297680"/>
            <a:ext cx="4663440" cy="822960"/>
          </a:xfrm>
          <a:prstGeom prst="rect">
            <a:avLst/>
          </a:prstGeom>
          <a:noFill/>
        </p:spPr>
        <p:txBody>
          <a:bodyPr wrap="square" lIns="0" rIns="0" tIns="0" bIns="0" anchor="t">
            <a:noAutofit/>
          </a:bodyPr>
          <a:lstStyle/>
          <a:p>
            <a:pPr algn="l"/>
            <a:r>
              <a:rPr sz="3400" b="1" i="0">
                <a:solidFill>
                  <a:srgbClr val="000000"/>
                </a:solidFill>
                <a:latin typeface="Inter"/>
              </a:rPr>
              <a:t>Still stuck?</a:t>
            </a:r>
          </a:p>
        </p:txBody>
      </p:sp>
      <p:sp>
        <p:nvSpPr>
          <p:cNvPr id="31" name="TextBox 30"/>
          <p:cNvSpPr txBox="1"/>
          <p:nvPr/>
        </p:nvSpPr>
        <p:spPr>
          <a:xfrm>
            <a:off x="12847320" y="5120640"/>
            <a:ext cx="4663440" cy="822960"/>
          </a:xfrm>
          <a:prstGeom prst="rect">
            <a:avLst/>
          </a:prstGeom>
          <a:noFill/>
        </p:spPr>
        <p:txBody>
          <a:bodyPr wrap="square" lIns="0" rIns="0" tIns="0" bIns="0" anchor="t">
            <a:noAutofit/>
          </a:bodyPr>
          <a:lstStyle/>
          <a:p>
            <a:pPr algn="l"/>
            <a:r>
              <a:rPr sz="2000" b="0" i="0">
                <a:solidFill>
                  <a:srgbClr val="000000"/>
                </a:solidFill>
                <a:latin typeface="Inter"/>
              </a:rPr>
              <a:t>Send Product these three things:</a:t>
            </a:r>
          </a:p>
        </p:txBody>
      </p:sp>
      <p:sp>
        <p:nvSpPr>
          <p:cNvPr id="32" name="TextBox 31"/>
          <p:cNvSpPr txBox="1"/>
          <p:nvPr/>
        </p:nvSpPr>
        <p:spPr>
          <a:xfrm>
            <a:off x="12847320" y="5897880"/>
            <a:ext cx="4663440" cy="2743200"/>
          </a:xfrm>
          <a:prstGeom prst="rect">
            <a:avLst/>
          </a:prstGeom>
          <a:noFill/>
        </p:spPr>
        <p:txBody>
          <a:bodyPr wrap="square" lIns="0" rIns="0" tIns="0" bIns="0" anchor="t">
            <a:noAutofit/>
          </a:bodyPr>
          <a:lstStyle/>
          <a:p>
            <a:pPr algn="l" marL="347472" indent="-347472">
              <a:spcAft>
                <a:spcPts val="1000"/>
              </a:spcAft>
              <a:buFont typeface="Arial"/>
              <a:buChar char="•"/>
            </a:pPr>
            <a:r>
              <a:rPr sz="2100" b="0" i="0">
                <a:solidFill>
                  <a:srgbClr val="000000"/>
                </a:solidFill>
                <a:latin typeface="Inter"/>
              </a:rPr>
              <a:t>The </a:t>
            </a:r>
            <a:r>
              <a:rPr sz="2100" b="1" i="0">
                <a:solidFill>
                  <a:srgbClr val="000000"/>
                </a:solidFill>
                <a:latin typeface="Inter"/>
              </a:rPr>
              <a:t>request</a:t>
            </a:r>
            <a:r>
              <a:rPr sz="2100" b="0" i="0">
                <a:solidFill>
                  <a:srgbClr val="000000"/>
                </a:solidFill>
                <a:latin typeface="Inter"/>
              </a:rPr>
              <a:t> (hide the token and secret)</a:t>
            </a:r>
          </a:p>
          <a:p>
            <a:pPr algn="l" marL="347472" indent="-347472">
              <a:spcAft>
                <a:spcPts val="1000"/>
              </a:spcAft>
              <a:buFont typeface="Arial"/>
              <a:buChar char="•"/>
            </a:pPr>
            <a:r>
              <a:rPr sz="2100" b="0" i="0">
                <a:solidFill>
                  <a:srgbClr val="000000"/>
                </a:solidFill>
                <a:latin typeface="Inter"/>
              </a:rPr>
              <a:t>The </a:t>
            </a:r>
            <a:r>
              <a:rPr sz="2100" b="1" i="0">
                <a:solidFill>
                  <a:srgbClr val="000000"/>
                </a:solidFill>
                <a:latin typeface="Inter"/>
              </a:rPr>
              <a:t>status code</a:t>
            </a:r>
          </a:p>
          <a:p>
            <a:pPr algn="l" marL="347472" indent="-347472">
              <a:spcAft>
                <a:spcPts val="1000"/>
              </a:spcAft>
              <a:buFont typeface="Arial"/>
              <a:buChar char="•"/>
            </a:pPr>
            <a:r>
              <a:rPr sz="2100" b="0" i="0">
                <a:solidFill>
                  <a:srgbClr val="000000"/>
                </a:solidFill>
                <a:latin typeface="Inter"/>
              </a:rPr>
              <a:t>The </a:t>
            </a:r>
            <a:r>
              <a:rPr sz="2100" b="1" i="0">
                <a:solidFill>
                  <a:srgbClr val="000000"/>
                </a:solidFill>
                <a:latin typeface="Inter"/>
              </a:rPr>
              <a:t>response text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8FC2E"/>
        </a:solidFill>
        <a:effectLst/>
      </p:bgPr>
    </p:bg>
    <p:spTree>
      <p:nvGrpSpPr>
        <p:cNvPr id="1" name=""/>
        <p:cNvGrpSpPr/>
        <p:nvPr/>
      </p:nvGrpSpPr>
      <p:grpSpPr/>
      <p:sp>
        <p:nvSpPr>
          <p:cNvPr id="2" name="Rounded Rectangle 1"/>
          <p:cNvSpPr/>
          <p:nvPr/>
        </p:nvSpPr>
        <p:spPr>
          <a:xfrm>
            <a:off x="457200" y="457200"/>
            <a:ext cx="2743200" cy="475488"/>
          </a:xfrm>
          <a:prstGeom prst="roundRect">
            <a:avLst>
              <a:gd name="adj" fmla="val 50000"/>
            </a:avLst>
          </a:prstGeom>
          <a:solidFill>
            <a:srgbClr val="FFFFFF"/>
          </a:solidFill>
          <a:ln w="12700">
            <a:solidFill>
              <a:srgbClr val="000000"/>
            </a:solidFill>
          </a:ln>
        </p:spPr>
        <p:txBody>
          <a:bodyPr rtlCol="0" anchor="ctr" wrap="none" lIns="0" rIns="0" tIns="0" bIns="0">
            <a:noAutofit/>
          </a:bodyPr>
          <a:lstStyle/>
          <a:p>
            <a:pPr algn="ctr"/>
            <a:r>
              <a:rPr sz="1600" b="1" i="0">
                <a:solidFill>
                  <a:srgbClr val="000000"/>
                </a:solidFill>
                <a:latin typeface="Roboto Mono"/>
              </a:rPr>
              <a:t>PART 5 OF 5</a:t>
            </a:r>
          </a:p>
        </p:txBody>
      </p:sp>
      <p:sp>
        <p:nvSpPr>
          <p:cNvPr id="3" name="Title"/>
          <p:cNvSpPr txBox="1"/>
          <p:nvPr/>
        </p:nvSpPr>
        <p:spPr>
          <a:xfrm>
            <a:off x="457200" y="2194560"/>
            <a:ext cx="10241280" cy="4754880"/>
          </a:xfrm>
          <a:prstGeom prst="rect">
            <a:avLst/>
          </a:prstGeom>
          <a:noFill/>
        </p:spPr>
        <p:txBody>
          <a:bodyPr wrap="square" lIns="0" rIns="0" tIns="0" bIns="0" anchor="ctr">
            <a:noAutofit/>
          </a:bodyPr>
          <a:lstStyle/>
          <a:p>
            <a:pPr algn="l">
              <a:lnSpc>
                <a:spcPct val="92000"/>
              </a:lnSpc>
            </a:pPr>
            <a:r>
              <a:rPr sz="7600" b="1" i="0">
                <a:solidFill>
                  <a:srgbClr val="000000"/>
                </a:solidFill>
                <a:latin typeface="Inter"/>
              </a:rPr>
              <a:t>Pitching the API and practice</a:t>
            </a:r>
          </a:p>
        </p:txBody>
      </p:sp>
      <p:sp>
        <p:nvSpPr>
          <p:cNvPr id="4" name="TextBox 3"/>
          <p:cNvSpPr txBox="1"/>
          <p:nvPr/>
        </p:nvSpPr>
        <p:spPr>
          <a:xfrm>
            <a:off x="457200" y="7223760"/>
            <a:ext cx="10424160" cy="365760"/>
          </a:xfrm>
          <a:prstGeom prst="rect">
            <a:avLst/>
          </a:prstGeom>
          <a:noFill/>
        </p:spPr>
        <p:txBody>
          <a:bodyPr wrap="square" lIns="0" rIns="0" tIns="0" bIns="0" anchor="t">
            <a:noAutofit/>
          </a:bodyPr>
          <a:lstStyle/>
          <a:p>
            <a:pPr algn="l"/>
            <a:r>
              <a:rPr sz="2000" b="0" i="0">
                <a:solidFill>
                  <a:srgbClr val="000000"/>
                </a:solidFill>
                <a:latin typeface="Roboto Mono"/>
              </a:rPr>
              <a:t>10 MIN  ·  2 SLIDES</a:t>
            </a:r>
          </a:p>
        </p:txBody>
      </p:sp>
      <p:sp>
        <p:nvSpPr>
          <p:cNvPr id="5" name="TextBox 4"/>
          <p:cNvSpPr txBox="1"/>
          <p:nvPr/>
        </p:nvSpPr>
        <p:spPr>
          <a:xfrm>
            <a:off x="11384280" y="2468880"/>
            <a:ext cx="640080" cy="457200"/>
          </a:xfrm>
          <a:prstGeom prst="rect">
            <a:avLst/>
          </a:prstGeom>
          <a:noFill/>
        </p:spPr>
        <p:txBody>
          <a:bodyPr wrap="square" lIns="0" rIns="0" tIns="0" bIns="0" anchor="ctr">
            <a:noAutofit/>
          </a:bodyPr>
          <a:lstStyle/>
          <a:p>
            <a:pPr algn="l"/>
            <a:r>
              <a:rPr sz="2000" b="0" i="0">
                <a:solidFill>
                  <a:srgbClr val="5C6410"/>
                </a:solidFill>
                <a:latin typeface="Roboto Mono"/>
              </a:rPr>
              <a:t>01</a:t>
            </a:r>
          </a:p>
        </p:txBody>
      </p:sp>
      <p:sp>
        <p:nvSpPr>
          <p:cNvPr id="6" name="TextBox 5"/>
          <p:cNvSpPr txBox="1"/>
          <p:nvPr/>
        </p:nvSpPr>
        <p:spPr>
          <a:xfrm>
            <a:off x="12115800" y="2395728"/>
            <a:ext cx="4572000" cy="676656"/>
          </a:xfrm>
          <a:prstGeom prst="rect">
            <a:avLst/>
          </a:prstGeom>
          <a:noFill/>
        </p:spPr>
        <p:txBody>
          <a:bodyPr wrap="square" lIns="0" rIns="0" tIns="0" bIns="0" anchor="ctr">
            <a:noAutofit/>
          </a:bodyPr>
          <a:lstStyle/>
          <a:p>
            <a:pPr algn="l"/>
            <a:r>
              <a:rPr sz="2200" b="0" i="0">
                <a:solidFill>
                  <a:srgbClr val="5C6410"/>
                </a:solidFill>
                <a:latin typeface="Inter"/>
              </a:rPr>
              <a:t>What an API is, in plain English</a:t>
            </a:r>
          </a:p>
        </p:txBody>
      </p:sp>
      <p:sp>
        <p:nvSpPr>
          <p:cNvPr id="7" name="TextBox 6"/>
          <p:cNvSpPr txBox="1"/>
          <p:nvPr/>
        </p:nvSpPr>
        <p:spPr>
          <a:xfrm>
            <a:off x="16642080" y="2468880"/>
            <a:ext cx="1005840" cy="457200"/>
          </a:xfrm>
          <a:prstGeom prst="rect">
            <a:avLst/>
          </a:prstGeom>
          <a:noFill/>
        </p:spPr>
        <p:txBody>
          <a:bodyPr wrap="square" lIns="0" rIns="0" tIns="0" bIns="0" anchor="ctr">
            <a:noAutofit/>
          </a:bodyPr>
          <a:lstStyle/>
          <a:p>
            <a:pPr algn="r"/>
            <a:r>
              <a:rPr sz="1600" b="0" i="0">
                <a:solidFill>
                  <a:srgbClr val="5C6410"/>
                </a:solidFill>
                <a:latin typeface="Roboto Mono"/>
              </a:rPr>
              <a:t>10 MIN</a:t>
            </a:r>
          </a:p>
        </p:txBody>
      </p:sp>
      <p:sp>
        <p:nvSpPr>
          <p:cNvPr id="8" name="TextBox 7"/>
          <p:cNvSpPr txBox="1"/>
          <p:nvPr/>
        </p:nvSpPr>
        <p:spPr>
          <a:xfrm>
            <a:off x="11384280" y="3547872"/>
            <a:ext cx="640080" cy="457200"/>
          </a:xfrm>
          <a:prstGeom prst="rect">
            <a:avLst/>
          </a:prstGeom>
          <a:noFill/>
        </p:spPr>
        <p:txBody>
          <a:bodyPr wrap="square" lIns="0" rIns="0" tIns="0" bIns="0" anchor="ctr">
            <a:noAutofit/>
          </a:bodyPr>
          <a:lstStyle/>
          <a:p>
            <a:pPr algn="l"/>
            <a:r>
              <a:rPr sz="2000" b="0" i="0">
                <a:solidFill>
                  <a:srgbClr val="5C6410"/>
                </a:solidFill>
                <a:latin typeface="Roboto Mono"/>
              </a:rPr>
              <a:t>02</a:t>
            </a:r>
          </a:p>
        </p:txBody>
      </p:sp>
      <p:sp>
        <p:nvSpPr>
          <p:cNvPr id="9" name="TextBox 8"/>
          <p:cNvSpPr txBox="1"/>
          <p:nvPr/>
        </p:nvSpPr>
        <p:spPr>
          <a:xfrm>
            <a:off x="12115800" y="3474720"/>
            <a:ext cx="4572000" cy="676656"/>
          </a:xfrm>
          <a:prstGeom prst="rect">
            <a:avLst/>
          </a:prstGeom>
          <a:noFill/>
        </p:spPr>
        <p:txBody>
          <a:bodyPr wrap="square" lIns="0" rIns="0" tIns="0" bIns="0" anchor="ctr">
            <a:noAutofit/>
          </a:bodyPr>
          <a:lstStyle/>
          <a:p>
            <a:pPr algn="l"/>
            <a:r>
              <a:rPr sz="2200" b="0" i="0">
                <a:solidFill>
                  <a:srgbClr val="5C6410"/>
                </a:solidFill>
                <a:latin typeface="Inter"/>
              </a:rPr>
              <a:t>How requests and answers work</a:t>
            </a:r>
          </a:p>
        </p:txBody>
      </p:sp>
      <p:sp>
        <p:nvSpPr>
          <p:cNvPr id="10" name="TextBox 9"/>
          <p:cNvSpPr txBox="1"/>
          <p:nvPr/>
        </p:nvSpPr>
        <p:spPr>
          <a:xfrm>
            <a:off x="16642080" y="3547872"/>
            <a:ext cx="1005840" cy="457200"/>
          </a:xfrm>
          <a:prstGeom prst="rect">
            <a:avLst/>
          </a:prstGeom>
          <a:noFill/>
        </p:spPr>
        <p:txBody>
          <a:bodyPr wrap="square" lIns="0" rIns="0" tIns="0" bIns="0" anchor="ctr">
            <a:noAutofit/>
          </a:bodyPr>
          <a:lstStyle/>
          <a:p>
            <a:pPr algn="r"/>
            <a:r>
              <a:rPr sz="1600" b="0" i="0">
                <a:solidFill>
                  <a:srgbClr val="5C6410"/>
                </a:solidFill>
                <a:latin typeface="Roboto Mono"/>
              </a:rPr>
              <a:t>15 MIN</a:t>
            </a:r>
          </a:p>
        </p:txBody>
      </p:sp>
      <p:sp>
        <p:nvSpPr>
          <p:cNvPr id="11" name="TextBox 10"/>
          <p:cNvSpPr txBox="1"/>
          <p:nvPr/>
        </p:nvSpPr>
        <p:spPr>
          <a:xfrm>
            <a:off x="11384280" y="4626864"/>
            <a:ext cx="640080" cy="457200"/>
          </a:xfrm>
          <a:prstGeom prst="rect">
            <a:avLst/>
          </a:prstGeom>
          <a:noFill/>
        </p:spPr>
        <p:txBody>
          <a:bodyPr wrap="square" lIns="0" rIns="0" tIns="0" bIns="0" anchor="ctr">
            <a:noAutofit/>
          </a:bodyPr>
          <a:lstStyle/>
          <a:p>
            <a:pPr algn="l"/>
            <a:r>
              <a:rPr sz="2000" b="0" i="0">
                <a:solidFill>
                  <a:srgbClr val="5C6410"/>
                </a:solidFill>
                <a:latin typeface="Roboto Mono"/>
              </a:rPr>
              <a:t>03</a:t>
            </a:r>
          </a:p>
        </p:txBody>
      </p:sp>
      <p:sp>
        <p:nvSpPr>
          <p:cNvPr id="12" name="TextBox 11"/>
          <p:cNvSpPr txBox="1"/>
          <p:nvPr/>
        </p:nvSpPr>
        <p:spPr>
          <a:xfrm>
            <a:off x="12115800" y="4553712"/>
            <a:ext cx="4572000" cy="676656"/>
          </a:xfrm>
          <a:prstGeom prst="rect">
            <a:avLst/>
          </a:prstGeom>
          <a:noFill/>
        </p:spPr>
        <p:txBody>
          <a:bodyPr wrap="square" lIns="0" rIns="0" tIns="0" bIns="0" anchor="ctr">
            <a:noAutofit/>
          </a:bodyPr>
          <a:lstStyle/>
          <a:p>
            <a:pPr algn="l"/>
            <a:r>
              <a:rPr sz="2200" b="0" i="0">
                <a:solidFill>
                  <a:srgbClr val="5C6410"/>
                </a:solidFill>
                <a:latin typeface="Inter"/>
              </a:rPr>
              <a:t>Getting a customer connected</a:t>
            </a:r>
          </a:p>
        </p:txBody>
      </p:sp>
      <p:sp>
        <p:nvSpPr>
          <p:cNvPr id="13" name="TextBox 12"/>
          <p:cNvSpPr txBox="1"/>
          <p:nvPr/>
        </p:nvSpPr>
        <p:spPr>
          <a:xfrm>
            <a:off x="16642080" y="4626864"/>
            <a:ext cx="1005840" cy="457200"/>
          </a:xfrm>
          <a:prstGeom prst="rect">
            <a:avLst/>
          </a:prstGeom>
          <a:noFill/>
        </p:spPr>
        <p:txBody>
          <a:bodyPr wrap="square" lIns="0" rIns="0" tIns="0" bIns="0" anchor="ctr">
            <a:noAutofit/>
          </a:bodyPr>
          <a:lstStyle/>
          <a:p>
            <a:pPr algn="r"/>
            <a:r>
              <a:rPr sz="1600" b="0" i="0">
                <a:solidFill>
                  <a:srgbClr val="5C6410"/>
                </a:solidFill>
                <a:latin typeface="Roboto Mono"/>
              </a:rPr>
              <a:t>10 MIN</a:t>
            </a:r>
          </a:p>
        </p:txBody>
      </p:sp>
      <p:sp>
        <p:nvSpPr>
          <p:cNvPr id="14" name="TextBox 13"/>
          <p:cNvSpPr txBox="1"/>
          <p:nvPr/>
        </p:nvSpPr>
        <p:spPr>
          <a:xfrm>
            <a:off x="11384280" y="5705855"/>
            <a:ext cx="640080" cy="457200"/>
          </a:xfrm>
          <a:prstGeom prst="rect">
            <a:avLst/>
          </a:prstGeom>
          <a:noFill/>
        </p:spPr>
        <p:txBody>
          <a:bodyPr wrap="square" lIns="0" rIns="0" tIns="0" bIns="0" anchor="ctr">
            <a:noAutofit/>
          </a:bodyPr>
          <a:lstStyle/>
          <a:p>
            <a:pPr algn="l"/>
            <a:r>
              <a:rPr sz="2000" b="0" i="0">
                <a:solidFill>
                  <a:srgbClr val="5C6410"/>
                </a:solidFill>
                <a:latin typeface="Roboto Mono"/>
              </a:rPr>
              <a:t>04</a:t>
            </a:r>
          </a:p>
        </p:txBody>
      </p:sp>
      <p:sp>
        <p:nvSpPr>
          <p:cNvPr id="15" name="TextBox 14"/>
          <p:cNvSpPr txBox="1"/>
          <p:nvPr/>
        </p:nvSpPr>
        <p:spPr>
          <a:xfrm>
            <a:off x="12115800" y="5632703"/>
            <a:ext cx="4572000" cy="676656"/>
          </a:xfrm>
          <a:prstGeom prst="rect">
            <a:avLst/>
          </a:prstGeom>
          <a:noFill/>
        </p:spPr>
        <p:txBody>
          <a:bodyPr wrap="square" lIns="0" rIns="0" tIns="0" bIns="0" anchor="ctr">
            <a:noAutofit/>
          </a:bodyPr>
          <a:lstStyle/>
          <a:p>
            <a:pPr algn="l"/>
            <a:r>
              <a:rPr sz="2200" b="0" i="0">
                <a:solidFill>
                  <a:srgbClr val="5C6410"/>
                </a:solidFill>
                <a:latin typeface="Inter"/>
              </a:rPr>
              <a:t>Hands-on with Postman</a:t>
            </a:r>
          </a:p>
        </p:txBody>
      </p:sp>
      <p:sp>
        <p:nvSpPr>
          <p:cNvPr id="16" name="TextBox 15"/>
          <p:cNvSpPr txBox="1"/>
          <p:nvPr/>
        </p:nvSpPr>
        <p:spPr>
          <a:xfrm>
            <a:off x="16642080" y="5705855"/>
            <a:ext cx="1005840" cy="457200"/>
          </a:xfrm>
          <a:prstGeom prst="rect">
            <a:avLst/>
          </a:prstGeom>
          <a:noFill/>
        </p:spPr>
        <p:txBody>
          <a:bodyPr wrap="square" lIns="0" rIns="0" tIns="0" bIns="0" anchor="ctr">
            <a:noAutofit/>
          </a:bodyPr>
          <a:lstStyle/>
          <a:p>
            <a:pPr algn="r"/>
            <a:r>
              <a:rPr sz="1600" b="0" i="0">
                <a:solidFill>
                  <a:srgbClr val="5C6410"/>
                </a:solidFill>
                <a:latin typeface="Roboto Mono"/>
              </a:rPr>
              <a:t>30 MIN</a:t>
            </a:r>
          </a:p>
        </p:txBody>
      </p:sp>
      <p:sp>
        <p:nvSpPr>
          <p:cNvPr id="17" name="Rectangle 16"/>
          <p:cNvSpPr/>
          <p:nvPr/>
        </p:nvSpPr>
        <p:spPr>
          <a:xfrm>
            <a:off x="11155680" y="6583679"/>
            <a:ext cx="6675120" cy="896112"/>
          </a:xfrm>
          <a:prstGeom prst="rect">
            <a:avLst/>
          </a:prstGeom>
          <a:solidFill>
            <a:srgbClr val="FFFFFF"/>
          </a:solidFill>
          <a:ln w="15875">
            <a:solidFill>
              <a:srgbClr val="000000"/>
            </a:solidFill>
          </a:ln>
        </p:spPr>
        <p:txBody>
          <a:bodyPr rtlCol="0" anchor="ctr"/>
          <a:lstStyle/>
          <a:p>
            <a:pPr algn="ctr"/>
          </a:p>
        </p:txBody>
      </p:sp>
      <p:sp>
        <p:nvSpPr>
          <p:cNvPr id="18" name="TextBox 17"/>
          <p:cNvSpPr txBox="1"/>
          <p:nvPr/>
        </p:nvSpPr>
        <p:spPr>
          <a:xfrm>
            <a:off x="11384280" y="6784847"/>
            <a:ext cx="640080" cy="457200"/>
          </a:xfrm>
          <a:prstGeom prst="rect">
            <a:avLst/>
          </a:prstGeom>
          <a:noFill/>
        </p:spPr>
        <p:txBody>
          <a:bodyPr wrap="square" lIns="0" rIns="0" tIns="0" bIns="0" anchor="ctr">
            <a:noAutofit/>
          </a:bodyPr>
          <a:lstStyle/>
          <a:p>
            <a:pPr algn="l"/>
            <a:r>
              <a:rPr sz="2000" b="0" i="0">
                <a:solidFill>
                  <a:srgbClr val="000000"/>
                </a:solidFill>
                <a:latin typeface="Roboto Mono"/>
              </a:rPr>
              <a:t>05</a:t>
            </a:r>
          </a:p>
        </p:txBody>
      </p:sp>
      <p:sp>
        <p:nvSpPr>
          <p:cNvPr id="19" name="TextBox 18"/>
          <p:cNvSpPr txBox="1"/>
          <p:nvPr/>
        </p:nvSpPr>
        <p:spPr>
          <a:xfrm>
            <a:off x="12115800" y="6711695"/>
            <a:ext cx="4572000" cy="676656"/>
          </a:xfrm>
          <a:prstGeom prst="rect">
            <a:avLst/>
          </a:prstGeom>
          <a:noFill/>
        </p:spPr>
        <p:txBody>
          <a:bodyPr wrap="square" lIns="0" rIns="0" tIns="0" bIns="0" anchor="ctr">
            <a:noAutofit/>
          </a:bodyPr>
          <a:lstStyle/>
          <a:p>
            <a:pPr algn="l"/>
            <a:r>
              <a:rPr sz="2200" b="1" i="0">
                <a:solidFill>
                  <a:srgbClr val="000000"/>
                </a:solidFill>
                <a:latin typeface="Inter"/>
              </a:rPr>
              <a:t>Pitching the API and practice</a:t>
            </a:r>
          </a:p>
        </p:txBody>
      </p:sp>
      <p:sp>
        <p:nvSpPr>
          <p:cNvPr id="20" name="TextBox 19"/>
          <p:cNvSpPr txBox="1"/>
          <p:nvPr/>
        </p:nvSpPr>
        <p:spPr>
          <a:xfrm>
            <a:off x="16642080" y="6784847"/>
            <a:ext cx="1005840" cy="457200"/>
          </a:xfrm>
          <a:prstGeom prst="rect">
            <a:avLst/>
          </a:prstGeom>
          <a:noFill/>
        </p:spPr>
        <p:txBody>
          <a:bodyPr wrap="square" lIns="0" rIns="0" tIns="0" bIns="0" anchor="ctr">
            <a:noAutofit/>
          </a:bodyPr>
          <a:lstStyle/>
          <a:p>
            <a:pPr algn="r"/>
            <a:r>
              <a:rPr sz="1600" b="0" i="0">
                <a:solidFill>
                  <a:srgbClr val="000000"/>
                </a:solidFill>
                <a:latin typeface="Roboto Mono"/>
              </a:rPr>
              <a:t>10 MIN</a:t>
            </a:r>
          </a:p>
        </p:txBody>
      </p:sp>
      <p:pic>
        <p:nvPicPr>
          <p:cNvPr id="21" name="Picture 20" descr="s5_1.png"/>
          <p:cNvPicPr>
            <a:picLocks noChangeAspect="1"/>
          </p:cNvPicPr>
          <p:nvPr/>
        </p:nvPicPr>
        <p:blipFill>
          <a:blip r:embed="rId2"/>
          <a:stretch>
            <a:fillRect/>
          </a:stretch>
        </p:blipFill>
        <p:spPr>
          <a:xfrm>
            <a:off x="457200" y="9701784"/>
            <a:ext cx="1344168" cy="310896"/>
          </a:xfrm>
          <a:prstGeom prst="rect">
            <a:avLst/>
          </a:prstGeom>
        </p:spPr>
      </p:pic>
      <p:sp>
        <p:nvSpPr>
          <p:cNvPr id="22" name="TextBox 21"/>
          <p:cNvSpPr txBox="1"/>
          <p:nvPr/>
        </p:nvSpPr>
        <p:spPr>
          <a:xfrm>
            <a:off x="15983712" y="9692640"/>
            <a:ext cx="1828800" cy="338328"/>
          </a:xfrm>
          <a:prstGeom prst="rect">
            <a:avLst/>
          </a:prstGeom>
          <a:noFill/>
        </p:spPr>
        <p:txBody>
          <a:bodyPr wrap="square" lIns="0" rIns="0" tIns="0" bIns="0" anchor="t">
            <a:noAutofit/>
          </a:bodyPr>
          <a:lstStyle/>
          <a:p>
            <a:pPr algn="r"/>
            <a:r>
              <a:rPr sz="1800" b="0" i="0">
                <a:solidFill>
                  <a:srgbClr val="000000"/>
                </a:solidFill>
                <a:latin typeface="Roboto Mono"/>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AFAED"/>
        </a:solidFill>
        <a:effectLst/>
      </p:bgPr>
    </p:bg>
    <p:spTree>
      <p:nvGrpSpPr>
        <p:cNvPr id="1" name=""/>
        <p:cNvGrpSpPr/>
        <p:nvPr/>
      </p:nvGrpSpPr>
      <p:grpSpPr/>
      <p:pic>
        <p:nvPicPr>
          <p:cNvPr id="2" name="Picture 1" descr="s1_0.png"/>
          <p:cNvPicPr>
            <a:picLocks noChangeAspect="1"/>
          </p:cNvPicPr>
          <p:nvPr/>
        </p:nvPicPr>
        <p:blipFill>
          <a:blip r:embed="rId2"/>
          <a:stretch>
            <a:fillRect/>
          </a:stretch>
        </p:blipFill>
        <p:spPr>
          <a:xfrm>
            <a:off x="475488" y="594360"/>
            <a:ext cx="1655064" cy="384048"/>
          </a:xfrm>
          <a:prstGeom prst="rect">
            <a:avLst/>
          </a:prstGeom>
        </p:spPr>
      </p:pic>
      <p:sp>
        <p:nvSpPr>
          <p:cNvPr id="3" name="Rectangle 2"/>
          <p:cNvSpPr/>
          <p:nvPr/>
        </p:nvSpPr>
        <p:spPr>
          <a:xfrm>
            <a:off x="2441448" y="777240"/>
            <a:ext cx="15371064" cy="10972"/>
          </a:xfrm>
          <a:prstGeom prst="rect">
            <a:avLst/>
          </a:prstGeom>
          <a:solidFill>
            <a:srgbClr val="000000"/>
          </a:solidFill>
          <a:ln>
            <a:noFill/>
          </a:ln>
        </p:spPr>
        <p:txBody>
          <a:bodyPr rtlCol="0" anchor="ctr"/>
          <a:lstStyle/>
          <a:p>
            <a:pPr algn="ctr"/>
          </a:p>
        </p:txBody>
      </p:sp>
      <p:sp>
        <p:nvSpPr>
          <p:cNvPr id="4" name="TextBox 3"/>
          <p:cNvSpPr txBox="1"/>
          <p:nvPr/>
        </p:nvSpPr>
        <p:spPr>
          <a:xfrm>
            <a:off x="475488" y="1527048"/>
            <a:ext cx="10972800" cy="365760"/>
          </a:xfrm>
          <a:prstGeom prst="rect">
            <a:avLst/>
          </a:prstGeom>
          <a:noFill/>
        </p:spPr>
        <p:txBody>
          <a:bodyPr wrap="square" lIns="0" rIns="0" tIns="0" bIns="0" anchor="t">
            <a:noAutofit/>
          </a:bodyPr>
          <a:lstStyle/>
          <a:p>
            <a:pPr algn="l"/>
            <a:r>
              <a:rPr sz="1800" b="0" i="0">
                <a:solidFill>
                  <a:srgbClr val="000000"/>
                </a:solidFill>
                <a:latin typeface="Roboto Mono"/>
              </a:rPr>
              <a:t>PART 5 · PITCHING AND PRACTICE</a:t>
            </a:r>
          </a:p>
        </p:txBody>
      </p:sp>
      <p:sp>
        <p:nvSpPr>
          <p:cNvPr id="5" name="Title"/>
          <p:cNvSpPr txBox="1"/>
          <p:nvPr/>
        </p:nvSpPr>
        <p:spPr>
          <a:xfrm>
            <a:off x="475488" y="2011680"/>
            <a:ext cx="17337024" cy="868680"/>
          </a:xfrm>
          <a:prstGeom prst="rect">
            <a:avLst/>
          </a:prstGeom>
          <a:noFill/>
        </p:spPr>
        <p:txBody>
          <a:bodyPr wrap="square" lIns="0" rIns="0" tIns="0" bIns="0" anchor="t">
            <a:noAutofit/>
          </a:bodyPr>
          <a:lstStyle/>
          <a:p>
            <a:pPr algn="l">
              <a:lnSpc>
                <a:spcPct val="95000"/>
              </a:lnSpc>
            </a:pPr>
            <a:r>
              <a:rPr sz="4600" b="1" i="0">
                <a:solidFill>
                  <a:srgbClr val="000000"/>
                </a:solidFill>
                <a:latin typeface="Inter"/>
              </a:rPr>
              <a:t>Talking about the API with customers</a:t>
            </a:r>
          </a:p>
        </p:txBody>
      </p:sp>
      <p:sp>
        <p:nvSpPr>
          <p:cNvPr id="6" name="Rectangle 5"/>
          <p:cNvSpPr/>
          <p:nvPr/>
        </p:nvSpPr>
        <p:spPr>
          <a:xfrm>
            <a:off x="475488" y="9189720"/>
            <a:ext cx="17337024" cy="10972"/>
          </a:xfrm>
          <a:prstGeom prst="rect">
            <a:avLst/>
          </a:prstGeom>
          <a:solidFill>
            <a:srgbClr val="000000"/>
          </a:solidFill>
          <a:ln>
            <a:noFill/>
          </a:ln>
        </p:spPr>
        <p:txBody>
          <a:bodyPr rtlCol="0" anchor="ctr"/>
          <a:lstStyle/>
          <a:p>
            <a:pPr algn="ctr"/>
          </a:p>
        </p:txBody>
      </p:sp>
      <p:sp>
        <p:nvSpPr>
          <p:cNvPr id="7" name="TextBox 6"/>
          <p:cNvSpPr txBox="1"/>
          <p:nvPr/>
        </p:nvSpPr>
        <p:spPr>
          <a:xfrm>
            <a:off x="475488" y="9354312"/>
            <a:ext cx="2743200" cy="338328"/>
          </a:xfrm>
          <a:prstGeom prst="rect">
            <a:avLst/>
          </a:prstGeom>
          <a:noFill/>
        </p:spPr>
        <p:txBody>
          <a:bodyPr wrap="square" lIns="0" rIns="0" tIns="0" bIns="0" anchor="t">
            <a:noAutofit/>
          </a:bodyPr>
          <a:lstStyle/>
          <a:p>
            <a:pPr algn="l"/>
            <a:r>
              <a:rPr sz="1800" b="0" i="0">
                <a:solidFill>
                  <a:srgbClr val="000000"/>
                </a:solidFill>
                <a:latin typeface="Roboto Mono"/>
              </a:rPr>
              <a:t>CALIRA.CO</a:t>
            </a:r>
          </a:p>
        </p:txBody>
      </p:sp>
      <p:sp>
        <p:nvSpPr>
          <p:cNvPr id="8" name="TextBox 7"/>
          <p:cNvSpPr txBox="1"/>
          <p:nvPr/>
        </p:nvSpPr>
        <p:spPr>
          <a:xfrm>
            <a:off x="15983712" y="9354312"/>
            <a:ext cx="1828800" cy="338328"/>
          </a:xfrm>
          <a:prstGeom prst="rect">
            <a:avLst/>
          </a:prstGeom>
          <a:noFill/>
        </p:spPr>
        <p:txBody>
          <a:bodyPr wrap="square" lIns="0" rIns="0" tIns="0" bIns="0" anchor="t">
            <a:noAutofit/>
          </a:bodyPr>
          <a:lstStyle/>
          <a:p>
            <a:pPr algn="r"/>
            <a:r>
              <a:rPr sz="1800" b="0" i="0">
                <a:solidFill>
                  <a:srgbClr val="000000"/>
                </a:solidFill>
                <a:latin typeface="Roboto Mono"/>
              </a:rPr>
              <a:t>33</a:t>
            </a:r>
          </a:p>
        </p:txBody>
      </p:sp>
      <p:sp>
        <p:nvSpPr>
          <p:cNvPr id="9" name="Rectangle 8"/>
          <p:cNvSpPr/>
          <p:nvPr/>
        </p:nvSpPr>
        <p:spPr>
          <a:xfrm>
            <a:off x="475488" y="3154680"/>
            <a:ext cx="9692640" cy="1554480"/>
          </a:xfrm>
          <a:prstGeom prst="rect">
            <a:avLst/>
          </a:prstGeom>
          <a:solidFill>
            <a:srgbClr val="FFFFFF"/>
          </a:solidFill>
          <a:ln w="12700">
            <a:solidFill>
              <a:srgbClr val="000000"/>
            </a:solidFill>
          </a:ln>
        </p:spPr>
        <p:txBody>
          <a:bodyPr rtlCol="0" anchor="ctr"/>
          <a:lstStyle/>
          <a:p>
            <a:pPr algn="ctr"/>
          </a:p>
        </p:txBody>
      </p:sp>
      <p:pic>
        <p:nvPicPr>
          <p:cNvPr id="10" name="Picture 9" descr="plug.png"/>
          <p:cNvPicPr>
            <a:picLocks noChangeAspect="1"/>
          </p:cNvPicPr>
          <p:nvPr/>
        </p:nvPicPr>
        <p:blipFill>
          <a:blip r:embed="rId3"/>
          <a:stretch>
            <a:fillRect/>
          </a:stretch>
        </p:blipFill>
        <p:spPr>
          <a:xfrm>
            <a:off x="795528" y="3657600"/>
            <a:ext cx="594360" cy="594360"/>
          </a:xfrm>
          <a:prstGeom prst="rect">
            <a:avLst/>
          </a:prstGeom>
        </p:spPr>
      </p:pic>
      <p:sp>
        <p:nvSpPr>
          <p:cNvPr id="11" name="TextBox 10"/>
          <p:cNvSpPr txBox="1"/>
          <p:nvPr/>
        </p:nvSpPr>
        <p:spPr>
          <a:xfrm>
            <a:off x="1755648" y="3355848"/>
            <a:ext cx="8229600" cy="457200"/>
          </a:xfrm>
          <a:prstGeom prst="rect">
            <a:avLst/>
          </a:prstGeom>
          <a:noFill/>
        </p:spPr>
        <p:txBody>
          <a:bodyPr wrap="square" lIns="0" rIns="0" tIns="0" bIns="0" anchor="t">
            <a:noAutofit/>
          </a:bodyPr>
          <a:lstStyle/>
          <a:p>
            <a:pPr algn="l"/>
            <a:r>
              <a:rPr sz="2400" b="1" i="0">
                <a:solidFill>
                  <a:srgbClr val="000000"/>
                </a:solidFill>
                <a:latin typeface="Inter"/>
              </a:rPr>
              <a:t>Connect Calira to the tools they already use</a:t>
            </a:r>
          </a:p>
        </p:txBody>
      </p:sp>
      <p:sp>
        <p:nvSpPr>
          <p:cNvPr id="12" name="TextBox 11"/>
          <p:cNvSpPr txBox="1"/>
          <p:nvPr/>
        </p:nvSpPr>
        <p:spPr>
          <a:xfrm>
            <a:off x="1755648" y="3867912"/>
            <a:ext cx="8229600" cy="822960"/>
          </a:xfrm>
          <a:prstGeom prst="rect">
            <a:avLst/>
          </a:prstGeom>
          <a:noFill/>
        </p:spPr>
        <p:txBody>
          <a:bodyPr wrap="square" lIns="0" rIns="0" tIns="0" bIns="0" anchor="t">
            <a:noAutofit/>
          </a:bodyPr>
          <a:lstStyle/>
          <a:p>
            <a:pPr algn="l"/>
            <a:r>
              <a:rPr sz="1900" b="0" i="0">
                <a:solidFill>
                  <a:srgbClr val="2C2825"/>
                </a:solidFill>
                <a:latin typeface="Inter"/>
              </a:rPr>
              <a:t>Keep lab systems in step without anyone re-typing bookings or equipment lists.</a:t>
            </a:r>
          </a:p>
        </p:txBody>
      </p:sp>
      <p:sp>
        <p:nvSpPr>
          <p:cNvPr id="13" name="Rectangle 12"/>
          <p:cNvSpPr/>
          <p:nvPr/>
        </p:nvSpPr>
        <p:spPr>
          <a:xfrm>
            <a:off x="475488" y="4846320"/>
            <a:ext cx="9692640" cy="1554480"/>
          </a:xfrm>
          <a:prstGeom prst="rect">
            <a:avLst/>
          </a:prstGeom>
          <a:solidFill>
            <a:srgbClr val="FFFFFF"/>
          </a:solidFill>
          <a:ln w="12700">
            <a:solidFill>
              <a:srgbClr val="000000"/>
            </a:solidFill>
          </a:ln>
        </p:spPr>
        <p:txBody>
          <a:bodyPr rtlCol="0" anchor="ctr"/>
          <a:lstStyle/>
          <a:p>
            <a:pPr algn="ctr"/>
          </a:p>
        </p:txBody>
      </p:sp>
      <p:pic>
        <p:nvPicPr>
          <p:cNvPr id="14" name="Picture 13" descr="chart.png"/>
          <p:cNvPicPr>
            <a:picLocks noChangeAspect="1"/>
          </p:cNvPicPr>
          <p:nvPr/>
        </p:nvPicPr>
        <p:blipFill>
          <a:blip r:embed="rId4"/>
          <a:stretch>
            <a:fillRect/>
          </a:stretch>
        </p:blipFill>
        <p:spPr>
          <a:xfrm>
            <a:off x="795528" y="5349240"/>
            <a:ext cx="594360" cy="594360"/>
          </a:xfrm>
          <a:prstGeom prst="rect">
            <a:avLst/>
          </a:prstGeom>
        </p:spPr>
      </p:pic>
      <p:sp>
        <p:nvSpPr>
          <p:cNvPr id="15" name="TextBox 14"/>
          <p:cNvSpPr txBox="1"/>
          <p:nvPr/>
        </p:nvSpPr>
        <p:spPr>
          <a:xfrm>
            <a:off x="1755648" y="5047488"/>
            <a:ext cx="8229600" cy="457200"/>
          </a:xfrm>
          <a:prstGeom prst="rect">
            <a:avLst/>
          </a:prstGeom>
          <a:noFill/>
        </p:spPr>
        <p:txBody>
          <a:bodyPr wrap="square" lIns="0" rIns="0" tIns="0" bIns="0" anchor="t">
            <a:noAutofit/>
          </a:bodyPr>
          <a:lstStyle/>
          <a:p>
            <a:pPr algn="l"/>
            <a:r>
              <a:rPr sz="2400" b="1" i="0">
                <a:solidFill>
                  <a:srgbClr val="000000"/>
                </a:solidFill>
                <a:latin typeface="Inter"/>
              </a:rPr>
              <a:t>Get their data out</a:t>
            </a:r>
          </a:p>
        </p:txBody>
      </p:sp>
      <p:sp>
        <p:nvSpPr>
          <p:cNvPr id="16" name="TextBox 15"/>
          <p:cNvSpPr txBox="1"/>
          <p:nvPr/>
        </p:nvSpPr>
        <p:spPr>
          <a:xfrm>
            <a:off x="1755648" y="5559552"/>
            <a:ext cx="8229600" cy="822960"/>
          </a:xfrm>
          <a:prstGeom prst="rect">
            <a:avLst/>
          </a:prstGeom>
          <a:noFill/>
        </p:spPr>
        <p:txBody>
          <a:bodyPr wrap="square" lIns="0" rIns="0" tIns="0" bIns="0" anchor="t">
            <a:noAutofit/>
          </a:bodyPr>
          <a:lstStyle/>
          <a:p>
            <a:pPr algn="l"/>
            <a:r>
              <a:rPr sz="1900" b="0" i="0">
                <a:solidFill>
                  <a:srgbClr val="2C2825"/>
                </a:solidFill>
                <a:latin typeface="Inter"/>
              </a:rPr>
              <a:t>Pull bookings, equipment and projects into their own reports and dashboards.</a:t>
            </a:r>
          </a:p>
        </p:txBody>
      </p:sp>
      <p:sp>
        <p:nvSpPr>
          <p:cNvPr id="17" name="Rectangle 16"/>
          <p:cNvSpPr/>
          <p:nvPr/>
        </p:nvSpPr>
        <p:spPr>
          <a:xfrm>
            <a:off x="475488" y="6537960"/>
            <a:ext cx="9692640" cy="1554480"/>
          </a:xfrm>
          <a:prstGeom prst="rect">
            <a:avLst/>
          </a:prstGeom>
          <a:solidFill>
            <a:srgbClr val="FFFFFF"/>
          </a:solidFill>
          <a:ln w="12700">
            <a:solidFill>
              <a:srgbClr val="000000"/>
            </a:solidFill>
          </a:ln>
        </p:spPr>
        <p:txBody>
          <a:bodyPr rtlCol="0" anchor="ctr"/>
          <a:lstStyle/>
          <a:p>
            <a:pPr algn="ctr"/>
          </a:p>
        </p:txBody>
      </p:sp>
      <p:pic>
        <p:nvPicPr>
          <p:cNvPr id="18" name="Picture 17" descr="pencil.png"/>
          <p:cNvPicPr>
            <a:picLocks noChangeAspect="1"/>
          </p:cNvPicPr>
          <p:nvPr/>
        </p:nvPicPr>
        <p:blipFill>
          <a:blip r:embed="rId5"/>
          <a:stretch>
            <a:fillRect/>
          </a:stretch>
        </p:blipFill>
        <p:spPr>
          <a:xfrm>
            <a:off x="795528" y="7040880"/>
            <a:ext cx="594360" cy="594360"/>
          </a:xfrm>
          <a:prstGeom prst="rect">
            <a:avLst/>
          </a:prstGeom>
        </p:spPr>
      </p:pic>
      <p:sp>
        <p:nvSpPr>
          <p:cNvPr id="19" name="TextBox 18"/>
          <p:cNvSpPr txBox="1"/>
          <p:nvPr/>
        </p:nvSpPr>
        <p:spPr>
          <a:xfrm>
            <a:off x="1755648" y="6739128"/>
            <a:ext cx="8229600" cy="457200"/>
          </a:xfrm>
          <a:prstGeom prst="rect">
            <a:avLst/>
          </a:prstGeom>
          <a:noFill/>
        </p:spPr>
        <p:txBody>
          <a:bodyPr wrap="square" lIns="0" rIns="0" tIns="0" bIns="0" anchor="t">
            <a:noAutofit/>
          </a:bodyPr>
          <a:lstStyle/>
          <a:p>
            <a:pPr algn="l"/>
            <a:r>
              <a:rPr sz="2400" b="1" i="0">
                <a:solidFill>
                  <a:srgbClr val="000000"/>
                </a:solidFill>
                <a:latin typeface="Inter"/>
              </a:rPr>
              <a:t>Create and change things automatically</a:t>
            </a:r>
          </a:p>
        </p:txBody>
      </p:sp>
      <p:sp>
        <p:nvSpPr>
          <p:cNvPr id="20" name="TextBox 19"/>
          <p:cNvSpPr txBox="1"/>
          <p:nvPr/>
        </p:nvSpPr>
        <p:spPr>
          <a:xfrm>
            <a:off x="1755648" y="7251192"/>
            <a:ext cx="8229600" cy="822960"/>
          </a:xfrm>
          <a:prstGeom prst="rect">
            <a:avLst/>
          </a:prstGeom>
          <a:noFill/>
        </p:spPr>
        <p:txBody>
          <a:bodyPr wrap="square" lIns="0" rIns="0" tIns="0" bIns="0" anchor="t">
            <a:noAutofit/>
          </a:bodyPr>
          <a:lstStyle/>
          <a:p>
            <a:pPr algn="l"/>
            <a:r>
              <a:rPr sz="1900" b="0" i="0">
                <a:solidFill>
                  <a:srgbClr val="2C2825"/>
                </a:solidFill>
                <a:latin typeface="Inter"/>
              </a:rPr>
              <a:t>Book equipment, add notes and update equipment records from other systems.</a:t>
            </a:r>
          </a:p>
        </p:txBody>
      </p:sp>
      <p:sp>
        <p:nvSpPr>
          <p:cNvPr id="21" name="Rectangle 20"/>
          <p:cNvSpPr/>
          <p:nvPr/>
        </p:nvSpPr>
        <p:spPr>
          <a:xfrm>
            <a:off x="10424160" y="3154680"/>
            <a:ext cx="7388352" cy="4983480"/>
          </a:xfrm>
          <a:prstGeom prst="rect">
            <a:avLst/>
          </a:prstGeom>
          <a:solidFill>
            <a:srgbClr val="FFFFFF"/>
          </a:solidFill>
          <a:ln w="12700">
            <a:solidFill>
              <a:srgbClr val="000000"/>
            </a:solidFill>
          </a:ln>
        </p:spPr>
        <p:txBody>
          <a:bodyPr rtlCol="0" anchor="ctr"/>
          <a:lstStyle/>
          <a:p>
            <a:pPr algn="ctr"/>
          </a:p>
        </p:txBody>
      </p:sp>
      <p:sp>
        <p:nvSpPr>
          <p:cNvPr id="22" name="TextBox 21"/>
          <p:cNvSpPr txBox="1"/>
          <p:nvPr/>
        </p:nvSpPr>
        <p:spPr>
          <a:xfrm>
            <a:off x="10789920" y="3429000"/>
            <a:ext cx="6400800" cy="365760"/>
          </a:xfrm>
          <a:prstGeom prst="rect">
            <a:avLst/>
          </a:prstGeom>
          <a:noFill/>
        </p:spPr>
        <p:txBody>
          <a:bodyPr wrap="square" lIns="0" rIns="0" tIns="0" bIns="0" anchor="t">
            <a:noAutofit/>
          </a:bodyPr>
          <a:lstStyle/>
          <a:p>
            <a:pPr algn="l"/>
            <a:r>
              <a:rPr sz="1600" b="0" i="0">
                <a:solidFill>
                  <a:srgbClr val="000000"/>
                </a:solidFill>
                <a:latin typeface="Roboto Mono"/>
              </a:rPr>
              <a:t>QUESTIONS TO ASK</a:t>
            </a:r>
          </a:p>
        </p:txBody>
      </p:sp>
      <p:sp>
        <p:nvSpPr>
          <p:cNvPr id="23" name="Oval 22"/>
          <p:cNvSpPr/>
          <p:nvPr/>
        </p:nvSpPr>
        <p:spPr>
          <a:xfrm>
            <a:off x="10789920" y="4041648"/>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1</a:t>
            </a:r>
          </a:p>
        </p:txBody>
      </p:sp>
      <p:sp>
        <p:nvSpPr>
          <p:cNvPr id="24" name="TextBox 23"/>
          <p:cNvSpPr txBox="1"/>
          <p:nvPr/>
        </p:nvSpPr>
        <p:spPr>
          <a:xfrm>
            <a:off x="11475720" y="4023360"/>
            <a:ext cx="6035040" cy="1005840"/>
          </a:xfrm>
          <a:prstGeom prst="rect">
            <a:avLst/>
          </a:prstGeom>
          <a:noFill/>
        </p:spPr>
        <p:txBody>
          <a:bodyPr wrap="square" lIns="0" rIns="0" tIns="0" bIns="0" anchor="t">
            <a:noAutofit/>
          </a:bodyPr>
          <a:lstStyle/>
          <a:p>
            <a:pPr algn="l"/>
            <a:r>
              <a:rPr sz="2000" b="0" i="0">
                <a:solidFill>
                  <a:srgbClr val="000000"/>
                </a:solidFill>
                <a:latin typeface="Inter"/>
              </a:rPr>
              <a:t>Which systems do your scientists use every day?</a:t>
            </a:r>
          </a:p>
        </p:txBody>
      </p:sp>
      <p:sp>
        <p:nvSpPr>
          <p:cNvPr id="25" name="Oval 24"/>
          <p:cNvSpPr/>
          <p:nvPr/>
        </p:nvSpPr>
        <p:spPr>
          <a:xfrm>
            <a:off x="10789920" y="5065776"/>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2</a:t>
            </a:r>
          </a:p>
        </p:txBody>
      </p:sp>
      <p:sp>
        <p:nvSpPr>
          <p:cNvPr id="26" name="TextBox 25"/>
          <p:cNvSpPr txBox="1"/>
          <p:nvPr/>
        </p:nvSpPr>
        <p:spPr>
          <a:xfrm>
            <a:off x="11475720" y="5047488"/>
            <a:ext cx="6035040" cy="1005840"/>
          </a:xfrm>
          <a:prstGeom prst="rect">
            <a:avLst/>
          </a:prstGeom>
          <a:noFill/>
        </p:spPr>
        <p:txBody>
          <a:bodyPr wrap="square" lIns="0" rIns="0" tIns="0" bIns="0" anchor="t">
            <a:noAutofit/>
          </a:bodyPr>
          <a:lstStyle/>
          <a:p>
            <a:pPr algn="l"/>
            <a:r>
              <a:rPr sz="2000" b="0" i="0">
                <a:solidFill>
                  <a:srgbClr val="000000"/>
                </a:solidFill>
                <a:latin typeface="Inter"/>
              </a:rPr>
              <a:t>Do you report on instrument use somewhere else today?</a:t>
            </a:r>
          </a:p>
        </p:txBody>
      </p:sp>
      <p:sp>
        <p:nvSpPr>
          <p:cNvPr id="27" name="Oval 26"/>
          <p:cNvSpPr/>
          <p:nvPr/>
        </p:nvSpPr>
        <p:spPr>
          <a:xfrm>
            <a:off x="10789920" y="6089904"/>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3</a:t>
            </a:r>
          </a:p>
        </p:txBody>
      </p:sp>
      <p:sp>
        <p:nvSpPr>
          <p:cNvPr id="28" name="TextBox 27"/>
          <p:cNvSpPr txBox="1"/>
          <p:nvPr/>
        </p:nvSpPr>
        <p:spPr>
          <a:xfrm>
            <a:off x="11475720" y="6071616"/>
            <a:ext cx="6035040" cy="1005840"/>
          </a:xfrm>
          <a:prstGeom prst="rect">
            <a:avLst/>
          </a:prstGeom>
          <a:noFill/>
        </p:spPr>
        <p:txBody>
          <a:bodyPr wrap="square" lIns="0" rIns="0" tIns="0" bIns="0" anchor="t">
            <a:noAutofit/>
          </a:bodyPr>
          <a:lstStyle/>
          <a:p>
            <a:pPr algn="l"/>
            <a:r>
              <a:rPr sz="2000" b="0" i="0">
                <a:solidFill>
                  <a:srgbClr val="000000"/>
                </a:solidFill>
                <a:latin typeface="Inter"/>
              </a:rPr>
              <a:t>Is anything re-typed or copied into spreadsheets?</a:t>
            </a:r>
          </a:p>
        </p:txBody>
      </p:sp>
      <p:sp>
        <p:nvSpPr>
          <p:cNvPr id="29" name="Oval 28"/>
          <p:cNvSpPr/>
          <p:nvPr/>
        </p:nvSpPr>
        <p:spPr>
          <a:xfrm>
            <a:off x="10789920" y="7114032"/>
            <a:ext cx="457200" cy="457200"/>
          </a:xfrm>
          <a:prstGeom prst="ellipse">
            <a:avLst/>
          </a:prstGeom>
          <a:solidFill>
            <a:srgbClr val="E8FC2E"/>
          </a:solidFill>
          <a:ln w="12700">
            <a:solidFill>
              <a:srgbClr val="000000"/>
            </a:solidFill>
          </a:ln>
        </p:spPr>
        <p:txBody>
          <a:bodyPr rtlCol="0" anchor="ctr" wrap="none" lIns="0" rIns="0" tIns="0" bIns="0">
            <a:noAutofit/>
          </a:bodyPr>
          <a:lstStyle/>
          <a:p>
            <a:pPr algn="ctr"/>
            <a:r>
              <a:rPr sz="1800" b="1" i="0">
                <a:solidFill>
                  <a:srgbClr val="000000"/>
                </a:solidFill>
                <a:latin typeface="Inter"/>
              </a:rPr>
              <a:t>4</a:t>
            </a:r>
          </a:p>
        </p:txBody>
      </p:sp>
      <p:sp>
        <p:nvSpPr>
          <p:cNvPr id="30" name="TextBox 29"/>
          <p:cNvSpPr txBox="1"/>
          <p:nvPr/>
        </p:nvSpPr>
        <p:spPr>
          <a:xfrm>
            <a:off x="11475720" y="7095744"/>
            <a:ext cx="6035040" cy="1005840"/>
          </a:xfrm>
          <a:prstGeom prst="rect">
            <a:avLst/>
          </a:prstGeom>
          <a:noFill/>
        </p:spPr>
        <p:txBody>
          <a:bodyPr wrap="square" lIns="0" rIns="0" tIns="0" bIns="0" anchor="t">
            <a:noAutofit/>
          </a:bodyPr>
          <a:lstStyle/>
          <a:p>
            <a:pPr algn="l"/>
            <a:r>
              <a:rPr sz="2000" b="0" i="0">
                <a:solidFill>
                  <a:srgbClr val="000000"/>
                </a:solidFill>
                <a:latin typeface="Inter"/>
              </a:rPr>
              <a:t>Who would build or own the connection: IT or a vendor?</a:t>
            </a:r>
          </a:p>
        </p:txBody>
      </p:sp>
      <p:sp>
        <p:nvSpPr>
          <p:cNvPr id="31" name="Rectangle 30"/>
          <p:cNvSpPr/>
          <p:nvPr/>
        </p:nvSpPr>
        <p:spPr>
          <a:xfrm>
            <a:off x="475488" y="8503920"/>
            <a:ext cx="17337024" cy="457200"/>
          </a:xfrm>
          <a:prstGeom prst="rect">
            <a:avLst/>
          </a:prstGeom>
          <a:solidFill>
            <a:srgbClr val="E8FC2E"/>
          </a:solidFill>
          <a:ln w="12700">
            <a:solidFill>
              <a:srgbClr val="000000"/>
            </a:solidFill>
          </a:ln>
        </p:spPr>
        <p:txBody>
          <a:bodyPr rtlCol="0" anchor="ctr"/>
          <a:lstStyle/>
          <a:p>
            <a:pPr algn="ctr"/>
          </a:p>
        </p:txBody>
      </p:sp>
      <p:sp>
        <p:nvSpPr>
          <p:cNvPr id="32" name="TextBox 31"/>
          <p:cNvSpPr txBox="1"/>
          <p:nvPr/>
        </p:nvSpPr>
        <p:spPr>
          <a:xfrm>
            <a:off x="777240" y="8503920"/>
            <a:ext cx="16733520" cy="457200"/>
          </a:xfrm>
          <a:prstGeom prst="rect">
            <a:avLst/>
          </a:prstGeom>
          <a:noFill/>
        </p:spPr>
        <p:txBody>
          <a:bodyPr wrap="square" lIns="0" rIns="0" tIns="0" bIns="0" anchor="ctr">
            <a:noAutofit/>
          </a:bodyPr>
          <a:lstStyle/>
          <a:p>
            <a:pPr algn="l"/>
            <a:r>
              <a:rPr sz="1800" b="1" i="0">
                <a:solidFill>
                  <a:srgbClr val="000000"/>
                </a:solidFill>
                <a:latin typeface="Inter"/>
              </a:rPr>
              <a:t>Set expectations:</a:t>
            </a:r>
            <a:r>
              <a:rPr sz="1800" b="0" i="0">
                <a:solidFill>
                  <a:srgbClr val="000000"/>
                </a:solidFill>
                <a:latin typeface="Inter"/>
              </a:rPr>
              <a:t> someone technical builds the connection. Our job is to show what is possible.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AED"/>
        </a:solidFill>
        <a:effectLst/>
      </p:bgPr>
    </p:bg>
    <p:spTree>
      <p:nvGrpSpPr>
        <p:cNvPr id="1" name=""/>
        <p:cNvGrpSpPr/>
        <p:nvPr/>
      </p:nvGrpSpPr>
      <p:grpSpPr/>
      <p:pic>
        <p:nvPicPr>
          <p:cNvPr id="2" name="Picture 1" descr="s1_0.png"/>
          <p:cNvPicPr>
            <a:picLocks noChangeAspect="1"/>
          </p:cNvPicPr>
          <p:nvPr/>
        </p:nvPicPr>
        <p:blipFill>
          <a:blip r:embed="rId2"/>
          <a:stretch>
            <a:fillRect/>
          </a:stretch>
        </p:blipFill>
        <p:spPr>
          <a:xfrm>
            <a:off x="475488" y="594360"/>
            <a:ext cx="1655064" cy="384048"/>
          </a:xfrm>
          <a:prstGeom prst="rect">
            <a:avLst/>
          </a:prstGeom>
        </p:spPr>
      </p:pic>
      <p:sp>
        <p:nvSpPr>
          <p:cNvPr id="3" name="Rectangle 2"/>
          <p:cNvSpPr/>
          <p:nvPr/>
        </p:nvSpPr>
        <p:spPr>
          <a:xfrm>
            <a:off x="2441448" y="777240"/>
            <a:ext cx="15371064" cy="10972"/>
          </a:xfrm>
          <a:prstGeom prst="rect">
            <a:avLst/>
          </a:prstGeom>
          <a:solidFill>
            <a:srgbClr val="000000"/>
          </a:solidFill>
          <a:ln>
            <a:noFill/>
          </a:ln>
        </p:spPr>
        <p:txBody>
          <a:bodyPr rtlCol="0" anchor="ctr"/>
          <a:lstStyle/>
          <a:p>
            <a:pPr algn="ctr"/>
          </a:p>
        </p:txBody>
      </p:sp>
      <p:sp>
        <p:nvSpPr>
          <p:cNvPr id="4" name="TextBox 3"/>
          <p:cNvSpPr txBox="1"/>
          <p:nvPr/>
        </p:nvSpPr>
        <p:spPr>
          <a:xfrm>
            <a:off x="475488" y="1527048"/>
            <a:ext cx="10972800" cy="365760"/>
          </a:xfrm>
          <a:prstGeom prst="rect">
            <a:avLst/>
          </a:prstGeom>
          <a:noFill/>
        </p:spPr>
        <p:txBody>
          <a:bodyPr wrap="square" lIns="0" rIns="0" tIns="0" bIns="0" anchor="t">
            <a:noAutofit/>
          </a:bodyPr>
          <a:lstStyle/>
          <a:p>
            <a:pPr algn="l"/>
            <a:r>
              <a:rPr sz="1800" b="0" i="0">
                <a:solidFill>
                  <a:srgbClr val="000000"/>
                </a:solidFill>
                <a:latin typeface="Roboto Mono"/>
              </a:rPr>
              <a:t>PART 5 · PITCHING AND PRACTICE</a:t>
            </a:r>
          </a:p>
        </p:txBody>
      </p:sp>
      <p:sp>
        <p:nvSpPr>
          <p:cNvPr id="5" name="Title"/>
          <p:cNvSpPr txBox="1"/>
          <p:nvPr/>
        </p:nvSpPr>
        <p:spPr>
          <a:xfrm>
            <a:off x="475488" y="2011680"/>
            <a:ext cx="17337024" cy="868680"/>
          </a:xfrm>
          <a:prstGeom prst="rect">
            <a:avLst/>
          </a:prstGeom>
          <a:noFill/>
        </p:spPr>
        <p:txBody>
          <a:bodyPr wrap="square" lIns="0" rIns="0" tIns="0" bIns="0" anchor="t">
            <a:noAutofit/>
          </a:bodyPr>
          <a:lstStyle/>
          <a:p>
            <a:pPr algn="l">
              <a:lnSpc>
                <a:spcPct val="95000"/>
              </a:lnSpc>
            </a:pPr>
            <a:r>
              <a:rPr sz="4600" b="1" i="0">
                <a:solidFill>
                  <a:srgbClr val="000000"/>
                </a:solidFill>
                <a:latin typeface="Inter"/>
              </a:rPr>
              <a:t>Practice: six tasks to try in Postman</a:t>
            </a:r>
          </a:p>
        </p:txBody>
      </p:sp>
      <p:sp>
        <p:nvSpPr>
          <p:cNvPr id="6" name="Rectangle 5"/>
          <p:cNvSpPr/>
          <p:nvPr/>
        </p:nvSpPr>
        <p:spPr>
          <a:xfrm>
            <a:off x="475488" y="9189720"/>
            <a:ext cx="17337024" cy="10972"/>
          </a:xfrm>
          <a:prstGeom prst="rect">
            <a:avLst/>
          </a:prstGeom>
          <a:solidFill>
            <a:srgbClr val="000000"/>
          </a:solidFill>
          <a:ln>
            <a:noFill/>
          </a:ln>
        </p:spPr>
        <p:txBody>
          <a:bodyPr rtlCol="0" anchor="ctr"/>
          <a:lstStyle/>
          <a:p>
            <a:pPr algn="ctr"/>
          </a:p>
        </p:txBody>
      </p:sp>
      <p:sp>
        <p:nvSpPr>
          <p:cNvPr id="7" name="TextBox 6"/>
          <p:cNvSpPr txBox="1"/>
          <p:nvPr/>
        </p:nvSpPr>
        <p:spPr>
          <a:xfrm>
            <a:off x="475488" y="9354312"/>
            <a:ext cx="2743200" cy="338328"/>
          </a:xfrm>
          <a:prstGeom prst="rect">
            <a:avLst/>
          </a:prstGeom>
          <a:noFill/>
        </p:spPr>
        <p:txBody>
          <a:bodyPr wrap="square" lIns="0" rIns="0" tIns="0" bIns="0" anchor="t">
            <a:noAutofit/>
          </a:bodyPr>
          <a:lstStyle/>
          <a:p>
            <a:pPr algn="l"/>
            <a:r>
              <a:rPr sz="1800" b="0" i="0">
                <a:solidFill>
                  <a:srgbClr val="000000"/>
                </a:solidFill>
                <a:latin typeface="Roboto Mono"/>
              </a:rPr>
              <a:t>CALIRA.CO</a:t>
            </a:r>
          </a:p>
        </p:txBody>
      </p:sp>
      <p:sp>
        <p:nvSpPr>
          <p:cNvPr id="8" name="TextBox 7"/>
          <p:cNvSpPr txBox="1"/>
          <p:nvPr/>
        </p:nvSpPr>
        <p:spPr>
          <a:xfrm>
            <a:off x="15983712" y="9354312"/>
            <a:ext cx="1828800" cy="338328"/>
          </a:xfrm>
          <a:prstGeom prst="rect">
            <a:avLst/>
          </a:prstGeom>
          <a:noFill/>
        </p:spPr>
        <p:txBody>
          <a:bodyPr wrap="square" lIns="0" rIns="0" tIns="0" bIns="0" anchor="t">
            <a:noAutofit/>
          </a:bodyPr>
          <a:lstStyle/>
          <a:p>
            <a:pPr algn="r"/>
            <a:r>
              <a:rPr sz="1800" b="0" i="0">
                <a:solidFill>
                  <a:srgbClr val="000000"/>
                </a:solidFill>
                <a:latin typeface="Roboto Mono"/>
              </a:rPr>
              <a:t>34</a:t>
            </a:r>
          </a:p>
        </p:txBody>
      </p:sp>
      <p:sp>
        <p:nvSpPr>
          <p:cNvPr id="9" name="Rectangle 8"/>
          <p:cNvSpPr/>
          <p:nvPr/>
        </p:nvSpPr>
        <p:spPr>
          <a:xfrm>
            <a:off x="475488" y="3154680"/>
            <a:ext cx="8558784" cy="1600200"/>
          </a:xfrm>
          <a:prstGeom prst="rect">
            <a:avLst/>
          </a:prstGeom>
          <a:solidFill>
            <a:srgbClr val="FFFFFF"/>
          </a:solidFill>
          <a:ln w="12700">
            <a:solidFill>
              <a:srgbClr val="000000"/>
            </a:solidFill>
          </a:ln>
        </p:spPr>
        <p:txBody>
          <a:bodyPr rtlCol="0" anchor="ctr"/>
          <a:lstStyle/>
          <a:p>
            <a:pPr algn="ctr"/>
          </a:p>
        </p:txBody>
      </p:sp>
      <p:sp>
        <p:nvSpPr>
          <p:cNvPr id="10" name="Rectangle 9"/>
          <p:cNvSpPr/>
          <p:nvPr/>
        </p:nvSpPr>
        <p:spPr>
          <a:xfrm>
            <a:off x="795528" y="3685032"/>
            <a:ext cx="502920" cy="502920"/>
          </a:xfrm>
          <a:prstGeom prst="rect">
            <a:avLst/>
          </a:prstGeom>
          <a:solidFill>
            <a:srgbClr val="FFFFFF"/>
          </a:solidFill>
          <a:ln w="15875">
            <a:solidFill>
              <a:srgbClr val="000000"/>
            </a:solidFill>
          </a:ln>
        </p:spPr>
        <p:txBody>
          <a:bodyPr rtlCol="0" anchor="ctr"/>
          <a:lstStyle/>
          <a:p>
            <a:pPr algn="ctr"/>
          </a:p>
        </p:txBody>
      </p:sp>
      <p:sp>
        <p:nvSpPr>
          <p:cNvPr id="11" name="TextBox 10"/>
          <p:cNvSpPr txBox="1"/>
          <p:nvPr/>
        </p:nvSpPr>
        <p:spPr>
          <a:xfrm>
            <a:off x="1572768" y="3337560"/>
            <a:ext cx="1371600" cy="365760"/>
          </a:xfrm>
          <a:prstGeom prst="rect">
            <a:avLst/>
          </a:prstGeom>
          <a:noFill/>
        </p:spPr>
        <p:txBody>
          <a:bodyPr wrap="square" lIns="0" rIns="0" tIns="0" bIns="0" anchor="t">
            <a:noAutofit/>
          </a:bodyPr>
          <a:lstStyle/>
          <a:p>
            <a:pPr algn="l"/>
            <a:r>
              <a:rPr sz="1400" b="0" i="0">
                <a:solidFill>
                  <a:srgbClr val="5A574F"/>
                </a:solidFill>
                <a:latin typeface="Roboto Mono"/>
              </a:rPr>
              <a:t>TASK 1</a:t>
            </a:r>
          </a:p>
        </p:txBody>
      </p:sp>
      <p:sp>
        <p:nvSpPr>
          <p:cNvPr id="12" name="TextBox 11"/>
          <p:cNvSpPr txBox="1"/>
          <p:nvPr/>
        </p:nvSpPr>
        <p:spPr>
          <a:xfrm>
            <a:off x="1572768" y="3721608"/>
            <a:ext cx="7223760" cy="914400"/>
          </a:xfrm>
          <a:prstGeom prst="rect">
            <a:avLst/>
          </a:prstGeom>
          <a:noFill/>
        </p:spPr>
        <p:txBody>
          <a:bodyPr wrap="square" lIns="0" rIns="0" tIns="0" bIns="0" anchor="t">
            <a:noAutofit/>
          </a:bodyPr>
          <a:lstStyle/>
          <a:p>
            <a:pPr algn="l"/>
            <a:r>
              <a:rPr sz="2100" b="0" i="0">
                <a:solidFill>
                  <a:srgbClr val="000000"/>
                </a:solidFill>
                <a:latin typeface="Inter"/>
              </a:rPr>
              <a:t>Import both files and choose the </a:t>
            </a:r>
            <a:r>
              <a:rPr sz="2100" b="1" i="0">
                <a:solidFill>
                  <a:srgbClr val="000000"/>
                </a:solidFill>
                <a:latin typeface="Inter"/>
              </a:rPr>
              <a:t>Calira</a:t>
            </a:r>
            <a:r>
              <a:rPr sz="2100" b="0" i="0">
                <a:solidFill>
                  <a:srgbClr val="000000"/>
                </a:solidFill>
                <a:latin typeface="Inter"/>
              </a:rPr>
              <a:t> environment.</a:t>
            </a:r>
          </a:p>
        </p:txBody>
      </p:sp>
      <p:sp>
        <p:nvSpPr>
          <p:cNvPr id="13" name="Rectangle 12"/>
          <p:cNvSpPr/>
          <p:nvPr/>
        </p:nvSpPr>
        <p:spPr>
          <a:xfrm>
            <a:off x="9253728" y="3154680"/>
            <a:ext cx="8558784" cy="1600200"/>
          </a:xfrm>
          <a:prstGeom prst="rect">
            <a:avLst/>
          </a:prstGeom>
          <a:solidFill>
            <a:srgbClr val="FFFFFF"/>
          </a:solidFill>
          <a:ln w="12700">
            <a:solidFill>
              <a:srgbClr val="000000"/>
            </a:solidFill>
          </a:ln>
        </p:spPr>
        <p:txBody>
          <a:bodyPr rtlCol="0" anchor="ctr"/>
          <a:lstStyle/>
          <a:p>
            <a:pPr algn="ctr"/>
          </a:p>
        </p:txBody>
      </p:sp>
      <p:sp>
        <p:nvSpPr>
          <p:cNvPr id="14" name="Rectangle 13"/>
          <p:cNvSpPr/>
          <p:nvPr/>
        </p:nvSpPr>
        <p:spPr>
          <a:xfrm>
            <a:off x="9573767" y="3685032"/>
            <a:ext cx="502920" cy="502920"/>
          </a:xfrm>
          <a:prstGeom prst="rect">
            <a:avLst/>
          </a:prstGeom>
          <a:solidFill>
            <a:srgbClr val="FFFFFF"/>
          </a:solidFill>
          <a:ln w="15875">
            <a:solidFill>
              <a:srgbClr val="000000"/>
            </a:solidFill>
          </a:ln>
        </p:spPr>
        <p:txBody>
          <a:bodyPr rtlCol="0" anchor="ctr"/>
          <a:lstStyle/>
          <a:p>
            <a:pPr algn="ctr"/>
          </a:p>
        </p:txBody>
      </p:sp>
      <p:sp>
        <p:nvSpPr>
          <p:cNvPr id="15" name="TextBox 14"/>
          <p:cNvSpPr txBox="1"/>
          <p:nvPr/>
        </p:nvSpPr>
        <p:spPr>
          <a:xfrm>
            <a:off x="10351007" y="3337560"/>
            <a:ext cx="1371600" cy="365760"/>
          </a:xfrm>
          <a:prstGeom prst="rect">
            <a:avLst/>
          </a:prstGeom>
          <a:noFill/>
        </p:spPr>
        <p:txBody>
          <a:bodyPr wrap="square" lIns="0" rIns="0" tIns="0" bIns="0" anchor="t">
            <a:noAutofit/>
          </a:bodyPr>
          <a:lstStyle/>
          <a:p>
            <a:pPr algn="l"/>
            <a:r>
              <a:rPr sz="1400" b="0" i="0">
                <a:solidFill>
                  <a:srgbClr val="5A574F"/>
                </a:solidFill>
                <a:latin typeface="Roboto Mono"/>
              </a:rPr>
              <a:t>TASK 2</a:t>
            </a:r>
          </a:p>
        </p:txBody>
      </p:sp>
      <p:sp>
        <p:nvSpPr>
          <p:cNvPr id="16" name="TextBox 15"/>
          <p:cNvSpPr txBox="1"/>
          <p:nvPr/>
        </p:nvSpPr>
        <p:spPr>
          <a:xfrm>
            <a:off x="10351007" y="3721608"/>
            <a:ext cx="7223760" cy="914400"/>
          </a:xfrm>
          <a:prstGeom prst="rect">
            <a:avLst/>
          </a:prstGeom>
          <a:noFill/>
        </p:spPr>
        <p:txBody>
          <a:bodyPr wrap="square" lIns="0" rIns="0" tIns="0" bIns="0" anchor="t">
            <a:noAutofit/>
          </a:bodyPr>
          <a:lstStyle/>
          <a:p>
            <a:pPr algn="l"/>
            <a:r>
              <a:rPr sz="2100" b="0" i="0">
                <a:solidFill>
                  <a:srgbClr val="000000"/>
                </a:solidFill>
                <a:latin typeface="Inter"/>
              </a:rPr>
              <a:t>Add your Client ID and Secret, then </a:t>
            </a:r>
            <a:r>
              <a:rPr sz="2100" b="1" i="0">
                <a:solidFill>
                  <a:srgbClr val="000000"/>
                </a:solidFill>
                <a:latin typeface="Inter"/>
              </a:rPr>
              <a:t>get a new token</a:t>
            </a:r>
            <a:r>
              <a:rPr sz="2100" b="0" i="0">
                <a:solidFill>
                  <a:srgbClr val="000000"/>
                </a:solidFill>
                <a:latin typeface="Inter"/>
              </a:rPr>
              <a:t>.</a:t>
            </a:r>
          </a:p>
        </p:txBody>
      </p:sp>
      <p:sp>
        <p:nvSpPr>
          <p:cNvPr id="17" name="Rectangle 16"/>
          <p:cNvSpPr/>
          <p:nvPr/>
        </p:nvSpPr>
        <p:spPr>
          <a:xfrm>
            <a:off x="475488" y="4937760"/>
            <a:ext cx="8558784" cy="1600200"/>
          </a:xfrm>
          <a:prstGeom prst="rect">
            <a:avLst/>
          </a:prstGeom>
          <a:solidFill>
            <a:srgbClr val="FFFFFF"/>
          </a:solidFill>
          <a:ln w="12700">
            <a:solidFill>
              <a:srgbClr val="000000"/>
            </a:solidFill>
          </a:ln>
        </p:spPr>
        <p:txBody>
          <a:bodyPr rtlCol="0" anchor="ctr"/>
          <a:lstStyle/>
          <a:p>
            <a:pPr algn="ctr"/>
          </a:p>
        </p:txBody>
      </p:sp>
      <p:sp>
        <p:nvSpPr>
          <p:cNvPr id="18" name="Rectangle 17"/>
          <p:cNvSpPr/>
          <p:nvPr/>
        </p:nvSpPr>
        <p:spPr>
          <a:xfrm>
            <a:off x="795528" y="5468112"/>
            <a:ext cx="502920" cy="502920"/>
          </a:xfrm>
          <a:prstGeom prst="rect">
            <a:avLst/>
          </a:prstGeom>
          <a:solidFill>
            <a:srgbClr val="FFFFFF"/>
          </a:solidFill>
          <a:ln w="15875">
            <a:solidFill>
              <a:srgbClr val="000000"/>
            </a:solidFill>
          </a:ln>
        </p:spPr>
        <p:txBody>
          <a:bodyPr rtlCol="0" anchor="ctr"/>
          <a:lstStyle/>
          <a:p>
            <a:pPr algn="ctr"/>
          </a:p>
        </p:txBody>
      </p:sp>
      <p:sp>
        <p:nvSpPr>
          <p:cNvPr id="19" name="TextBox 18"/>
          <p:cNvSpPr txBox="1"/>
          <p:nvPr/>
        </p:nvSpPr>
        <p:spPr>
          <a:xfrm>
            <a:off x="1572768" y="5120640"/>
            <a:ext cx="1371600" cy="365760"/>
          </a:xfrm>
          <a:prstGeom prst="rect">
            <a:avLst/>
          </a:prstGeom>
          <a:noFill/>
        </p:spPr>
        <p:txBody>
          <a:bodyPr wrap="square" lIns="0" rIns="0" tIns="0" bIns="0" anchor="t">
            <a:noAutofit/>
          </a:bodyPr>
          <a:lstStyle/>
          <a:p>
            <a:pPr algn="l"/>
            <a:r>
              <a:rPr sz="1400" b="0" i="0">
                <a:solidFill>
                  <a:srgbClr val="5A574F"/>
                </a:solidFill>
                <a:latin typeface="Roboto Mono"/>
              </a:rPr>
              <a:t>TASK 3</a:t>
            </a:r>
          </a:p>
        </p:txBody>
      </p:sp>
      <p:sp>
        <p:nvSpPr>
          <p:cNvPr id="20" name="TextBox 19"/>
          <p:cNvSpPr txBox="1"/>
          <p:nvPr/>
        </p:nvSpPr>
        <p:spPr>
          <a:xfrm>
            <a:off x="1572768" y="5504688"/>
            <a:ext cx="7223760" cy="914400"/>
          </a:xfrm>
          <a:prstGeom prst="rect">
            <a:avLst/>
          </a:prstGeom>
          <a:noFill/>
        </p:spPr>
        <p:txBody>
          <a:bodyPr wrap="square" lIns="0" rIns="0" tIns="0" bIns="0" anchor="t">
            <a:noAutofit/>
          </a:bodyPr>
          <a:lstStyle/>
          <a:p>
            <a:pPr algn="l"/>
            <a:r>
              <a:rPr sz="2100" b="0" i="0">
                <a:solidFill>
                  <a:srgbClr val="000000"/>
                </a:solidFill>
                <a:latin typeface="Inter"/>
              </a:rPr>
              <a:t>Send </a:t>
            </a:r>
            <a:r>
              <a:rPr sz="2100" b="1" i="0">
                <a:solidFill>
                  <a:srgbClr val="000000"/>
                </a:solidFill>
                <a:latin typeface="Inter"/>
              </a:rPr>
              <a:t>Get current user</a:t>
            </a:r>
            <a:r>
              <a:rPr sz="2100" b="0" i="0">
                <a:solidFill>
                  <a:srgbClr val="000000"/>
                </a:solidFill>
                <a:latin typeface="Inter"/>
              </a:rPr>
              <a:t> and see </a:t>
            </a:r>
            <a:r>
              <a:rPr sz="2100" b="1" i="0">
                <a:solidFill>
                  <a:srgbClr val="000000"/>
                </a:solidFill>
                <a:latin typeface="Inter"/>
              </a:rPr>
              <a:t>200 OK</a:t>
            </a:r>
            <a:r>
              <a:rPr sz="2100" b="0" i="0">
                <a:solidFill>
                  <a:srgbClr val="000000"/>
                </a:solidFill>
                <a:latin typeface="Inter"/>
              </a:rPr>
              <a:t>.</a:t>
            </a:r>
          </a:p>
        </p:txBody>
      </p:sp>
      <p:sp>
        <p:nvSpPr>
          <p:cNvPr id="21" name="Rectangle 20"/>
          <p:cNvSpPr/>
          <p:nvPr/>
        </p:nvSpPr>
        <p:spPr>
          <a:xfrm>
            <a:off x="9253728" y="4937760"/>
            <a:ext cx="8558784" cy="1600200"/>
          </a:xfrm>
          <a:prstGeom prst="rect">
            <a:avLst/>
          </a:prstGeom>
          <a:solidFill>
            <a:srgbClr val="FFFFFF"/>
          </a:solidFill>
          <a:ln w="12700">
            <a:solidFill>
              <a:srgbClr val="000000"/>
            </a:solidFill>
          </a:ln>
        </p:spPr>
        <p:txBody>
          <a:bodyPr rtlCol="0" anchor="ctr"/>
          <a:lstStyle/>
          <a:p>
            <a:pPr algn="ctr"/>
          </a:p>
        </p:txBody>
      </p:sp>
      <p:sp>
        <p:nvSpPr>
          <p:cNvPr id="22" name="Rectangle 21"/>
          <p:cNvSpPr/>
          <p:nvPr/>
        </p:nvSpPr>
        <p:spPr>
          <a:xfrm>
            <a:off x="9573767" y="5468112"/>
            <a:ext cx="502920" cy="502920"/>
          </a:xfrm>
          <a:prstGeom prst="rect">
            <a:avLst/>
          </a:prstGeom>
          <a:solidFill>
            <a:srgbClr val="FFFFFF"/>
          </a:solidFill>
          <a:ln w="15875">
            <a:solidFill>
              <a:srgbClr val="000000"/>
            </a:solidFill>
          </a:ln>
        </p:spPr>
        <p:txBody>
          <a:bodyPr rtlCol="0" anchor="ctr"/>
          <a:lstStyle/>
          <a:p>
            <a:pPr algn="ctr"/>
          </a:p>
        </p:txBody>
      </p:sp>
      <p:sp>
        <p:nvSpPr>
          <p:cNvPr id="23" name="TextBox 22"/>
          <p:cNvSpPr txBox="1"/>
          <p:nvPr/>
        </p:nvSpPr>
        <p:spPr>
          <a:xfrm>
            <a:off x="10351007" y="5120640"/>
            <a:ext cx="1371600" cy="365760"/>
          </a:xfrm>
          <a:prstGeom prst="rect">
            <a:avLst/>
          </a:prstGeom>
          <a:noFill/>
        </p:spPr>
        <p:txBody>
          <a:bodyPr wrap="square" lIns="0" rIns="0" tIns="0" bIns="0" anchor="t">
            <a:noAutofit/>
          </a:bodyPr>
          <a:lstStyle/>
          <a:p>
            <a:pPr algn="l"/>
            <a:r>
              <a:rPr sz="1400" b="0" i="0">
                <a:solidFill>
                  <a:srgbClr val="5A574F"/>
                </a:solidFill>
                <a:latin typeface="Roboto Mono"/>
              </a:rPr>
              <a:t>TASK 4</a:t>
            </a:r>
          </a:p>
        </p:txBody>
      </p:sp>
      <p:sp>
        <p:nvSpPr>
          <p:cNvPr id="24" name="TextBox 23"/>
          <p:cNvSpPr txBox="1"/>
          <p:nvPr/>
        </p:nvSpPr>
        <p:spPr>
          <a:xfrm>
            <a:off x="10351007" y="5504688"/>
            <a:ext cx="7223760" cy="914400"/>
          </a:xfrm>
          <a:prstGeom prst="rect">
            <a:avLst/>
          </a:prstGeom>
          <a:noFill/>
        </p:spPr>
        <p:txBody>
          <a:bodyPr wrap="square" lIns="0" rIns="0" tIns="0" bIns="0" anchor="t">
            <a:noAutofit/>
          </a:bodyPr>
          <a:lstStyle/>
          <a:p>
            <a:pPr algn="l"/>
            <a:r>
              <a:rPr sz="2100" b="0" i="0">
                <a:solidFill>
                  <a:srgbClr val="000000"/>
                </a:solidFill>
                <a:latin typeface="Inter"/>
              </a:rPr>
              <a:t>List the </a:t>
            </a:r>
            <a:r>
              <a:rPr sz="2100" b="1" i="0">
                <a:solidFill>
                  <a:srgbClr val="000000"/>
                </a:solidFill>
                <a:latin typeface="Inter"/>
              </a:rPr>
              <a:t>equipment</a:t>
            </a:r>
            <a:r>
              <a:rPr sz="2100" b="0" i="0">
                <a:solidFill>
                  <a:srgbClr val="000000"/>
                </a:solidFill>
                <a:latin typeface="Inter"/>
              </a:rPr>
              <a:t> in your lab and find one item's ID.</a:t>
            </a:r>
          </a:p>
        </p:txBody>
      </p:sp>
      <p:sp>
        <p:nvSpPr>
          <p:cNvPr id="25" name="Rectangle 24"/>
          <p:cNvSpPr/>
          <p:nvPr/>
        </p:nvSpPr>
        <p:spPr>
          <a:xfrm>
            <a:off x="475488" y="6720840"/>
            <a:ext cx="8558784" cy="1600200"/>
          </a:xfrm>
          <a:prstGeom prst="rect">
            <a:avLst/>
          </a:prstGeom>
          <a:solidFill>
            <a:srgbClr val="FFFFFF"/>
          </a:solidFill>
          <a:ln w="12700">
            <a:solidFill>
              <a:srgbClr val="000000"/>
            </a:solidFill>
          </a:ln>
        </p:spPr>
        <p:txBody>
          <a:bodyPr rtlCol="0" anchor="ctr"/>
          <a:lstStyle/>
          <a:p>
            <a:pPr algn="ctr"/>
          </a:p>
        </p:txBody>
      </p:sp>
      <p:sp>
        <p:nvSpPr>
          <p:cNvPr id="26" name="Rectangle 25"/>
          <p:cNvSpPr/>
          <p:nvPr/>
        </p:nvSpPr>
        <p:spPr>
          <a:xfrm>
            <a:off x="795528" y="7251192"/>
            <a:ext cx="502920" cy="502920"/>
          </a:xfrm>
          <a:prstGeom prst="rect">
            <a:avLst/>
          </a:prstGeom>
          <a:solidFill>
            <a:srgbClr val="FFFFFF"/>
          </a:solidFill>
          <a:ln w="15875">
            <a:solidFill>
              <a:srgbClr val="000000"/>
            </a:solidFill>
          </a:ln>
        </p:spPr>
        <p:txBody>
          <a:bodyPr rtlCol="0" anchor="ctr"/>
          <a:lstStyle/>
          <a:p>
            <a:pPr algn="ctr"/>
          </a:p>
        </p:txBody>
      </p:sp>
      <p:sp>
        <p:nvSpPr>
          <p:cNvPr id="27" name="TextBox 26"/>
          <p:cNvSpPr txBox="1"/>
          <p:nvPr/>
        </p:nvSpPr>
        <p:spPr>
          <a:xfrm>
            <a:off x="1572768" y="6903720"/>
            <a:ext cx="1371600" cy="365760"/>
          </a:xfrm>
          <a:prstGeom prst="rect">
            <a:avLst/>
          </a:prstGeom>
          <a:noFill/>
        </p:spPr>
        <p:txBody>
          <a:bodyPr wrap="square" lIns="0" rIns="0" tIns="0" bIns="0" anchor="t">
            <a:noAutofit/>
          </a:bodyPr>
          <a:lstStyle/>
          <a:p>
            <a:pPr algn="l"/>
            <a:r>
              <a:rPr sz="1400" b="0" i="0">
                <a:solidFill>
                  <a:srgbClr val="5A574F"/>
                </a:solidFill>
                <a:latin typeface="Roboto Mono"/>
              </a:rPr>
              <a:t>TASK 5</a:t>
            </a:r>
          </a:p>
        </p:txBody>
      </p:sp>
      <p:sp>
        <p:nvSpPr>
          <p:cNvPr id="28" name="TextBox 27"/>
          <p:cNvSpPr txBox="1"/>
          <p:nvPr/>
        </p:nvSpPr>
        <p:spPr>
          <a:xfrm>
            <a:off x="1572768" y="7287768"/>
            <a:ext cx="7223760" cy="914400"/>
          </a:xfrm>
          <a:prstGeom prst="rect">
            <a:avLst/>
          </a:prstGeom>
          <a:noFill/>
        </p:spPr>
        <p:txBody>
          <a:bodyPr wrap="square" lIns="0" rIns="0" tIns="0" bIns="0" anchor="t">
            <a:noAutofit/>
          </a:bodyPr>
          <a:lstStyle/>
          <a:p>
            <a:pPr algn="l"/>
            <a:r>
              <a:rPr sz="2100" b="0" i="0">
                <a:solidFill>
                  <a:srgbClr val="000000"/>
                </a:solidFill>
                <a:latin typeface="Inter"/>
              </a:rPr>
              <a:t>Find a free slot, then </a:t>
            </a:r>
            <a:r>
              <a:rPr sz="2100" b="1" i="0">
                <a:solidFill>
                  <a:srgbClr val="000000"/>
                </a:solidFill>
                <a:latin typeface="Inter"/>
              </a:rPr>
              <a:t>create a booking</a:t>
            </a:r>
            <a:r>
              <a:rPr sz="2100" b="0" i="0">
                <a:solidFill>
                  <a:srgbClr val="000000"/>
                </a:solidFill>
                <a:latin typeface="Inter"/>
              </a:rPr>
              <a:t>.</a:t>
            </a:r>
          </a:p>
        </p:txBody>
      </p:sp>
      <p:sp>
        <p:nvSpPr>
          <p:cNvPr id="29" name="Rectangle 28"/>
          <p:cNvSpPr/>
          <p:nvPr/>
        </p:nvSpPr>
        <p:spPr>
          <a:xfrm>
            <a:off x="9253728" y="6720840"/>
            <a:ext cx="8558784" cy="1600200"/>
          </a:xfrm>
          <a:prstGeom prst="rect">
            <a:avLst/>
          </a:prstGeom>
          <a:solidFill>
            <a:srgbClr val="FFFFFF"/>
          </a:solidFill>
          <a:ln w="12700">
            <a:solidFill>
              <a:srgbClr val="000000"/>
            </a:solidFill>
          </a:ln>
        </p:spPr>
        <p:txBody>
          <a:bodyPr rtlCol="0" anchor="ctr"/>
          <a:lstStyle/>
          <a:p>
            <a:pPr algn="ctr"/>
          </a:p>
        </p:txBody>
      </p:sp>
      <p:sp>
        <p:nvSpPr>
          <p:cNvPr id="30" name="Rectangle 29"/>
          <p:cNvSpPr/>
          <p:nvPr/>
        </p:nvSpPr>
        <p:spPr>
          <a:xfrm>
            <a:off x="9573767" y="7251192"/>
            <a:ext cx="502920" cy="502920"/>
          </a:xfrm>
          <a:prstGeom prst="rect">
            <a:avLst/>
          </a:prstGeom>
          <a:solidFill>
            <a:srgbClr val="FFFFFF"/>
          </a:solidFill>
          <a:ln w="15875">
            <a:solidFill>
              <a:srgbClr val="000000"/>
            </a:solidFill>
          </a:ln>
        </p:spPr>
        <p:txBody>
          <a:bodyPr rtlCol="0" anchor="ctr"/>
          <a:lstStyle/>
          <a:p>
            <a:pPr algn="ctr"/>
          </a:p>
        </p:txBody>
      </p:sp>
      <p:sp>
        <p:nvSpPr>
          <p:cNvPr id="31" name="TextBox 30"/>
          <p:cNvSpPr txBox="1"/>
          <p:nvPr/>
        </p:nvSpPr>
        <p:spPr>
          <a:xfrm>
            <a:off x="10351007" y="6903720"/>
            <a:ext cx="1371600" cy="365760"/>
          </a:xfrm>
          <a:prstGeom prst="rect">
            <a:avLst/>
          </a:prstGeom>
          <a:noFill/>
        </p:spPr>
        <p:txBody>
          <a:bodyPr wrap="square" lIns="0" rIns="0" tIns="0" bIns="0" anchor="t">
            <a:noAutofit/>
          </a:bodyPr>
          <a:lstStyle/>
          <a:p>
            <a:pPr algn="l"/>
            <a:r>
              <a:rPr sz="1400" b="0" i="0">
                <a:solidFill>
                  <a:srgbClr val="5A574F"/>
                </a:solidFill>
                <a:latin typeface="Roboto Mono"/>
              </a:rPr>
              <a:t>TASK 6</a:t>
            </a:r>
          </a:p>
        </p:txBody>
      </p:sp>
      <p:sp>
        <p:nvSpPr>
          <p:cNvPr id="32" name="TextBox 31"/>
          <p:cNvSpPr txBox="1"/>
          <p:nvPr/>
        </p:nvSpPr>
        <p:spPr>
          <a:xfrm>
            <a:off x="10351007" y="7287768"/>
            <a:ext cx="7223760" cy="914400"/>
          </a:xfrm>
          <a:prstGeom prst="rect">
            <a:avLst/>
          </a:prstGeom>
          <a:noFill/>
        </p:spPr>
        <p:txBody>
          <a:bodyPr wrap="square" lIns="0" rIns="0" tIns="0" bIns="0" anchor="t">
            <a:noAutofit/>
          </a:bodyPr>
          <a:lstStyle/>
          <a:p>
            <a:pPr algn="l"/>
            <a:r>
              <a:rPr sz="2100" b="1" i="0">
                <a:solidFill>
                  <a:srgbClr val="000000"/>
                </a:solidFill>
                <a:latin typeface="Inter"/>
              </a:rPr>
              <a:t>Change the booking's end time</a:t>
            </a:r>
            <a:r>
              <a:rPr sz="2100" b="0" i="0">
                <a:solidFill>
                  <a:srgbClr val="000000"/>
                </a:solidFill>
                <a:latin typeface="Inter"/>
              </a:rPr>
              <a:t> with a PATCH.</a:t>
            </a:r>
          </a:p>
        </p:txBody>
      </p:sp>
      <p:sp>
        <p:nvSpPr>
          <p:cNvPr id="33" name="TextBox 32"/>
          <p:cNvSpPr txBox="1"/>
          <p:nvPr/>
        </p:nvSpPr>
        <p:spPr>
          <a:xfrm>
            <a:off x="475488" y="8595360"/>
            <a:ext cx="17337024" cy="365760"/>
          </a:xfrm>
          <a:prstGeom prst="rect">
            <a:avLst/>
          </a:prstGeom>
          <a:noFill/>
        </p:spPr>
        <p:txBody>
          <a:bodyPr wrap="square" lIns="0" rIns="0" tIns="0" bIns="0" anchor="t">
            <a:noAutofit/>
          </a:bodyPr>
          <a:lstStyle/>
          <a:p>
            <a:pPr algn="l"/>
            <a:r>
              <a:rPr sz="1600" b="0" i="0">
                <a:solidFill>
                  <a:srgbClr val="5A574F"/>
                </a:solidFill>
                <a:latin typeface="Roboto Mono"/>
              </a:rPr>
              <a:t>ALLOW ABOUT 20 MINUTES  ·  STUCK? CHECK THE FIVE THINGS, THEN ASK PRODUCT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E8FC2E"/>
        </a:solidFill>
        <a:effectLst/>
      </p:bgPr>
    </p:bg>
    <p:spTree>
      <p:nvGrpSpPr>
        <p:cNvPr id="1" name=""/>
        <p:cNvGrpSpPr/>
        <p:nvPr/>
      </p:nvGrpSpPr>
      <p:grpSpPr/>
      <p:pic>
        <p:nvPicPr>
          <p:cNvPr id="2" name="Picture 1" descr="s5_1.png"/>
          <p:cNvPicPr>
            <a:picLocks noChangeAspect="1"/>
          </p:cNvPicPr>
          <p:nvPr/>
        </p:nvPicPr>
        <p:blipFill>
          <a:blip r:embed="rId2"/>
          <a:stretch>
            <a:fillRect/>
          </a:stretch>
        </p:blipFill>
        <p:spPr>
          <a:xfrm>
            <a:off x="457200" y="457200"/>
            <a:ext cx="2651760" cy="612648"/>
          </a:xfrm>
          <a:prstGeom prst="rect">
            <a:avLst/>
          </a:prstGeom>
        </p:spPr>
      </p:pic>
      <p:sp>
        <p:nvSpPr>
          <p:cNvPr id="3" name="Title"/>
          <p:cNvSpPr txBox="1"/>
          <p:nvPr/>
        </p:nvSpPr>
        <p:spPr>
          <a:xfrm>
            <a:off x="457200" y="3017520"/>
            <a:ext cx="8229600" cy="2194560"/>
          </a:xfrm>
          <a:prstGeom prst="rect">
            <a:avLst/>
          </a:prstGeom>
          <a:noFill/>
        </p:spPr>
        <p:txBody>
          <a:bodyPr wrap="square" lIns="0" rIns="0" tIns="0" bIns="0" anchor="ctr">
            <a:noAutofit/>
          </a:bodyPr>
          <a:lstStyle/>
          <a:p>
            <a:pPr algn="l"/>
            <a:r>
              <a:rPr sz="9600" b="1" i="0">
                <a:solidFill>
                  <a:srgbClr val="000000"/>
                </a:solidFill>
                <a:latin typeface="Inter"/>
              </a:rPr>
              <a:t>Questions?</a:t>
            </a:r>
          </a:p>
        </p:txBody>
      </p:sp>
      <p:sp>
        <p:nvSpPr>
          <p:cNvPr id="4" name="TextBox 3"/>
          <p:cNvSpPr txBox="1"/>
          <p:nvPr/>
        </p:nvSpPr>
        <p:spPr>
          <a:xfrm>
            <a:off x="457200" y="5669280"/>
            <a:ext cx="8229600" cy="914400"/>
          </a:xfrm>
          <a:prstGeom prst="rect">
            <a:avLst/>
          </a:prstGeom>
          <a:noFill/>
        </p:spPr>
        <p:txBody>
          <a:bodyPr wrap="square" lIns="0" rIns="0" tIns="0" bIns="0" anchor="t">
            <a:noAutofit/>
          </a:bodyPr>
          <a:lstStyle/>
          <a:p>
            <a:pPr algn="l"/>
            <a:r>
              <a:rPr sz="2400" b="0" i="0">
                <a:solidFill>
                  <a:srgbClr val="000000"/>
                </a:solidFill>
                <a:latin typeface="Inter"/>
              </a:rPr>
              <a:t>Ask Product anytime, and share what customers ask so we can improve this training.</a:t>
            </a:r>
          </a:p>
        </p:txBody>
      </p:sp>
      <p:sp>
        <p:nvSpPr>
          <p:cNvPr id="5" name="TextBox 4"/>
          <p:cNvSpPr txBox="1"/>
          <p:nvPr/>
        </p:nvSpPr>
        <p:spPr>
          <a:xfrm>
            <a:off x="457200" y="8229600"/>
            <a:ext cx="7315200" cy="1097280"/>
          </a:xfrm>
          <a:prstGeom prst="rect">
            <a:avLst/>
          </a:prstGeom>
          <a:noFill/>
        </p:spPr>
        <p:txBody>
          <a:bodyPr wrap="square" lIns="0" rIns="0" tIns="0" bIns="0" anchor="t">
            <a:noAutofit/>
          </a:bodyPr>
          <a:lstStyle/>
          <a:p>
            <a:pPr algn="l"/>
            <a:r>
              <a:rPr sz="1800" b="1" i="0">
                <a:solidFill>
                  <a:srgbClr val="000000"/>
                </a:solidFill>
                <a:latin typeface="Inter"/>
              </a:rPr>
              <a:t>Calira</a:t>
            </a:r>
          </a:p>
          <a:p>
            <a:pPr algn="l"/>
            <a:r>
              <a:rPr sz="1800" b="1" i="0">
                <a:solidFill>
                  <a:srgbClr val="000000"/>
                </a:solidFill>
                <a:latin typeface="Inter"/>
              </a:rPr>
              <a:t>Calira Product team</a:t>
            </a:r>
          </a:p>
          <a:p>
            <a:pPr algn="l"/>
            <a:r>
              <a:rPr sz="1800" b="1" i="0">
                <a:solidFill>
                  <a:srgbClr val="000000"/>
                </a:solidFill>
                <a:latin typeface="Inter"/>
              </a:rPr>
              <a:t>calira.co</a:t>
            </a:r>
          </a:p>
        </p:txBody>
      </p:sp>
      <p:pic>
        <p:nvPicPr>
          <p:cNvPr id="6" name="Picture 5" descr="photo_end.jpg"/>
          <p:cNvPicPr>
            <a:picLocks noChangeAspect="1"/>
          </p:cNvPicPr>
          <p:nvPr/>
        </p:nvPicPr>
        <p:blipFill>
          <a:blip r:embed="rId3"/>
          <a:stretch>
            <a:fillRect/>
          </a:stretch>
        </p:blipFill>
        <p:spPr>
          <a:xfrm>
            <a:off x="9144000" y="457200"/>
            <a:ext cx="8686800" cy="9372600"/>
          </a:xfrm>
          <a:prstGeom prst="rect">
            <a:avLst/>
          </a:prstGeom>
        </p:spPr>
      </p:pic>
      <p:sp>
        <p:nvSpPr>
          <p:cNvPr id="7" name="Rectangle 6"/>
          <p:cNvSpPr/>
          <p:nvPr/>
        </p:nvSpPr>
        <p:spPr>
          <a:xfrm>
            <a:off x="9144000" y="457200"/>
            <a:ext cx="8686800" cy="9372600"/>
          </a:xfrm>
          <a:prstGeom prst="rect">
            <a:avLst/>
          </a:prstGeom>
          <a:noFill/>
          <a:ln w="19050">
            <a:solidFill>
              <a:srgbClr val="0B190D"/>
            </a:solidFill>
          </a:ln>
        </p:spPr>
        <p:txBody>
          <a:bodyPr rtlCol="0" anchor="ctr"/>
          <a:lstStyle/>
          <a:p>
            <a:pPr algn="ct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